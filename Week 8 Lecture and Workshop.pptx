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6"/>
  </p:notesMasterIdLst>
  <p:sldIdLst>
    <p:sldId id="256" r:id="rId2"/>
    <p:sldId id="257" r:id="rId3"/>
    <p:sldId id="258" r:id="rId4"/>
    <p:sldId id="369" r:id="rId5"/>
    <p:sldId id="370" r:id="rId6"/>
    <p:sldId id="371" r:id="rId7"/>
    <p:sldId id="372" r:id="rId8"/>
    <p:sldId id="373" r:id="rId9"/>
    <p:sldId id="374" r:id="rId10"/>
    <p:sldId id="375" r:id="rId11"/>
    <p:sldId id="376" r:id="rId12"/>
    <p:sldId id="377" r:id="rId13"/>
    <p:sldId id="378" r:id="rId14"/>
    <p:sldId id="379" r:id="rId15"/>
    <p:sldId id="380" r:id="rId16"/>
    <p:sldId id="381" r:id="rId17"/>
    <p:sldId id="382" r:id="rId18"/>
    <p:sldId id="383" r:id="rId19"/>
    <p:sldId id="384" r:id="rId20"/>
    <p:sldId id="385" r:id="rId21"/>
    <p:sldId id="386" r:id="rId22"/>
    <p:sldId id="387" r:id="rId23"/>
    <p:sldId id="388" r:id="rId24"/>
    <p:sldId id="389" r:id="rId25"/>
    <p:sldId id="390" r:id="rId26"/>
    <p:sldId id="391" r:id="rId27"/>
    <p:sldId id="392" r:id="rId28"/>
    <p:sldId id="393" r:id="rId29"/>
    <p:sldId id="394" r:id="rId30"/>
    <p:sldId id="368" r:id="rId31"/>
    <p:sldId id="395" r:id="rId32"/>
    <p:sldId id="396" r:id="rId33"/>
    <p:sldId id="397" r:id="rId34"/>
    <p:sldId id="398" r:id="rId35"/>
    <p:sldId id="399" r:id="rId36"/>
    <p:sldId id="400" r:id="rId37"/>
    <p:sldId id="401" r:id="rId38"/>
    <p:sldId id="402" r:id="rId39"/>
    <p:sldId id="403" r:id="rId40"/>
    <p:sldId id="404" r:id="rId41"/>
    <p:sldId id="405" r:id="rId42"/>
    <p:sldId id="406" r:id="rId43"/>
    <p:sldId id="407" r:id="rId44"/>
    <p:sldId id="408" r:id="rId45"/>
    <p:sldId id="409" r:id="rId46"/>
    <p:sldId id="410" r:id="rId47"/>
    <p:sldId id="259" r:id="rId48"/>
    <p:sldId id="260" r:id="rId49"/>
    <p:sldId id="411" r:id="rId50"/>
    <p:sldId id="412" r:id="rId51"/>
    <p:sldId id="413" r:id="rId52"/>
    <p:sldId id="414" r:id="rId53"/>
    <p:sldId id="415" r:id="rId54"/>
    <p:sldId id="416" r:id="rId55"/>
    <p:sldId id="417" r:id="rId56"/>
    <p:sldId id="418" r:id="rId57"/>
    <p:sldId id="419" r:id="rId58"/>
    <p:sldId id="420" r:id="rId59"/>
    <p:sldId id="421" r:id="rId60"/>
    <p:sldId id="422" r:id="rId61"/>
    <p:sldId id="423" r:id="rId62"/>
    <p:sldId id="424" r:id="rId63"/>
    <p:sldId id="261" r:id="rId64"/>
    <p:sldId id="262" r:id="rId65"/>
    <p:sldId id="263" r:id="rId66"/>
    <p:sldId id="264" r:id="rId67"/>
    <p:sldId id="265" r:id="rId68"/>
    <p:sldId id="266" r:id="rId69"/>
    <p:sldId id="267" r:id="rId70"/>
    <p:sldId id="268" r:id="rId71"/>
    <p:sldId id="269" r:id="rId72"/>
    <p:sldId id="270" r:id="rId73"/>
    <p:sldId id="271" r:id="rId74"/>
    <p:sldId id="272" r:id="rId75"/>
    <p:sldId id="273" r:id="rId76"/>
    <p:sldId id="274" r:id="rId77"/>
    <p:sldId id="275" r:id="rId78"/>
    <p:sldId id="276" r:id="rId79"/>
    <p:sldId id="277" r:id="rId80"/>
    <p:sldId id="278" r:id="rId81"/>
    <p:sldId id="279" r:id="rId82"/>
    <p:sldId id="280" r:id="rId83"/>
    <p:sldId id="281" r:id="rId84"/>
    <p:sldId id="282" r:id="rId85"/>
    <p:sldId id="283" r:id="rId86"/>
    <p:sldId id="353" r:id="rId87"/>
    <p:sldId id="367" r:id="rId88"/>
    <p:sldId id="362" r:id="rId89"/>
    <p:sldId id="365" r:id="rId90"/>
    <p:sldId id="366" r:id="rId91"/>
    <p:sldId id="350" r:id="rId92"/>
    <p:sldId id="425" r:id="rId93"/>
    <p:sldId id="426" r:id="rId94"/>
    <p:sldId id="427" r:id="rId95"/>
    <p:sldId id="428" r:id="rId96"/>
    <p:sldId id="429" r:id="rId97"/>
    <p:sldId id="430" r:id="rId98"/>
    <p:sldId id="431" r:id="rId99"/>
    <p:sldId id="432" r:id="rId100"/>
    <p:sldId id="433" r:id="rId101"/>
    <p:sldId id="434" r:id="rId102"/>
    <p:sldId id="435" r:id="rId103"/>
    <p:sldId id="436" r:id="rId104"/>
    <p:sldId id="437" r:id="rId105"/>
    <p:sldId id="438" r:id="rId106"/>
    <p:sldId id="439" r:id="rId107"/>
    <p:sldId id="440" r:id="rId108"/>
    <p:sldId id="441" r:id="rId109"/>
    <p:sldId id="442" r:id="rId110"/>
    <p:sldId id="443" r:id="rId111"/>
    <p:sldId id="343" r:id="rId112"/>
    <p:sldId id="305" r:id="rId113"/>
    <p:sldId id="344" r:id="rId114"/>
    <p:sldId id="306" r:id="rId11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594" y="6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3FEBDC-7F3F-4366-B92D-2FEDC8EF31C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FCE7A1-5AC4-4D8C-AEB7-6E22E2922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81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495F52CD-DF24-453B-9DB4-CE8008EF32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996B2CE6-C6F1-4353-B4FB-CC52476FFF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2D59A1C5-FCE8-4561-A2F6-2F27658A10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85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B24EE58C-0BEF-4C39-BD7A-04ABFA94A10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0764" y="826179"/>
            <a:ext cx="1957704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AFE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AFE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AFE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AFE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987425" y="2424114"/>
            <a:ext cx="4208463" cy="754516"/>
          </a:xfrm>
        </p:spPr>
        <p:txBody>
          <a:bodyPr>
            <a:normAutofit/>
          </a:bodyPr>
          <a:lstStyle>
            <a:lvl1pPr>
              <a:buNone/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987425" y="3429000"/>
            <a:ext cx="7300913" cy="2565400"/>
          </a:xfrm>
        </p:spPr>
        <p:txBody>
          <a:bodyPr>
            <a:normAutofit/>
          </a:bodyPr>
          <a:lstStyle>
            <a:lvl1pPr>
              <a:buNone/>
              <a:defRPr sz="4000">
                <a:solidFill>
                  <a:schemeClr val="accent3">
                    <a:lumMod val="75000"/>
                  </a:schemeClr>
                </a:solidFill>
                <a:latin typeface="Arial Narrow" pitchFamily="34" charset="0"/>
              </a:defRPr>
            </a:lvl1pPr>
          </a:lstStyle>
          <a:p>
            <a:pPr lvl="0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4526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800"/>
            <a:ext cx="9144000" cy="457200"/>
          </a:xfrm>
          <a:custGeom>
            <a:avLst/>
            <a:gdLst/>
            <a:ahLst/>
            <a:cxnLst/>
            <a:rect l="l" t="t" r="r" b="b"/>
            <a:pathLst>
              <a:path w="9144000" h="457200">
                <a:moveTo>
                  <a:pt x="9144000" y="0"/>
                </a:moveTo>
                <a:lnTo>
                  <a:pt x="0" y="0"/>
                </a:lnTo>
                <a:lnTo>
                  <a:pt x="0" y="457200"/>
                </a:lnTo>
                <a:lnTo>
                  <a:pt x="9144000" y="457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9144000" cy="67310"/>
          </a:xfrm>
          <a:custGeom>
            <a:avLst/>
            <a:gdLst/>
            <a:ahLst/>
            <a:cxnLst/>
            <a:rect l="l" t="t" r="r" b="b"/>
            <a:pathLst>
              <a:path w="9144000" h="67310">
                <a:moveTo>
                  <a:pt x="9144000" y="0"/>
                </a:moveTo>
                <a:lnTo>
                  <a:pt x="0" y="0"/>
                </a:lnTo>
                <a:lnTo>
                  <a:pt x="0" y="67055"/>
                </a:lnTo>
                <a:lnTo>
                  <a:pt x="9144000" y="67055"/>
                </a:lnTo>
                <a:lnTo>
                  <a:pt x="9144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96111" y="1738883"/>
            <a:ext cx="7475855" cy="0"/>
          </a:xfrm>
          <a:custGeom>
            <a:avLst/>
            <a:gdLst/>
            <a:ahLst/>
            <a:cxnLst/>
            <a:rect l="l" t="t" r="r" b="b"/>
            <a:pathLst>
              <a:path w="7475855">
                <a:moveTo>
                  <a:pt x="0" y="0"/>
                </a:moveTo>
                <a:lnTo>
                  <a:pt x="7475537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79326" y="559765"/>
            <a:ext cx="5194300" cy="1040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AFE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4875" y="2304539"/>
            <a:ext cx="8134984" cy="3233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55211" y="6581775"/>
            <a:ext cx="1437639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75523" y="6568599"/>
            <a:ext cx="19177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www.youtube.com/watch?v=Pmabm_iKm_8&amp;t=935s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www.youtube.com/watch?v=KuFPjmx-jCY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hatgpt.com/c/69f565ad-e5cc-8398-a25b-d9128e691f3b" TargetMode="Externa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youtube.com/watch?v=U1oSjjNerv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10" dirty="0">
                <a:latin typeface="Calibri"/>
                <a:cs typeface="Calibri"/>
              </a:rPr>
              <a:t>ICT502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2032" y="1948148"/>
            <a:ext cx="8265795" cy="158940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5080" indent="1170305">
              <a:lnSpc>
                <a:spcPts val="5830"/>
              </a:lnSpc>
              <a:spcBef>
                <a:spcPts val="835"/>
              </a:spcBef>
            </a:pPr>
            <a:r>
              <a:rPr sz="5400" b="1" dirty="0">
                <a:solidFill>
                  <a:srgbClr val="00AFEF"/>
                </a:solidFill>
                <a:latin typeface="Calibri"/>
                <a:cs typeface="Calibri"/>
              </a:rPr>
              <a:t>Week</a:t>
            </a:r>
            <a:r>
              <a:rPr sz="5400" b="1" spc="-204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5400" b="1" dirty="0">
                <a:solidFill>
                  <a:srgbClr val="00AFEF"/>
                </a:solidFill>
                <a:latin typeface="Calibri"/>
                <a:cs typeface="Calibri"/>
              </a:rPr>
              <a:t>8:</a:t>
            </a:r>
            <a:r>
              <a:rPr sz="5400" b="1" spc="-18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5400" b="1" dirty="0">
                <a:solidFill>
                  <a:srgbClr val="00AFEF"/>
                </a:solidFill>
                <a:latin typeface="Calibri"/>
                <a:cs typeface="Calibri"/>
              </a:rPr>
              <a:t>Writing</a:t>
            </a:r>
            <a:r>
              <a:rPr sz="5400" b="1" spc="-1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5400" b="1" spc="-25" dirty="0">
                <a:solidFill>
                  <a:srgbClr val="00AFEF"/>
                </a:solidFill>
                <a:latin typeface="Calibri"/>
                <a:cs typeface="Calibri"/>
              </a:rPr>
              <a:t>and </a:t>
            </a:r>
            <a:r>
              <a:rPr sz="5400" b="1" dirty="0">
                <a:solidFill>
                  <a:srgbClr val="00AFEF"/>
                </a:solidFill>
                <a:latin typeface="Calibri"/>
                <a:cs typeface="Calibri"/>
              </a:rPr>
              <a:t>Presenting</a:t>
            </a:r>
            <a:r>
              <a:rPr sz="5400" b="1" spc="-1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5400" b="1" dirty="0">
                <a:solidFill>
                  <a:srgbClr val="00AFEF"/>
                </a:solidFill>
                <a:latin typeface="Calibri"/>
                <a:cs typeface="Calibri"/>
              </a:rPr>
              <a:t>IT</a:t>
            </a:r>
            <a:r>
              <a:rPr sz="5400" b="1" spc="-1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5400" b="1" dirty="0">
                <a:solidFill>
                  <a:srgbClr val="00AFEF"/>
                </a:solidFill>
                <a:latin typeface="Calibri"/>
                <a:cs typeface="Calibri"/>
              </a:rPr>
              <a:t>Project</a:t>
            </a:r>
            <a:r>
              <a:rPr sz="5400" b="1" spc="-1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5400" b="1" spc="-10" dirty="0">
                <a:solidFill>
                  <a:srgbClr val="00AFEF"/>
                </a:solidFill>
                <a:latin typeface="Calibri"/>
                <a:cs typeface="Calibri"/>
              </a:rPr>
              <a:t>Reports</a:t>
            </a:r>
            <a:endParaRPr sz="5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905535" y="6484937"/>
            <a:ext cx="13354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ICT502</a:t>
            </a:r>
            <a:r>
              <a:rPr sz="900" b="1" spc="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Applied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9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39562" y="6489509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73536" y="647446"/>
            <a:ext cx="63595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10" dirty="0"/>
              <a:t>What</a:t>
            </a:r>
            <a:r>
              <a:rPr sz="4800" spc="-190" dirty="0"/>
              <a:t> </a:t>
            </a:r>
            <a:r>
              <a:rPr sz="4800" spc="-60" dirty="0"/>
              <a:t>we</a:t>
            </a:r>
            <a:r>
              <a:rPr sz="4800" spc="-180" dirty="0"/>
              <a:t> </a:t>
            </a:r>
            <a:r>
              <a:rPr sz="4800" spc="-95" dirty="0"/>
              <a:t>learned</a:t>
            </a:r>
            <a:r>
              <a:rPr sz="4800" spc="-204" dirty="0"/>
              <a:t> </a:t>
            </a:r>
            <a:r>
              <a:rPr sz="4800" spc="-85" dirty="0"/>
              <a:t>last</a:t>
            </a:r>
            <a:r>
              <a:rPr sz="4800" spc="-185" dirty="0"/>
              <a:t> </a:t>
            </a:r>
            <a:r>
              <a:rPr sz="4800" spc="-30" dirty="0"/>
              <a:t>week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545306" y="1679195"/>
            <a:ext cx="7304405" cy="205422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15"/>
              </a:spcBef>
              <a:buClr>
                <a:srgbClr val="E38312"/>
              </a:buClr>
              <a:buSzPct val="41666"/>
              <a:buFont typeface="Symbol"/>
              <a:buChar char="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Why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Does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Communication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Fail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2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Management?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115"/>
              </a:spcBef>
              <a:buClr>
                <a:srgbClr val="E38312"/>
              </a:buClr>
              <a:buSzPct val="41666"/>
              <a:buFont typeface="Symbol"/>
              <a:buChar char="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Significance</a:t>
            </a:r>
            <a:r>
              <a:rPr sz="24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Communication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Managing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Projects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105"/>
              </a:spcBef>
              <a:buClr>
                <a:srgbClr val="E38312"/>
              </a:buClr>
              <a:buSzPct val="41666"/>
              <a:buFont typeface="Symbol"/>
              <a:buChar char=""/>
              <a:tabLst>
                <a:tab pos="354965" algn="l"/>
              </a:tabLst>
            </a:pP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Types</a:t>
            </a:r>
            <a:r>
              <a:rPr sz="2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Communication</a:t>
            </a:r>
            <a:r>
              <a:rPr sz="2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4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24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Management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115"/>
              </a:spcBef>
              <a:buClr>
                <a:srgbClr val="E38312"/>
              </a:buClr>
              <a:buSzPct val="41666"/>
              <a:buFont typeface="Symbol"/>
              <a:buChar char="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Key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Steps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Manage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Communication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2400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Projects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0" y="647446"/>
            <a:ext cx="910748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Why IT Project Reports Matter</a:t>
            </a:r>
            <a:endParaRPr sz="4800" dirty="0"/>
          </a:p>
        </p:txBody>
      </p:sp>
      <p:sp>
        <p:nvSpPr>
          <p:cNvPr id="3" name="object 3"/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2401" y="1600200"/>
            <a:ext cx="8821100" cy="494154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In Real Industry: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Reports are used to:</a:t>
            </a:r>
          </a:p>
          <a:p>
            <a:pPr marL="5365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explain problems, </a:t>
            </a:r>
          </a:p>
          <a:p>
            <a:pPr marL="5365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justify solutions, </a:t>
            </a:r>
          </a:p>
          <a:p>
            <a:pPr marL="5365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communicate with clients, </a:t>
            </a:r>
          </a:p>
          <a:p>
            <a:pPr marL="5365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request approval, </a:t>
            </a:r>
          </a:p>
          <a:p>
            <a:pPr marL="5365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guide implementation.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Assessment 4 is not just an assignment.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latin typeface="+mj-lt"/>
              </a:rPr>
              <a:t>It simulates a real IT proposal document.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D1BAE-EEF3-FAC9-FEC2-078DED759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889179C6-0066-2AF4-292B-8E1D0CE4C4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647446"/>
            <a:ext cx="910748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Common Student Mistakes in Reports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040EAD2-E45C-42A2-FDFB-EF20A961884B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DD7D5C9-FDEF-9D23-95FF-7001FA8D455A}"/>
              </a:ext>
            </a:extLst>
          </p:cNvPr>
          <p:cNvSpPr txBox="1"/>
          <p:nvPr/>
        </p:nvSpPr>
        <p:spPr>
          <a:xfrm>
            <a:off x="152401" y="1600200"/>
            <a:ext cx="8821100" cy="438511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0000"/>
                </a:highlight>
              </a:rPr>
              <a:t>X</a:t>
            </a:r>
            <a:r>
              <a:rPr lang="en-US" sz="2400" dirty="0">
                <a:latin typeface="+mj-lt"/>
              </a:rPr>
              <a:t> Too descriptive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highlight>
                  <a:srgbClr val="FF0000"/>
                </a:highlight>
              </a:rPr>
              <a:t>X</a:t>
            </a:r>
            <a:r>
              <a:rPr lang="en-US" sz="2400" dirty="0">
                <a:latin typeface="+mj-lt"/>
              </a:rPr>
              <a:t> No clear business problem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highlight>
                  <a:srgbClr val="FF0000"/>
                </a:highlight>
              </a:rPr>
              <a:t>X</a:t>
            </a:r>
            <a:r>
              <a:rPr lang="en-US" sz="2400" dirty="0">
                <a:latin typeface="+mj-lt"/>
              </a:rPr>
              <a:t> Weak justification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highlight>
                  <a:srgbClr val="FF0000"/>
                </a:highlight>
              </a:rPr>
              <a:t>X</a:t>
            </a:r>
            <a:r>
              <a:rPr lang="en-US" sz="2400" dirty="0">
                <a:latin typeface="+mj-lt"/>
              </a:rPr>
              <a:t> No evidence/data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highlight>
                  <a:srgbClr val="FF0000"/>
                </a:highlight>
              </a:rPr>
              <a:t>X</a:t>
            </a:r>
            <a:r>
              <a:rPr lang="en-US" sz="2400" dirty="0">
                <a:latin typeface="+mj-lt"/>
              </a:rPr>
              <a:t> Poor structure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highlight>
                  <a:srgbClr val="FF0000"/>
                </a:highlight>
              </a:rPr>
              <a:t>X</a:t>
            </a:r>
            <a:r>
              <a:rPr lang="en-US" sz="2400" dirty="0">
                <a:latin typeface="+mj-lt"/>
              </a:rPr>
              <a:t> Only talking about technology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highlight>
                  <a:srgbClr val="FF0000"/>
                </a:highlight>
              </a:rPr>
              <a:t>X</a:t>
            </a:r>
            <a:r>
              <a:rPr lang="en-US" sz="2400" dirty="0">
                <a:latin typeface="+mj-lt"/>
              </a:rPr>
              <a:t> No client focus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highlight>
                  <a:srgbClr val="FF0000"/>
                </a:highlight>
              </a:rPr>
              <a:t>X</a:t>
            </a:r>
            <a:r>
              <a:rPr lang="en-US" sz="2400" dirty="0">
                <a:latin typeface="+mj-lt"/>
              </a:rPr>
              <a:t> No sustainability discussion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372E197-68D7-53FA-D20A-48EA2129B25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705E58C9-D161-5AD3-2E79-0968B407A0E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CE88D96-49C8-AD6E-9CD2-34700FEF266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175061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813B9-AD0D-D23B-31C8-6FEB8C359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73FF45BB-39F8-E734-0BDB-1800D10040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647446"/>
            <a:ext cx="910748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Assessment 4 = Professional IT Proposal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FD48EED-694F-4E56-A2DB-A4F868734B9C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2CA8B1A-505B-429F-62FA-C40366296128}"/>
              </a:ext>
            </a:extLst>
          </p:cNvPr>
          <p:cNvSpPr txBox="1"/>
          <p:nvPr/>
        </p:nvSpPr>
        <p:spPr>
          <a:xfrm>
            <a:off x="152401" y="1600200"/>
            <a:ext cx="8821100" cy="438754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Students Should Think Like:</a:t>
            </a:r>
          </a:p>
          <a:p>
            <a:pPr marL="5365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IT consultant </a:t>
            </a:r>
          </a:p>
          <a:p>
            <a:pPr marL="5365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Business analyst </a:t>
            </a:r>
          </a:p>
          <a:p>
            <a:pPr marL="5365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Project coordinator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NOT: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“I am writing a university assignment.”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BUT: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“I am proposing a real IT solution to NSW IT Support.”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E39F7F09-5EFE-D5F7-CC09-82F940C6468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2456C8FD-2A1E-FF5C-1033-8736DAFEBC7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1064E31-1E25-0F67-344E-2EC65B8D68F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166814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A442F-0531-A946-ED7F-D5372E1B8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5FC71122-5123-6E2D-4061-14306636FC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647446"/>
            <a:ext cx="910748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Understanding Report Objectives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4E33728-94D8-9CD3-F3DB-0591F3723982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D457F59-04C1-4120-B8FF-5588564DDD88}"/>
              </a:ext>
            </a:extLst>
          </p:cNvPr>
          <p:cNvSpPr txBox="1"/>
          <p:nvPr/>
        </p:nvSpPr>
        <p:spPr>
          <a:xfrm>
            <a:off x="152401" y="1600200"/>
            <a:ext cx="8821100" cy="494154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Before Writing, Ask: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“What is the purpose of my report?”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Possible objectives:</a:t>
            </a:r>
          </a:p>
          <a:p>
            <a:pPr marL="63023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solve a business problem, </a:t>
            </a:r>
          </a:p>
          <a:p>
            <a:pPr marL="63023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improve customer support, </a:t>
            </a:r>
          </a:p>
          <a:p>
            <a:pPr marL="63023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improve cybersecurity, </a:t>
            </a:r>
          </a:p>
          <a:p>
            <a:pPr marL="63023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automate processes, </a:t>
            </a:r>
          </a:p>
          <a:p>
            <a:pPr marL="63023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improve communication, </a:t>
            </a:r>
          </a:p>
          <a:p>
            <a:pPr marL="63023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reduce operational cost. 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767264D9-5947-B0A7-1BF4-4E990FD33D6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553B6278-5CC6-7664-6ED5-A751299DDFB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14E17CC-8576-9CCA-18B5-FF46F341CEB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209060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43F3A-B4FC-8659-3E6C-BF2CBE461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8921D7D7-D979-F9D9-27AB-F356C8C529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647446"/>
            <a:ext cx="910748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Define Scope Clearly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60ED010-5A5D-F58A-57F0-0AC88A30098E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93FB880-7680-9B80-A1C5-7D0D5777A956}"/>
              </a:ext>
            </a:extLst>
          </p:cNvPr>
          <p:cNvSpPr txBox="1"/>
          <p:nvPr/>
        </p:nvSpPr>
        <p:spPr>
          <a:xfrm>
            <a:off x="159609" y="1292704"/>
            <a:ext cx="8821100" cy="554427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+mj-lt"/>
              </a:rPr>
              <a:t>Scope = What Your Project Includes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+mj-lt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+mj-lt"/>
              </a:rPr>
              <a:t>Included: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+mj-lt"/>
              </a:rPr>
              <a:t>✔ AI ticketing system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✔ cloud dashboard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✔ automated alerts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+mj-lt"/>
              </a:rPr>
              <a:t>Not Included: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+mj-lt"/>
              </a:rPr>
              <a:t>✘ full company ERP system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✘ hardware replacement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✘ accounting systems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+mj-lt"/>
              </a:rPr>
              <a:t>Scope helps keep projects realistic.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FCBDBA9E-A7DC-9FFB-A48D-8C2C854AA9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E1B67A76-708F-C553-F6E7-DABF3D7F6D7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16C4BD5-D8C3-556D-6051-7F0AD8519E2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708026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A58BE-CCE2-C8B6-59B8-C6CF82449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61A3A383-9817-EF79-F6DE-AF87331576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647446"/>
            <a:ext cx="910748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Understanding the Audience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58EE9F9-51EB-3632-FB49-3B6903461AE5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D4E8953-05FA-DFF1-0033-B7203FEE2367}"/>
              </a:ext>
            </a:extLst>
          </p:cNvPr>
          <p:cNvSpPr txBox="1"/>
          <p:nvPr/>
        </p:nvSpPr>
        <p:spPr>
          <a:xfrm>
            <a:off x="159609" y="1292704"/>
            <a:ext cx="8821100" cy="447032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Who Will Read Your Report?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Possible readers:</a:t>
            </a:r>
          </a:p>
          <a:p>
            <a:pPr marL="714375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NSW IT Support managers </a:t>
            </a:r>
          </a:p>
          <a:p>
            <a:pPr marL="714375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technical staff </a:t>
            </a:r>
          </a:p>
          <a:p>
            <a:pPr marL="714375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academic assessors </a:t>
            </a:r>
          </a:p>
          <a:p>
            <a:pPr marL="714375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clients </a:t>
            </a:r>
          </a:p>
          <a:p>
            <a:pPr marL="714375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non-technical stakeholders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CD114D01-2DFB-2117-8022-0DE96A1A1B9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974EA26D-D4C2-335C-D280-C4C17E5C03F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AE62EB7-7D9B-B4D5-7956-7F92086C54E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80615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23652-D6F7-C4D6-EEA2-63045D359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4E5C009-B722-5457-EBE6-EB4B079FD6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647446"/>
            <a:ext cx="910748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Writing for Different Audiences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A58C8AF-9A80-94AB-70CD-54537F49F140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256CB5E-2218-9588-DCDC-3546BCED47EA}"/>
              </a:ext>
            </a:extLst>
          </p:cNvPr>
          <p:cNvSpPr txBox="1"/>
          <p:nvPr/>
        </p:nvSpPr>
        <p:spPr>
          <a:xfrm>
            <a:off x="159609" y="1292704"/>
            <a:ext cx="8821100" cy="382399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Technical Audience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Can understand:</a:t>
            </a:r>
          </a:p>
          <a:p>
            <a:pPr marL="630238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databases, </a:t>
            </a:r>
          </a:p>
          <a:p>
            <a:pPr marL="630238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APIs, </a:t>
            </a:r>
          </a:p>
          <a:p>
            <a:pPr marL="630238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cybersecurity tools, </a:t>
            </a:r>
          </a:p>
          <a:p>
            <a:pPr marL="630238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cloud infrastructure. 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DBB1E194-5CDA-D800-BDB1-430C7CD1EF1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D2E02261-BCB1-2227-2D0D-49C6FE5666E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7631FEB-A819-CE87-C7C2-8C0E5080D45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533408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0D873-07F4-0FE6-1171-08D9A87A9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BFCBC17F-E910-CF64-724F-5DC0A378B6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647446"/>
            <a:ext cx="910748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Writing for Different Audiences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55EB543-AE61-5933-868C-59C17F834A64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F91BD72-AB23-40B8-3E28-80258FEBCE3E}"/>
              </a:ext>
            </a:extLst>
          </p:cNvPr>
          <p:cNvSpPr txBox="1"/>
          <p:nvPr/>
        </p:nvSpPr>
        <p:spPr>
          <a:xfrm>
            <a:off x="159609" y="1292704"/>
            <a:ext cx="8821100" cy="382399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Non-Technical Audience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Need:</a:t>
            </a:r>
          </a:p>
          <a:p>
            <a:pPr marL="6302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simple explanations, </a:t>
            </a:r>
          </a:p>
          <a:p>
            <a:pPr marL="6302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business benefits, </a:t>
            </a:r>
          </a:p>
          <a:p>
            <a:pPr marL="6302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cost/value focus.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Students should avoid too much technical jargon.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BF99049F-AFA3-B4E8-7E9F-AB3091194FC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ADDAE31D-9755-F97B-BE3B-7B1858E1A1B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310D4F0-98B7-B9FF-0CEF-1EC9FE0A365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464024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357FB-4DF3-4338-369F-60C966F9E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9D75DC70-A5A5-D8F5-A58F-8508DB66FE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8" y="556841"/>
            <a:ext cx="9107486" cy="149015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Questions Students Can Ask NSW IT Support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EF9A577-45D3-5001-AF0D-897639FC9F68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F2CC29D-F81E-BCB1-B60D-9EEA7D6F5544}"/>
              </a:ext>
            </a:extLst>
          </p:cNvPr>
          <p:cNvSpPr txBox="1"/>
          <p:nvPr/>
        </p:nvSpPr>
        <p:spPr>
          <a:xfrm>
            <a:off x="0" y="2286000"/>
            <a:ext cx="8821100" cy="382399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To Improve Their Report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Business Questions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630238" algn="l"/>
              </a:tabLst>
            </a:pPr>
            <a:r>
              <a:rPr lang="en-US" sz="2800" dirty="0">
                <a:latin typeface="+mj-lt"/>
              </a:rPr>
              <a:t>What business problem is most urgent?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630238" algn="l"/>
              </a:tabLst>
            </a:pPr>
            <a:r>
              <a:rPr lang="en-US" sz="2800" dirty="0">
                <a:latin typeface="+mj-lt"/>
              </a:rPr>
              <a:t>Which services are hardest to manage?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630238" algn="l"/>
              </a:tabLst>
            </a:pPr>
            <a:r>
              <a:rPr lang="en-US" sz="2800" dirty="0">
                <a:latin typeface="+mj-lt"/>
              </a:rPr>
              <a:t>What processes are still manual?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630238" algn="l"/>
              </a:tabLst>
            </a:pPr>
            <a:r>
              <a:rPr lang="en-US" sz="2800" dirty="0">
                <a:latin typeface="+mj-lt"/>
              </a:rPr>
              <a:t>What causes delays in customer support?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7E0731A1-92AB-9687-4B85-6BADCE4D06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BCCB4C73-413A-ABE5-DD50-0F2C613FCC7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2293E5C-3460-5555-674B-D3F89C89BD1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202229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B1724-2630-17AF-86DF-A1037B905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16B4FC9C-9924-D07B-AD76-70DF996C26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8" y="556841"/>
            <a:ext cx="9107486" cy="149015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Questions Students Can Ask NSW IT Support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071C906-6B28-8DEC-5F04-5878809C75B0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DEB87AC-D731-C002-4624-860AB219A560}"/>
              </a:ext>
            </a:extLst>
          </p:cNvPr>
          <p:cNvSpPr txBox="1"/>
          <p:nvPr/>
        </p:nvSpPr>
        <p:spPr>
          <a:xfrm>
            <a:off x="0" y="2286000"/>
            <a:ext cx="8821100" cy="447032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Technical Questions</a:t>
            </a:r>
          </a:p>
          <a:p>
            <a:pPr marL="714375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What systems do you currently use? </a:t>
            </a:r>
          </a:p>
          <a:p>
            <a:pPr marL="714375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What security challenges do you face? </a:t>
            </a:r>
          </a:p>
          <a:p>
            <a:pPr marL="714375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 you use cloud-based systems?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Client Questions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What do clients complain about most?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What features do clients request?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34B2E806-3D2B-B049-E936-5FD29180F88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620F96C0-A266-6406-3036-49812C1C8B3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E5D2E97-EC57-1AC8-054C-557C19A3C79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370098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C6E25-E950-0676-9FB1-6CCA316AF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098CF8BF-7768-A01C-FAFF-69E534B254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8" y="556841"/>
            <a:ext cx="910748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Questions About Data &amp; Evidence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1099F0E-8F2D-CEEC-2F50-E5205D9940CC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1EE8A2F-D77C-084C-45AF-9E55C0CEA63F}"/>
              </a:ext>
            </a:extLst>
          </p:cNvPr>
          <p:cNvSpPr txBox="1"/>
          <p:nvPr/>
        </p:nvSpPr>
        <p:spPr>
          <a:xfrm>
            <a:off x="13138" y="1547428"/>
            <a:ext cx="8821100" cy="511377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Assessment 4 Needs Evidence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Students Can Ask: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How many support tickets are handled monthly?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What are the most common incidents?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What causes the longest delays?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Are there common cybersecurity issues?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What areas consume the most staff time?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This helps students justify their solution.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97C20C44-1DE7-3825-24C8-32FE7583BE6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AA39D1D0-3B86-D7E6-F492-75F34E71D87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5812495-050E-FF41-BD09-82910167C55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012777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5F928-B575-1569-5B9F-D498D5FE1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EA65F84F-0825-DC05-6C27-6401F4CE66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8" y="556841"/>
            <a:ext cx="9107486" cy="149015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Example: Turning Company Information into Report Content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60088B8-975A-E72B-874B-02B70803A55A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36DD4D8-E744-8A2E-6B12-2DA2B15B969E}"/>
              </a:ext>
            </a:extLst>
          </p:cNvPr>
          <p:cNvSpPr txBox="1"/>
          <p:nvPr/>
        </p:nvSpPr>
        <p:spPr>
          <a:xfrm>
            <a:off x="23376" y="2046993"/>
            <a:ext cx="8821100" cy="382399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Company Problem: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Slow support ticket handling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Report Problem Statement: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NSW IT Support handles a large number of support requests, creating delays in issue resolution and reducing customer satisfaction.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533C0D68-708E-83AA-EFDD-7182D93250D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2C3F5EB8-A87D-966E-1D5F-1A31DB2F659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FB3EA27-07B6-2799-FAD8-B8459D476B8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073156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A638D-B723-CDCC-72DF-1EEBE9B1C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9D00325C-D86B-EAA2-C1D7-1F6E9EDF1B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8" y="556841"/>
            <a:ext cx="9107486" cy="149015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Example: Turning Company Information into Report Content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451279D-5800-211C-E697-B10BAC3186D5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759A853-DF36-5E26-5BAB-1994A6628D03}"/>
              </a:ext>
            </a:extLst>
          </p:cNvPr>
          <p:cNvSpPr txBox="1"/>
          <p:nvPr/>
        </p:nvSpPr>
        <p:spPr>
          <a:xfrm>
            <a:off x="23376" y="2046993"/>
            <a:ext cx="8821100" cy="2531334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Proposed Solution: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AI-assisted ticket </a:t>
            </a:r>
            <a:r>
              <a:rPr lang="en-US" sz="2800" dirty="0" err="1">
                <a:latin typeface="+mj-lt"/>
              </a:rPr>
              <a:t>prioritisation</a:t>
            </a:r>
            <a:r>
              <a:rPr lang="en-US" sz="2800" dirty="0">
                <a:latin typeface="+mj-lt"/>
              </a:rPr>
              <a:t> system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This is how students transform company discussions into professional report writing.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7AD26B72-2D4D-7966-98C9-B25237040E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987CE830-F10A-EB59-04A3-14DE57CF025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2A38A34-3407-33F3-6D3A-209DA89CE5C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92475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03A2F-9AD3-F12F-C666-36B5A7FB6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54401810-5161-0E1B-D88C-F29D5DD491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14" y="1115217"/>
            <a:ext cx="9107486" cy="75148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Gathering Facts and Data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6C7BC80-381A-B78D-368A-F498C9B3E759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F0DC059-DA1C-D6CE-BDFC-54E42F4958CF}"/>
              </a:ext>
            </a:extLst>
          </p:cNvPr>
          <p:cNvSpPr txBox="1"/>
          <p:nvPr/>
        </p:nvSpPr>
        <p:spPr>
          <a:xfrm>
            <a:off x="28904" y="1833718"/>
            <a:ext cx="8821100" cy="446744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Good Reports Use: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✔ company information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✔ statistics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✔ research papers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✔ industry reports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✔ client needs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✔ technology comparisons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BAAF8D36-15D9-EF02-72B3-8D32414C34D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F1DC9C26-073B-D7E8-FE0C-F7379E88E76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AE07516-8C5F-ECB2-02DB-02D9377F8D2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760107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5D912-49BF-6FFE-202F-FF864A25D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615A610-F23B-2D4A-35F3-23FDC1CFCA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8" y="556841"/>
            <a:ext cx="910748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Example Sources Students Can Use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A3B4DC8-A626-3763-580D-EB81036CAEFA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0F2FD9C-E5EE-6AE3-8BD2-478784684B24}"/>
              </a:ext>
            </a:extLst>
          </p:cNvPr>
          <p:cNvSpPr txBox="1"/>
          <p:nvPr/>
        </p:nvSpPr>
        <p:spPr>
          <a:xfrm>
            <a:off x="13138" y="1574553"/>
            <a:ext cx="8821100" cy="514692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+mj-lt"/>
              </a:rPr>
              <a:t>Academic Sources</a:t>
            </a:r>
          </a:p>
          <a:p>
            <a:pPr marL="7143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+mj-lt"/>
              </a:rPr>
              <a:t>Google Scholar </a:t>
            </a:r>
          </a:p>
          <a:p>
            <a:pPr marL="7143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+mj-lt"/>
              </a:rPr>
              <a:t>IEEE papers </a:t>
            </a:r>
          </a:p>
          <a:p>
            <a:pPr marL="7143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+mj-lt"/>
              </a:rPr>
              <a:t>cybersecurity journals </a:t>
            </a:r>
          </a:p>
          <a:p>
            <a:pPr>
              <a:lnSpc>
                <a:spcPct val="150000"/>
              </a:lnSpc>
            </a:pPr>
            <a:r>
              <a:rPr lang="en-US" sz="2500" b="1" dirty="0">
                <a:latin typeface="+mj-lt"/>
              </a:rPr>
              <a:t>Industry Sources</a:t>
            </a:r>
          </a:p>
          <a:p>
            <a:pPr marL="7143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+mj-lt"/>
              </a:rPr>
              <a:t>AWS </a:t>
            </a:r>
          </a:p>
          <a:p>
            <a:pPr marL="7143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+mj-lt"/>
              </a:rPr>
              <a:t>Microsoft </a:t>
            </a:r>
          </a:p>
          <a:p>
            <a:pPr marL="7143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+mj-lt"/>
              </a:rPr>
              <a:t>IBM </a:t>
            </a:r>
          </a:p>
          <a:p>
            <a:pPr marL="7143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+mj-lt"/>
              </a:rPr>
              <a:t>Cisco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D7B57CF0-A6A5-BEDE-1D6B-FD2ABB27331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08DC64D5-B164-04C4-786F-3BFBC554333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FD2DDFF-7909-F36A-B341-06F6734A88F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736056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CE873-3E1F-459C-E818-1ACA46906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93CE60D-AEBB-F7D4-7B97-E4EDEA2BDB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8" y="556841"/>
            <a:ext cx="910748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Example Sources Students Can Use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78830AB-056C-6F3D-7EF8-11C32CB05DEC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7FC197C-FAFA-1C23-6132-B4587805063D}"/>
              </a:ext>
            </a:extLst>
          </p:cNvPr>
          <p:cNvSpPr txBox="1"/>
          <p:nvPr/>
        </p:nvSpPr>
        <p:spPr>
          <a:xfrm>
            <a:off x="13138" y="1574553"/>
            <a:ext cx="8821100" cy="2531334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Company Information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NSW IT Support website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discussions/interviews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client services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B1159FD7-C604-733A-7E2B-BA766CCC8FE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79FE7AE1-AA3B-6CB6-819E-C6995B366C3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1E53C15-4FFB-6695-8844-322207A7D20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409052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81DA0-4B13-EADB-7D87-699AAE193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9A3429AA-B073-3053-150F-A8094EA53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8" y="556841"/>
            <a:ext cx="910748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Report Structure for Assessment 4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EEBFF5E-B89F-D5DE-34CA-FDD9A1F92E02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0735318-F7C6-A51D-59D7-6D0ECEE36379}"/>
              </a:ext>
            </a:extLst>
          </p:cNvPr>
          <p:cNvSpPr txBox="1"/>
          <p:nvPr/>
        </p:nvSpPr>
        <p:spPr>
          <a:xfrm>
            <a:off x="13138" y="1574553"/>
            <a:ext cx="8821100" cy="511665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1. Executive Summary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Short overview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2. Problem Definition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What is the issue?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3. Proposed Solution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What system solves it?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4. Design &amp; Technology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How will it work?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5358FA56-8C2C-36A5-6C3B-1F261A5CD9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F0F32981-F39F-6F14-409E-CECDE1F2E53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D3B8A2E-012E-4400-7F07-A31869CB49F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481450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653BB-D665-DA91-B0FA-E464B8EA4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CFEA3B72-D9EF-B377-9DB3-BCAE78E2B3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8" y="556841"/>
            <a:ext cx="910748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Report Structure for Assessment 4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ED0A243-11D8-B40A-CE61-0D10ADF05A25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A894715-C45D-5388-E2DA-6A6E9018A58C}"/>
              </a:ext>
            </a:extLst>
          </p:cNvPr>
          <p:cNvSpPr txBox="1"/>
          <p:nvPr/>
        </p:nvSpPr>
        <p:spPr>
          <a:xfrm>
            <a:off x="13138" y="1574553"/>
            <a:ext cx="8821100" cy="382399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5. Ethics &amp; Risks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What could go wrong?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6. Communication &amp; Future Development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How will stakeholders stay informed?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7. Conclusion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Why is the project valuable?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CC9AFA9A-68E3-5BE5-DB75-9121FD22CE7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40056BC0-8E4F-8412-4648-7E42975E4E6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418311F-5726-455F-FD17-A9CE8CC0F50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103050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6A3F-80D8-C292-AD8B-75733B1DC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3A826488-9AB5-4496-5763-DC0B0DF0D3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8" y="556841"/>
            <a:ext cx="910748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Helping Students Write Better Solutions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D96F49F-5627-CC87-69A3-BAC8F1684740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777ECD0-39E9-9349-0A1C-0049374E64B1}"/>
              </a:ext>
            </a:extLst>
          </p:cNvPr>
          <p:cNvSpPr txBox="1"/>
          <p:nvPr/>
        </p:nvSpPr>
        <p:spPr>
          <a:xfrm>
            <a:off x="13138" y="1574553"/>
            <a:ext cx="9130862" cy="493910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Weak Solution Example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“We will use cloud computing.”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0000"/>
                </a:highlight>
                <a:latin typeface="+mj-lt"/>
              </a:rPr>
              <a:t>X</a:t>
            </a:r>
            <a:r>
              <a:rPr lang="en-US" sz="2400" dirty="0">
                <a:latin typeface="+mj-lt"/>
              </a:rPr>
              <a:t> Too vague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Better Example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“We propose a cloud-based ticket management system using AWS to improve scalability, remote access, and response time.”</a:t>
            </a:r>
          </a:p>
          <a:p>
            <a:pPr marL="268288">
              <a:lnSpc>
                <a:spcPct val="150000"/>
              </a:lnSpc>
            </a:pPr>
            <a:r>
              <a:rPr lang="en-US" sz="2400" dirty="0">
                <a:latin typeface="+mj-lt"/>
              </a:rPr>
              <a:t>✔ Specific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latin typeface="+mj-lt"/>
              </a:rPr>
              <a:t>✔ Justified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latin typeface="+mj-lt"/>
              </a:rPr>
              <a:t>✔ Business-focused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6DE26FF3-9EFD-DBD6-CFC2-2B92B773671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F96AF91D-DB61-D728-D870-D079322D293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EBA2B36-5BC9-4C3F-A1B2-4C3264C61C2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711817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F700D-FD39-328E-4D53-50D6E4E56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4AB5273-6838-F829-A6B0-52851CA474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8" y="556841"/>
            <a:ext cx="9107486" cy="149015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Sustainability Section (Students Often Forget)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4F2535C-D269-E8E9-1656-CC3EDBFCAB36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8A6230D-FD18-7859-725B-01B35FDBC11C}"/>
              </a:ext>
            </a:extLst>
          </p:cNvPr>
          <p:cNvSpPr txBox="1"/>
          <p:nvPr/>
        </p:nvSpPr>
        <p:spPr>
          <a:xfrm>
            <a:off x="23376" y="2133600"/>
            <a:ext cx="9130862" cy="383355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Students Must Explain: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Environmental Sustainability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cloud reduces hardware usage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Economic Sustainability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automation reduces </a:t>
            </a:r>
            <a:r>
              <a:rPr lang="en-US" sz="2400" dirty="0" err="1">
                <a:latin typeface="+mj-lt"/>
              </a:rPr>
              <a:t>labour</a:t>
            </a:r>
            <a:r>
              <a:rPr lang="en-US" sz="2400" dirty="0">
                <a:latin typeface="+mj-lt"/>
              </a:rPr>
              <a:t> cost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Social Sustainability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improved accessibility and customer service 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E76B4CA2-36EF-D8C8-3BAB-D46C97F6219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E84CAFF3-7C63-34A5-46DC-02C59FC7FED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4578E8B-3C95-B5D8-0E4D-9BB8357D1E0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62058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187E5-C6F4-12A4-2A22-B602C6E15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754A1518-6D0A-1E45-F0F3-A1A9543E85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8" y="556841"/>
            <a:ext cx="9107486" cy="75148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Questions About Sustainability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7230FAD-2B51-2DC8-D3C6-11D66A465150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62EBF3A-C299-A9A2-407A-B70669D0EA58}"/>
              </a:ext>
            </a:extLst>
          </p:cNvPr>
          <p:cNvSpPr txBox="1"/>
          <p:nvPr/>
        </p:nvSpPr>
        <p:spPr>
          <a:xfrm>
            <a:off x="23376" y="2133600"/>
            <a:ext cx="9130862" cy="317766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Students Can Ask: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How do you reduce operational costs?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 clients request environmentally friendly solutions?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How important is remote/cloud work?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 clients prefer scalable cloud systems?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5C7B7C12-A4A3-81B8-3972-55006677102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CF761D3A-D510-10DC-9A33-005E9721007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5801B4C-158A-6FEF-4256-F776793D32F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1358669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0F658-C36E-A321-8509-AB5CCF29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206F3BC-DA3C-37C1-6F69-2D41B0B6CC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8" y="556841"/>
            <a:ext cx="9107486" cy="75148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Ethical &amp; Security Questions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0029A3E-7B96-E72C-4826-D8F346F03D2C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CFA926A-FDDC-D82C-5592-4F313767E285}"/>
              </a:ext>
            </a:extLst>
          </p:cNvPr>
          <p:cNvSpPr txBox="1"/>
          <p:nvPr/>
        </p:nvSpPr>
        <p:spPr>
          <a:xfrm>
            <a:off x="23376" y="2133600"/>
            <a:ext cx="9130862" cy="382399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Important for Assessment 4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Students Can Ask: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How do you protect client data?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What cybersecurity risks are most common?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How do you manage privacy?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How do you control employee access?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EED85950-5DC3-3DBB-6AAE-7299430EAC3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4EEDC9B1-441D-EA6F-782C-897583CA92B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C635BA3-F0D0-5D9C-D7E2-7237CF9C05C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944520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4AE74-B9E8-3CB8-F7BA-B3DF7998D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7351621B-E953-76EA-F7A2-4AF41BC839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8" y="556841"/>
            <a:ext cx="9107486" cy="149015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Example Challenges &amp; Possible Student Solutions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097E5FC-D584-B4FA-1EFB-ADCCE1640731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D234AB57-D142-519B-988D-C10E4689CD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FD4C7991-45AA-2EF1-E3D9-5D3C4F54D2B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28E2726-2F38-312B-1EAA-46E76C91F51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F9080F-C66E-E207-24C6-B298F66D18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983000"/>
              </p:ext>
            </p:extLst>
          </p:nvPr>
        </p:nvGraphicFramePr>
        <p:xfrm>
          <a:off x="537555" y="2333184"/>
          <a:ext cx="8135936" cy="39624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4067968">
                  <a:extLst>
                    <a:ext uri="{9D8B030D-6E8A-4147-A177-3AD203B41FA5}">
                      <a16:colId xmlns:a16="http://schemas.microsoft.com/office/drawing/2014/main" val="91269987"/>
                    </a:ext>
                  </a:extLst>
                </a:gridCol>
                <a:gridCol w="4067968">
                  <a:extLst>
                    <a:ext uri="{9D8B030D-6E8A-4147-A177-3AD203B41FA5}">
                      <a16:colId xmlns:a16="http://schemas.microsoft.com/office/drawing/2014/main" val="403472513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Challenge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Possible Solution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2959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Slow support response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AI chatbot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520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Cyber attacks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Security monitoring dashboard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2444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Manual ticket sorting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Automated classification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6151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Client communication delays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Customer portal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9619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Data management issues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Cloud database system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55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48241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C8B08-205D-9C9C-53D9-6EF3F8889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93171459-DD1C-3260-BF1A-58ECFC8207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8" y="556841"/>
            <a:ext cx="9107486" cy="75148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Professional Report Writing Tips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4AC22B6-14E5-DF0B-1055-F70BB5AF9CD4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57A157B7-C873-FFAA-8447-69C8E569DBE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5473FC80-45DA-7306-C6B7-E56B25F37EA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56AE7C3-4B17-C688-BBCB-3B6F26B6D57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7DF6AD-3456-A02A-7FCD-DE9D97B3B668}"/>
              </a:ext>
            </a:extLst>
          </p:cNvPr>
          <p:cNvSpPr txBox="1"/>
          <p:nvPr/>
        </p:nvSpPr>
        <p:spPr>
          <a:xfrm>
            <a:off x="76200" y="1676401"/>
            <a:ext cx="8645912" cy="39006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✔ Use headings clearly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✔ Write short clear paragraphs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✔ Use diagrams/tables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✔ Explain WHY technology is chosen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✔ Connect technology to business value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✔ Support claims with evidence</a:t>
            </a:r>
          </a:p>
        </p:txBody>
      </p:sp>
    </p:spTree>
    <p:extLst>
      <p:ext uri="{BB962C8B-B14F-4D97-AF65-F5344CB8AC3E}">
        <p14:creationId xmlns:p14="http://schemas.microsoft.com/office/powerpoint/2010/main" val="39138818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731A8-CED0-4C53-BCBB-C4F921F6B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1CA32BB-C79C-5636-74AC-EFBBAFE279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8" y="556841"/>
            <a:ext cx="9107486" cy="75148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Final Advice for Assessment 4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05B35A0-B6E4-24F8-DED4-01AFEAD0D4B2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F9062E8D-107D-6617-F450-384E455D349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8FABB026-2C6A-9296-9BB3-FB499A94E49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2040FE7-4A6C-1092-8DF3-6FA0DB17E11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AB0BD5-F5D6-0DF3-3212-4E2572ECE84F}"/>
              </a:ext>
            </a:extLst>
          </p:cNvPr>
          <p:cNvSpPr txBox="1"/>
          <p:nvPr/>
        </p:nvSpPr>
        <p:spPr>
          <a:xfrm>
            <a:off x="76200" y="1676401"/>
            <a:ext cx="8645912" cy="454695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High-Quality Reports: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✔ solve real business problems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✔ use realistic technologies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✔ explain implementation clearly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✔ justify decisions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✔ communicate professionally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✔ combine business + technical thinking</a:t>
            </a:r>
          </a:p>
        </p:txBody>
      </p:sp>
    </p:spTree>
    <p:extLst>
      <p:ext uri="{BB962C8B-B14F-4D97-AF65-F5344CB8AC3E}">
        <p14:creationId xmlns:p14="http://schemas.microsoft.com/office/powerpoint/2010/main" val="3312714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DC209-43CA-6983-A3E1-B3D9045AA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F65B5F5-A902-6AA5-170C-7CF1A965B6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8" y="556841"/>
            <a:ext cx="9107486" cy="75148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Final Message to Students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81D707C-EFE0-9D8E-B1AE-54417E21DCE8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78D2B8FA-318D-C91F-2012-B9EF7C46EFB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40D196CB-764D-DBDC-1616-16A34D177EF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AF71E97-8BFD-2C72-30E6-69B5B583AD5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0D9D6F-18AA-87F0-B75B-F060E6281C38}"/>
              </a:ext>
            </a:extLst>
          </p:cNvPr>
          <p:cNvSpPr txBox="1"/>
          <p:nvPr/>
        </p:nvSpPr>
        <p:spPr>
          <a:xfrm>
            <a:off x="76200" y="1676401"/>
            <a:ext cx="8645912" cy="453681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Think Like an IT Consultant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Ask yourself: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What problem am I solving?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Why is my solution useful?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How will it help NSW IT Support?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Is my solution realistic?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How would I explain this to a real client?</a:t>
            </a:r>
          </a:p>
        </p:txBody>
      </p:sp>
    </p:spTree>
    <p:extLst>
      <p:ext uri="{BB962C8B-B14F-4D97-AF65-F5344CB8AC3E}">
        <p14:creationId xmlns:p14="http://schemas.microsoft.com/office/powerpoint/2010/main" val="29382400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BD6EB-C22F-5D4B-5299-DA25DADE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32F0A93-5258-0FEE-50BE-3D79A2E169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8" y="556841"/>
            <a:ext cx="9107486" cy="75148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Mini Report Example</a:t>
            </a:r>
            <a:endParaRPr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A986736-032A-826A-833F-438038B17A4B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979F04A1-55B7-4D02-EE0A-C7522316730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D7B41CA7-D319-945C-AB95-EA9B6BDB662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8E3E607-32EC-D662-09BF-473902EBF29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AC529D-1274-44C8-0722-D3FC1CD92319}"/>
              </a:ext>
            </a:extLst>
          </p:cNvPr>
          <p:cNvSpPr txBox="1"/>
          <p:nvPr/>
        </p:nvSpPr>
        <p:spPr>
          <a:xfrm>
            <a:off x="13138" y="1308329"/>
            <a:ext cx="8645912" cy="557505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Problem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Clients experience slow response times.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Evidence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NSW IT Support manages 8000+ resolved tickets.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Solution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Cloud-based AI ticketing system.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Benefit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Faster response, improved customer satisfaction, reduced workload.</a:t>
            </a:r>
          </a:p>
        </p:txBody>
      </p:sp>
    </p:spTree>
    <p:extLst>
      <p:ext uri="{BB962C8B-B14F-4D97-AF65-F5344CB8AC3E}">
        <p14:creationId xmlns:p14="http://schemas.microsoft.com/office/powerpoint/2010/main" val="42253028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47050-0C07-CDC5-1E1C-1565BB3F4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91EB8924-B76A-49FE-B6AB-45E4689BF7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23828" y="647446"/>
            <a:ext cx="62598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40" dirty="0"/>
              <a:t>Week</a:t>
            </a:r>
            <a:r>
              <a:rPr sz="4800" spc="-185" dirty="0"/>
              <a:t> </a:t>
            </a:r>
            <a:r>
              <a:rPr sz="4800" dirty="0"/>
              <a:t>8</a:t>
            </a:r>
            <a:r>
              <a:rPr sz="4800" spc="-145" dirty="0"/>
              <a:t> </a:t>
            </a:r>
            <a:r>
              <a:rPr sz="4800" spc="-125" dirty="0"/>
              <a:t>Pre-</a:t>
            </a:r>
            <a:r>
              <a:rPr sz="4800" spc="-95" dirty="0"/>
              <a:t>Class</a:t>
            </a:r>
            <a:r>
              <a:rPr sz="4800" spc="-175" dirty="0"/>
              <a:t> </a:t>
            </a:r>
            <a:r>
              <a:rPr sz="4800" spc="-75" dirty="0"/>
              <a:t>Readings</a:t>
            </a:r>
            <a:endParaRPr sz="48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5C03C3C-626A-E1E0-A317-EFFC03929B42}"/>
              </a:ext>
            </a:extLst>
          </p:cNvPr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124D38C-6178-CB4F-C920-E817FB77A898}"/>
              </a:ext>
            </a:extLst>
          </p:cNvPr>
          <p:cNvSpPr txBox="1"/>
          <p:nvPr/>
        </p:nvSpPr>
        <p:spPr>
          <a:xfrm>
            <a:off x="636746" y="2329943"/>
            <a:ext cx="7852409" cy="2570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A1757"/>
                </a:solidFill>
                <a:latin typeface="Arial"/>
                <a:cs typeface="Arial"/>
              </a:rPr>
              <a:t>YouTube</a:t>
            </a:r>
            <a:r>
              <a:rPr sz="2400" spc="-120" dirty="0">
                <a:solidFill>
                  <a:srgbClr val="4A1757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4A1757"/>
                </a:solidFill>
                <a:latin typeface="Arial"/>
                <a:cs typeface="Arial"/>
              </a:rPr>
              <a:t>Video: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80"/>
              </a:spcBef>
            </a:pPr>
            <a:endParaRPr sz="2400" dirty="0">
              <a:latin typeface="Arial"/>
              <a:cs typeface="Arial"/>
            </a:endParaRPr>
          </a:p>
          <a:p>
            <a:pPr marL="12700" marR="854710">
              <a:lnSpc>
                <a:spcPts val="2590"/>
              </a:lnSpc>
            </a:pPr>
            <a:r>
              <a:rPr sz="2400" dirty="0">
                <a:solidFill>
                  <a:srgbClr val="4A1757"/>
                </a:solidFill>
                <a:latin typeface="Arial"/>
                <a:cs typeface="Arial"/>
              </a:rPr>
              <a:t>How</a:t>
            </a:r>
            <a:r>
              <a:rPr sz="2400" spc="-75" dirty="0">
                <a:solidFill>
                  <a:srgbClr val="4A175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A1757"/>
                </a:solidFill>
                <a:latin typeface="Arial"/>
                <a:cs typeface="Arial"/>
              </a:rPr>
              <a:t>to</a:t>
            </a:r>
            <a:r>
              <a:rPr sz="2400" spc="-75" dirty="0">
                <a:solidFill>
                  <a:srgbClr val="4A175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A1757"/>
                </a:solidFill>
                <a:latin typeface="Arial"/>
                <a:cs typeface="Arial"/>
              </a:rPr>
              <a:t>Make</a:t>
            </a:r>
            <a:r>
              <a:rPr sz="2400" spc="-75" dirty="0">
                <a:solidFill>
                  <a:srgbClr val="4A175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A1757"/>
                </a:solidFill>
                <a:latin typeface="Arial"/>
                <a:cs typeface="Arial"/>
              </a:rPr>
              <a:t>a</a:t>
            </a:r>
            <a:r>
              <a:rPr sz="2400" spc="-75" dirty="0">
                <a:solidFill>
                  <a:srgbClr val="4A175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A1757"/>
                </a:solidFill>
                <a:latin typeface="Arial"/>
                <a:cs typeface="Arial"/>
              </a:rPr>
              <a:t>Project</a:t>
            </a:r>
            <a:r>
              <a:rPr sz="2400" spc="-75" dirty="0">
                <a:solidFill>
                  <a:srgbClr val="4A175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A1757"/>
                </a:solidFill>
                <a:latin typeface="Arial"/>
                <a:cs typeface="Arial"/>
              </a:rPr>
              <a:t>Status</a:t>
            </a:r>
            <a:r>
              <a:rPr sz="2400" spc="-70" dirty="0">
                <a:solidFill>
                  <a:srgbClr val="4A175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A1757"/>
                </a:solidFill>
                <a:latin typeface="Arial"/>
                <a:cs typeface="Arial"/>
              </a:rPr>
              <a:t>Report</a:t>
            </a:r>
            <a:r>
              <a:rPr sz="2400" spc="-75" dirty="0">
                <a:solidFill>
                  <a:srgbClr val="4A175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A1757"/>
                </a:solidFill>
                <a:latin typeface="Arial"/>
                <a:cs typeface="Arial"/>
              </a:rPr>
              <a:t>Template</a:t>
            </a:r>
            <a:r>
              <a:rPr sz="2400" spc="-75" dirty="0">
                <a:solidFill>
                  <a:srgbClr val="4A1757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4A1757"/>
                </a:solidFill>
                <a:latin typeface="Arial"/>
                <a:cs typeface="Arial"/>
              </a:rPr>
              <a:t>with </a:t>
            </a:r>
            <a:r>
              <a:rPr sz="2400" spc="-10" dirty="0">
                <a:solidFill>
                  <a:srgbClr val="4A1757"/>
                </a:solidFill>
                <a:latin typeface="Arial"/>
                <a:cs typeface="Arial"/>
              </a:rPr>
              <a:t>PowerPoint:</a:t>
            </a:r>
            <a:endParaRPr sz="2400" dirty="0">
              <a:latin typeface="Arial"/>
              <a:cs typeface="Arial"/>
            </a:endParaRPr>
          </a:p>
          <a:p>
            <a:pPr marL="12700" marR="5080">
              <a:lnSpc>
                <a:spcPts val="2590"/>
              </a:lnSpc>
              <a:spcBef>
                <a:spcPts val="1395"/>
              </a:spcBef>
            </a:pPr>
            <a:r>
              <a:rPr sz="24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Arial"/>
                <a:cs typeface="Arial"/>
                <a:hlinkClick r:id="rId2"/>
              </a:rPr>
              <a:t>https://www.youtube.com/watch?v=Pmabm_iKm_8&amp;t=935</a:t>
            </a:r>
            <a:r>
              <a:rPr sz="2400" u="none" spc="-10" dirty="0">
                <a:solidFill>
                  <a:srgbClr val="2997E2"/>
                </a:solidFill>
                <a:latin typeface="Arial"/>
                <a:cs typeface="Arial"/>
              </a:rPr>
              <a:t> </a:t>
            </a:r>
            <a:r>
              <a:rPr sz="2400" u="sng" spc="-5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Arial"/>
                <a:cs typeface="Arial"/>
                <a:hlinkClick r:id="rId2"/>
              </a:rPr>
              <a:t>s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6299B733-F30C-EEAB-867E-EEB2BCD2C46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8990F308-73F7-AE69-DAA3-220A56864CB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C220E8C-4764-3784-63D4-2768B60AE47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5501752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B5617-2DEE-A1EC-A04D-816F27E9F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676738E1-0928-6EF8-12C9-E5BD716C23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2085" y="463422"/>
            <a:ext cx="62598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40" dirty="0"/>
              <a:t>Week</a:t>
            </a:r>
            <a:r>
              <a:rPr sz="4800" spc="-185" dirty="0"/>
              <a:t> </a:t>
            </a:r>
            <a:r>
              <a:rPr sz="4800" dirty="0"/>
              <a:t>8</a:t>
            </a:r>
            <a:r>
              <a:rPr sz="4800" spc="-145" dirty="0"/>
              <a:t> </a:t>
            </a:r>
            <a:r>
              <a:rPr sz="4800" spc="-125" dirty="0"/>
              <a:t>Pre-</a:t>
            </a:r>
            <a:r>
              <a:rPr sz="4800" spc="-95" dirty="0"/>
              <a:t>Class</a:t>
            </a:r>
            <a:r>
              <a:rPr sz="4800" spc="-175" dirty="0"/>
              <a:t> </a:t>
            </a:r>
            <a:r>
              <a:rPr sz="4800" spc="-75" dirty="0"/>
              <a:t>Readings</a:t>
            </a:r>
            <a:endParaRPr sz="480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A065CDA8-0FEC-1AD1-C360-AA0831BA116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CE4A142B-597E-3CEB-9504-EFA9B16DA52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E584214-A487-6642-F426-49599DD8E41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B0CF1A-7E37-BDC5-2C8A-072589142138}"/>
              </a:ext>
            </a:extLst>
          </p:cNvPr>
          <p:cNvSpPr txBox="1"/>
          <p:nvPr/>
        </p:nvSpPr>
        <p:spPr>
          <a:xfrm>
            <a:off x="0" y="1219200"/>
            <a:ext cx="9144000" cy="58035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500" b="1" dirty="0">
                <a:latin typeface="+mj-lt"/>
              </a:rPr>
              <a:t>Key Messages / Lessons (Simple Terms)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500" b="1" dirty="0">
                <a:latin typeface="+mj-lt"/>
              </a:rPr>
              <a:t>Use simple and clear reports</a:t>
            </a:r>
            <a:br>
              <a:rPr lang="en-US" sz="2500" dirty="0">
                <a:latin typeface="+mj-lt"/>
              </a:rPr>
            </a:br>
            <a:r>
              <a:rPr lang="en-US" sz="2500" dirty="0">
                <a:latin typeface="+mj-lt"/>
              </a:rPr>
              <a:t>A project status report should be easy to read and understand quickly.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500" b="1" dirty="0">
                <a:latin typeface="+mj-lt"/>
              </a:rPr>
              <a:t>PowerPoint is useful for reports</a:t>
            </a:r>
            <a:br>
              <a:rPr lang="en-US" sz="2500" dirty="0">
                <a:latin typeface="+mj-lt"/>
              </a:rPr>
            </a:br>
            <a:r>
              <a:rPr lang="en-US" sz="2500" dirty="0">
                <a:latin typeface="+mj-lt"/>
              </a:rPr>
              <a:t>PowerPoint works well because it is easy to access, looks good on screens, and limits too much writing.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500" b="1" dirty="0">
                <a:latin typeface="+mj-lt"/>
              </a:rPr>
              <a:t>Keep reports short and focused</a:t>
            </a:r>
            <a:br>
              <a:rPr lang="en-US" sz="2500" dirty="0">
                <a:latin typeface="+mj-lt"/>
              </a:rPr>
            </a:br>
            <a:r>
              <a:rPr lang="en-US" sz="2500" dirty="0">
                <a:latin typeface="+mj-lt"/>
              </a:rPr>
              <a:t>The limited slide space encourages people to only include important information.</a:t>
            </a:r>
          </a:p>
        </p:txBody>
      </p:sp>
    </p:spTree>
    <p:extLst>
      <p:ext uri="{BB962C8B-B14F-4D97-AF65-F5344CB8AC3E}">
        <p14:creationId xmlns:p14="http://schemas.microsoft.com/office/powerpoint/2010/main" val="7649449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4388C-15AB-6E84-34DE-D7BC5A340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1E8CB0A6-52D5-8F0E-D684-22F7341FCC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2085" y="463422"/>
            <a:ext cx="62598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40" dirty="0"/>
              <a:t>Week</a:t>
            </a:r>
            <a:r>
              <a:rPr sz="4800" spc="-185" dirty="0"/>
              <a:t> </a:t>
            </a:r>
            <a:r>
              <a:rPr sz="4800" dirty="0"/>
              <a:t>8</a:t>
            </a:r>
            <a:r>
              <a:rPr sz="4800" spc="-145" dirty="0"/>
              <a:t> </a:t>
            </a:r>
            <a:r>
              <a:rPr sz="4800" spc="-125" dirty="0"/>
              <a:t>Pre-</a:t>
            </a:r>
            <a:r>
              <a:rPr sz="4800" spc="-95" dirty="0"/>
              <a:t>Class</a:t>
            </a:r>
            <a:r>
              <a:rPr sz="4800" spc="-175" dirty="0"/>
              <a:t> </a:t>
            </a:r>
            <a:r>
              <a:rPr sz="4800" spc="-75" dirty="0"/>
              <a:t>Readings</a:t>
            </a:r>
            <a:endParaRPr sz="480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96851D80-98A7-AA25-7AB8-549CFFD8FA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7F2B4C65-C7EC-6B42-9740-7776DC081E0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DEC5C8D-131B-2F92-1D80-3ACE1199173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F75DA0-4FB1-5B7C-F91D-C9432DC7790D}"/>
              </a:ext>
            </a:extLst>
          </p:cNvPr>
          <p:cNvSpPr txBox="1"/>
          <p:nvPr/>
        </p:nvSpPr>
        <p:spPr>
          <a:xfrm>
            <a:off x="0" y="1219200"/>
            <a:ext cx="9144000" cy="583974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sz="2700" b="1" dirty="0">
                <a:latin typeface="+mj-lt"/>
              </a:rPr>
              <a:t>Plan the report structure first</a:t>
            </a:r>
            <a:br>
              <a:rPr lang="en-US" sz="2700" dirty="0">
                <a:latin typeface="+mj-lt"/>
              </a:rPr>
            </a:br>
            <a:r>
              <a:rPr lang="en-US" sz="2700" dirty="0">
                <a:latin typeface="+mj-lt"/>
              </a:rPr>
              <a:t>Listing all sections before starting helps avoid forgetting important details.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sz="2700" b="1" dirty="0">
                <a:latin typeface="+mj-lt"/>
              </a:rPr>
              <a:t>Use company branding</a:t>
            </a:r>
            <a:br>
              <a:rPr lang="en-US" sz="2700" dirty="0">
                <a:latin typeface="+mj-lt"/>
              </a:rPr>
            </a:br>
            <a:r>
              <a:rPr lang="en-US" sz="2700" dirty="0">
                <a:latin typeface="+mj-lt"/>
              </a:rPr>
              <a:t>Adding logos and company </a:t>
            </a:r>
            <a:r>
              <a:rPr lang="en-US" sz="2700" dirty="0" err="1">
                <a:latin typeface="+mj-lt"/>
              </a:rPr>
              <a:t>colours</a:t>
            </a:r>
            <a:r>
              <a:rPr lang="en-US" sz="2700" dirty="0">
                <a:latin typeface="+mj-lt"/>
              </a:rPr>
              <a:t> makes reports look professional and consistent.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sz="2700" b="1" dirty="0">
                <a:latin typeface="+mj-lt"/>
              </a:rPr>
              <a:t>Tables help </a:t>
            </a:r>
            <a:r>
              <a:rPr lang="en-US" sz="2700" b="1" dirty="0" err="1">
                <a:latin typeface="+mj-lt"/>
              </a:rPr>
              <a:t>organise</a:t>
            </a:r>
            <a:r>
              <a:rPr lang="en-US" sz="2700" b="1" dirty="0">
                <a:latin typeface="+mj-lt"/>
              </a:rPr>
              <a:t> information</a:t>
            </a:r>
            <a:br>
              <a:rPr lang="en-US" sz="2700" dirty="0">
                <a:latin typeface="+mj-lt"/>
              </a:rPr>
            </a:br>
            <a:r>
              <a:rPr lang="en-US" sz="2700" dirty="0">
                <a:latin typeface="+mj-lt"/>
              </a:rPr>
              <a:t>Tables make project information neat, structured, and easier to compare.</a:t>
            </a:r>
          </a:p>
        </p:txBody>
      </p:sp>
    </p:spTree>
    <p:extLst>
      <p:ext uri="{BB962C8B-B14F-4D97-AF65-F5344CB8AC3E}">
        <p14:creationId xmlns:p14="http://schemas.microsoft.com/office/powerpoint/2010/main" val="4997951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71D74-3947-BDE8-E62D-6318B2E17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E6906BC-C285-2A78-4E8B-7092614EFE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2085" y="463422"/>
            <a:ext cx="62598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40" dirty="0"/>
              <a:t>Week</a:t>
            </a:r>
            <a:r>
              <a:rPr sz="4800" spc="-185" dirty="0"/>
              <a:t> </a:t>
            </a:r>
            <a:r>
              <a:rPr sz="4800" dirty="0"/>
              <a:t>8</a:t>
            </a:r>
            <a:r>
              <a:rPr sz="4800" spc="-145" dirty="0"/>
              <a:t> </a:t>
            </a:r>
            <a:r>
              <a:rPr sz="4800" spc="-125" dirty="0"/>
              <a:t>Pre-</a:t>
            </a:r>
            <a:r>
              <a:rPr sz="4800" spc="-95" dirty="0"/>
              <a:t>Class</a:t>
            </a:r>
            <a:r>
              <a:rPr sz="4800" spc="-175" dirty="0"/>
              <a:t> </a:t>
            </a:r>
            <a:r>
              <a:rPr sz="4800" spc="-75" dirty="0"/>
              <a:t>Readings</a:t>
            </a:r>
            <a:endParaRPr sz="480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B130631-8C61-66CD-C04C-DB7C9308C3D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CEE0697F-2D7D-ED29-D57D-8F382529D1F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13C14CA-012D-8B84-A75B-AB30E593E6C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125FD0-A6FC-6020-135E-4AAD8BF8868F}"/>
              </a:ext>
            </a:extLst>
          </p:cNvPr>
          <p:cNvSpPr txBox="1"/>
          <p:nvPr/>
        </p:nvSpPr>
        <p:spPr>
          <a:xfrm>
            <a:off x="0" y="1143000"/>
            <a:ext cx="9144000" cy="58424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7"/>
            </a:pPr>
            <a:r>
              <a:rPr lang="en-US" sz="2800" b="1" dirty="0">
                <a:latin typeface="+mj-lt"/>
              </a:rPr>
              <a:t>RAG status helps show project health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Red, Amber, and Green indicators quickly show whether parts of the project are on track.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7"/>
            </a:pPr>
            <a:r>
              <a:rPr lang="en-US" sz="2800" b="1" dirty="0">
                <a:latin typeface="+mj-lt"/>
              </a:rPr>
              <a:t>Include key project updates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Reports should include: Current project summary </a:t>
            </a:r>
          </a:p>
          <a:p>
            <a:pPr marL="107156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Deliverables completed </a:t>
            </a:r>
          </a:p>
          <a:p>
            <a:pPr marL="107156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Upcoming deliverables </a:t>
            </a:r>
          </a:p>
          <a:p>
            <a:pPr marL="107156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Risks and issues </a:t>
            </a:r>
          </a:p>
          <a:p>
            <a:pPr marL="107156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Actions to fix problems</a:t>
            </a:r>
          </a:p>
        </p:txBody>
      </p:sp>
    </p:spTree>
    <p:extLst>
      <p:ext uri="{BB962C8B-B14F-4D97-AF65-F5344CB8AC3E}">
        <p14:creationId xmlns:p14="http://schemas.microsoft.com/office/powerpoint/2010/main" val="1687473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12EA9-37CF-C0EC-B47F-5D8761D8C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6B7BDA5-5655-8B16-B010-38CB7ADBE3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2085" y="463422"/>
            <a:ext cx="62598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40" dirty="0"/>
              <a:t>Week</a:t>
            </a:r>
            <a:r>
              <a:rPr sz="4800" spc="-185" dirty="0"/>
              <a:t> </a:t>
            </a:r>
            <a:r>
              <a:rPr sz="4800" dirty="0"/>
              <a:t>8</a:t>
            </a:r>
            <a:r>
              <a:rPr sz="4800" spc="-145" dirty="0"/>
              <a:t> </a:t>
            </a:r>
            <a:r>
              <a:rPr sz="4800" spc="-125" dirty="0"/>
              <a:t>Pre-</a:t>
            </a:r>
            <a:r>
              <a:rPr sz="4800" spc="-95" dirty="0"/>
              <a:t>Class</a:t>
            </a:r>
            <a:r>
              <a:rPr sz="4800" spc="-175" dirty="0"/>
              <a:t> </a:t>
            </a:r>
            <a:r>
              <a:rPr sz="4800" spc="-75" dirty="0"/>
              <a:t>Readings</a:t>
            </a:r>
            <a:endParaRPr sz="480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C5CD498B-7087-FB84-58D2-1D70A1D4A34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2E4C1D09-C2AB-71FF-625D-7A2AB56FD46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3A39FC1-CB70-6A7C-D9D9-A38F4FADD9D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1583D6-6A53-972D-4E08-04C08ABFDBC7}"/>
              </a:ext>
            </a:extLst>
          </p:cNvPr>
          <p:cNvSpPr txBox="1"/>
          <p:nvPr/>
        </p:nvSpPr>
        <p:spPr>
          <a:xfrm>
            <a:off x="0" y="1143000"/>
            <a:ext cx="9144000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9"/>
            </a:pPr>
            <a:r>
              <a:rPr lang="en-US" sz="2800" b="1" dirty="0">
                <a:latin typeface="+mj-lt"/>
              </a:rPr>
              <a:t>Focus on important information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Stakeholders usually care more about:</a:t>
            </a:r>
          </a:p>
          <a:p>
            <a:pPr marL="987425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Go-live dates </a:t>
            </a:r>
          </a:p>
          <a:p>
            <a:pPr marL="987425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Risks </a:t>
            </a:r>
          </a:p>
          <a:p>
            <a:pPr marL="987425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Budget </a:t>
            </a:r>
          </a:p>
          <a:p>
            <a:pPr marL="987425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Deliverables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than unnecessary details.</a:t>
            </a:r>
          </a:p>
        </p:txBody>
      </p:sp>
    </p:spTree>
    <p:extLst>
      <p:ext uri="{BB962C8B-B14F-4D97-AF65-F5344CB8AC3E}">
        <p14:creationId xmlns:p14="http://schemas.microsoft.com/office/powerpoint/2010/main" val="32419446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6273F-18E4-32C6-2427-1DF0D073E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179578E0-6C06-84D2-8B4B-381113555F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2085" y="463422"/>
            <a:ext cx="62598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40" dirty="0"/>
              <a:t>Week</a:t>
            </a:r>
            <a:r>
              <a:rPr sz="4800" spc="-185" dirty="0"/>
              <a:t> </a:t>
            </a:r>
            <a:r>
              <a:rPr sz="4800" dirty="0"/>
              <a:t>8</a:t>
            </a:r>
            <a:r>
              <a:rPr sz="4800" spc="-145" dirty="0"/>
              <a:t> </a:t>
            </a:r>
            <a:r>
              <a:rPr sz="4800" spc="-125" dirty="0"/>
              <a:t>Pre-</a:t>
            </a:r>
            <a:r>
              <a:rPr sz="4800" spc="-95" dirty="0"/>
              <a:t>Class</a:t>
            </a:r>
            <a:r>
              <a:rPr sz="4800" spc="-175" dirty="0"/>
              <a:t> </a:t>
            </a:r>
            <a:r>
              <a:rPr sz="4800" spc="-75" dirty="0"/>
              <a:t>Readings</a:t>
            </a:r>
            <a:endParaRPr sz="480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17BAF0DA-94D3-E593-801A-0FB022FF936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DA912E01-863C-956D-39C1-49113490FAB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6DB3C9A-6340-CF05-C9AB-83362D9FF51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CA7F67-95A8-37C3-2B29-F8D57644BFA8}"/>
              </a:ext>
            </a:extLst>
          </p:cNvPr>
          <p:cNvSpPr txBox="1"/>
          <p:nvPr/>
        </p:nvSpPr>
        <p:spPr>
          <a:xfrm>
            <a:off x="0" y="1220342"/>
            <a:ext cx="9144000" cy="519340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10"/>
            </a:pPr>
            <a:r>
              <a:rPr lang="en-US" sz="2800" b="1" dirty="0">
                <a:latin typeface="+mj-lt"/>
              </a:rPr>
              <a:t>Formatting matters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Good alignment, readable fonts, and consistent </a:t>
            </a:r>
            <a:r>
              <a:rPr lang="en-US" sz="2800" dirty="0" err="1">
                <a:latin typeface="+mj-lt"/>
              </a:rPr>
              <a:t>colours</a:t>
            </a:r>
            <a:r>
              <a:rPr lang="en-US" sz="2800" dirty="0">
                <a:latin typeface="+mj-lt"/>
              </a:rPr>
              <a:t> make reports easier to understand.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10"/>
            </a:pPr>
            <a:r>
              <a:rPr lang="en-US" sz="2800" b="1" dirty="0">
                <a:latin typeface="+mj-lt"/>
              </a:rPr>
              <a:t>Always save your work regularly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Saving often prevents losing progress.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10"/>
            </a:pPr>
            <a:r>
              <a:rPr lang="en-US" sz="2800" b="1" dirty="0">
                <a:latin typeface="+mj-lt"/>
              </a:rPr>
              <a:t>Think about the reader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Reports should help busy people quickly understand project status and decisions needed.</a:t>
            </a:r>
          </a:p>
        </p:txBody>
      </p:sp>
    </p:spTree>
    <p:extLst>
      <p:ext uri="{BB962C8B-B14F-4D97-AF65-F5344CB8AC3E}">
        <p14:creationId xmlns:p14="http://schemas.microsoft.com/office/powerpoint/2010/main" val="14974678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4C602-3ECD-CB65-3119-1ACD68460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2962E0E-EEF0-E224-421D-B031A65D36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63422"/>
            <a:ext cx="91440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Design Discussion Questions</a:t>
            </a:r>
            <a:endParaRPr sz="480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C65C6B6D-0138-570C-7E72-D1C963AF41A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6A7A650F-33FB-5A8B-02A4-E7740F60CF8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9D360D8-2387-7C41-9946-EC5A7EDDC72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D08DB3-D0D1-FD95-3411-03E2E4992EF6}"/>
              </a:ext>
            </a:extLst>
          </p:cNvPr>
          <p:cNvSpPr txBox="1"/>
          <p:nvPr/>
        </p:nvSpPr>
        <p:spPr>
          <a:xfrm>
            <a:off x="0" y="1220342"/>
            <a:ext cx="9144000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Why did the presenter choose PowerPoint instead of Word or Excel?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Because PowerPoint is easy to access, works well on screens, and encourages shorter and clearer reports.</a:t>
            </a:r>
          </a:p>
        </p:txBody>
      </p:sp>
    </p:spTree>
    <p:extLst>
      <p:ext uri="{BB962C8B-B14F-4D97-AF65-F5344CB8AC3E}">
        <p14:creationId xmlns:p14="http://schemas.microsoft.com/office/powerpoint/2010/main" val="91220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34270-03A3-8276-032E-E2F1353B2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06113260-4983-0F64-A6CF-8D044EAF33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63422"/>
            <a:ext cx="91440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Design Discussion Questions</a:t>
            </a:r>
            <a:endParaRPr sz="480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2C9F15A2-DA5A-D745-6745-23D50C7A0B6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CFFA0F73-1034-3BA8-44F0-F23AF73D246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F1E0883-E7D9-F120-EF4C-804378D5E7B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A9EB9-E389-7FA4-7C43-77D887C14BD7}"/>
              </a:ext>
            </a:extLst>
          </p:cNvPr>
          <p:cNvSpPr txBox="1"/>
          <p:nvPr/>
        </p:nvSpPr>
        <p:spPr>
          <a:xfrm>
            <a:off x="0" y="1220342"/>
            <a:ext cx="9144000" cy="324415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What is the purpose of using RAG status indicators?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RAG indicators (Red, Amber, Green) quickly show whether different parts of the project are doing well or need attention.</a:t>
            </a:r>
          </a:p>
        </p:txBody>
      </p:sp>
    </p:spTree>
    <p:extLst>
      <p:ext uri="{BB962C8B-B14F-4D97-AF65-F5344CB8AC3E}">
        <p14:creationId xmlns:p14="http://schemas.microsoft.com/office/powerpoint/2010/main" val="354804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ACC6B-DBA8-44C9-61DB-288941E81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55A7A2C4-3E89-D152-1985-0EFE801CE8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63422"/>
            <a:ext cx="91440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Design Discussion Questions</a:t>
            </a:r>
            <a:endParaRPr sz="480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1FB7050E-6E1F-9622-120F-88C9A340698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CA76B523-EDE8-A3B3-9E58-574B6121F78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03196D0-6DED-D868-0C5B-CD03C290F0B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2E4FFA-73A1-8414-F2AF-413A2B48B26D}"/>
              </a:ext>
            </a:extLst>
          </p:cNvPr>
          <p:cNvSpPr txBox="1"/>
          <p:nvPr/>
        </p:nvSpPr>
        <p:spPr>
          <a:xfrm>
            <a:off x="0" y="1220342"/>
            <a:ext cx="9144000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Why is it important to keep project reports brief?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Busy stakeholders do not have time to read long reports. Short reports help them understand key information quickly.</a:t>
            </a:r>
          </a:p>
        </p:txBody>
      </p:sp>
    </p:spTree>
    <p:extLst>
      <p:ext uri="{BB962C8B-B14F-4D97-AF65-F5344CB8AC3E}">
        <p14:creationId xmlns:p14="http://schemas.microsoft.com/office/powerpoint/2010/main" val="1695421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46BCA-433D-1268-EB18-602B0CBBA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69DB1514-B8A5-7FDB-A16E-524D05C287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63422"/>
            <a:ext cx="91440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Design Discussion Questions</a:t>
            </a:r>
            <a:endParaRPr sz="480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DBAA3BD5-FBF2-5E63-378A-989F36F58C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203DAA72-84BC-FC91-C54F-F68BE087D2A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81614F5-1547-8C3E-1CCB-AE468FBBEF1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B2E019-1BD9-6295-EA5E-F2C5B9130D4D}"/>
              </a:ext>
            </a:extLst>
          </p:cNvPr>
          <p:cNvSpPr txBox="1"/>
          <p:nvPr/>
        </p:nvSpPr>
        <p:spPr>
          <a:xfrm>
            <a:off x="0" y="1220342"/>
            <a:ext cx="9144000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What information should be included in a project status update section?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The section should include: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Current project progress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Major achievements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Problems or challenges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Important updates</a:t>
            </a:r>
          </a:p>
        </p:txBody>
      </p:sp>
    </p:spTree>
    <p:extLst>
      <p:ext uri="{BB962C8B-B14F-4D97-AF65-F5344CB8AC3E}">
        <p14:creationId xmlns:p14="http://schemas.microsoft.com/office/powerpoint/2010/main" val="230825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96B0F-CB85-5926-186C-45051A205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6782554-459F-B0BC-9FC4-718372F9DC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63422"/>
            <a:ext cx="91440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Design Discussion Questions</a:t>
            </a:r>
            <a:endParaRPr sz="480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D685EF99-C99C-C28F-7DDF-F1F6BB76717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9FF21F66-C12F-99B6-53DA-8F4B6238ED9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9B61F42-B683-F280-1C6D-479209E856F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583C60-1D44-9B6C-4081-0826AE5553A6}"/>
              </a:ext>
            </a:extLst>
          </p:cNvPr>
          <p:cNvSpPr txBox="1"/>
          <p:nvPr/>
        </p:nvSpPr>
        <p:spPr>
          <a:xfrm>
            <a:off x="0" y="1220342"/>
            <a:ext cx="9144000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5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Why should company branding be included in reports?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Company branding makes reports look professional and consistent with other company documents.</a:t>
            </a:r>
          </a:p>
        </p:txBody>
      </p:sp>
    </p:spTree>
    <p:extLst>
      <p:ext uri="{BB962C8B-B14F-4D97-AF65-F5344CB8AC3E}">
        <p14:creationId xmlns:p14="http://schemas.microsoft.com/office/powerpoint/2010/main" val="161738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851C9-FC92-F17C-7422-DB8447AB9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7EA0C76E-53B6-0966-A88C-B8BA3FD13B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63422"/>
            <a:ext cx="91440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Design Discussion Questions</a:t>
            </a:r>
            <a:endParaRPr sz="480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B6851ACF-238C-4C81-D34B-CEF144C52C2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BDFE7C21-2CD1-1EC1-2C81-8D310AFBB51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B94E64A-B31A-D6D9-3CCB-7197CD1CE3E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D99D05-869E-F204-6235-F45538E2B736}"/>
              </a:ext>
            </a:extLst>
          </p:cNvPr>
          <p:cNvSpPr txBox="1"/>
          <p:nvPr/>
        </p:nvSpPr>
        <p:spPr>
          <a:xfrm>
            <a:off x="0" y="1220342"/>
            <a:ext cx="9144000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6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Why are tables useful in project status reports?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Tables </a:t>
            </a:r>
            <a:r>
              <a:rPr lang="en-US" sz="2800" dirty="0" err="1">
                <a:latin typeface="+mj-lt"/>
              </a:rPr>
              <a:t>organise</a:t>
            </a:r>
            <a:r>
              <a:rPr lang="en-US" sz="2800" dirty="0">
                <a:latin typeface="+mj-lt"/>
              </a:rPr>
              <a:t> information clearly and make reports easier to read and compare.</a:t>
            </a:r>
          </a:p>
        </p:txBody>
      </p:sp>
    </p:spTree>
    <p:extLst>
      <p:ext uri="{BB962C8B-B14F-4D97-AF65-F5344CB8AC3E}">
        <p14:creationId xmlns:p14="http://schemas.microsoft.com/office/powerpoint/2010/main" val="365456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B1F64-978B-D60F-3E78-9194526D6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19EE11A-1D4A-5423-D231-63E7F7A735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63422"/>
            <a:ext cx="91440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Design Discussion Questions</a:t>
            </a:r>
            <a:endParaRPr sz="480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74F84734-1133-7709-CD97-000B8759498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87B729A4-B313-0D2D-B3DD-3C9B052F4FF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A1B2320-9562-24AB-4FE7-BDF9CDA2236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701870-EF03-2C0F-EE3E-788EE3FF7A25}"/>
              </a:ext>
            </a:extLst>
          </p:cNvPr>
          <p:cNvSpPr txBox="1"/>
          <p:nvPr/>
        </p:nvSpPr>
        <p:spPr>
          <a:xfrm>
            <a:off x="0" y="1220342"/>
            <a:ext cx="9144000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7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What are “Return to Green” actions?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These are actions planned to fix project problems and move project status back to green (healthy/on track).</a:t>
            </a:r>
          </a:p>
        </p:txBody>
      </p:sp>
    </p:spTree>
    <p:extLst>
      <p:ext uri="{BB962C8B-B14F-4D97-AF65-F5344CB8AC3E}">
        <p14:creationId xmlns:p14="http://schemas.microsoft.com/office/powerpoint/2010/main" val="1543265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174A8-FE00-41CB-A695-FF3343521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312DBBD-AB03-DACF-40A4-7F5E88B4BA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63422"/>
            <a:ext cx="91440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Design Discussion Questions</a:t>
            </a:r>
            <a:endParaRPr sz="480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6944192-846E-DA21-006D-B953D8C70A8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AE6A72EF-5EDD-BDF9-67B9-F038C6D93E1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C8D5554-6ADD-A6AB-E570-4AA0CEBB792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82C0EF-EA85-81CD-7DF8-42DB7C6CF86B}"/>
              </a:ext>
            </a:extLst>
          </p:cNvPr>
          <p:cNvSpPr txBox="1"/>
          <p:nvPr/>
        </p:nvSpPr>
        <p:spPr>
          <a:xfrm>
            <a:off x="0" y="1220342"/>
            <a:ext cx="9144000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8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Why is it important to include risks and issues in reports?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It helps stakeholders understand potential problems and what is being done to solve them.</a:t>
            </a:r>
          </a:p>
        </p:txBody>
      </p:sp>
    </p:spTree>
    <p:extLst>
      <p:ext uri="{BB962C8B-B14F-4D97-AF65-F5344CB8AC3E}">
        <p14:creationId xmlns:p14="http://schemas.microsoft.com/office/powerpoint/2010/main" val="40036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1E7D7-9BC3-A60B-4E4E-FA8555D60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CAC3DE00-D8FC-38D2-2CB5-E35B0D380A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63422"/>
            <a:ext cx="91440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Design Discussion Questions</a:t>
            </a:r>
            <a:endParaRPr sz="480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C90A57EE-2A72-C50B-F6C1-9A50C490F7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AEF7AAC3-494E-265D-A602-FB8B44844EC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11CC0C8-13AD-68F5-5C9D-70342F34F9E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4C9CE0-5A29-1B2D-EBF2-E7F52A55CDFF}"/>
              </a:ext>
            </a:extLst>
          </p:cNvPr>
          <p:cNvSpPr txBox="1"/>
          <p:nvPr/>
        </p:nvSpPr>
        <p:spPr>
          <a:xfrm>
            <a:off x="0" y="1220342"/>
            <a:ext cx="9144000" cy="501387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b="1" dirty="0">
                <a:latin typeface="+mj-lt"/>
              </a:rPr>
              <a:t>Question 9</a:t>
            </a:r>
          </a:p>
          <a:p>
            <a:pPr>
              <a:lnSpc>
                <a:spcPct val="150000"/>
              </a:lnSpc>
            </a:pPr>
            <a:r>
              <a:rPr lang="en-US" sz="2700" b="1" dirty="0">
                <a:latin typeface="+mj-lt"/>
              </a:rPr>
              <a:t>What project information is most important for stakeholders?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+mj-lt"/>
              </a:rPr>
              <a:t>Important information includes:</a:t>
            </a:r>
          </a:p>
          <a:p>
            <a:pPr marL="7143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+mj-lt"/>
              </a:rPr>
              <a:t>Budget </a:t>
            </a:r>
          </a:p>
          <a:p>
            <a:pPr marL="7143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+mj-lt"/>
              </a:rPr>
              <a:t>Go-live date </a:t>
            </a:r>
          </a:p>
          <a:p>
            <a:pPr marL="7143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+mj-lt"/>
              </a:rPr>
              <a:t>Risks </a:t>
            </a:r>
          </a:p>
          <a:p>
            <a:pPr marL="7143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+mj-lt"/>
              </a:rPr>
              <a:t>Deliverables </a:t>
            </a:r>
          </a:p>
          <a:p>
            <a:pPr marL="7143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+mj-lt"/>
              </a:rPr>
              <a:t>Project health status</a:t>
            </a:r>
          </a:p>
        </p:txBody>
      </p:sp>
    </p:spTree>
    <p:extLst>
      <p:ext uri="{BB962C8B-B14F-4D97-AF65-F5344CB8AC3E}">
        <p14:creationId xmlns:p14="http://schemas.microsoft.com/office/powerpoint/2010/main" val="6684609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88DEA-1F44-F492-87BF-06F55620C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2BEE5B0-9410-8059-4AB9-D6E174C70C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63422"/>
            <a:ext cx="91440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Design Discussion Questions</a:t>
            </a:r>
            <a:endParaRPr sz="480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899FCE89-B234-71D4-1D0E-9EA914CB1F6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6D48F0A2-F74D-571C-82E3-18FE8767C41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B3B7C65-F97D-A223-BDD9-FEE9B735369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1AC65D-6A3E-A695-132F-11D74DB3A18F}"/>
              </a:ext>
            </a:extLst>
          </p:cNvPr>
          <p:cNvSpPr txBox="1"/>
          <p:nvPr/>
        </p:nvSpPr>
        <p:spPr>
          <a:xfrm>
            <a:off x="0" y="1220342"/>
            <a:ext cx="9144000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10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Why should formatting and alignment be carefully checked?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Good formatting improves readability and makes the report look professional.</a:t>
            </a:r>
          </a:p>
        </p:txBody>
      </p:sp>
    </p:spTree>
    <p:extLst>
      <p:ext uri="{BB962C8B-B14F-4D97-AF65-F5344CB8AC3E}">
        <p14:creationId xmlns:p14="http://schemas.microsoft.com/office/powerpoint/2010/main" val="2058282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BE091-D7F5-2853-0BEC-C47D3124A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9C806E6-6E2C-44EE-71BD-3101523BF6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63422"/>
            <a:ext cx="91440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140" dirty="0"/>
              <a:t>Design Discussion Questions</a:t>
            </a:r>
            <a:endParaRPr sz="480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6B9490A7-2C6A-B909-BA1A-714C90F3BBD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111F8B6C-437F-0B2B-3C94-7470F57A2DF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647A069-2848-4EF4-F87C-1825E6B8199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62F800-9122-9B94-46BC-80EDBC1DC50F}"/>
              </a:ext>
            </a:extLst>
          </p:cNvPr>
          <p:cNvSpPr txBox="1"/>
          <p:nvPr/>
        </p:nvSpPr>
        <p:spPr>
          <a:xfrm>
            <a:off x="0" y="1220342"/>
            <a:ext cx="9144000" cy="39035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Short Reflection Question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How can a well-designed project status report help a project team?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A well-designed project status report helps the team communicate progress clearly, identify problems early, and keep stakeholders informed for better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368615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76200" y="647446"/>
            <a:ext cx="33655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40" dirty="0"/>
              <a:t>Week</a:t>
            </a:r>
            <a:r>
              <a:rPr sz="4800" spc="-200" dirty="0"/>
              <a:t> </a:t>
            </a:r>
            <a:r>
              <a:rPr sz="4800" dirty="0"/>
              <a:t>8</a:t>
            </a:r>
            <a:r>
              <a:rPr sz="4800" spc="-165" dirty="0"/>
              <a:t> </a:t>
            </a:r>
            <a:r>
              <a:rPr sz="4800" spc="-505" dirty="0"/>
              <a:t>T</a:t>
            </a:r>
            <a:r>
              <a:rPr sz="4800" spc="-65" dirty="0"/>
              <a:t>o</a:t>
            </a:r>
            <a:r>
              <a:rPr sz="4800" spc="-80" dirty="0"/>
              <a:t>p</a:t>
            </a:r>
            <a:r>
              <a:rPr sz="4800" spc="-50" dirty="0"/>
              <a:t>i</a:t>
            </a:r>
            <a:r>
              <a:rPr sz="4800" spc="-70" dirty="0"/>
              <a:t>c</a:t>
            </a:r>
            <a:r>
              <a:rPr sz="4800" spc="20" dirty="0"/>
              <a:t>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545306" y="1917915"/>
            <a:ext cx="5012055" cy="3151505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05"/>
              </a:spcBef>
              <a:buClr>
                <a:srgbClr val="E38312"/>
              </a:buClr>
              <a:buSzPct val="40000"/>
              <a:buFont typeface="Symbol"/>
              <a:buChar char=""/>
              <a:tabLst>
                <a:tab pos="354965" algn="l"/>
              </a:tabLst>
            </a:pPr>
            <a:r>
              <a:rPr sz="2500" dirty="0">
                <a:solidFill>
                  <a:srgbClr val="404040"/>
                </a:solidFill>
                <a:latin typeface="Times New Roman"/>
                <a:cs typeface="Times New Roman"/>
              </a:rPr>
              <a:t>Introduction</a:t>
            </a:r>
            <a:r>
              <a:rPr sz="25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5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2500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25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404040"/>
                </a:solidFill>
                <a:latin typeface="Times New Roman"/>
                <a:cs typeface="Times New Roman"/>
              </a:rPr>
              <a:t>Reports</a:t>
            </a:r>
            <a:endParaRPr sz="2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E38312"/>
              </a:buClr>
              <a:buSzPct val="40000"/>
              <a:buFont typeface="Symbol"/>
              <a:buChar char=""/>
              <a:tabLst>
                <a:tab pos="354965" algn="l"/>
              </a:tabLst>
            </a:pPr>
            <a:r>
              <a:rPr sz="2500" dirty="0">
                <a:solidFill>
                  <a:srgbClr val="404040"/>
                </a:solidFill>
                <a:latin typeface="Times New Roman"/>
                <a:cs typeface="Times New Roman"/>
              </a:rPr>
              <a:t>Define</a:t>
            </a:r>
            <a:r>
              <a:rPr sz="25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404040"/>
                </a:solidFill>
                <a:latin typeface="Times New Roman"/>
                <a:cs typeface="Times New Roman"/>
              </a:rPr>
              <a:t>Report</a:t>
            </a:r>
            <a:r>
              <a:rPr sz="25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404040"/>
                </a:solidFill>
                <a:latin typeface="Times New Roman"/>
                <a:cs typeface="Times New Roman"/>
              </a:rPr>
              <a:t>Objectives</a:t>
            </a:r>
            <a:r>
              <a:rPr sz="25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5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404040"/>
                </a:solidFill>
                <a:latin typeface="Times New Roman"/>
                <a:cs typeface="Times New Roman"/>
              </a:rPr>
              <a:t>Scope</a:t>
            </a:r>
            <a:endParaRPr sz="2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105"/>
              </a:spcBef>
              <a:buClr>
                <a:srgbClr val="E38312"/>
              </a:buClr>
              <a:buSzPct val="40000"/>
              <a:buFont typeface="Symbol"/>
              <a:buChar char=""/>
              <a:tabLst>
                <a:tab pos="354965" algn="l"/>
              </a:tabLst>
            </a:pPr>
            <a:r>
              <a:rPr sz="2500" spc="-10" dirty="0">
                <a:solidFill>
                  <a:srgbClr val="404040"/>
                </a:solidFill>
                <a:latin typeface="Times New Roman"/>
                <a:cs typeface="Times New Roman"/>
              </a:rPr>
              <a:t>Understand</a:t>
            </a:r>
            <a:r>
              <a:rPr sz="25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500" spc="-80" dirty="0">
                <a:solidFill>
                  <a:srgbClr val="404040"/>
                </a:solidFill>
                <a:latin typeface="Times New Roman"/>
                <a:cs typeface="Times New Roman"/>
              </a:rPr>
              <a:t>Your</a:t>
            </a:r>
            <a:r>
              <a:rPr sz="2500" spc="-1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404040"/>
                </a:solidFill>
                <a:latin typeface="Times New Roman"/>
                <a:cs typeface="Times New Roman"/>
              </a:rPr>
              <a:t>Audience</a:t>
            </a:r>
            <a:endParaRPr sz="2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95"/>
              </a:spcBef>
              <a:buClr>
                <a:srgbClr val="E38312"/>
              </a:buClr>
              <a:buSzPct val="40000"/>
              <a:buFont typeface="Symbol"/>
              <a:buChar char=""/>
              <a:tabLst>
                <a:tab pos="354965" algn="l"/>
              </a:tabLst>
            </a:pPr>
            <a:r>
              <a:rPr sz="2500" dirty="0">
                <a:solidFill>
                  <a:srgbClr val="404040"/>
                </a:solidFill>
                <a:latin typeface="Times New Roman"/>
                <a:cs typeface="Times New Roman"/>
              </a:rPr>
              <a:t>Report</a:t>
            </a:r>
            <a:r>
              <a:rPr sz="25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404040"/>
                </a:solidFill>
                <a:latin typeface="Times New Roman"/>
                <a:cs typeface="Times New Roman"/>
              </a:rPr>
              <a:t>Format</a:t>
            </a:r>
            <a:r>
              <a:rPr sz="25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500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500" spc="-20" dirty="0">
                <a:solidFill>
                  <a:srgbClr val="404040"/>
                </a:solidFill>
                <a:latin typeface="Times New Roman"/>
                <a:cs typeface="Times New Roman"/>
              </a:rPr>
              <a:t>Type</a:t>
            </a:r>
            <a:endParaRPr sz="2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E38312"/>
              </a:buClr>
              <a:buSzPct val="40000"/>
              <a:buFont typeface="Symbol"/>
              <a:buChar char=""/>
              <a:tabLst>
                <a:tab pos="354965" algn="l"/>
              </a:tabLst>
            </a:pPr>
            <a:r>
              <a:rPr sz="2500" dirty="0">
                <a:solidFill>
                  <a:srgbClr val="404040"/>
                </a:solidFill>
                <a:latin typeface="Times New Roman"/>
                <a:cs typeface="Times New Roman"/>
              </a:rPr>
              <a:t>Gather</a:t>
            </a:r>
            <a:r>
              <a:rPr sz="25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5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404040"/>
                </a:solidFill>
                <a:latin typeface="Times New Roman"/>
                <a:cs typeface="Times New Roman"/>
              </a:rPr>
              <a:t>Facts</a:t>
            </a:r>
            <a:r>
              <a:rPr sz="25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5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500" spc="-20" dirty="0">
                <a:solidFill>
                  <a:srgbClr val="404040"/>
                </a:solidFill>
                <a:latin typeface="Times New Roman"/>
                <a:cs typeface="Times New Roman"/>
              </a:rPr>
              <a:t>Data</a:t>
            </a:r>
            <a:endParaRPr sz="2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105"/>
              </a:spcBef>
              <a:buClr>
                <a:srgbClr val="E38312"/>
              </a:buClr>
              <a:buSzPct val="40000"/>
              <a:buFont typeface="Symbol"/>
              <a:buChar char=""/>
              <a:tabLst>
                <a:tab pos="354965" algn="l"/>
              </a:tabLst>
            </a:pPr>
            <a:r>
              <a:rPr sz="2500" dirty="0">
                <a:solidFill>
                  <a:srgbClr val="404040"/>
                </a:solidFill>
                <a:latin typeface="Times New Roman"/>
                <a:cs typeface="Times New Roman"/>
              </a:rPr>
              <a:t>Structure</a:t>
            </a:r>
            <a:r>
              <a:rPr sz="25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5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404040"/>
                </a:solidFill>
                <a:latin typeface="Times New Roman"/>
                <a:cs typeface="Times New Roman"/>
              </a:rPr>
              <a:t>Report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381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100"/>
              </a:spcBef>
            </a:pPr>
            <a:r>
              <a:rPr sz="4800" spc="-125" dirty="0"/>
              <a:t>Pre-</a:t>
            </a:r>
            <a:r>
              <a:rPr sz="4800" spc="-95" dirty="0"/>
              <a:t>Class</a:t>
            </a:r>
            <a:r>
              <a:rPr sz="4800" spc="-150" dirty="0"/>
              <a:t> </a:t>
            </a:r>
            <a:r>
              <a:rPr sz="4800" spc="-65" dirty="0"/>
              <a:t>Discussion</a:t>
            </a:r>
            <a:endParaRPr sz="4800"/>
          </a:p>
        </p:txBody>
      </p:sp>
      <p:sp>
        <p:nvSpPr>
          <p:cNvPr id="3" name="object 3"/>
          <p:cNvSpPr/>
          <p:nvPr/>
        </p:nvSpPr>
        <p:spPr>
          <a:xfrm>
            <a:off x="557999" y="2376169"/>
            <a:ext cx="2231390" cy="341630"/>
          </a:xfrm>
          <a:custGeom>
            <a:avLst/>
            <a:gdLst/>
            <a:ahLst/>
            <a:cxnLst/>
            <a:rect l="l" t="t" r="r" b="b"/>
            <a:pathLst>
              <a:path w="2231390" h="341630">
                <a:moveTo>
                  <a:pt x="83820" y="0"/>
                </a:moveTo>
                <a:lnTo>
                  <a:pt x="0" y="0"/>
                </a:lnTo>
                <a:lnTo>
                  <a:pt x="0" y="341376"/>
                </a:lnTo>
                <a:lnTo>
                  <a:pt x="83820" y="341376"/>
                </a:lnTo>
                <a:lnTo>
                  <a:pt x="83820" y="0"/>
                </a:lnTo>
                <a:close/>
              </a:path>
              <a:path w="2231390" h="341630">
                <a:moveTo>
                  <a:pt x="2231136" y="0"/>
                </a:moveTo>
                <a:lnTo>
                  <a:pt x="91440" y="0"/>
                </a:lnTo>
                <a:lnTo>
                  <a:pt x="91440" y="341376"/>
                </a:lnTo>
                <a:lnTo>
                  <a:pt x="2231136" y="341376"/>
                </a:lnTo>
                <a:lnTo>
                  <a:pt x="2231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6746" y="2329943"/>
            <a:ext cx="6623050" cy="2419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A1757"/>
                </a:solidFill>
                <a:latin typeface="Arial"/>
                <a:cs typeface="Arial"/>
              </a:rPr>
              <a:t>YouTube</a:t>
            </a:r>
            <a:r>
              <a:rPr sz="2400" spc="-120" dirty="0">
                <a:solidFill>
                  <a:srgbClr val="4A1757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4A1757"/>
                </a:solidFill>
                <a:latin typeface="Arial"/>
                <a:cs typeface="Arial"/>
              </a:rPr>
              <a:t>Video:</a:t>
            </a:r>
            <a:endParaRPr sz="2400" dirty="0">
              <a:latin typeface="Arial"/>
              <a:cs typeface="Arial"/>
            </a:endParaRPr>
          </a:p>
          <a:p>
            <a:pPr marL="12700" marR="5080">
              <a:lnSpc>
                <a:spcPct val="277100"/>
              </a:lnSpc>
              <a:spcBef>
                <a:spcPts val="10"/>
              </a:spcBef>
            </a:pPr>
            <a:r>
              <a:rPr sz="2400" dirty="0">
                <a:solidFill>
                  <a:srgbClr val="4A1757"/>
                </a:solidFill>
                <a:latin typeface="Arial"/>
                <a:cs typeface="Arial"/>
              </a:rPr>
              <a:t>Report</a:t>
            </a:r>
            <a:r>
              <a:rPr sz="2400" spc="-80" dirty="0">
                <a:solidFill>
                  <a:srgbClr val="4A175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A1757"/>
                </a:solidFill>
                <a:latin typeface="Arial"/>
                <a:cs typeface="Arial"/>
              </a:rPr>
              <a:t>Writing:</a:t>
            </a:r>
            <a:r>
              <a:rPr sz="2400" spc="-75" dirty="0">
                <a:solidFill>
                  <a:srgbClr val="4A175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A1757"/>
                </a:solidFill>
                <a:latin typeface="Arial"/>
                <a:cs typeface="Arial"/>
              </a:rPr>
              <a:t>How</a:t>
            </a:r>
            <a:r>
              <a:rPr sz="2400" spc="-80" dirty="0">
                <a:solidFill>
                  <a:srgbClr val="4A175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A1757"/>
                </a:solidFill>
                <a:latin typeface="Arial"/>
                <a:cs typeface="Arial"/>
              </a:rPr>
              <a:t>to</a:t>
            </a:r>
            <a:r>
              <a:rPr sz="2400" spc="-75" dirty="0">
                <a:solidFill>
                  <a:srgbClr val="4A175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A1757"/>
                </a:solidFill>
                <a:latin typeface="Arial"/>
                <a:cs typeface="Arial"/>
              </a:rPr>
              <a:t>Write</a:t>
            </a:r>
            <a:r>
              <a:rPr sz="2400" spc="-80" dirty="0">
                <a:solidFill>
                  <a:srgbClr val="4A175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A1757"/>
                </a:solidFill>
                <a:latin typeface="Arial"/>
                <a:cs typeface="Arial"/>
              </a:rPr>
              <a:t>a</a:t>
            </a:r>
            <a:r>
              <a:rPr sz="2400" spc="-75" dirty="0">
                <a:solidFill>
                  <a:srgbClr val="4A175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A1757"/>
                </a:solidFill>
                <a:latin typeface="Arial"/>
                <a:cs typeface="Arial"/>
              </a:rPr>
              <a:t>Project</a:t>
            </a:r>
            <a:r>
              <a:rPr sz="2400" spc="-80" dirty="0">
                <a:solidFill>
                  <a:srgbClr val="4A1757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4A1757"/>
                </a:solidFill>
                <a:latin typeface="Arial"/>
                <a:cs typeface="Arial"/>
              </a:rPr>
              <a:t>Report? </a:t>
            </a:r>
            <a:r>
              <a:rPr sz="2400" u="sng" spc="-2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Arial"/>
                <a:cs typeface="Arial"/>
                <a:hlinkClick r:id="rId2"/>
              </a:rPr>
              <a:t>https://www.youtube.com/watch?v=KuFPjmx-</a:t>
            </a:r>
            <a:r>
              <a:rPr sz="2400" u="sng" spc="-25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Arial"/>
                <a:cs typeface="Arial"/>
                <a:hlinkClick r:id="rId2"/>
              </a:rPr>
              <a:t>jCY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35C0C-96D1-8F2A-E93E-28DFD940F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383D1580-24AF-0BCC-AE8B-91588A53E3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381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100"/>
              </a:spcBef>
            </a:pPr>
            <a:r>
              <a:rPr sz="4800" spc="-125" dirty="0"/>
              <a:t>Pre-</a:t>
            </a:r>
            <a:r>
              <a:rPr sz="4800" spc="-95" dirty="0"/>
              <a:t>Class</a:t>
            </a:r>
            <a:r>
              <a:rPr sz="4800" spc="-150" dirty="0"/>
              <a:t> </a:t>
            </a:r>
            <a:r>
              <a:rPr sz="4800" spc="-65" dirty="0"/>
              <a:t>Discussion</a:t>
            </a:r>
            <a:endParaRPr sz="480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983D623D-74D4-FF91-A969-3BBC86BEE71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44511524-07E2-3145-4DE7-3852013050B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2DCB1D1-CD54-7748-227F-0509AE9283D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8B8E22-CAA1-7179-4CBC-4A513139102A}"/>
              </a:ext>
            </a:extLst>
          </p:cNvPr>
          <p:cNvSpPr txBox="1"/>
          <p:nvPr/>
        </p:nvSpPr>
        <p:spPr>
          <a:xfrm>
            <a:off x="0" y="1295401"/>
            <a:ext cx="9144000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Key Messages / Lessons (Simple Terms)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+mj-lt"/>
              </a:rPr>
              <a:t>A project report must have a proper title page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The title page should include: </a:t>
            </a:r>
          </a:p>
          <a:p>
            <a:pPr marL="116681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Project title </a:t>
            </a:r>
          </a:p>
          <a:p>
            <a:pPr marL="116681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Student name </a:t>
            </a:r>
          </a:p>
          <a:p>
            <a:pPr marL="116681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Roll number/ID </a:t>
            </a:r>
          </a:p>
          <a:p>
            <a:pPr marL="116681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University or college name </a:t>
            </a:r>
          </a:p>
          <a:p>
            <a:pPr marL="116681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Faculty or supervisor name</a:t>
            </a:r>
          </a:p>
        </p:txBody>
      </p:sp>
    </p:spTree>
    <p:extLst>
      <p:ext uri="{BB962C8B-B14F-4D97-AF65-F5344CB8AC3E}">
        <p14:creationId xmlns:p14="http://schemas.microsoft.com/office/powerpoint/2010/main" val="24159272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F5B59-9156-EF4A-5D58-A94CC08FF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97903A8-3C97-26B9-5318-0EB7E9233F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381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100"/>
              </a:spcBef>
            </a:pPr>
            <a:r>
              <a:rPr sz="4800" spc="-125" dirty="0"/>
              <a:t>Pre-</a:t>
            </a:r>
            <a:r>
              <a:rPr sz="4800" spc="-95" dirty="0"/>
              <a:t>Class</a:t>
            </a:r>
            <a:r>
              <a:rPr sz="4800" spc="-150" dirty="0"/>
              <a:t> </a:t>
            </a:r>
            <a:r>
              <a:rPr sz="4800" spc="-65" dirty="0"/>
              <a:t>Discussion</a:t>
            </a:r>
            <a:endParaRPr sz="480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2B3C0585-5CF5-D6CE-E364-29E024F12E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E44BE8FB-D7FB-68F9-33FF-231D021E57C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9ADE3FB-537D-C663-AEC9-28A8283ABCC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DE1E4F-054A-94D7-5D97-F4C4E7863540}"/>
              </a:ext>
            </a:extLst>
          </p:cNvPr>
          <p:cNvSpPr txBox="1"/>
          <p:nvPr/>
        </p:nvSpPr>
        <p:spPr>
          <a:xfrm>
            <a:off x="0" y="1295401"/>
            <a:ext cx="9144000" cy="39035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sz="2800" b="1" dirty="0">
                <a:latin typeface="+mj-lt"/>
              </a:rPr>
              <a:t>The first page is very important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A neat and professional cover page creates a good first impression.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sz="2800" b="1" dirty="0">
                <a:latin typeface="+mj-lt"/>
              </a:rPr>
              <a:t>Use pictures related to the topic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Adding suitable images makes the report more attractive and easier to understand.</a:t>
            </a:r>
          </a:p>
        </p:txBody>
      </p:sp>
    </p:spTree>
    <p:extLst>
      <p:ext uri="{BB962C8B-B14F-4D97-AF65-F5344CB8AC3E}">
        <p14:creationId xmlns:p14="http://schemas.microsoft.com/office/powerpoint/2010/main" val="27854585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F77E9-29FF-81C7-71B8-AB9DBD184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D45290D-BCBF-328E-E69C-EC70D2119B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381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100"/>
              </a:spcBef>
            </a:pPr>
            <a:r>
              <a:rPr sz="4800" spc="-125" dirty="0"/>
              <a:t>Pre-</a:t>
            </a:r>
            <a:r>
              <a:rPr sz="4800" spc="-95" dirty="0"/>
              <a:t>Class</a:t>
            </a:r>
            <a:r>
              <a:rPr sz="4800" spc="-150" dirty="0"/>
              <a:t> </a:t>
            </a:r>
            <a:r>
              <a:rPr sz="4800" spc="-65" dirty="0"/>
              <a:t>Discussion</a:t>
            </a:r>
            <a:endParaRPr sz="480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707216B0-6B5E-AC2B-23A8-16A26EC9092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D38C67A0-4CAD-2DFB-EA5A-1BA8F770640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D225854-BD8B-1713-CD3A-776A4A8D713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A5EAD9-98BE-6AD4-5E39-CFDE45954B52}"/>
              </a:ext>
            </a:extLst>
          </p:cNvPr>
          <p:cNvSpPr txBox="1"/>
          <p:nvPr/>
        </p:nvSpPr>
        <p:spPr>
          <a:xfrm>
            <a:off x="0" y="1295401"/>
            <a:ext cx="9144000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sz="2800" b="1" dirty="0">
                <a:latin typeface="+mj-lt"/>
              </a:rPr>
              <a:t>Follow proper formatting rules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Reports should use:</a:t>
            </a:r>
          </a:p>
          <a:p>
            <a:pPr marL="1166813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71563" algn="l"/>
              </a:tabLst>
            </a:pPr>
            <a:r>
              <a:rPr lang="en-US" sz="2800" dirty="0">
                <a:latin typeface="+mj-lt"/>
              </a:rPr>
              <a:t>Clear headings </a:t>
            </a:r>
          </a:p>
          <a:p>
            <a:pPr marL="1166813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71563" algn="l"/>
              </a:tabLst>
            </a:pPr>
            <a:r>
              <a:rPr lang="en-US" sz="2800" dirty="0">
                <a:latin typeface="+mj-lt"/>
              </a:rPr>
              <a:t>Correct font style (such as Times New Roman) </a:t>
            </a:r>
          </a:p>
          <a:p>
            <a:pPr marL="1166813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71563" algn="l"/>
              </a:tabLst>
            </a:pPr>
            <a:r>
              <a:rPr lang="en-US" sz="2800" dirty="0">
                <a:latin typeface="+mj-lt"/>
              </a:rPr>
              <a:t>Proper font size </a:t>
            </a:r>
          </a:p>
          <a:p>
            <a:pPr marL="1166813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71563" algn="l"/>
              </a:tabLst>
            </a:pPr>
            <a:r>
              <a:rPr lang="en-US" sz="2800" dirty="0">
                <a:latin typeface="+mj-lt"/>
              </a:rPr>
              <a:t>Line spacing </a:t>
            </a:r>
          </a:p>
          <a:p>
            <a:pPr marL="1166813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71563" algn="l"/>
              </a:tabLst>
            </a:pPr>
            <a:r>
              <a:rPr lang="en-US" sz="2800" dirty="0">
                <a:latin typeface="+mj-lt"/>
              </a:rPr>
              <a:t>Bold headings</a:t>
            </a:r>
          </a:p>
        </p:txBody>
      </p:sp>
    </p:spTree>
    <p:extLst>
      <p:ext uri="{BB962C8B-B14F-4D97-AF65-F5344CB8AC3E}">
        <p14:creationId xmlns:p14="http://schemas.microsoft.com/office/powerpoint/2010/main" val="20611927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9AE41-101D-1F48-E6FF-47D7E512F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2BE6EA4-F729-4040-F523-45F3C2D531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381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100"/>
              </a:spcBef>
            </a:pPr>
            <a:r>
              <a:rPr sz="4800" spc="-125" dirty="0"/>
              <a:t>Pre-</a:t>
            </a:r>
            <a:r>
              <a:rPr sz="4800" spc="-95" dirty="0"/>
              <a:t>Class</a:t>
            </a:r>
            <a:r>
              <a:rPr sz="4800" spc="-150" dirty="0"/>
              <a:t> </a:t>
            </a:r>
            <a:r>
              <a:rPr sz="4800" spc="-65" dirty="0"/>
              <a:t>Discussion</a:t>
            </a:r>
            <a:endParaRPr sz="480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B3BB170D-EB60-F688-DAEA-A0D957B8667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147639CE-74B9-E0FC-F986-AD6A8D5B2F0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AE2EF02-C610-90F7-9CAA-CF556C71BEA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AAD4C4-D682-9F0D-2468-4A1585DA7B28}"/>
              </a:ext>
            </a:extLst>
          </p:cNvPr>
          <p:cNvSpPr txBox="1"/>
          <p:nvPr/>
        </p:nvSpPr>
        <p:spPr>
          <a:xfrm>
            <a:off x="0" y="1295401"/>
            <a:ext cx="9144000" cy="390074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sz="2800" b="1" dirty="0">
                <a:latin typeface="+mj-lt"/>
              </a:rPr>
              <a:t>Include a table of contents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The table of contents helps readers quickly find chapters and sections.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sz="2800" b="1" dirty="0">
                <a:latin typeface="+mj-lt"/>
              </a:rPr>
              <a:t>Organize reports into chapters and subheadings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Each chapter should focus on one topic and use subheadings for better structure.</a:t>
            </a:r>
          </a:p>
        </p:txBody>
      </p:sp>
    </p:spTree>
    <p:extLst>
      <p:ext uri="{BB962C8B-B14F-4D97-AF65-F5344CB8AC3E}">
        <p14:creationId xmlns:p14="http://schemas.microsoft.com/office/powerpoint/2010/main" val="25806641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98E0D-813A-62A4-949B-CEA3368DF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3AC8AFDD-3ADC-5DF2-3ECD-299A1C58BB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381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100"/>
              </a:spcBef>
            </a:pPr>
            <a:r>
              <a:rPr sz="4800" spc="-125" dirty="0"/>
              <a:t>Pre-</a:t>
            </a:r>
            <a:r>
              <a:rPr sz="4800" spc="-95" dirty="0"/>
              <a:t>Class</a:t>
            </a:r>
            <a:r>
              <a:rPr sz="4800" spc="-150" dirty="0"/>
              <a:t> </a:t>
            </a:r>
            <a:r>
              <a:rPr sz="4800" spc="-65" dirty="0"/>
              <a:t>Discussion</a:t>
            </a:r>
            <a:endParaRPr sz="480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1E9A8F8F-0C7C-EDD8-C576-F1EDA80D70D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636AB225-C21D-C2F4-9817-AD2FCB98148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2094DE9-7B98-6EB3-E807-97C625C3D7A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815BFD-13FC-97BD-599A-6F244509804F}"/>
              </a:ext>
            </a:extLst>
          </p:cNvPr>
          <p:cNvSpPr txBox="1"/>
          <p:nvPr/>
        </p:nvSpPr>
        <p:spPr>
          <a:xfrm>
            <a:off x="0" y="1295401"/>
            <a:ext cx="9144000" cy="390074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7"/>
            </a:pPr>
            <a:r>
              <a:rPr lang="en-US" sz="2800" b="1" dirty="0">
                <a:latin typeface="+mj-lt"/>
              </a:rPr>
              <a:t>Use references and sources properly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Information taken from books, websites, newspapers, or magazines should be properly referenced.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7"/>
            </a:pPr>
            <a:r>
              <a:rPr lang="en-US" sz="2800" b="1" dirty="0">
                <a:latin typeface="+mj-lt"/>
              </a:rPr>
              <a:t>Use updated and reliable information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Students should collect information from trustworthy and recent sources.</a:t>
            </a:r>
          </a:p>
        </p:txBody>
      </p:sp>
    </p:spTree>
    <p:extLst>
      <p:ext uri="{BB962C8B-B14F-4D97-AF65-F5344CB8AC3E}">
        <p14:creationId xmlns:p14="http://schemas.microsoft.com/office/powerpoint/2010/main" val="10742919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C416D-D0DD-64AC-B5E1-BFDD9ABC1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5B5F3924-D57C-CE7A-364D-DA78D49DA2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381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100"/>
              </a:spcBef>
            </a:pPr>
            <a:r>
              <a:rPr sz="4800" spc="-125" dirty="0"/>
              <a:t>Pre-</a:t>
            </a:r>
            <a:r>
              <a:rPr sz="4800" spc="-95" dirty="0"/>
              <a:t>Class</a:t>
            </a:r>
            <a:r>
              <a:rPr sz="4800" spc="-150" dirty="0"/>
              <a:t> </a:t>
            </a:r>
            <a:r>
              <a:rPr sz="4800" spc="-65" dirty="0"/>
              <a:t>Discussion</a:t>
            </a:r>
            <a:endParaRPr sz="480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19E83CD0-A20E-5523-FCD7-49928834EF9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6A396256-7512-E199-B39F-2FE8A89E1D0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D0236A5-EBCD-02CB-87F5-B2529CC8942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CBB2BE-2F19-CC6C-B0F8-97DCA35F934B}"/>
              </a:ext>
            </a:extLst>
          </p:cNvPr>
          <p:cNvSpPr txBox="1"/>
          <p:nvPr/>
        </p:nvSpPr>
        <p:spPr>
          <a:xfrm>
            <a:off x="0" y="1295401"/>
            <a:ext cx="9144000" cy="39035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9"/>
            </a:pPr>
            <a:r>
              <a:rPr lang="en-US" sz="2800" b="1" dirty="0">
                <a:latin typeface="+mj-lt"/>
              </a:rPr>
              <a:t>Pictures, charts, and diagrams improve reports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Visual elements make reports more interesting and easier to explain.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9"/>
            </a:pPr>
            <a:r>
              <a:rPr lang="en-US" sz="2800" b="1" dirty="0">
                <a:latin typeface="+mj-lt"/>
              </a:rPr>
              <a:t>Appendices can include extra information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Large tables, detailed data, or additional documents can be added in the appendix section</a:t>
            </a:r>
          </a:p>
        </p:txBody>
      </p:sp>
    </p:spTree>
    <p:extLst>
      <p:ext uri="{BB962C8B-B14F-4D97-AF65-F5344CB8AC3E}">
        <p14:creationId xmlns:p14="http://schemas.microsoft.com/office/powerpoint/2010/main" val="3883318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5CFC8-EC85-B610-D3A0-D4B6FA644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EB96BE7-49EA-CC7B-BBBE-700B56409F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381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100"/>
              </a:spcBef>
            </a:pPr>
            <a:r>
              <a:rPr sz="4800" spc="-125" dirty="0"/>
              <a:t>Pre-</a:t>
            </a:r>
            <a:r>
              <a:rPr sz="4800" spc="-95" dirty="0"/>
              <a:t>Class</a:t>
            </a:r>
            <a:r>
              <a:rPr sz="4800" spc="-150" dirty="0"/>
              <a:t> </a:t>
            </a:r>
            <a:r>
              <a:rPr sz="4800" spc="-65" dirty="0"/>
              <a:t>Discussion</a:t>
            </a:r>
            <a:endParaRPr sz="480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7F2B75E7-7A2E-89B6-E2AF-474B91C4B62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016D97FE-8912-35F8-D00F-9430047EB49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72487CF-CBD5-53AB-902E-E14E5F3C0DB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48126F-592D-0C47-A705-020A18112C7B}"/>
              </a:ext>
            </a:extLst>
          </p:cNvPr>
          <p:cNvSpPr txBox="1"/>
          <p:nvPr/>
        </p:nvSpPr>
        <p:spPr>
          <a:xfrm>
            <a:off x="0" y="1295401"/>
            <a:ext cx="9144000" cy="39035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11"/>
            </a:pPr>
            <a:r>
              <a:rPr lang="en-US" sz="2800" b="1" dirty="0">
                <a:latin typeface="+mj-lt"/>
              </a:rPr>
              <a:t>Technical and project reports should be well-structured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A good report should be neat, clear, and logically </a:t>
            </a:r>
            <a:r>
              <a:rPr lang="en-US" sz="2800" dirty="0" err="1">
                <a:latin typeface="+mj-lt"/>
              </a:rPr>
              <a:t>organised</a:t>
            </a:r>
            <a:r>
              <a:rPr lang="en-US" sz="2800" dirty="0">
                <a:latin typeface="+mj-lt"/>
              </a:rPr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11"/>
            </a:pPr>
            <a:r>
              <a:rPr lang="en-US" sz="2800" b="1" dirty="0">
                <a:latin typeface="+mj-lt"/>
              </a:rPr>
              <a:t>Good presentation improves marks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Proper formatting, clean layout, and </a:t>
            </a:r>
            <a:r>
              <a:rPr lang="en-US" sz="2800" dirty="0" err="1">
                <a:latin typeface="+mj-lt"/>
              </a:rPr>
              <a:t>organised</a:t>
            </a:r>
            <a:r>
              <a:rPr lang="en-US" sz="2800" dirty="0">
                <a:latin typeface="+mj-lt"/>
              </a:rPr>
              <a:t> content help create a professional report.</a:t>
            </a:r>
          </a:p>
        </p:txBody>
      </p:sp>
    </p:spTree>
    <p:extLst>
      <p:ext uri="{BB962C8B-B14F-4D97-AF65-F5344CB8AC3E}">
        <p14:creationId xmlns:p14="http://schemas.microsoft.com/office/powerpoint/2010/main" val="8308361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BCEE4-B09A-647C-BEE4-37CB3137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83EF37D-9643-110D-4421-3F69F92DBE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381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100"/>
              </a:spcBef>
            </a:pPr>
            <a:r>
              <a:rPr sz="4800" spc="-125" dirty="0"/>
              <a:t>Pre-</a:t>
            </a:r>
            <a:r>
              <a:rPr sz="4800" spc="-95" dirty="0"/>
              <a:t>Class</a:t>
            </a:r>
            <a:r>
              <a:rPr sz="4800" spc="-150" dirty="0"/>
              <a:t> </a:t>
            </a:r>
            <a:r>
              <a:rPr sz="4800" spc="-65" dirty="0"/>
              <a:t>Discussion</a:t>
            </a:r>
            <a:endParaRPr sz="480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AE80B8AC-6640-C84D-F23E-F6CC27E371F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742E951A-F4E1-CB4E-9E8C-C7F8BC07BB2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1FD93C2-0FA5-5767-77E2-77067318117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68822-6168-8630-06E6-53604958452A}"/>
              </a:ext>
            </a:extLst>
          </p:cNvPr>
          <p:cNvSpPr txBox="1"/>
          <p:nvPr/>
        </p:nvSpPr>
        <p:spPr>
          <a:xfrm>
            <a:off x="0" y="1295401"/>
            <a:ext cx="9144000" cy="53465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b="1" dirty="0">
                <a:latin typeface="+mj-lt"/>
              </a:rPr>
              <a:t>Design Discussion Questions and Answers</a:t>
            </a:r>
          </a:p>
          <a:p>
            <a:pPr>
              <a:lnSpc>
                <a:spcPct val="150000"/>
              </a:lnSpc>
            </a:pPr>
            <a:r>
              <a:rPr lang="en-US" sz="2300" b="1" dirty="0">
                <a:latin typeface="+mj-lt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2300" b="1" dirty="0">
                <a:latin typeface="+mj-lt"/>
              </a:rPr>
              <a:t>What information should be included on the title page of a project report?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+mj-lt"/>
              </a:rPr>
              <a:t>The title page should include:</a:t>
            </a:r>
          </a:p>
          <a:p>
            <a:pPr marL="7143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+mj-lt"/>
              </a:rPr>
              <a:t>Project title </a:t>
            </a:r>
          </a:p>
          <a:p>
            <a:pPr marL="7143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+mj-lt"/>
              </a:rPr>
              <a:t>Student name </a:t>
            </a:r>
          </a:p>
          <a:p>
            <a:pPr marL="7143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+mj-lt"/>
              </a:rPr>
              <a:t>Roll number/student ID </a:t>
            </a:r>
          </a:p>
          <a:p>
            <a:pPr marL="7143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+mj-lt"/>
              </a:rPr>
              <a:t>University or college name </a:t>
            </a:r>
          </a:p>
          <a:p>
            <a:pPr marL="7143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+mj-lt"/>
              </a:rPr>
              <a:t>Faculty or supervisor name</a:t>
            </a:r>
          </a:p>
        </p:txBody>
      </p:sp>
    </p:spTree>
    <p:extLst>
      <p:ext uri="{BB962C8B-B14F-4D97-AF65-F5344CB8AC3E}">
        <p14:creationId xmlns:p14="http://schemas.microsoft.com/office/powerpoint/2010/main" val="4153880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6A29E-F6FB-4FF0-96D3-D5126CA6A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1AF90F47-6F82-C250-4616-7D30DC3CEA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381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100"/>
              </a:spcBef>
            </a:pPr>
            <a:r>
              <a:rPr sz="4800" spc="-125" dirty="0"/>
              <a:t>Pre-</a:t>
            </a:r>
            <a:r>
              <a:rPr sz="4800" spc="-95" dirty="0"/>
              <a:t>Class</a:t>
            </a:r>
            <a:r>
              <a:rPr sz="4800" spc="-150" dirty="0"/>
              <a:t> </a:t>
            </a:r>
            <a:r>
              <a:rPr sz="4800" spc="-65" dirty="0"/>
              <a:t>Discussion</a:t>
            </a:r>
            <a:endParaRPr sz="480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5129BA61-743D-6BDF-662D-327CD1B0065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44D2C703-EDD2-CC3D-0EC6-E770EAA2782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DAE1E21-E933-3546-3DCB-35D01B0B139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C2E6B5-33D7-CC83-3B94-C9A1C040415E}"/>
              </a:ext>
            </a:extLst>
          </p:cNvPr>
          <p:cNvSpPr txBox="1"/>
          <p:nvPr/>
        </p:nvSpPr>
        <p:spPr>
          <a:xfrm>
            <a:off x="0" y="1295401"/>
            <a:ext cx="9144000" cy="446705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Why is the cover page important in a report?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The cover page creates the first impression and makes the report look professional.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Why should pictures be added to a project report?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Pictures help explain ideas clearly and make the report more attractive for readers.</a:t>
            </a:r>
          </a:p>
        </p:txBody>
      </p:sp>
    </p:spTree>
    <p:extLst>
      <p:ext uri="{BB962C8B-B14F-4D97-AF65-F5344CB8AC3E}">
        <p14:creationId xmlns:p14="http://schemas.microsoft.com/office/powerpoint/2010/main" val="354945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F8423-7497-8227-3797-04DCF2105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5912B016-2AB7-6840-6DBC-ADEBA4599E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381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100"/>
              </a:spcBef>
            </a:pPr>
            <a:r>
              <a:rPr sz="4800" spc="-125" dirty="0"/>
              <a:t>Pre-</a:t>
            </a:r>
            <a:r>
              <a:rPr sz="4800" spc="-95" dirty="0"/>
              <a:t>Class</a:t>
            </a:r>
            <a:r>
              <a:rPr sz="4800" spc="-150" dirty="0"/>
              <a:t> </a:t>
            </a:r>
            <a:r>
              <a:rPr sz="4800" spc="-65" dirty="0"/>
              <a:t>Discussion</a:t>
            </a:r>
            <a:endParaRPr sz="480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85B0AD7-AB39-FC86-C9DF-5BE9B92100F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DA6DC7B3-FBAB-5FED-485E-FD5F80333CA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EFF0FAE-0D73-561B-3F5A-7A0D0D1B01A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550586-0BF5-4438-14A8-ABF9BE090702}"/>
              </a:ext>
            </a:extLst>
          </p:cNvPr>
          <p:cNvSpPr txBox="1"/>
          <p:nvPr/>
        </p:nvSpPr>
        <p:spPr>
          <a:xfrm>
            <a:off x="0" y="1295401"/>
            <a:ext cx="9144000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What is the purpose of a table of contents?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The table of contents helps readers find chapters and sections easily.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5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Why should reports use headings and subheadings?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Headings and subheadings </a:t>
            </a:r>
            <a:r>
              <a:rPr lang="en-US" sz="2800" dirty="0" err="1">
                <a:latin typeface="+mj-lt"/>
              </a:rPr>
              <a:t>organise</a:t>
            </a:r>
            <a:r>
              <a:rPr lang="en-US" sz="2800" dirty="0">
                <a:latin typeface="+mj-lt"/>
              </a:rPr>
              <a:t> information clearly and improve readability.</a:t>
            </a:r>
          </a:p>
        </p:txBody>
      </p:sp>
    </p:spTree>
    <p:extLst>
      <p:ext uri="{BB962C8B-B14F-4D97-AF65-F5344CB8AC3E}">
        <p14:creationId xmlns:p14="http://schemas.microsoft.com/office/powerpoint/2010/main" val="1205156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9A662-BE13-69F7-34B9-AFAEEEB1F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7368268E-1047-CF29-A7F9-07970F6486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381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100"/>
              </a:spcBef>
            </a:pPr>
            <a:r>
              <a:rPr sz="4800" spc="-125" dirty="0"/>
              <a:t>Pre-</a:t>
            </a:r>
            <a:r>
              <a:rPr sz="4800" spc="-95" dirty="0"/>
              <a:t>Class</a:t>
            </a:r>
            <a:r>
              <a:rPr sz="4800" spc="-150" dirty="0"/>
              <a:t> </a:t>
            </a:r>
            <a:r>
              <a:rPr sz="4800" spc="-65" dirty="0"/>
              <a:t>Discussion</a:t>
            </a:r>
            <a:endParaRPr sz="480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723912F8-961D-F126-817B-A07571A8674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B0781D46-2DD9-5B29-CE0D-123686D105F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5D64B5E-BCAC-8229-E07E-03F64040331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897783-CF56-8831-A5C3-2AA936A4F239}"/>
              </a:ext>
            </a:extLst>
          </p:cNvPr>
          <p:cNvSpPr txBox="1"/>
          <p:nvPr/>
        </p:nvSpPr>
        <p:spPr>
          <a:xfrm>
            <a:off x="0" y="1295401"/>
            <a:ext cx="9144000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6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What font style was recommended in the video?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The video recommended using Times New Roman font.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7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Why are references important in project reports?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References show where the information came from and help avoid plagiarism.</a:t>
            </a:r>
          </a:p>
        </p:txBody>
      </p:sp>
    </p:spTree>
    <p:extLst>
      <p:ext uri="{BB962C8B-B14F-4D97-AF65-F5344CB8AC3E}">
        <p14:creationId xmlns:p14="http://schemas.microsoft.com/office/powerpoint/2010/main" val="400235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390A9-D4F4-7280-5AAE-9A345DD30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>
            <a:extLst>
              <a:ext uri="{FF2B5EF4-FFF2-40B4-BE49-F238E27FC236}">
                <a16:creationId xmlns:a16="http://schemas.microsoft.com/office/drawing/2014/main" id="{05F82A9C-4938-A5B0-4927-C7D7EB194EE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ECCD678F-07D0-9536-66BA-01E1A6EF386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779BBE0-3DB1-6A38-A535-4B47B0FF805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F16AB1-3E45-A5F4-5BED-7B12E803073F}"/>
              </a:ext>
            </a:extLst>
          </p:cNvPr>
          <p:cNvSpPr txBox="1"/>
          <p:nvPr/>
        </p:nvSpPr>
        <p:spPr>
          <a:xfrm>
            <a:off x="-13138" y="1015503"/>
            <a:ext cx="9144000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8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What kinds of sources can be used in references?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Sources may include: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Books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Websites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Newspapers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Magazines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Research articles</a:t>
            </a:r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D3E0E4C-D5CF-D934-0E69-DB87E82F7E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381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100"/>
              </a:spcBef>
            </a:pPr>
            <a:r>
              <a:rPr sz="4800" spc="-125" dirty="0"/>
              <a:t>Pre-</a:t>
            </a:r>
            <a:r>
              <a:rPr sz="4800" spc="-95" dirty="0"/>
              <a:t>Class</a:t>
            </a:r>
            <a:r>
              <a:rPr sz="4800" spc="-150" dirty="0"/>
              <a:t> </a:t>
            </a:r>
            <a:r>
              <a:rPr sz="4800" spc="-65" dirty="0"/>
              <a:t>Discussion</a:t>
            </a:r>
            <a:endParaRPr sz="4800" dirty="0"/>
          </a:p>
        </p:txBody>
      </p:sp>
    </p:spTree>
    <p:extLst>
      <p:ext uri="{BB962C8B-B14F-4D97-AF65-F5344CB8AC3E}">
        <p14:creationId xmlns:p14="http://schemas.microsoft.com/office/powerpoint/2010/main" val="6178615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62484-9A99-059F-9A2B-CA6E1AFEE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>
            <a:extLst>
              <a:ext uri="{FF2B5EF4-FFF2-40B4-BE49-F238E27FC236}">
                <a16:creationId xmlns:a16="http://schemas.microsoft.com/office/drawing/2014/main" id="{3C941F35-EA3C-703F-2201-44FD9271E15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7113BD88-B112-8B41-6DF8-4F8544246D3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F21E9B1-A950-E4D8-1BD5-B720F840E38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3CA17D-F544-DD46-34AE-499ED061875C}"/>
              </a:ext>
            </a:extLst>
          </p:cNvPr>
          <p:cNvSpPr txBox="1"/>
          <p:nvPr/>
        </p:nvSpPr>
        <p:spPr>
          <a:xfrm>
            <a:off x="-13138" y="1015503"/>
            <a:ext cx="9144000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9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What is an appendix in a report?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An appendix contains extra supporting information such as charts, tables, or additional documents.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10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How does proper formatting improve a report?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Proper formatting makes the report easier to read, more </a:t>
            </a:r>
            <a:r>
              <a:rPr lang="en-US" sz="2800" dirty="0" err="1">
                <a:latin typeface="+mj-lt"/>
              </a:rPr>
              <a:t>organised</a:t>
            </a:r>
            <a:r>
              <a:rPr lang="en-US" sz="2800" dirty="0">
                <a:latin typeface="+mj-lt"/>
              </a:rPr>
              <a:t>, and more professional.</a:t>
            </a:r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E86804EF-9B60-1BC0-C53A-01E83929C3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381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100"/>
              </a:spcBef>
            </a:pPr>
            <a:r>
              <a:rPr sz="4800" spc="-125" dirty="0"/>
              <a:t>Pre-</a:t>
            </a:r>
            <a:r>
              <a:rPr sz="4800" spc="-95" dirty="0"/>
              <a:t>Class</a:t>
            </a:r>
            <a:r>
              <a:rPr sz="4800" spc="-150" dirty="0"/>
              <a:t> </a:t>
            </a:r>
            <a:r>
              <a:rPr sz="4800" spc="-65" dirty="0"/>
              <a:t>Discussion</a:t>
            </a:r>
            <a:endParaRPr sz="4800" dirty="0"/>
          </a:p>
        </p:txBody>
      </p:sp>
    </p:spTree>
    <p:extLst>
      <p:ext uri="{BB962C8B-B14F-4D97-AF65-F5344CB8AC3E}">
        <p14:creationId xmlns:p14="http://schemas.microsoft.com/office/powerpoint/2010/main" val="77538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2F938-D8EE-1A60-6C19-4CDD68182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>
            <a:extLst>
              <a:ext uri="{FF2B5EF4-FFF2-40B4-BE49-F238E27FC236}">
                <a16:creationId xmlns:a16="http://schemas.microsoft.com/office/drawing/2014/main" id="{D51AF159-ED7B-EFFD-EFA1-1FBF21A9EA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524FFB30-F2F3-86C0-5917-62C36D89009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62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3950388-D412-B6C1-7D73-C6AE9A17A8E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76E7D8-4C3C-8665-A377-1EEFC553F1C4}"/>
              </a:ext>
            </a:extLst>
          </p:cNvPr>
          <p:cNvSpPr txBox="1"/>
          <p:nvPr/>
        </p:nvSpPr>
        <p:spPr>
          <a:xfrm>
            <a:off x="0" y="1371600"/>
            <a:ext cx="9144000" cy="39035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Short Reflection Question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Why is report </a:t>
            </a:r>
            <a:r>
              <a:rPr lang="en-US" sz="2800" b="1" dirty="0" err="1">
                <a:latin typeface="+mj-lt"/>
              </a:rPr>
              <a:t>organisation</a:t>
            </a:r>
            <a:r>
              <a:rPr lang="en-US" sz="2800" b="1" dirty="0">
                <a:latin typeface="+mj-lt"/>
              </a:rPr>
              <a:t> important in academic or technical projects?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Good </a:t>
            </a:r>
            <a:r>
              <a:rPr lang="en-US" sz="2800" dirty="0" err="1">
                <a:latin typeface="+mj-lt"/>
              </a:rPr>
              <a:t>organisation</a:t>
            </a:r>
            <a:r>
              <a:rPr lang="en-US" sz="2800" dirty="0">
                <a:latin typeface="+mj-lt"/>
              </a:rPr>
              <a:t> helps readers understand the information easily, improves communication, and makes the report look professional and credible</a:t>
            </a:r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EB29082D-7531-61A8-CE52-FD9815AA16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381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100"/>
              </a:spcBef>
            </a:pPr>
            <a:r>
              <a:rPr sz="4800" spc="-125" dirty="0"/>
              <a:t>Pre-</a:t>
            </a:r>
            <a:r>
              <a:rPr sz="4800" spc="-95" dirty="0"/>
              <a:t>Class</a:t>
            </a:r>
            <a:r>
              <a:rPr sz="4800" spc="-150" dirty="0"/>
              <a:t> </a:t>
            </a:r>
            <a:r>
              <a:rPr sz="4800" spc="-65" dirty="0"/>
              <a:t>Discussion</a:t>
            </a:r>
            <a:endParaRPr sz="4800" dirty="0"/>
          </a:p>
        </p:txBody>
      </p:sp>
    </p:spTree>
    <p:extLst>
      <p:ext uri="{BB962C8B-B14F-4D97-AF65-F5344CB8AC3E}">
        <p14:creationId xmlns:p14="http://schemas.microsoft.com/office/powerpoint/2010/main" val="242287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57147" y="961656"/>
            <a:ext cx="60401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95" dirty="0"/>
              <a:t>Introduction</a:t>
            </a:r>
            <a:r>
              <a:rPr sz="4000" spc="-145" dirty="0"/>
              <a:t> </a:t>
            </a:r>
            <a:r>
              <a:rPr sz="4000" spc="-70" dirty="0"/>
              <a:t>to</a:t>
            </a:r>
            <a:r>
              <a:rPr sz="4000" spc="-125" dirty="0"/>
              <a:t> </a:t>
            </a:r>
            <a:r>
              <a:rPr sz="4000" spc="-100" dirty="0"/>
              <a:t>Project</a:t>
            </a:r>
            <a:r>
              <a:rPr sz="4000" spc="-135" dirty="0"/>
              <a:t> </a:t>
            </a:r>
            <a:r>
              <a:rPr sz="4000" spc="-45" dirty="0"/>
              <a:t>Reports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0" y="1854720"/>
            <a:ext cx="4242803" cy="423670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55394" y="1026109"/>
            <a:ext cx="66421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Introduction</a:t>
            </a:r>
            <a:r>
              <a:rPr spc="-155" dirty="0"/>
              <a:t> </a:t>
            </a:r>
            <a:r>
              <a:rPr spc="-60" dirty="0"/>
              <a:t>to</a:t>
            </a:r>
            <a:r>
              <a:rPr spc="-145" dirty="0"/>
              <a:t> </a:t>
            </a:r>
            <a:r>
              <a:rPr spc="-85" dirty="0"/>
              <a:t>Project</a:t>
            </a:r>
            <a:r>
              <a:rPr spc="-150" dirty="0"/>
              <a:t> </a:t>
            </a:r>
            <a:r>
              <a:rPr spc="-85" dirty="0"/>
              <a:t>Reports</a:t>
            </a:r>
            <a:r>
              <a:rPr spc="-150" dirty="0"/>
              <a:t> </a:t>
            </a:r>
            <a:r>
              <a:rPr spc="-30" dirty="0"/>
              <a:t>(cont.)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3213" y="1926150"/>
            <a:ext cx="8376920" cy="363537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495"/>
              </a:spcBef>
              <a:buClr>
                <a:srgbClr val="E38312"/>
              </a:buClr>
              <a:buFont typeface="Arial"/>
              <a:buChar char="•"/>
              <a:tabLst>
                <a:tab pos="195580" algn="l"/>
              </a:tabLst>
            </a:pPr>
            <a:r>
              <a:rPr sz="2200" b="1" spc="-10" dirty="0">
                <a:solidFill>
                  <a:srgbClr val="404040"/>
                </a:solidFill>
                <a:latin typeface="Calibri"/>
                <a:cs typeface="Calibri"/>
              </a:rPr>
              <a:t>Understanding</a:t>
            </a:r>
            <a:r>
              <a:rPr sz="22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2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Calibri"/>
                <a:cs typeface="Calibri"/>
              </a:rPr>
              <a:t>Reports</a:t>
            </a:r>
            <a:endParaRPr sz="2200">
              <a:latin typeface="Calibri"/>
              <a:cs typeface="Calibri"/>
            </a:endParaRPr>
          </a:p>
          <a:p>
            <a:pPr marL="650875" marR="712470" lvl="1" indent="-181610">
              <a:lnSpc>
                <a:spcPts val="1989"/>
              </a:lnSpc>
              <a:spcBef>
                <a:spcPts val="775"/>
              </a:spcBef>
              <a:buClr>
                <a:srgbClr val="E38312"/>
              </a:buClr>
              <a:buFont typeface="Arial"/>
              <a:buChar char="•"/>
              <a:tabLst>
                <a:tab pos="652145" algn="l"/>
              </a:tabLst>
            </a:pPr>
            <a:r>
              <a:rPr sz="20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Definition</a:t>
            </a:r>
            <a:r>
              <a:rPr sz="2000" u="sng" spc="-5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and</a:t>
            </a:r>
            <a:r>
              <a:rPr sz="2000" u="sng" spc="-5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Purpose:</a:t>
            </a:r>
            <a:r>
              <a:rPr sz="2000" u="sng" spc="-6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1800" u="none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1800" u="none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reports</a:t>
            </a:r>
            <a:r>
              <a:rPr sz="1800" u="none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structured</a:t>
            </a:r>
            <a:r>
              <a:rPr sz="1800" u="none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documents</a:t>
            </a:r>
            <a:r>
              <a:rPr sz="1800" u="none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20" dirty="0">
                <a:solidFill>
                  <a:srgbClr val="404040"/>
                </a:solidFill>
                <a:latin typeface="Calibri"/>
                <a:cs typeface="Calibri"/>
              </a:rPr>
              <a:t>that 	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communicate</a:t>
            </a:r>
            <a:r>
              <a:rPr sz="1800" u="none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progress,</a:t>
            </a:r>
            <a:r>
              <a:rPr sz="1800" u="none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outcomes,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u="none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insights</a:t>
            </a:r>
            <a:r>
              <a:rPr sz="1800" u="none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800" u="none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stakeholders.</a:t>
            </a:r>
            <a:endParaRPr sz="1800">
              <a:latin typeface="Calibri"/>
              <a:cs typeface="Calibri"/>
            </a:endParaRPr>
          </a:p>
          <a:p>
            <a:pPr marL="650875" marR="5080" lvl="1" indent="-181610">
              <a:lnSpc>
                <a:spcPts val="1989"/>
              </a:lnSpc>
              <a:spcBef>
                <a:spcPts val="725"/>
              </a:spcBef>
              <a:buClr>
                <a:srgbClr val="E38312"/>
              </a:buClr>
              <a:buFont typeface="Arial"/>
              <a:buChar char="•"/>
              <a:tabLst>
                <a:tab pos="652145" algn="l"/>
              </a:tabLst>
            </a:pPr>
            <a:r>
              <a:rPr sz="20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Importance:</a:t>
            </a:r>
            <a:r>
              <a:rPr sz="2000" u="sng" spc="-5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1800" u="none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ensure</a:t>
            </a:r>
            <a:r>
              <a:rPr sz="1800" u="none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clear</a:t>
            </a:r>
            <a:r>
              <a:rPr sz="1800" u="none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communication,</a:t>
            </a:r>
            <a:r>
              <a:rPr sz="1800" u="none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inform</a:t>
            </a:r>
            <a:r>
              <a:rPr sz="1800" u="none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decision-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making,</a:t>
            </a:r>
            <a:r>
              <a:rPr sz="1800" u="none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u="none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align 	stakeholders</a:t>
            </a:r>
            <a:r>
              <a:rPr sz="1800" u="none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towards</a:t>
            </a:r>
            <a:r>
              <a:rPr sz="1800" u="none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1800" u="none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goals.</a:t>
            </a:r>
            <a:endParaRPr sz="1800">
              <a:latin typeface="Calibri"/>
              <a:cs typeface="Calibri"/>
            </a:endParaRPr>
          </a:p>
          <a:p>
            <a:pPr marL="195580" indent="-182880">
              <a:lnSpc>
                <a:spcPct val="100000"/>
              </a:lnSpc>
              <a:spcBef>
                <a:spcPts val="284"/>
              </a:spcBef>
              <a:buClr>
                <a:srgbClr val="E38312"/>
              </a:buClr>
              <a:buFont typeface="Arial"/>
              <a:buChar char="•"/>
              <a:tabLst>
                <a:tab pos="195580" algn="l"/>
              </a:tabLst>
            </a:pP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Types</a:t>
            </a:r>
            <a:r>
              <a:rPr sz="22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2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2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2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Calibri"/>
                <a:cs typeface="Calibri"/>
              </a:rPr>
              <a:t>Reports</a:t>
            </a:r>
            <a:endParaRPr sz="2200">
              <a:latin typeface="Calibri"/>
              <a:cs typeface="Calibri"/>
            </a:endParaRPr>
          </a:p>
          <a:p>
            <a:pPr marL="651510" lvl="1" indent="-181610">
              <a:lnSpc>
                <a:spcPct val="100000"/>
              </a:lnSpc>
              <a:spcBef>
                <a:spcPts val="365"/>
              </a:spcBef>
              <a:buClr>
                <a:srgbClr val="E38312"/>
              </a:buClr>
              <a:buFont typeface="Arial"/>
              <a:buChar char="•"/>
              <a:tabLst>
                <a:tab pos="651510" algn="l"/>
              </a:tabLst>
            </a:pPr>
            <a:r>
              <a:rPr sz="20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Progress</a:t>
            </a:r>
            <a:r>
              <a:rPr sz="2000" u="sng" spc="-6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Reports:</a:t>
            </a:r>
            <a:r>
              <a:rPr sz="2000" u="sng" spc="-6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Updates</a:t>
            </a:r>
            <a:r>
              <a:rPr sz="1800" u="none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1800" u="none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1800" u="none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activities</a:t>
            </a:r>
            <a:r>
              <a:rPr sz="1800" u="none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u="none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achievements.</a:t>
            </a:r>
            <a:endParaRPr sz="1800">
              <a:latin typeface="Calibri"/>
              <a:cs typeface="Calibri"/>
            </a:endParaRPr>
          </a:p>
          <a:p>
            <a:pPr marL="651510" lvl="1" indent="-181610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Arial"/>
              <a:buChar char="•"/>
              <a:tabLst>
                <a:tab pos="651510" algn="l"/>
              </a:tabLst>
            </a:pPr>
            <a:r>
              <a:rPr sz="20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Status</a:t>
            </a:r>
            <a:r>
              <a:rPr sz="2000" u="sng" spc="-7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Updates:</a:t>
            </a:r>
            <a:r>
              <a:rPr sz="2000" u="sng" spc="-7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Current</a:t>
            </a:r>
            <a:r>
              <a:rPr sz="1800" u="none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1800" u="none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status</a:t>
            </a:r>
            <a:r>
              <a:rPr sz="1800" u="none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u="none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upcoming</a:t>
            </a:r>
            <a:r>
              <a:rPr sz="1800" u="none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tasks.</a:t>
            </a:r>
            <a:endParaRPr sz="1800">
              <a:latin typeface="Calibri"/>
              <a:cs typeface="Calibri"/>
            </a:endParaRPr>
          </a:p>
          <a:p>
            <a:pPr marL="651510" lvl="1" indent="-181610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Arial"/>
              <a:buChar char="•"/>
              <a:tabLst>
                <a:tab pos="651510" algn="l"/>
              </a:tabLst>
            </a:pPr>
            <a:r>
              <a:rPr sz="2000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Technical</a:t>
            </a:r>
            <a:r>
              <a:rPr sz="2000" u="sng" spc="-5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Documentation:</a:t>
            </a:r>
            <a:r>
              <a:rPr sz="2000" u="sng" spc="-6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Detailed</a:t>
            </a:r>
            <a:r>
              <a:rPr sz="1800" u="none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1800" u="none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specifications</a:t>
            </a:r>
            <a:r>
              <a:rPr sz="1800" u="none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design</a:t>
            </a:r>
            <a:r>
              <a:rPr sz="1800" u="none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decisions.</a:t>
            </a:r>
            <a:endParaRPr sz="1800">
              <a:latin typeface="Calibri"/>
              <a:cs typeface="Calibri"/>
            </a:endParaRPr>
          </a:p>
          <a:p>
            <a:pPr marL="650875" marR="1428115" lvl="1" indent="-181610">
              <a:lnSpc>
                <a:spcPts val="1989"/>
              </a:lnSpc>
              <a:spcBef>
                <a:spcPts val="770"/>
              </a:spcBef>
              <a:buClr>
                <a:srgbClr val="E38312"/>
              </a:buClr>
              <a:buFont typeface="Arial"/>
              <a:buChar char="•"/>
              <a:tabLst>
                <a:tab pos="652145" algn="l"/>
              </a:tabLst>
            </a:pPr>
            <a:r>
              <a:rPr sz="20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Final</a:t>
            </a:r>
            <a:r>
              <a:rPr sz="2000" u="sng" spc="-7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Project</a:t>
            </a:r>
            <a:r>
              <a:rPr sz="2000" u="sng" spc="-6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Reports:</a:t>
            </a:r>
            <a:r>
              <a:rPr sz="2000" u="sng" spc="-6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Summarize</a:t>
            </a:r>
            <a:r>
              <a:rPr sz="1800" u="none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1800" u="none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lifecycle,</a:t>
            </a:r>
            <a:r>
              <a:rPr sz="1800" u="none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outcomes,</a:t>
            </a:r>
            <a:r>
              <a:rPr sz="1800" u="none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25" dirty="0">
                <a:solidFill>
                  <a:srgbClr val="404040"/>
                </a:solidFill>
                <a:latin typeface="Calibri"/>
                <a:cs typeface="Calibri"/>
              </a:rPr>
              <a:t>and 	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recommendations.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55394" y="1026109"/>
            <a:ext cx="66421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Introduction</a:t>
            </a:r>
            <a:r>
              <a:rPr spc="-155" dirty="0"/>
              <a:t> </a:t>
            </a:r>
            <a:r>
              <a:rPr spc="-60" dirty="0"/>
              <a:t>to</a:t>
            </a:r>
            <a:r>
              <a:rPr spc="-145" dirty="0"/>
              <a:t> </a:t>
            </a:r>
            <a:r>
              <a:rPr spc="-85" dirty="0"/>
              <a:t>Project</a:t>
            </a:r>
            <a:r>
              <a:rPr spc="-150" dirty="0"/>
              <a:t> </a:t>
            </a:r>
            <a:r>
              <a:rPr spc="-85" dirty="0"/>
              <a:t>Reports</a:t>
            </a:r>
            <a:r>
              <a:rPr spc="-150" dirty="0"/>
              <a:t> </a:t>
            </a:r>
            <a:r>
              <a:rPr spc="-30" dirty="0"/>
              <a:t>(cont.)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9943" y="1912864"/>
            <a:ext cx="8053705" cy="388683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495"/>
              </a:spcBef>
              <a:buClr>
                <a:srgbClr val="E38312"/>
              </a:buClr>
              <a:buFont typeface="Arial"/>
              <a:buChar char="•"/>
              <a:tabLst>
                <a:tab pos="195580" algn="l"/>
              </a:tabLst>
            </a:pP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Key</a:t>
            </a:r>
            <a:r>
              <a:rPr sz="22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Calibri"/>
                <a:cs typeface="Calibri"/>
              </a:rPr>
              <a:t>Considerations</a:t>
            </a:r>
            <a:r>
              <a:rPr sz="2200" b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2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200" b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Calibri"/>
                <a:cs typeface="Calibri"/>
              </a:rPr>
              <a:t>Reporting:</a:t>
            </a:r>
            <a:endParaRPr sz="2200">
              <a:latin typeface="Calibri"/>
              <a:cs typeface="Calibri"/>
            </a:endParaRPr>
          </a:p>
          <a:p>
            <a:pPr marL="651510" lvl="1" indent="-181610">
              <a:lnSpc>
                <a:spcPct val="100000"/>
              </a:lnSpc>
              <a:spcBef>
                <a:spcPts val="365"/>
              </a:spcBef>
              <a:buClr>
                <a:srgbClr val="E38312"/>
              </a:buClr>
              <a:buFont typeface="Arial"/>
              <a:buChar char="•"/>
              <a:tabLst>
                <a:tab pos="651510" algn="l"/>
              </a:tabLst>
            </a:pPr>
            <a:r>
              <a:rPr sz="20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Timeliness</a:t>
            </a:r>
            <a:r>
              <a:rPr sz="2000" u="sng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and</a:t>
            </a:r>
            <a:r>
              <a:rPr sz="2000" u="sng" spc="-5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Relevance:</a:t>
            </a:r>
            <a:endParaRPr sz="2000">
              <a:latin typeface="Calibri"/>
              <a:cs typeface="Calibri"/>
            </a:endParaRPr>
          </a:p>
          <a:p>
            <a:pPr marL="1108075" marR="116205" lvl="2" indent="-181610">
              <a:lnSpc>
                <a:spcPts val="2160"/>
              </a:lnSpc>
              <a:spcBef>
                <a:spcPts val="635"/>
              </a:spcBef>
              <a:buClr>
                <a:srgbClr val="E38312"/>
              </a:buClr>
              <a:buFont typeface="Arial"/>
              <a:buChar char="•"/>
              <a:tabLst>
                <a:tab pos="110934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reports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should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timely,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providing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up-to-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date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information 	relevant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current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phase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milestone.</a:t>
            </a:r>
            <a:endParaRPr sz="2000">
              <a:latin typeface="Calibri"/>
              <a:cs typeface="Calibri"/>
            </a:endParaRPr>
          </a:p>
          <a:p>
            <a:pPr marL="1107440" marR="347345" lvl="2" indent="-181610">
              <a:lnSpc>
                <a:spcPts val="2160"/>
              </a:lnSpc>
              <a:spcBef>
                <a:spcPts val="600"/>
              </a:spcBef>
              <a:buClr>
                <a:srgbClr val="E38312"/>
              </a:buClr>
              <a:buFont typeface="Arial"/>
              <a:buChar char="•"/>
              <a:tabLst>
                <a:tab pos="110934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should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address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immediate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needs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concerns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of 	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stakeholders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facilitate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informed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decision-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making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support 	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progression.</a:t>
            </a:r>
            <a:endParaRPr sz="2000">
              <a:latin typeface="Calibri"/>
              <a:cs typeface="Calibri"/>
            </a:endParaRPr>
          </a:p>
          <a:p>
            <a:pPr marL="650875" lvl="1" indent="-181610">
              <a:lnSpc>
                <a:spcPct val="100000"/>
              </a:lnSpc>
              <a:spcBef>
                <a:spcPts val="325"/>
              </a:spcBef>
              <a:buClr>
                <a:srgbClr val="E38312"/>
              </a:buClr>
              <a:buFont typeface="Arial"/>
              <a:buChar char="•"/>
              <a:tabLst>
                <a:tab pos="650875" algn="l"/>
              </a:tabLst>
            </a:pPr>
            <a:r>
              <a:rPr sz="20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Accuracy</a:t>
            </a:r>
            <a:r>
              <a:rPr sz="2000" u="sng" spc="-5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and</a:t>
            </a:r>
            <a:r>
              <a:rPr sz="2000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Transparency:</a:t>
            </a:r>
            <a:endParaRPr sz="2000">
              <a:latin typeface="Calibri"/>
              <a:cs typeface="Calibri"/>
            </a:endParaRPr>
          </a:p>
          <a:p>
            <a:pPr marL="1108075" marR="1178560" lvl="2" indent="-181610">
              <a:lnSpc>
                <a:spcPts val="2160"/>
              </a:lnSpc>
              <a:spcBef>
                <a:spcPts val="635"/>
              </a:spcBef>
              <a:buClr>
                <a:srgbClr val="E38312"/>
              </a:buClr>
              <a:buFont typeface="Arial"/>
              <a:buChar char="•"/>
              <a:tabLst>
                <a:tab pos="110998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Reports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must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accurate,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reflecting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true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status, 	achievements,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challenges,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risks.</a:t>
            </a:r>
            <a:endParaRPr sz="2000">
              <a:latin typeface="Calibri"/>
              <a:cs typeface="Calibri"/>
            </a:endParaRPr>
          </a:p>
          <a:p>
            <a:pPr marL="1108075" marR="5080" lvl="2" indent="-181610">
              <a:lnSpc>
                <a:spcPts val="2160"/>
              </a:lnSpc>
              <a:spcBef>
                <a:spcPts val="600"/>
              </a:spcBef>
              <a:buClr>
                <a:srgbClr val="E38312"/>
              </a:buClr>
              <a:buFont typeface="Arial"/>
              <a:buChar char="•"/>
              <a:tabLst>
                <a:tab pos="1109980" algn="l"/>
              </a:tabLst>
            </a:pP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Transparency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ensures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stakeholders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trust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presented 	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decisions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reliable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insights.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45926" y="1026109"/>
            <a:ext cx="6264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Define</a:t>
            </a:r>
            <a:r>
              <a:rPr spc="-160" dirty="0"/>
              <a:t> </a:t>
            </a:r>
            <a:r>
              <a:rPr spc="-85" dirty="0"/>
              <a:t>Report</a:t>
            </a:r>
            <a:r>
              <a:rPr spc="-150" dirty="0"/>
              <a:t> </a:t>
            </a:r>
            <a:r>
              <a:rPr spc="-80" dirty="0"/>
              <a:t>Objectives</a:t>
            </a:r>
            <a:r>
              <a:rPr spc="-170" dirty="0"/>
              <a:t> </a:t>
            </a:r>
            <a:r>
              <a:rPr spc="-65" dirty="0"/>
              <a:t>and</a:t>
            </a:r>
            <a:r>
              <a:rPr spc="-165" dirty="0"/>
              <a:t> </a:t>
            </a:r>
            <a:r>
              <a:rPr spc="-10" dirty="0"/>
              <a:t>Scope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927" y="1807006"/>
            <a:ext cx="8630920" cy="4344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Font typeface="Arial"/>
              <a:buChar char="•"/>
              <a:tabLst>
                <a:tab pos="299085" algn="l"/>
              </a:tabLst>
            </a:pPr>
            <a:r>
              <a:rPr sz="2400" b="1" dirty="0">
                <a:solidFill>
                  <a:srgbClr val="8E4220"/>
                </a:solidFill>
                <a:latin typeface="Arial"/>
                <a:cs typeface="Arial"/>
              </a:rPr>
              <a:t>1.</a:t>
            </a:r>
            <a:r>
              <a:rPr sz="2400" b="1" spc="-45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8E4220"/>
                </a:solidFill>
                <a:latin typeface="Arial"/>
                <a:cs typeface="Arial"/>
              </a:rPr>
              <a:t>Defining</a:t>
            </a:r>
            <a:r>
              <a:rPr sz="2400" b="1" spc="-60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8E4220"/>
                </a:solidFill>
                <a:latin typeface="Arial"/>
                <a:cs typeface="Arial"/>
              </a:rPr>
              <a:t>Report</a:t>
            </a:r>
            <a:r>
              <a:rPr sz="2400" b="1" spc="-25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8E4220"/>
                </a:solidFill>
                <a:latin typeface="Arial"/>
                <a:cs typeface="Arial"/>
              </a:rPr>
              <a:t>Objectives</a:t>
            </a:r>
            <a:endParaRPr sz="2400">
              <a:latin typeface="Arial"/>
              <a:cs typeface="Arial"/>
            </a:endParaRPr>
          </a:p>
          <a:p>
            <a:pPr marL="652780" lvl="1" indent="-182880">
              <a:lnSpc>
                <a:spcPct val="100000"/>
              </a:lnSpc>
              <a:spcBef>
                <a:spcPts val="2440"/>
              </a:spcBef>
              <a:buClr>
                <a:srgbClr val="E38312"/>
              </a:buClr>
              <a:buFont typeface="Arial"/>
              <a:buChar char="•"/>
              <a:tabLst>
                <a:tab pos="652780" algn="l"/>
              </a:tabLst>
            </a:pP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Importance</a:t>
            </a:r>
            <a:r>
              <a:rPr sz="22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2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Setting</a:t>
            </a:r>
            <a:r>
              <a:rPr sz="22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Clear</a:t>
            </a:r>
            <a:r>
              <a:rPr sz="22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Calibri"/>
                <a:cs typeface="Calibri"/>
              </a:rPr>
              <a:t>Objectives:</a:t>
            </a:r>
            <a:endParaRPr sz="2200">
              <a:latin typeface="Calibri"/>
              <a:cs typeface="Calibri"/>
            </a:endParaRPr>
          </a:p>
          <a:p>
            <a:pPr marL="1108710" lvl="2" indent="-181610">
              <a:lnSpc>
                <a:spcPct val="100000"/>
              </a:lnSpc>
              <a:spcBef>
                <a:spcPts val="384"/>
              </a:spcBef>
              <a:buClr>
                <a:srgbClr val="E38312"/>
              </a:buClr>
              <a:buFont typeface="Arial"/>
              <a:buChar char="•"/>
              <a:tabLst>
                <a:tab pos="110871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Clear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objectives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provide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focus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purpose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report.</a:t>
            </a:r>
            <a:endParaRPr sz="2000">
              <a:latin typeface="Calibri"/>
              <a:cs typeface="Calibri"/>
            </a:endParaRPr>
          </a:p>
          <a:p>
            <a:pPr marL="1108075" marR="931544" lvl="2" indent="-181610">
              <a:lnSpc>
                <a:spcPts val="2160"/>
              </a:lnSpc>
              <a:spcBef>
                <a:spcPts val="630"/>
              </a:spcBef>
              <a:buClr>
                <a:srgbClr val="E38312"/>
              </a:buClr>
              <a:buFont typeface="Arial"/>
              <a:buChar char="•"/>
              <a:tabLst>
                <a:tab pos="110998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guide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what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include,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ensuring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relevance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and 	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effectiveness.</a:t>
            </a:r>
            <a:endParaRPr sz="2000">
              <a:latin typeface="Calibri"/>
              <a:cs typeface="Calibri"/>
            </a:endParaRPr>
          </a:p>
          <a:p>
            <a:pPr marL="1108075" marR="705485" lvl="2" indent="-181610">
              <a:lnSpc>
                <a:spcPts val="2160"/>
              </a:lnSpc>
              <a:spcBef>
                <a:spcPts val="600"/>
              </a:spcBef>
              <a:buClr>
                <a:srgbClr val="E38312"/>
              </a:buClr>
              <a:buFont typeface="Arial"/>
              <a:buChar char="•"/>
              <a:tabLst>
                <a:tab pos="110998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Aligned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objectives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connect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report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directly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goals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and 	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stakeholder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needs.</a:t>
            </a:r>
            <a:endParaRPr sz="20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Arial"/>
              <a:buChar char="•"/>
            </a:pPr>
            <a:endParaRPr sz="2000">
              <a:latin typeface="Calibri"/>
              <a:cs typeface="Calibri"/>
            </a:endParaRPr>
          </a:p>
          <a:p>
            <a:pPr marL="652780" lvl="1" indent="-182880">
              <a:lnSpc>
                <a:spcPct val="100000"/>
              </a:lnSpc>
              <a:buClr>
                <a:srgbClr val="E38312"/>
              </a:buClr>
              <a:buFont typeface="Arial"/>
              <a:buChar char="•"/>
              <a:tabLst>
                <a:tab pos="652780" algn="l"/>
              </a:tabLst>
            </a:pP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Aligning</a:t>
            </a:r>
            <a:r>
              <a:rPr sz="2200" b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Objectives</a:t>
            </a:r>
            <a:r>
              <a:rPr sz="22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2200" b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200" b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Goals</a:t>
            </a:r>
            <a:r>
              <a:rPr sz="22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2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Calibri"/>
                <a:cs typeface="Calibri"/>
              </a:rPr>
              <a:t>Stakeholder</a:t>
            </a:r>
            <a:r>
              <a:rPr sz="2200" b="1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Calibri"/>
                <a:cs typeface="Calibri"/>
              </a:rPr>
              <a:t>Expectations:</a:t>
            </a:r>
            <a:endParaRPr sz="2200">
              <a:latin typeface="Calibri"/>
              <a:cs typeface="Calibri"/>
            </a:endParaRPr>
          </a:p>
          <a:p>
            <a:pPr marL="1108710" lvl="2" indent="-181610">
              <a:lnSpc>
                <a:spcPct val="100000"/>
              </a:lnSpc>
              <a:spcBef>
                <a:spcPts val="380"/>
              </a:spcBef>
              <a:buClr>
                <a:srgbClr val="E38312"/>
              </a:buClr>
              <a:buFont typeface="Arial"/>
              <a:buChar char="•"/>
              <a:tabLst>
                <a:tab pos="110871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Objectives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should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support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milestones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outcomes.</a:t>
            </a:r>
            <a:endParaRPr sz="2000">
              <a:latin typeface="Calibri"/>
              <a:cs typeface="Calibri"/>
            </a:endParaRPr>
          </a:p>
          <a:p>
            <a:pPr marL="1108075" marR="244475" lvl="2" indent="-181610">
              <a:lnSpc>
                <a:spcPts val="2160"/>
              </a:lnSpc>
              <a:spcBef>
                <a:spcPts val="635"/>
              </a:spcBef>
              <a:buClr>
                <a:srgbClr val="E38312"/>
              </a:buClr>
              <a:buFont typeface="Arial"/>
              <a:buChar char="•"/>
              <a:tabLst>
                <a:tab pos="110998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Meeting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stakeholder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expectations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ensures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report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delivers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valuable 	insights.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1754" y="1026109"/>
            <a:ext cx="7489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Define</a:t>
            </a:r>
            <a:r>
              <a:rPr spc="-160" dirty="0"/>
              <a:t> </a:t>
            </a:r>
            <a:r>
              <a:rPr spc="-85" dirty="0"/>
              <a:t>Report</a:t>
            </a:r>
            <a:r>
              <a:rPr spc="-150" dirty="0"/>
              <a:t> </a:t>
            </a:r>
            <a:r>
              <a:rPr spc="-80" dirty="0"/>
              <a:t>Objectives</a:t>
            </a:r>
            <a:r>
              <a:rPr spc="-165" dirty="0"/>
              <a:t> </a:t>
            </a:r>
            <a:r>
              <a:rPr spc="-65" dirty="0"/>
              <a:t>and</a:t>
            </a:r>
            <a:r>
              <a:rPr spc="-170" dirty="0"/>
              <a:t> </a:t>
            </a:r>
            <a:r>
              <a:rPr spc="-75" dirty="0"/>
              <a:t>Scope</a:t>
            </a:r>
            <a:r>
              <a:rPr spc="-170" dirty="0"/>
              <a:t> </a:t>
            </a:r>
            <a:r>
              <a:rPr spc="-30" dirty="0"/>
              <a:t>(cont.)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927" y="1807006"/>
            <a:ext cx="8474710" cy="3606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Font typeface="Arial"/>
              <a:buChar char="•"/>
              <a:tabLst>
                <a:tab pos="299085" algn="l"/>
              </a:tabLst>
            </a:pPr>
            <a:r>
              <a:rPr sz="2400" b="1" dirty="0">
                <a:solidFill>
                  <a:srgbClr val="8E4220"/>
                </a:solidFill>
                <a:latin typeface="Arial"/>
                <a:cs typeface="Arial"/>
              </a:rPr>
              <a:t>2.</a:t>
            </a:r>
            <a:r>
              <a:rPr sz="2400" b="1" spc="-25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8E4220"/>
                </a:solidFill>
                <a:latin typeface="Arial"/>
                <a:cs typeface="Arial"/>
              </a:rPr>
              <a:t>Establishing</a:t>
            </a:r>
            <a:r>
              <a:rPr sz="2400" b="1" spc="-45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8E4220"/>
                </a:solidFill>
                <a:latin typeface="Arial"/>
                <a:cs typeface="Arial"/>
              </a:rPr>
              <a:t>Scope</a:t>
            </a:r>
            <a:r>
              <a:rPr sz="2400" b="1" spc="-20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8E4220"/>
                </a:solidFill>
                <a:latin typeface="Arial"/>
                <a:cs typeface="Arial"/>
              </a:rPr>
              <a:t>and</a:t>
            </a:r>
            <a:r>
              <a:rPr sz="2400" b="1" spc="-30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8E4220"/>
                </a:solidFill>
                <a:latin typeface="Arial"/>
                <a:cs typeface="Arial"/>
              </a:rPr>
              <a:t>Boundaries</a:t>
            </a:r>
            <a:endParaRPr sz="2400">
              <a:latin typeface="Arial"/>
              <a:cs typeface="Arial"/>
            </a:endParaRPr>
          </a:p>
          <a:p>
            <a:pPr marL="652780" lvl="1" indent="-182880">
              <a:lnSpc>
                <a:spcPct val="100000"/>
              </a:lnSpc>
              <a:spcBef>
                <a:spcPts val="2440"/>
              </a:spcBef>
              <a:buClr>
                <a:srgbClr val="E38312"/>
              </a:buClr>
              <a:buFont typeface="Arial"/>
              <a:buChar char="•"/>
              <a:tabLst>
                <a:tab pos="652780" algn="l"/>
              </a:tabLst>
            </a:pP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Defining</a:t>
            </a:r>
            <a:r>
              <a:rPr sz="22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b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Scope</a:t>
            </a:r>
            <a:r>
              <a:rPr sz="2200" b="1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200" b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Calibri"/>
                <a:cs typeface="Calibri"/>
              </a:rPr>
              <a:t>Report:</a:t>
            </a:r>
            <a:endParaRPr sz="2200">
              <a:latin typeface="Calibri"/>
              <a:cs typeface="Calibri"/>
            </a:endParaRPr>
          </a:p>
          <a:p>
            <a:pPr marL="1109980" marR="224154" lvl="2" indent="-183515">
              <a:lnSpc>
                <a:spcPts val="2380"/>
              </a:lnSpc>
              <a:spcBef>
                <a:spcPts val="635"/>
              </a:spcBef>
              <a:buClr>
                <a:srgbClr val="E38312"/>
              </a:buClr>
              <a:buFont typeface="Arial"/>
              <a:buChar char="•"/>
              <a:tabLst>
                <a:tab pos="1109980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Outline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what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will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covered,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such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phases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specific outcomes.</a:t>
            </a:r>
            <a:endParaRPr sz="2200">
              <a:latin typeface="Calibri"/>
              <a:cs typeface="Calibri"/>
            </a:endParaRPr>
          </a:p>
          <a:p>
            <a:pPr marL="1109980" lvl="2" indent="-182880">
              <a:lnSpc>
                <a:spcPct val="100000"/>
              </a:lnSpc>
              <a:spcBef>
                <a:spcPts val="295"/>
              </a:spcBef>
              <a:buClr>
                <a:srgbClr val="E38312"/>
              </a:buClr>
              <a:buFont typeface="Arial"/>
              <a:buChar char="•"/>
              <a:tabLst>
                <a:tab pos="1109980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Specify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exclusions</a:t>
            </a:r>
            <a:r>
              <a:rPr sz="2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maintain</a:t>
            </a:r>
            <a:r>
              <a:rPr sz="22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focus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clarity.</a:t>
            </a:r>
            <a:endParaRPr sz="22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625"/>
              </a:spcBef>
              <a:buClr>
                <a:srgbClr val="E38312"/>
              </a:buClr>
              <a:buFont typeface="Arial"/>
              <a:buChar char="•"/>
            </a:pPr>
            <a:endParaRPr sz="2200">
              <a:latin typeface="Calibri"/>
              <a:cs typeface="Calibri"/>
            </a:endParaRPr>
          </a:p>
          <a:p>
            <a:pPr marL="652780" lvl="1" indent="-182880">
              <a:lnSpc>
                <a:spcPct val="100000"/>
              </a:lnSpc>
              <a:buClr>
                <a:srgbClr val="E38312"/>
              </a:buClr>
              <a:buFont typeface="Arial"/>
              <a:buChar char="•"/>
              <a:tabLst>
                <a:tab pos="652780" algn="l"/>
              </a:tabLst>
            </a:pP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Setting</a:t>
            </a:r>
            <a:r>
              <a:rPr sz="2200" b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Boundaries</a:t>
            </a:r>
            <a:r>
              <a:rPr sz="22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2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Calibri"/>
                <a:cs typeface="Calibri"/>
              </a:rPr>
              <a:t>Relevance:</a:t>
            </a:r>
            <a:endParaRPr sz="2200">
              <a:latin typeface="Calibri"/>
              <a:cs typeface="Calibri"/>
            </a:endParaRPr>
          </a:p>
          <a:p>
            <a:pPr marL="1109980" lvl="2" indent="-182880">
              <a:lnSpc>
                <a:spcPct val="100000"/>
              </a:lnSpc>
              <a:spcBef>
                <a:spcPts val="335"/>
              </a:spcBef>
              <a:buClr>
                <a:srgbClr val="E38312"/>
              </a:buClr>
              <a:buFont typeface="Arial"/>
              <a:buChar char="•"/>
              <a:tabLst>
                <a:tab pos="1109980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Ensure</a:t>
            </a:r>
            <a:r>
              <a:rPr sz="2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report</a:t>
            </a:r>
            <a:r>
              <a:rPr sz="22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remains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concise</a:t>
            </a:r>
            <a:r>
              <a:rPr sz="2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2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pertinent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stakeholders.</a:t>
            </a:r>
            <a:endParaRPr sz="2200">
              <a:latin typeface="Calibri"/>
              <a:cs typeface="Calibri"/>
            </a:endParaRPr>
          </a:p>
          <a:p>
            <a:pPr marL="1109980" lvl="2" indent="-182880">
              <a:lnSpc>
                <a:spcPct val="100000"/>
              </a:lnSpc>
              <a:spcBef>
                <a:spcPts val="335"/>
              </a:spcBef>
              <a:buClr>
                <a:srgbClr val="E38312"/>
              </a:buClr>
              <a:buFont typeface="Arial"/>
              <a:buChar char="•"/>
              <a:tabLst>
                <a:tab pos="1109980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Manage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expectations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prevent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scope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creep.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9044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Understand</a:t>
            </a:r>
            <a:r>
              <a:rPr spc="-150" dirty="0"/>
              <a:t> </a:t>
            </a:r>
            <a:r>
              <a:rPr spc="-130" dirty="0"/>
              <a:t>Your</a:t>
            </a:r>
            <a:r>
              <a:rPr spc="-160" dirty="0"/>
              <a:t> </a:t>
            </a:r>
            <a:r>
              <a:rPr spc="-45" dirty="0"/>
              <a:t>Audience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8384" y="1965316"/>
            <a:ext cx="7517765" cy="359410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99085" marR="31750" indent="-287020">
              <a:lnSpc>
                <a:spcPts val="2160"/>
              </a:lnSpc>
              <a:spcBef>
                <a:spcPts val="375"/>
              </a:spcBef>
              <a:buClr>
                <a:srgbClr val="E38312"/>
              </a:buClr>
              <a:buFont typeface="Arial"/>
              <a:buChar char="•"/>
              <a:tabLst>
                <a:tab pos="299085" algn="l"/>
              </a:tabLst>
            </a:pP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Understanding</a:t>
            </a:r>
            <a:r>
              <a:rPr sz="2000" b="1" spc="-50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your audience</a:t>
            </a:r>
            <a:r>
              <a:rPr sz="2000" b="1" spc="-35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is</a:t>
            </a:r>
            <a:r>
              <a:rPr sz="2000" b="1" spc="-35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crucial</a:t>
            </a:r>
            <a:r>
              <a:rPr sz="2000" b="1" spc="-45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for</a:t>
            </a:r>
            <a:r>
              <a:rPr sz="2000" b="1" spc="-45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crafting</a:t>
            </a:r>
            <a:r>
              <a:rPr sz="2000" b="1" spc="-50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a</a:t>
            </a:r>
            <a:r>
              <a:rPr sz="2000" b="1" spc="-35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8E4220"/>
                </a:solidFill>
                <a:latin typeface="Arial"/>
                <a:cs typeface="Arial"/>
              </a:rPr>
              <a:t>report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that</a:t>
            </a:r>
            <a:r>
              <a:rPr sz="2000" b="1" spc="-40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resonates.</a:t>
            </a:r>
            <a:r>
              <a:rPr sz="2000" b="1" spc="-60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Whether</a:t>
            </a:r>
            <a:r>
              <a:rPr sz="2000" b="1" spc="-40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you’re</a:t>
            </a:r>
            <a:r>
              <a:rPr sz="2000" b="1" spc="-20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writing</a:t>
            </a:r>
            <a:r>
              <a:rPr sz="2000" b="1" spc="-55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for</a:t>
            </a:r>
            <a:r>
              <a:rPr sz="2000" b="1" spc="-30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stakeholders</a:t>
            </a:r>
            <a:r>
              <a:rPr sz="2000" b="1" spc="-55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8E4220"/>
                </a:solidFill>
                <a:latin typeface="Arial"/>
                <a:cs typeface="Arial"/>
              </a:rPr>
              <a:t>or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team</a:t>
            </a:r>
            <a:r>
              <a:rPr sz="2000" b="1" spc="-65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members,</a:t>
            </a:r>
            <a:r>
              <a:rPr sz="2000" b="1" spc="-50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the</a:t>
            </a:r>
            <a:r>
              <a:rPr sz="2000" b="1" spc="-45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language,</a:t>
            </a:r>
            <a:r>
              <a:rPr sz="2000" b="1" spc="-60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data,</a:t>
            </a:r>
            <a:r>
              <a:rPr sz="2000" b="1" spc="-50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and</a:t>
            </a:r>
            <a:r>
              <a:rPr sz="2000" b="1" spc="-35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visuals</a:t>
            </a:r>
            <a:r>
              <a:rPr sz="2000" b="1" spc="-35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should</a:t>
            </a:r>
            <a:r>
              <a:rPr sz="2000" b="1" spc="-30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8E4220"/>
                </a:solidFill>
                <a:latin typeface="Arial"/>
                <a:cs typeface="Arial"/>
              </a:rPr>
              <a:t>be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tailored</a:t>
            </a:r>
            <a:r>
              <a:rPr sz="2000" b="1" spc="-50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to</a:t>
            </a:r>
            <a:r>
              <a:rPr sz="2000" b="1" spc="-35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their</a:t>
            </a:r>
            <a:r>
              <a:rPr sz="2000" b="1" spc="-45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preferences</a:t>
            </a:r>
            <a:r>
              <a:rPr sz="2000" b="1" spc="-60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and</a:t>
            </a:r>
            <a:r>
              <a:rPr sz="2000" b="1" spc="-20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8E4220"/>
                </a:solidFill>
                <a:latin typeface="Arial"/>
                <a:cs typeface="Arial"/>
              </a:rPr>
              <a:t>needs.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Clr>
                <a:srgbClr val="E38312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650875" marR="41275" lvl="1" indent="-181610">
              <a:lnSpc>
                <a:spcPts val="2160"/>
              </a:lnSpc>
              <a:spcBef>
                <a:spcPts val="5"/>
              </a:spcBef>
              <a:buClr>
                <a:srgbClr val="E38312"/>
              </a:buClr>
              <a:buFont typeface="Arial"/>
              <a:buChar char="•"/>
              <a:tabLst>
                <a:tab pos="652780" algn="l"/>
              </a:tabLst>
            </a:pP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Language</a:t>
            </a:r>
            <a:r>
              <a:rPr sz="20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&amp;</a:t>
            </a:r>
            <a:r>
              <a:rPr sz="20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30" dirty="0">
                <a:solidFill>
                  <a:srgbClr val="404040"/>
                </a:solidFill>
                <a:latin typeface="Calibri"/>
                <a:cs typeface="Calibri"/>
              </a:rPr>
              <a:t>Tone:</a:t>
            </a:r>
            <a:r>
              <a:rPr sz="20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Consider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communication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style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your 	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audience.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formal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informal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tone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appropriate?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Tailoring 	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your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language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build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rapport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your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message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more 	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impactful.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915"/>
              </a:spcBef>
              <a:buClr>
                <a:srgbClr val="E38312"/>
              </a:buClr>
              <a:buFont typeface="Arial"/>
              <a:buChar char="•"/>
            </a:pPr>
            <a:endParaRPr sz="2000">
              <a:latin typeface="Calibri"/>
              <a:cs typeface="Calibri"/>
            </a:endParaRPr>
          </a:p>
          <a:p>
            <a:pPr marL="650875" marR="5080" lvl="1" indent="-181610">
              <a:lnSpc>
                <a:spcPts val="2160"/>
              </a:lnSpc>
              <a:buClr>
                <a:srgbClr val="E38312"/>
              </a:buClr>
              <a:buFont typeface="Arial"/>
              <a:buChar char="•"/>
              <a:tabLst>
                <a:tab pos="652780" algn="l"/>
              </a:tabLst>
            </a:pP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b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&amp;</a:t>
            </a:r>
            <a:r>
              <a:rPr sz="20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Graphics:</a:t>
            </a:r>
            <a:r>
              <a:rPr sz="20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Choose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types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visual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aids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will 	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effectively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convey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your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message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your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specific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audience.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68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22678" y="1026109"/>
            <a:ext cx="59061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Understand</a:t>
            </a:r>
            <a:r>
              <a:rPr spc="-145" dirty="0"/>
              <a:t> </a:t>
            </a:r>
            <a:r>
              <a:rPr spc="-130" dirty="0"/>
              <a:t>Your</a:t>
            </a:r>
            <a:r>
              <a:rPr spc="-155" dirty="0"/>
              <a:t> </a:t>
            </a:r>
            <a:r>
              <a:rPr spc="-80" dirty="0"/>
              <a:t>Audience</a:t>
            </a:r>
            <a:r>
              <a:rPr spc="-140" dirty="0"/>
              <a:t> </a:t>
            </a:r>
            <a:r>
              <a:rPr spc="-35" dirty="0"/>
              <a:t>(cont.)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8999" y="1979966"/>
            <a:ext cx="8009890" cy="337883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93675" marR="430530" indent="-181610">
              <a:lnSpc>
                <a:spcPts val="2160"/>
              </a:lnSpc>
              <a:spcBef>
                <a:spcPts val="375"/>
              </a:spcBef>
              <a:buClr>
                <a:srgbClr val="E38312"/>
              </a:buClr>
              <a:buFont typeface="Arial"/>
              <a:buChar char="•"/>
              <a:tabLst>
                <a:tab pos="195580" algn="l"/>
              </a:tabLst>
            </a:pP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Personal</a:t>
            </a:r>
            <a:r>
              <a:rPr sz="2000" b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Preferences:</a:t>
            </a:r>
            <a:r>
              <a:rPr sz="20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Pay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attention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how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your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audience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typically 	communicates,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whether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emails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other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documents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try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mirror 	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style.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5"/>
              </a:spcBef>
              <a:buClr>
                <a:srgbClr val="E38312"/>
              </a:buClr>
              <a:buFont typeface="Arial"/>
              <a:buChar char="•"/>
            </a:pPr>
            <a:endParaRPr sz="2000">
              <a:latin typeface="Calibri"/>
              <a:cs typeface="Calibri"/>
            </a:endParaRPr>
          </a:p>
          <a:p>
            <a:pPr marL="194310" marR="5080" indent="-181610">
              <a:lnSpc>
                <a:spcPts val="2160"/>
              </a:lnSpc>
              <a:spcBef>
                <a:spcPts val="5"/>
              </a:spcBef>
              <a:buClr>
                <a:srgbClr val="E38312"/>
              </a:buClr>
              <a:buFont typeface="Arial"/>
              <a:buChar char="•"/>
              <a:tabLst>
                <a:tab pos="195580" algn="l"/>
              </a:tabLst>
            </a:pP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Report</a:t>
            </a:r>
            <a:r>
              <a:rPr sz="2000" b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Format:</a:t>
            </a:r>
            <a:r>
              <a:rPr sz="2000" b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Different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stakeholders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may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require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different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levels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detail. 	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manager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may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want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in-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depth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analysis,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while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sponsor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only 	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needs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executive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summary.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5"/>
              </a:spcBef>
              <a:buClr>
                <a:srgbClr val="E38312"/>
              </a:buClr>
              <a:buFont typeface="Arial"/>
              <a:buChar char="•"/>
            </a:pPr>
            <a:endParaRPr sz="2000">
              <a:latin typeface="Calibri"/>
              <a:cs typeface="Calibri"/>
            </a:endParaRPr>
          </a:p>
          <a:p>
            <a:pPr marL="193675" marR="91440" indent="-181610">
              <a:lnSpc>
                <a:spcPts val="2160"/>
              </a:lnSpc>
              <a:buClr>
                <a:srgbClr val="E38312"/>
              </a:buClr>
              <a:buFont typeface="Arial"/>
              <a:buChar char="•"/>
              <a:tabLst>
                <a:tab pos="195580" algn="l"/>
              </a:tabLst>
            </a:pP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Audience</a:t>
            </a:r>
            <a:r>
              <a:rPr sz="2000" b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Personas:</a:t>
            </a:r>
            <a:r>
              <a:rPr sz="20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Utilize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audience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personas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guide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tone,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style,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and 	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content,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ensuring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your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report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caters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diverse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needs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all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project 	stakeholders.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69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07470" y="559765"/>
            <a:ext cx="5938520" cy="104076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marR="5080" indent="790575">
              <a:lnSpc>
                <a:spcPts val="3670"/>
              </a:lnSpc>
              <a:spcBef>
                <a:spcPts val="760"/>
              </a:spcBef>
            </a:pPr>
            <a:r>
              <a:rPr spc="-85" dirty="0"/>
              <a:t>Report</a:t>
            </a:r>
            <a:r>
              <a:rPr spc="-170" dirty="0"/>
              <a:t> </a:t>
            </a:r>
            <a:r>
              <a:rPr spc="-95" dirty="0"/>
              <a:t>Format</a:t>
            </a:r>
            <a:r>
              <a:rPr spc="-165" dirty="0"/>
              <a:t> </a:t>
            </a:r>
            <a:r>
              <a:rPr spc="-65" dirty="0"/>
              <a:t>and</a:t>
            </a:r>
            <a:r>
              <a:rPr spc="-170" dirty="0"/>
              <a:t> </a:t>
            </a:r>
            <a:r>
              <a:rPr spc="-10" dirty="0"/>
              <a:t>Type: </a:t>
            </a:r>
            <a:r>
              <a:rPr spc="-80" dirty="0">
                <a:solidFill>
                  <a:srgbClr val="8E4220"/>
                </a:solidFill>
              </a:rPr>
              <a:t>Choosing</a:t>
            </a:r>
            <a:r>
              <a:rPr spc="-180" dirty="0">
                <a:solidFill>
                  <a:srgbClr val="8E4220"/>
                </a:solidFill>
              </a:rPr>
              <a:t> </a:t>
            </a:r>
            <a:r>
              <a:rPr spc="-55" dirty="0">
                <a:solidFill>
                  <a:srgbClr val="8E4220"/>
                </a:solidFill>
              </a:rPr>
              <a:t>the</a:t>
            </a:r>
            <a:r>
              <a:rPr spc="-175" dirty="0">
                <a:solidFill>
                  <a:srgbClr val="8E4220"/>
                </a:solidFill>
              </a:rPr>
              <a:t> </a:t>
            </a:r>
            <a:r>
              <a:rPr spc="-75" dirty="0">
                <a:solidFill>
                  <a:srgbClr val="8E4220"/>
                </a:solidFill>
              </a:rPr>
              <a:t>Right</a:t>
            </a:r>
            <a:r>
              <a:rPr spc="-155" dirty="0">
                <a:solidFill>
                  <a:srgbClr val="8E4220"/>
                </a:solidFill>
              </a:rPr>
              <a:t> </a:t>
            </a:r>
            <a:r>
              <a:rPr spc="-85" dirty="0">
                <a:solidFill>
                  <a:srgbClr val="8E4220"/>
                </a:solidFill>
              </a:rPr>
              <a:t>Report</a:t>
            </a:r>
            <a:r>
              <a:rPr spc="-165" dirty="0">
                <a:solidFill>
                  <a:srgbClr val="8E4220"/>
                </a:solidFill>
              </a:rPr>
              <a:t> </a:t>
            </a:r>
            <a:r>
              <a:rPr spc="-65" dirty="0">
                <a:solidFill>
                  <a:srgbClr val="8E4220"/>
                </a:solidFill>
              </a:rPr>
              <a:t>Format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645" y="1801629"/>
            <a:ext cx="8843010" cy="4420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Arial"/>
              <a:buChar char="•"/>
              <a:tabLst>
                <a:tab pos="299085" algn="l"/>
              </a:tabLst>
            </a:pP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Choosing</a:t>
            </a:r>
            <a:r>
              <a:rPr sz="2000" b="1" spc="-40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the</a:t>
            </a:r>
            <a:r>
              <a:rPr sz="2000" b="1" spc="-65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Right</a:t>
            </a:r>
            <a:r>
              <a:rPr sz="2000" b="1" spc="-50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Report</a:t>
            </a:r>
            <a:r>
              <a:rPr sz="2000" b="1" spc="-45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8E4220"/>
                </a:solidFill>
                <a:latin typeface="Arial"/>
                <a:cs typeface="Arial"/>
              </a:rPr>
              <a:t>Format</a:t>
            </a:r>
            <a:endParaRPr sz="2000">
              <a:latin typeface="Arial"/>
              <a:cs typeface="Arial"/>
            </a:endParaRPr>
          </a:p>
          <a:p>
            <a:pPr marL="651510" lvl="1" indent="-181610">
              <a:lnSpc>
                <a:spcPct val="100000"/>
              </a:lnSpc>
              <a:spcBef>
                <a:spcPts val="2050"/>
              </a:spcBef>
              <a:buClr>
                <a:srgbClr val="E38312"/>
              </a:buClr>
              <a:buFont typeface="Arial"/>
              <a:buChar char="•"/>
              <a:tabLst>
                <a:tab pos="651510" algn="l"/>
              </a:tabLst>
            </a:pP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Factors</a:t>
            </a:r>
            <a:r>
              <a:rPr sz="20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Consider:</a:t>
            </a:r>
            <a:endParaRPr sz="2000">
              <a:latin typeface="Calibri"/>
              <a:cs typeface="Calibri"/>
            </a:endParaRPr>
          </a:p>
          <a:p>
            <a:pPr marL="1109980" marR="194310" lvl="2" indent="-182880">
              <a:lnSpc>
                <a:spcPts val="1939"/>
              </a:lnSpc>
              <a:spcBef>
                <a:spcPts val="640"/>
              </a:spcBef>
              <a:buClr>
                <a:srgbClr val="E38312"/>
              </a:buClr>
              <a:buFont typeface="Arial"/>
              <a:buChar char="•"/>
              <a:tabLst>
                <a:tab pos="1109980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Audience: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Tailor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report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format</a:t>
            </a:r>
            <a:r>
              <a:rPr sz="18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suit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knowledge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level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preferences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 audience.</a:t>
            </a:r>
            <a:endParaRPr sz="1800">
              <a:latin typeface="Calibri"/>
              <a:cs typeface="Calibri"/>
            </a:endParaRPr>
          </a:p>
          <a:p>
            <a:pPr marL="1109980" marR="964565" lvl="2" indent="-182880">
              <a:lnSpc>
                <a:spcPts val="1939"/>
              </a:lnSpc>
              <a:spcBef>
                <a:spcPts val="605"/>
              </a:spcBef>
              <a:buClr>
                <a:srgbClr val="E38312"/>
              </a:buClr>
              <a:buFont typeface="Arial"/>
              <a:buChar char="•"/>
              <a:tabLst>
                <a:tab pos="1109980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Purpose: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Determine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whether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report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meant</a:t>
            </a:r>
            <a:r>
              <a:rPr sz="18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8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inform,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persuade,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or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recommend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actions.</a:t>
            </a:r>
            <a:endParaRPr sz="1800">
              <a:latin typeface="Calibri"/>
              <a:cs typeface="Calibri"/>
            </a:endParaRPr>
          </a:p>
          <a:p>
            <a:pPr marL="1109980" marR="1116965" lvl="2" indent="-182880">
              <a:lnSpc>
                <a:spcPts val="1939"/>
              </a:lnSpc>
              <a:spcBef>
                <a:spcPts val="610"/>
              </a:spcBef>
              <a:buClr>
                <a:srgbClr val="E38312"/>
              </a:buClr>
              <a:buFont typeface="Arial"/>
              <a:buChar char="•"/>
              <a:tabLst>
                <a:tab pos="1109980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Nature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Information: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Consider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whether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qualitative, quantitative,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technical,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strategic.</a:t>
            </a:r>
            <a:endParaRPr sz="1800">
              <a:latin typeface="Calibri"/>
              <a:cs typeface="Calibri"/>
            </a:endParaRPr>
          </a:p>
          <a:p>
            <a:pPr marL="651510" lvl="1" indent="-181610">
              <a:lnSpc>
                <a:spcPct val="100000"/>
              </a:lnSpc>
              <a:spcBef>
                <a:spcPts val="330"/>
              </a:spcBef>
              <a:buClr>
                <a:srgbClr val="E38312"/>
              </a:buClr>
              <a:buFont typeface="Arial"/>
              <a:buChar char="•"/>
              <a:tabLst>
                <a:tab pos="651510" algn="l"/>
              </a:tabLst>
            </a:pP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Selecting</a:t>
            </a:r>
            <a:r>
              <a:rPr sz="20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Appropriate</a:t>
            </a:r>
            <a:r>
              <a:rPr sz="20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Formats:</a:t>
            </a:r>
            <a:endParaRPr sz="2000">
              <a:latin typeface="Calibri"/>
              <a:cs typeface="Calibri"/>
            </a:endParaRPr>
          </a:p>
          <a:p>
            <a:pPr marL="1109345" lvl="2" indent="-182245">
              <a:lnSpc>
                <a:spcPct val="100000"/>
              </a:lnSpc>
              <a:spcBef>
                <a:spcPts val="390"/>
              </a:spcBef>
              <a:buClr>
                <a:srgbClr val="E38312"/>
              </a:buClr>
              <a:buFont typeface="Arial"/>
              <a:buChar char="•"/>
              <a:tabLst>
                <a:tab pos="1109345" algn="l"/>
              </a:tabLst>
            </a:pP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Textual: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detailed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explanations,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analysis,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descriptions.</a:t>
            </a:r>
            <a:endParaRPr sz="1800">
              <a:latin typeface="Calibri"/>
              <a:cs typeface="Calibri"/>
            </a:endParaRPr>
          </a:p>
          <a:p>
            <a:pPr marL="1109980" marR="5080" lvl="2" indent="-182880">
              <a:lnSpc>
                <a:spcPts val="1939"/>
              </a:lnSpc>
              <a:spcBef>
                <a:spcPts val="630"/>
              </a:spcBef>
              <a:buClr>
                <a:srgbClr val="E38312"/>
              </a:buClr>
              <a:buFont typeface="Arial"/>
              <a:buChar char="•"/>
              <a:tabLst>
                <a:tab pos="1109980" algn="l"/>
              </a:tabLst>
            </a:pP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Graphical: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Utilize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charts,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graphs,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diagrams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visual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representation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trends.</a:t>
            </a:r>
            <a:endParaRPr sz="1800">
              <a:latin typeface="Calibri"/>
              <a:cs typeface="Calibri"/>
            </a:endParaRPr>
          </a:p>
          <a:p>
            <a:pPr marL="1109980" marR="552450" lvl="2" indent="-182880">
              <a:lnSpc>
                <a:spcPts val="1939"/>
              </a:lnSpc>
              <a:spcBef>
                <a:spcPts val="610"/>
              </a:spcBef>
              <a:buClr>
                <a:srgbClr val="E38312"/>
              </a:buClr>
              <a:buFont typeface="Arial"/>
              <a:buChar char="•"/>
              <a:tabLst>
                <a:tab pos="1109980" algn="l"/>
              </a:tabLst>
            </a:pP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Combination: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Combine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textual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graphical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elements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enhance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clarity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and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engagement.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70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98395" y="559765"/>
            <a:ext cx="4346575" cy="104076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24154" marR="5080" indent="-212090">
              <a:lnSpc>
                <a:spcPts val="3670"/>
              </a:lnSpc>
              <a:spcBef>
                <a:spcPts val="760"/>
              </a:spcBef>
            </a:pPr>
            <a:r>
              <a:rPr spc="-85" dirty="0"/>
              <a:t>Report</a:t>
            </a:r>
            <a:r>
              <a:rPr spc="-170" dirty="0"/>
              <a:t> </a:t>
            </a:r>
            <a:r>
              <a:rPr spc="-95" dirty="0"/>
              <a:t>Format</a:t>
            </a:r>
            <a:r>
              <a:rPr spc="-165" dirty="0"/>
              <a:t> </a:t>
            </a:r>
            <a:r>
              <a:rPr spc="-65" dirty="0"/>
              <a:t>and</a:t>
            </a:r>
            <a:r>
              <a:rPr spc="-170" dirty="0"/>
              <a:t> </a:t>
            </a:r>
            <a:r>
              <a:rPr spc="-90" dirty="0"/>
              <a:t>Type: </a:t>
            </a:r>
            <a:r>
              <a:rPr spc="-85" dirty="0">
                <a:solidFill>
                  <a:srgbClr val="8E4220"/>
                </a:solidFill>
              </a:rPr>
              <a:t>Structuring</a:t>
            </a:r>
            <a:r>
              <a:rPr spc="-145" dirty="0">
                <a:solidFill>
                  <a:srgbClr val="8E4220"/>
                </a:solidFill>
              </a:rPr>
              <a:t> </a:t>
            </a:r>
            <a:r>
              <a:rPr spc="-60" dirty="0">
                <a:solidFill>
                  <a:srgbClr val="8E4220"/>
                </a:solidFill>
              </a:rPr>
              <a:t>the</a:t>
            </a:r>
            <a:r>
              <a:rPr spc="-125" dirty="0">
                <a:solidFill>
                  <a:srgbClr val="8E4220"/>
                </a:solidFill>
              </a:rPr>
              <a:t> </a:t>
            </a:r>
            <a:r>
              <a:rPr spc="-10" dirty="0">
                <a:solidFill>
                  <a:srgbClr val="8E4220"/>
                </a:solidFill>
              </a:rPr>
              <a:t>Report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645" y="1801629"/>
            <a:ext cx="8844280" cy="4038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Arial"/>
              <a:buChar char="•"/>
              <a:tabLst>
                <a:tab pos="299085" algn="l"/>
              </a:tabLst>
            </a:pP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Structuring</a:t>
            </a:r>
            <a:r>
              <a:rPr sz="2000" b="1" spc="-65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E4220"/>
                </a:solidFill>
                <a:latin typeface="Arial"/>
                <a:cs typeface="Arial"/>
              </a:rPr>
              <a:t>the</a:t>
            </a:r>
            <a:r>
              <a:rPr sz="2000" b="1" spc="-45" dirty="0">
                <a:solidFill>
                  <a:srgbClr val="8E422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8E4220"/>
                </a:solidFill>
                <a:latin typeface="Arial"/>
                <a:cs typeface="Arial"/>
              </a:rPr>
              <a:t>Report</a:t>
            </a:r>
            <a:endParaRPr sz="2000">
              <a:latin typeface="Arial"/>
              <a:cs typeface="Arial"/>
            </a:endParaRPr>
          </a:p>
          <a:p>
            <a:pPr marL="651510" lvl="1" indent="-181610">
              <a:lnSpc>
                <a:spcPct val="100000"/>
              </a:lnSpc>
              <a:spcBef>
                <a:spcPts val="2065"/>
              </a:spcBef>
              <a:buClr>
                <a:srgbClr val="E38312"/>
              </a:buClr>
              <a:buFont typeface="Arial"/>
              <a:buChar char="•"/>
              <a:tabLst>
                <a:tab pos="651510" algn="l"/>
              </a:tabLst>
            </a:pP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Overview</a:t>
            </a:r>
            <a:r>
              <a:rPr sz="19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9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Common</a:t>
            </a:r>
            <a:r>
              <a:rPr sz="19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Report</a:t>
            </a:r>
            <a:r>
              <a:rPr sz="19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Calibri"/>
                <a:cs typeface="Calibri"/>
              </a:rPr>
              <a:t>Structures:</a:t>
            </a:r>
            <a:endParaRPr sz="1900">
              <a:latin typeface="Calibri"/>
              <a:cs typeface="Calibri"/>
            </a:endParaRPr>
          </a:p>
          <a:p>
            <a:pPr marL="1109345" lvl="2" indent="-182245">
              <a:lnSpc>
                <a:spcPct val="100000"/>
              </a:lnSpc>
              <a:spcBef>
                <a:spcPts val="390"/>
              </a:spcBef>
              <a:buClr>
                <a:srgbClr val="E38312"/>
              </a:buClr>
              <a:buFont typeface="Arial"/>
              <a:buChar char="•"/>
              <a:tabLst>
                <a:tab pos="1109345" algn="l"/>
              </a:tabLst>
            </a:pPr>
            <a:r>
              <a:rPr sz="18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Title</a:t>
            </a:r>
            <a:r>
              <a:rPr sz="1800" u="sng" spc="-3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Page:</a:t>
            </a:r>
            <a:r>
              <a:rPr sz="1800" u="sng" spc="-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Includes</a:t>
            </a:r>
            <a:r>
              <a:rPr sz="1800" u="none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u="none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u="none" dirty="0">
                <a:solidFill>
                  <a:srgbClr val="404040"/>
                </a:solidFill>
                <a:latin typeface="Calibri"/>
                <a:cs typeface="Calibri"/>
              </a:rPr>
              <a:t>title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sz="1800" u="none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20" dirty="0">
                <a:solidFill>
                  <a:srgbClr val="404040"/>
                </a:solidFill>
                <a:latin typeface="Calibri"/>
                <a:cs typeface="Calibri"/>
              </a:rPr>
              <a:t>author,</a:t>
            </a:r>
            <a:r>
              <a:rPr sz="1800" u="none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date,</a:t>
            </a:r>
            <a:r>
              <a:rPr sz="1800" u="none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u="none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possibly</a:t>
            </a:r>
            <a:r>
              <a:rPr sz="1800" u="none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u="none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organization.</a:t>
            </a:r>
            <a:endParaRPr sz="1800">
              <a:latin typeface="Calibri"/>
              <a:cs typeface="Calibri"/>
            </a:endParaRPr>
          </a:p>
          <a:p>
            <a:pPr marL="1109980" marR="5080" lvl="2" indent="-182880">
              <a:lnSpc>
                <a:spcPts val="1939"/>
              </a:lnSpc>
              <a:spcBef>
                <a:spcPts val="630"/>
              </a:spcBef>
              <a:buClr>
                <a:srgbClr val="E38312"/>
              </a:buClr>
              <a:buFont typeface="Arial"/>
              <a:buChar char="•"/>
              <a:tabLst>
                <a:tab pos="1109980" algn="l"/>
              </a:tabLst>
            </a:pPr>
            <a:r>
              <a:rPr sz="18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Executive</a:t>
            </a:r>
            <a:r>
              <a:rPr sz="1800" u="sng" spc="-5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Summary:</a:t>
            </a:r>
            <a:r>
              <a:rPr sz="1800" u="none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Provides</a:t>
            </a:r>
            <a:r>
              <a:rPr sz="1800" u="none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800" u="none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concise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overview</a:t>
            </a:r>
            <a:r>
              <a:rPr sz="1800" u="none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800" u="none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report's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purpose,</a:t>
            </a:r>
            <a:r>
              <a:rPr sz="1800" u="none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methods,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findings,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u="none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recommendations.</a:t>
            </a:r>
            <a:endParaRPr sz="1800">
              <a:latin typeface="Calibri"/>
              <a:cs typeface="Calibri"/>
            </a:endParaRPr>
          </a:p>
          <a:p>
            <a:pPr marL="1109345" lvl="2" indent="-182245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Arial"/>
              <a:buChar char="•"/>
              <a:tabLst>
                <a:tab pos="1109345" algn="l"/>
              </a:tabLst>
            </a:pPr>
            <a:r>
              <a:rPr sz="18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Introduction:</a:t>
            </a:r>
            <a:r>
              <a:rPr sz="1800" u="none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Sets</a:t>
            </a:r>
            <a:r>
              <a:rPr sz="1800" u="none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u="none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context,</a:t>
            </a:r>
            <a:r>
              <a:rPr sz="1800" u="none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objectives,</a:t>
            </a:r>
            <a:r>
              <a:rPr sz="1800" u="none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u="none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scope</a:t>
            </a:r>
            <a:r>
              <a:rPr sz="1800" u="none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800" u="none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u="none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report.</a:t>
            </a:r>
            <a:endParaRPr sz="1800">
              <a:latin typeface="Calibri"/>
              <a:cs typeface="Calibri"/>
            </a:endParaRPr>
          </a:p>
          <a:p>
            <a:pPr marL="1109345" lvl="2" indent="-182245">
              <a:lnSpc>
                <a:spcPct val="100000"/>
              </a:lnSpc>
              <a:spcBef>
                <a:spcPts val="385"/>
              </a:spcBef>
              <a:buClr>
                <a:srgbClr val="E38312"/>
              </a:buClr>
              <a:buFont typeface="Arial"/>
              <a:buChar char="•"/>
              <a:tabLst>
                <a:tab pos="1109345" algn="l"/>
              </a:tabLst>
            </a:pPr>
            <a:r>
              <a:rPr sz="18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Methodology:</a:t>
            </a:r>
            <a:r>
              <a:rPr sz="1800" u="sng" spc="-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Describes</a:t>
            </a:r>
            <a:r>
              <a:rPr sz="1800" u="none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how</a:t>
            </a:r>
            <a:r>
              <a:rPr sz="1800" u="none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1800" u="none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was</a:t>
            </a:r>
            <a:r>
              <a:rPr sz="1800" u="none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collected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1800" u="none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analyzed.</a:t>
            </a:r>
            <a:endParaRPr sz="1800">
              <a:latin typeface="Calibri"/>
              <a:cs typeface="Calibri"/>
            </a:endParaRPr>
          </a:p>
          <a:p>
            <a:pPr marL="1109345" lvl="2" indent="-182245">
              <a:lnSpc>
                <a:spcPct val="100000"/>
              </a:lnSpc>
              <a:spcBef>
                <a:spcPts val="384"/>
              </a:spcBef>
              <a:buClr>
                <a:srgbClr val="E38312"/>
              </a:buClr>
              <a:buFont typeface="Arial"/>
              <a:buChar char="•"/>
              <a:tabLst>
                <a:tab pos="1109345" algn="l"/>
              </a:tabLst>
            </a:pPr>
            <a:r>
              <a:rPr sz="18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Results:</a:t>
            </a:r>
            <a:r>
              <a:rPr sz="1800" u="sng" spc="-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Presents</a:t>
            </a:r>
            <a:r>
              <a:rPr sz="1800" u="none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findings,</a:t>
            </a:r>
            <a:r>
              <a:rPr sz="1800" u="none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data,</a:t>
            </a:r>
            <a:r>
              <a:rPr sz="1800" u="none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u="none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observations</a:t>
            </a:r>
            <a:r>
              <a:rPr sz="1800" u="none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1800" u="none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u="none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study.</a:t>
            </a:r>
            <a:endParaRPr sz="1800">
              <a:latin typeface="Calibri"/>
              <a:cs typeface="Calibri"/>
            </a:endParaRPr>
          </a:p>
          <a:p>
            <a:pPr marL="1109345" lvl="2" indent="-182245">
              <a:lnSpc>
                <a:spcPct val="100000"/>
              </a:lnSpc>
              <a:spcBef>
                <a:spcPts val="380"/>
              </a:spcBef>
              <a:buClr>
                <a:srgbClr val="E38312"/>
              </a:buClr>
              <a:buFont typeface="Arial"/>
              <a:buChar char="•"/>
              <a:tabLst>
                <a:tab pos="1109345" algn="l"/>
              </a:tabLst>
            </a:pPr>
            <a:r>
              <a:rPr sz="18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Discussion:</a:t>
            </a:r>
            <a:r>
              <a:rPr sz="1800" u="sng" spc="-3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Analyzes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implications</a:t>
            </a:r>
            <a:r>
              <a:rPr sz="1800" u="none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800" u="none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results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u="none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their</a:t>
            </a:r>
            <a:r>
              <a:rPr sz="1800" u="none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significance.</a:t>
            </a:r>
            <a:endParaRPr sz="1800">
              <a:latin typeface="Calibri"/>
              <a:cs typeface="Calibri"/>
            </a:endParaRPr>
          </a:p>
          <a:p>
            <a:pPr marL="1108710" lvl="2" indent="-182245">
              <a:lnSpc>
                <a:spcPct val="100000"/>
              </a:lnSpc>
              <a:spcBef>
                <a:spcPts val="385"/>
              </a:spcBef>
              <a:buClr>
                <a:srgbClr val="E38312"/>
              </a:buClr>
              <a:buFont typeface="Arial"/>
              <a:buChar char="•"/>
              <a:tabLst>
                <a:tab pos="1108710" algn="l"/>
              </a:tabLst>
            </a:pPr>
            <a:r>
              <a:rPr sz="18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Conclusions:</a:t>
            </a:r>
            <a:r>
              <a:rPr sz="1800" u="sng" spc="-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Summarizes</a:t>
            </a:r>
            <a:r>
              <a:rPr sz="1800" u="none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key</a:t>
            </a:r>
            <a:r>
              <a:rPr sz="1800" u="none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findings</a:t>
            </a:r>
            <a:r>
              <a:rPr sz="1800" u="none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u="none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their</a:t>
            </a:r>
            <a:r>
              <a:rPr sz="1800" u="none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implications.</a:t>
            </a:r>
            <a:endParaRPr sz="1800">
              <a:latin typeface="Calibri"/>
              <a:cs typeface="Calibri"/>
            </a:endParaRPr>
          </a:p>
          <a:p>
            <a:pPr marL="1109345" lvl="2" indent="-182245">
              <a:lnSpc>
                <a:spcPct val="100000"/>
              </a:lnSpc>
              <a:spcBef>
                <a:spcPts val="385"/>
              </a:spcBef>
              <a:buClr>
                <a:srgbClr val="E38312"/>
              </a:buClr>
              <a:buFont typeface="Arial"/>
              <a:buChar char="•"/>
              <a:tabLst>
                <a:tab pos="1109345" algn="l"/>
              </a:tabLst>
            </a:pPr>
            <a:r>
              <a:rPr sz="18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Recommendations:</a:t>
            </a:r>
            <a:r>
              <a:rPr sz="1800" u="sng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Suggests</a:t>
            </a:r>
            <a:r>
              <a:rPr sz="1800" u="none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actions</a:t>
            </a:r>
            <a:r>
              <a:rPr sz="1800" u="none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1800" u="none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1800" u="none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u="none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conclusions.</a:t>
            </a:r>
            <a:endParaRPr sz="1800">
              <a:latin typeface="Calibri"/>
              <a:cs typeface="Calibri"/>
            </a:endParaRPr>
          </a:p>
          <a:p>
            <a:pPr marL="1108710" lvl="2" indent="-182245">
              <a:lnSpc>
                <a:spcPct val="100000"/>
              </a:lnSpc>
              <a:spcBef>
                <a:spcPts val="385"/>
              </a:spcBef>
              <a:buClr>
                <a:srgbClr val="E38312"/>
              </a:buClr>
              <a:buFont typeface="Arial"/>
              <a:buChar char="•"/>
              <a:tabLst>
                <a:tab pos="1108710" algn="l"/>
              </a:tabLst>
            </a:pPr>
            <a:r>
              <a:rPr sz="1800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References:</a:t>
            </a:r>
            <a:r>
              <a:rPr sz="1800" u="sng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Lists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sources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cited</a:t>
            </a:r>
            <a:r>
              <a:rPr sz="1800" u="none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800" u="none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u="none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report.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71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0480" marR="5080" indent="400685">
              <a:lnSpc>
                <a:spcPts val="3670"/>
              </a:lnSpc>
              <a:spcBef>
                <a:spcPts val="760"/>
              </a:spcBef>
            </a:pPr>
            <a:r>
              <a:rPr spc="-85" dirty="0"/>
              <a:t>Report</a:t>
            </a:r>
            <a:r>
              <a:rPr spc="-170" dirty="0"/>
              <a:t> </a:t>
            </a:r>
            <a:r>
              <a:rPr spc="-95" dirty="0"/>
              <a:t>Format</a:t>
            </a:r>
            <a:r>
              <a:rPr spc="-165" dirty="0"/>
              <a:t> </a:t>
            </a:r>
            <a:r>
              <a:rPr spc="-65" dirty="0"/>
              <a:t>and</a:t>
            </a:r>
            <a:r>
              <a:rPr spc="-170" dirty="0"/>
              <a:t> </a:t>
            </a:r>
            <a:r>
              <a:rPr spc="-10" dirty="0"/>
              <a:t>Type: </a:t>
            </a:r>
            <a:r>
              <a:rPr spc="-85" dirty="0">
                <a:solidFill>
                  <a:srgbClr val="8E4220"/>
                </a:solidFill>
              </a:rPr>
              <a:t>Structuring</a:t>
            </a:r>
            <a:r>
              <a:rPr spc="-150" dirty="0">
                <a:solidFill>
                  <a:srgbClr val="8E4220"/>
                </a:solidFill>
              </a:rPr>
              <a:t> </a:t>
            </a:r>
            <a:r>
              <a:rPr spc="-60" dirty="0">
                <a:solidFill>
                  <a:srgbClr val="8E4220"/>
                </a:solidFill>
              </a:rPr>
              <a:t>the</a:t>
            </a:r>
            <a:r>
              <a:rPr spc="-135" dirty="0">
                <a:solidFill>
                  <a:srgbClr val="8E4220"/>
                </a:solidFill>
              </a:rPr>
              <a:t> </a:t>
            </a:r>
            <a:r>
              <a:rPr spc="-90" dirty="0">
                <a:solidFill>
                  <a:srgbClr val="8E4220"/>
                </a:solidFill>
              </a:rPr>
              <a:t>Report</a:t>
            </a:r>
            <a:r>
              <a:rPr spc="-135" dirty="0">
                <a:solidFill>
                  <a:srgbClr val="8E4220"/>
                </a:solidFill>
              </a:rPr>
              <a:t> </a:t>
            </a:r>
            <a:r>
              <a:rPr spc="-50" dirty="0">
                <a:solidFill>
                  <a:srgbClr val="8E4220"/>
                </a:solidFill>
              </a:rPr>
              <a:t>(cont.)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8232" y="1984720"/>
            <a:ext cx="7743825" cy="236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95"/>
              </a:spcBef>
              <a:buClr>
                <a:srgbClr val="E38312"/>
              </a:buClr>
              <a:buFont typeface="Arial"/>
              <a:buChar char="•"/>
              <a:tabLst>
                <a:tab pos="194310" algn="l"/>
              </a:tabLst>
            </a:pP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Guidelines</a:t>
            </a:r>
            <a:r>
              <a:rPr sz="19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19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Calibri"/>
                <a:cs typeface="Calibri"/>
              </a:rPr>
              <a:t>Organizing</a:t>
            </a:r>
            <a:r>
              <a:rPr sz="19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Calibri"/>
                <a:cs typeface="Calibri"/>
              </a:rPr>
              <a:t>Information: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5"/>
              </a:spcBef>
              <a:buClr>
                <a:srgbClr val="E38312"/>
              </a:buClr>
              <a:buFont typeface="Arial"/>
              <a:buChar char="•"/>
            </a:pPr>
            <a:endParaRPr sz="1900">
              <a:latin typeface="Calibri"/>
              <a:cs typeface="Calibri"/>
            </a:endParaRPr>
          </a:p>
          <a:p>
            <a:pPr marL="651510" marR="5080" lvl="1" indent="-182245">
              <a:lnSpc>
                <a:spcPts val="1939"/>
              </a:lnSpc>
              <a:spcBef>
                <a:spcPts val="5"/>
              </a:spcBef>
              <a:buClr>
                <a:srgbClr val="E38312"/>
              </a:buClr>
              <a:buFont typeface="Arial"/>
              <a:buChar char="•"/>
              <a:tabLst>
                <a:tab pos="652780" algn="l"/>
              </a:tabLst>
            </a:pPr>
            <a:r>
              <a:rPr sz="18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Logical</a:t>
            </a:r>
            <a:r>
              <a:rPr sz="1800" u="sng" spc="-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Flow:</a:t>
            </a:r>
            <a:r>
              <a:rPr sz="1800" u="sng" spc="-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Arrange</a:t>
            </a:r>
            <a:r>
              <a:rPr sz="1800" u="none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sections</a:t>
            </a:r>
            <a:r>
              <a:rPr sz="1800" u="none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800" u="none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800" u="none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logical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sequence</a:t>
            </a:r>
            <a:r>
              <a:rPr sz="1800" u="none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1800" u="none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follows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u="none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reader's 	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journey</a:t>
            </a:r>
            <a:r>
              <a:rPr sz="1800" u="none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through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u="none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report.</a:t>
            </a:r>
            <a:endParaRPr sz="1800">
              <a:latin typeface="Calibri"/>
              <a:cs typeface="Calibri"/>
            </a:endParaRPr>
          </a:p>
          <a:p>
            <a:pPr marL="652780" marR="99060" lvl="1" indent="-182880">
              <a:lnSpc>
                <a:spcPts val="1939"/>
              </a:lnSpc>
              <a:spcBef>
                <a:spcPts val="605"/>
              </a:spcBef>
              <a:buClr>
                <a:srgbClr val="E38312"/>
              </a:buClr>
              <a:buFont typeface="Arial"/>
              <a:buChar char="•"/>
              <a:tabLst>
                <a:tab pos="652780" algn="l"/>
              </a:tabLst>
            </a:pPr>
            <a:r>
              <a:rPr sz="18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Coherence:</a:t>
            </a:r>
            <a:r>
              <a:rPr sz="1800" u="sng" spc="-3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Ensure</a:t>
            </a:r>
            <a:r>
              <a:rPr sz="1800" u="none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section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connects</a:t>
            </a:r>
            <a:r>
              <a:rPr sz="1800" u="none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seamlessly</a:t>
            </a:r>
            <a:r>
              <a:rPr sz="1800" u="none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800" u="none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u="none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next,</a:t>
            </a:r>
            <a:r>
              <a:rPr sz="1800" u="none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building</a:t>
            </a:r>
            <a:r>
              <a:rPr sz="1800" u="none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5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cohesive</a:t>
            </a:r>
            <a:r>
              <a:rPr sz="1800" u="none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narrative.</a:t>
            </a:r>
            <a:endParaRPr sz="1800">
              <a:latin typeface="Calibri"/>
              <a:cs typeface="Calibri"/>
            </a:endParaRPr>
          </a:p>
          <a:p>
            <a:pPr marL="652145" marR="17780" lvl="1" indent="-182880">
              <a:lnSpc>
                <a:spcPts val="1939"/>
              </a:lnSpc>
              <a:spcBef>
                <a:spcPts val="610"/>
              </a:spcBef>
              <a:buClr>
                <a:srgbClr val="E38312"/>
              </a:buClr>
              <a:buFont typeface="Arial"/>
              <a:buChar char="•"/>
              <a:tabLst>
                <a:tab pos="652145" algn="l"/>
              </a:tabLst>
            </a:pPr>
            <a:r>
              <a:rPr sz="18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Clarity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1800" u="none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r>
              <a:rPr sz="1800" u="none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clear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headings,</a:t>
            </a:r>
            <a:r>
              <a:rPr sz="1800" u="none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subheadings,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u="none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transitions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guide</a:t>
            </a:r>
            <a:r>
              <a:rPr sz="1800" u="none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u="none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reader </a:t>
            </a:r>
            <a:r>
              <a:rPr sz="1800" u="none" dirty="0">
                <a:solidFill>
                  <a:srgbClr val="404040"/>
                </a:solidFill>
                <a:latin typeface="Calibri"/>
                <a:cs typeface="Calibri"/>
              </a:rPr>
              <a:t>through</a:t>
            </a:r>
            <a:r>
              <a:rPr sz="1800" u="none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complex</a:t>
            </a:r>
            <a:r>
              <a:rPr sz="1800" u="none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404040"/>
                </a:solidFill>
                <a:latin typeface="Calibri"/>
                <a:cs typeface="Calibri"/>
              </a:rPr>
              <a:t>information.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72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437515" marR="5080" indent="-425450">
              <a:lnSpc>
                <a:spcPts val="3670"/>
              </a:lnSpc>
              <a:spcBef>
                <a:spcPts val="760"/>
              </a:spcBef>
            </a:pPr>
            <a:r>
              <a:rPr spc="-90" dirty="0"/>
              <a:t>Gathering</a:t>
            </a:r>
            <a:r>
              <a:rPr spc="-170" dirty="0"/>
              <a:t> </a:t>
            </a:r>
            <a:r>
              <a:rPr spc="-65" dirty="0"/>
              <a:t>the</a:t>
            </a:r>
            <a:r>
              <a:rPr spc="-150" dirty="0"/>
              <a:t> </a:t>
            </a:r>
            <a:r>
              <a:rPr spc="-85" dirty="0"/>
              <a:t>Facts</a:t>
            </a:r>
            <a:r>
              <a:rPr spc="-155" dirty="0"/>
              <a:t> </a:t>
            </a:r>
            <a:r>
              <a:rPr spc="-65" dirty="0"/>
              <a:t>and</a:t>
            </a:r>
            <a:r>
              <a:rPr spc="-160" dirty="0"/>
              <a:t> </a:t>
            </a:r>
            <a:r>
              <a:rPr spc="-45" dirty="0"/>
              <a:t>Data: </a:t>
            </a:r>
            <a:r>
              <a:rPr spc="-90" dirty="0">
                <a:solidFill>
                  <a:srgbClr val="8E4220"/>
                </a:solidFill>
              </a:rPr>
              <a:t>Data</a:t>
            </a:r>
            <a:r>
              <a:rPr spc="-160" dirty="0">
                <a:solidFill>
                  <a:srgbClr val="8E4220"/>
                </a:solidFill>
              </a:rPr>
              <a:t> </a:t>
            </a:r>
            <a:r>
              <a:rPr spc="-80" dirty="0">
                <a:solidFill>
                  <a:srgbClr val="8E4220"/>
                </a:solidFill>
              </a:rPr>
              <a:t>Collection</a:t>
            </a:r>
            <a:r>
              <a:rPr spc="-155" dirty="0">
                <a:solidFill>
                  <a:srgbClr val="8E4220"/>
                </a:solidFill>
              </a:rPr>
              <a:t> </a:t>
            </a:r>
            <a:r>
              <a:rPr spc="-10" dirty="0">
                <a:solidFill>
                  <a:srgbClr val="8E4220"/>
                </a:solidFill>
              </a:rPr>
              <a:t>Methods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8893" y="1767926"/>
            <a:ext cx="8400415" cy="444690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505"/>
              </a:spcBef>
              <a:buClr>
                <a:srgbClr val="E38312"/>
              </a:buClr>
              <a:buFont typeface="Arial"/>
              <a:buChar char="•"/>
              <a:tabLst>
                <a:tab pos="194310" algn="l"/>
              </a:tabLst>
            </a:pP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Methods</a:t>
            </a:r>
            <a:r>
              <a:rPr sz="19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1900" b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Gathering</a:t>
            </a:r>
            <a:r>
              <a:rPr sz="1900" b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spc="-20" dirty="0">
                <a:solidFill>
                  <a:srgbClr val="404040"/>
                </a:solidFill>
                <a:latin typeface="Calibri"/>
                <a:cs typeface="Calibri"/>
              </a:rPr>
              <a:t>Data:</a:t>
            </a:r>
            <a:endParaRPr sz="1900">
              <a:latin typeface="Calibri"/>
              <a:cs typeface="Calibri"/>
            </a:endParaRPr>
          </a:p>
          <a:p>
            <a:pPr marL="652145" marR="610235" lvl="1" indent="-182880">
              <a:lnSpc>
                <a:spcPts val="1939"/>
              </a:lnSpc>
              <a:spcBef>
                <a:spcPts val="635"/>
              </a:spcBef>
              <a:buClr>
                <a:srgbClr val="E38312"/>
              </a:buClr>
              <a:buFont typeface="Arial"/>
              <a:buChar char="•"/>
              <a:tabLst>
                <a:tab pos="652145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Surveys: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questionnaires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collect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structured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large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sample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respondents.</a:t>
            </a:r>
            <a:endParaRPr sz="1800">
              <a:latin typeface="Calibri"/>
              <a:cs typeface="Calibri"/>
            </a:endParaRPr>
          </a:p>
          <a:p>
            <a:pPr marL="652780" marR="370205" lvl="1" indent="-182880">
              <a:lnSpc>
                <a:spcPts val="1939"/>
              </a:lnSpc>
              <a:spcBef>
                <a:spcPts val="605"/>
              </a:spcBef>
              <a:buClr>
                <a:srgbClr val="E38312"/>
              </a:buClr>
              <a:buFont typeface="Arial"/>
              <a:buChar char="•"/>
              <a:tabLst>
                <a:tab pos="652780" algn="l"/>
              </a:tabLst>
            </a:pP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Interviews: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Conduct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one-on-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group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interviews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gather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in-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depth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insights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opinions.</a:t>
            </a:r>
            <a:endParaRPr sz="1800">
              <a:latin typeface="Calibri"/>
              <a:cs typeface="Calibri"/>
            </a:endParaRPr>
          </a:p>
          <a:p>
            <a:pPr marL="652780" marR="415925" lvl="1" indent="-182880">
              <a:lnSpc>
                <a:spcPts val="1939"/>
              </a:lnSpc>
              <a:spcBef>
                <a:spcPts val="610"/>
              </a:spcBef>
              <a:buClr>
                <a:srgbClr val="E38312"/>
              </a:buClr>
              <a:buFont typeface="Arial"/>
              <a:buChar char="•"/>
              <a:tabLst>
                <a:tab pos="652780" algn="l"/>
              </a:tabLst>
            </a:pP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Observations: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Observe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behaviors,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interactions,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processes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gather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firsthand data.</a:t>
            </a:r>
            <a:endParaRPr sz="1800">
              <a:latin typeface="Calibri"/>
              <a:cs typeface="Calibri"/>
            </a:endParaRPr>
          </a:p>
          <a:p>
            <a:pPr marL="652780" marR="5080" lvl="1" indent="-182880">
              <a:lnSpc>
                <a:spcPts val="1939"/>
              </a:lnSpc>
              <a:spcBef>
                <a:spcPts val="605"/>
              </a:spcBef>
              <a:buClr>
                <a:srgbClr val="E38312"/>
              </a:buClr>
              <a:buFont typeface="Arial"/>
              <a:buChar char="•"/>
              <a:tabLst>
                <a:tab pos="652780" algn="l"/>
              </a:tabLst>
            </a:pP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Documentation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Review: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Analyze</a:t>
            </a:r>
            <a:r>
              <a:rPr sz="18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existing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records,</a:t>
            </a:r>
            <a:r>
              <a:rPr sz="18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reports,</a:t>
            </a:r>
            <a:r>
              <a:rPr sz="18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documents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8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gather historical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factual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information.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695"/>
              </a:spcBef>
              <a:buClr>
                <a:srgbClr val="E38312"/>
              </a:buClr>
              <a:buFont typeface="Arial"/>
              <a:buChar char="•"/>
            </a:pPr>
            <a:endParaRPr sz="1800">
              <a:latin typeface="Calibri"/>
              <a:cs typeface="Calibri"/>
            </a:endParaRPr>
          </a:p>
          <a:p>
            <a:pPr marL="194310" indent="-181610">
              <a:lnSpc>
                <a:spcPct val="100000"/>
              </a:lnSpc>
              <a:buClr>
                <a:srgbClr val="E38312"/>
              </a:buClr>
              <a:buFont typeface="Arial"/>
              <a:buChar char="•"/>
              <a:tabLst>
                <a:tab pos="194310" algn="l"/>
              </a:tabLst>
            </a:pP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Ensuring</a:t>
            </a:r>
            <a:r>
              <a:rPr sz="19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1900" b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Integrity</a:t>
            </a:r>
            <a:r>
              <a:rPr sz="19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900" b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Calibri"/>
                <a:cs typeface="Calibri"/>
              </a:rPr>
              <a:t>Reliability:</a:t>
            </a:r>
            <a:endParaRPr sz="1900">
              <a:latin typeface="Calibri"/>
              <a:cs typeface="Calibri"/>
            </a:endParaRPr>
          </a:p>
          <a:p>
            <a:pPr marL="652145" marR="158750" lvl="1" indent="-182880">
              <a:lnSpc>
                <a:spcPts val="1939"/>
              </a:lnSpc>
              <a:spcBef>
                <a:spcPts val="635"/>
              </a:spcBef>
              <a:buClr>
                <a:srgbClr val="E38312"/>
              </a:buClr>
              <a:buFont typeface="Arial"/>
              <a:buChar char="•"/>
              <a:tabLst>
                <a:tab pos="652145" algn="l"/>
              </a:tabLst>
            </a:pP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Verification: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Confirm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accuracy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through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cross-referencing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multiple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sources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methods.</a:t>
            </a:r>
            <a:endParaRPr sz="1800">
              <a:latin typeface="Calibri"/>
              <a:cs typeface="Calibri"/>
            </a:endParaRPr>
          </a:p>
          <a:p>
            <a:pPr marL="652145" marR="365125" lvl="1" indent="-182880">
              <a:lnSpc>
                <a:spcPts val="1939"/>
              </a:lnSpc>
              <a:spcBef>
                <a:spcPts val="610"/>
              </a:spcBef>
              <a:buClr>
                <a:srgbClr val="E38312"/>
              </a:buClr>
              <a:buFont typeface="Arial"/>
              <a:buChar char="•"/>
              <a:tabLst>
                <a:tab pos="652145" algn="l"/>
              </a:tabLst>
            </a:pP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Validation: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Assess</a:t>
            </a:r>
            <a:r>
              <a:rPr sz="18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consistency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reliability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ensure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reflects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true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situation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phenomenon.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73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313815" marR="5080" indent="-1301750">
              <a:lnSpc>
                <a:spcPts val="3670"/>
              </a:lnSpc>
              <a:spcBef>
                <a:spcPts val="760"/>
              </a:spcBef>
            </a:pPr>
            <a:r>
              <a:rPr spc="-90" dirty="0"/>
              <a:t>Gathering</a:t>
            </a:r>
            <a:r>
              <a:rPr spc="-170" dirty="0"/>
              <a:t> </a:t>
            </a:r>
            <a:r>
              <a:rPr spc="-65" dirty="0"/>
              <a:t>the</a:t>
            </a:r>
            <a:r>
              <a:rPr spc="-150" dirty="0"/>
              <a:t> </a:t>
            </a:r>
            <a:r>
              <a:rPr spc="-85" dirty="0"/>
              <a:t>Facts</a:t>
            </a:r>
            <a:r>
              <a:rPr spc="-155" dirty="0"/>
              <a:t> </a:t>
            </a:r>
            <a:r>
              <a:rPr spc="-65" dirty="0"/>
              <a:t>and</a:t>
            </a:r>
            <a:r>
              <a:rPr spc="-160" dirty="0"/>
              <a:t> </a:t>
            </a:r>
            <a:r>
              <a:rPr spc="-45" dirty="0"/>
              <a:t>Data: </a:t>
            </a:r>
            <a:r>
              <a:rPr spc="-90" dirty="0">
                <a:solidFill>
                  <a:srgbClr val="8E4220"/>
                </a:solidFill>
              </a:rPr>
              <a:t>Analyzing</a:t>
            </a:r>
            <a:r>
              <a:rPr spc="-140" dirty="0">
                <a:solidFill>
                  <a:srgbClr val="8E4220"/>
                </a:solidFill>
              </a:rPr>
              <a:t> </a:t>
            </a:r>
            <a:r>
              <a:rPr spc="-20" dirty="0">
                <a:solidFill>
                  <a:srgbClr val="8E4220"/>
                </a:solidFill>
              </a:rPr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7714" y="1691236"/>
            <a:ext cx="8371205" cy="419989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505"/>
              </a:spcBef>
              <a:buClr>
                <a:srgbClr val="E38312"/>
              </a:buClr>
              <a:buFont typeface="Arial"/>
              <a:buChar char="•"/>
              <a:tabLst>
                <a:tab pos="194310" algn="l"/>
              </a:tabLst>
            </a:pPr>
            <a:r>
              <a:rPr sz="1900" b="1" spc="-20" dirty="0">
                <a:solidFill>
                  <a:srgbClr val="404040"/>
                </a:solidFill>
                <a:latin typeface="Calibri"/>
                <a:cs typeface="Calibri"/>
              </a:rPr>
              <a:t>Techniques</a:t>
            </a:r>
            <a:r>
              <a:rPr sz="1900" b="1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19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Analyzing</a:t>
            </a:r>
            <a:r>
              <a:rPr sz="19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Calibri"/>
                <a:cs typeface="Calibri"/>
              </a:rPr>
              <a:t>Qualitative</a:t>
            </a:r>
            <a:r>
              <a:rPr sz="19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Calibri"/>
                <a:cs typeface="Calibri"/>
              </a:rPr>
              <a:t>Data:</a:t>
            </a:r>
            <a:endParaRPr sz="1900">
              <a:latin typeface="Calibri"/>
              <a:cs typeface="Calibri"/>
            </a:endParaRPr>
          </a:p>
          <a:p>
            <a:pPr marL="652145" lvl="1" indent="-182245">
              <a:lnSpc>
                <a:spcPct val="100000"/>
              </a:lnSpc>
              <a:spcBef>
                <a:spcPts val="385"/>
              </a:spcBef>
              <a:buClr>
                <a:srgbClr val="E38312"/>
              </a:buClr>
              <a:buFont typeface="Arial"/>
              <a:buChar char="•"/>
              <a:tabLst>
                <a:tab pos="652145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Thematic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Analysis:</a:t>
            </a:r>
            <a:r>
              <a:rPr sz="18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Identify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patterns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themes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within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textual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marL="652780" marR="467359" lvl="1" indent="-182880">
              <a:lnSpc>
                <a:spcPts val="1939"/>
              </a:lnSpc>
              <a:spcBef>
                <a:spcPts val="635"/>
              </a:spcBef>
              <a:buClr>
                <a:srgbClr val="E38312"/>
              </a:buClr>
              <a:buFont typeface="Arial"/>
              <a:buChar char="•"/>
              <a:tabLst>
                <a:tab pos="652780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Content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Analysis:</a:t>
            </a:r>
            <a:r>
              <a:rPr sz="18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Systematically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analyze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text-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draw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inferences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or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conclusions.</a:t>
            </a:r>
            <a:endParaRPr sz="1800">
              <a:latin typeface="Calibri"/>
              <a:cs typeface="Calibri"/>
            </a:endParaRPr>
          </a:p>
          <a:p>
            <a:pPr marL="652780" marR="803910" lvl="1" indent="-182880">
              <a:lnSpc>
                <a:spcPts val="1939"/>
              </a:lnSpc>
              <a:spcBef>
                <a:spcPts val="605"/>
              </a:spcBef>
              <a:buClr>
                <a:srgbClr val="E38312"/>
              </a:buClr>
              <a:buFont typeface="Arial"/>
              <a:buChar char="•"/>
              <a:tabLst>
                <a:tab pos="652780" algn="l"/>
              </a:tabLst>
            </a:pP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Narrative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Analysis: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Interpret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stories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narratives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understand underlying meanings.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690"/>
              </a:spcBef>
              <a:buClr>
                <a:srgbClr val="E38312"/>
              </a:buClr>
              <a:buFont typeface="Arial"/>
              <a:buChar char="•"/>
            </a:pPr>
            <a:endParaRPr sz="1800">
              <a:latin typeface="Calibri"/>
              <a:cs typeface="Calibri"/>
            </a:endParaRPr>
          </a:p>
          <a:p>
            <a:pPr marL="194310" indent="-181610">
              <a:lnSpc>
                <a:spcPct val="100000"/>
              </a:lnSpc>
              <a:spcBef>
                <a:spcPts val="5"/>
              </a:spcBef>
              <a:buClr>
                <a:srgbClr val="E38312"/>
              </a:buClr>
              <a:buFont typeface="Arial"/>
              <a:buChar char="•"/>
              <a:tabLst>
                <a:tab pos="194310" algn="l"/>
              </a:tabLst>
            </a:pPr>
            <a:r>
              <a:rPr sz="1900" b="1" spc="-20" dirty="0">
                <a:solidFill>
                  <a:srgbClr val="404040"/>
                </a:solidFill>
                <a:latin typeface="Calibri"/>
                <a:cs typeface="Calibri"/>
              </a:rPr>
              <a:t>Techniques </a:t>
            </a: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19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Analyzing</a:t>
            </a:r>
            <a:r>
              <a:rPr sz="19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Calibri"/>
                <a:cs typeface="Calibri"/>
              </a:rPr>
              <a:t>Quantitative</a:t>
            </a:r>
            <a:r>
              <a:rPr sz="1900" b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Calibri"/>
                <a:cs typeface="Calibri"/>
              </a:rPr>
              <a:t>Data:</a:t>
            </a:r>
            <a:endParaRPr sz="1900">
              <a:latin typeface="Calibri"/>
              <a:cs typeface="Calibri"/>
            </a:endParaRPr>
          </a:p>
          <a:p>
            <a:pPr marL="652780" marR="5080" lvl="1" indent="-182880">
              <a:lnSpc>
                <a:spcPts val="1939"/>
              </a:lnSpc>
              <a:spcBef>
                <a:spcPts val="635"/>
              </a:spcBef>
              <a:buClr>
                <a:srgbClr val="E38312"/>
              </a:buClr>
              <a:buFont typeface="Arial"/>
              <a:buChar char="•"/>
              <a:tabLst>
                <a:tab pos="652780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Descriptive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Statistics:</a:t>
            </a:r>
            <a:r>
              <a:rPr sz="18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Summarize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describe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numerical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measures</a:t>
            </a:r>
            <a:r>
              <a:rPr sz="18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such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mean,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median,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mode.</a:t>
            </a:r>
            <a:endParaRPr sz="1800">
              <a:latin typeface="Calibri"/>
              <a:cs typeface="Calibri"/>
            </a:endParaRPr>
          </a:p>
          <a:p>
            <a:pPr marL="652780" marR="24130" lvl="1" indent="-182880">
              <a:lnSpc>
                <a:spcPts val="1939"/>
              </a:lnSpc>
              <a:spcBef>
                <a:spcPts val="605"/>
              </a:spcBef>
              <a:buClr>
                <a:srgbClr val="E38312"/>
              </a:buClr>
              <a:buFont typeface="Arial"/>
              <a:buChar char="•"/>
              <a:tabLst>
                <a:tab pos="652780" algn="l"/>
              </a:tabLst>
            </a:pP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Inferential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Statistics: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inferences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predictions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population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on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sample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techniques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regression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analysis</a:t>
            </a:r>
            <a:r>
              <a:rPr sz="18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hypothesis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testing.</a:t>
            </a:r>
            <a:endParaRPr sz="1800">
              <a:latin typeface="Calibri"/>
              <a:cs typeface="Calibri"/>
            </a:endParaRPr>
          </a:p>
          <a:p>
            <a:pPr marL="652780" marR="252729" lvl="1" indent="-182880">
              <a:lnSpc>
                <a:spcPts val="1939"/>
              </a:lnSpc>
              <a:spcBef>
                <a:spcPts val="610"/>
              </a:spcBef>
              <a:buClr>
                <a:srgbClr val="E38312"/>
              </a:buClr>
              <a:buFont typeface="Arial"/>
              <a:buChar char="•"/>
              <a:tabLst>
                <a:tab pos="652780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Visualization: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Present</a:t>
            </a:r>
            <a:r>
              <a:rPr sz="18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quantitative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visually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through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charts,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graphs,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tables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facilitate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understanding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interpretation.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74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701040" marR="5080" indent="-688975">
              <a:lnSpc>
                <a:spcPts val="3670"/>
              </a:lnSpc>
              <a:spcBef>
                <a:spcPts val="760"/>
              </a:spcBef>
            </a:pPr>
            <a:r>
              <a:rPr spc="-90" dirty="0"/>
              <a:t>Gathering</a:t>
            </a:r>
            <a:r>
              <a:rPr spc="-170" dirty="0"/>
              <a:t> </a:t>
            </a:r>
            <a:r>
              <a:rPr spc="-65" dirty="0"/>
              <a:t>the</a:t>
            </a:r>
            <a:r>
              <a:rPr spc="-150" dirty="0"/>
              <a:t> </a:t>
            </a:r>
            <a:r>
              <a:rPr spc="-85" dirty="0"/>
              <a:t>Facts</a:t>
            </a:r>
            <a:r>
              <a:rPr spc="-155" dirty="0"/>
              <a:t> </a:t>
            </a:r>
            <a:r>
              <a:rPr spc="-65" dirty="0"/>
              <a:t>and</a:t>
            </a:r>
            <a:r>
              <a:rPr spc="-160" dirty="0"/>
              <a:t> </a:t>
            </a:r>
            <a:r>
              <a:rPr spc="-45" dirty="0"/>
              <a:t>Data: </a:t>
            </a:r>
            <a:r>
              <a:rPr spc="-90" dirty="0">
                <a:solidFill>
                  <a:srgbClr val="8E4220"/>
                </a:solidFill>
              </a:rPr>
              <a:t>Analyzing</a:t>
            </a:r>
            <a:r>
              <a:rPr spc="-160" dirty="0">
                <a:solidFill>
                  <a:srgbClr val="8E4220"/>
                </a:solidFill>
              </a:rPr>
              <a:t> </a:t>
            </a:r>
            <a:r>
              <a:rPr spc="-90" dirty="0">
                <a:solidFill>
                  <a:srgbClr val="8E4220"/>
                </a:solidFill>
              </a:rPr>
              <a:t>Data</a:t>
            </a:r>
            <a:r>
              <a:rPr spc="-160" dirty="0">
                <a:solidFill>
                  <a:srgbClr val="8E4220"/>
                </a:solidFill>
              </a:rPr>
              <a:t> </a:t>
            </a:r>
            <a:r>
              <a:rPr spc="-10" dirty="0">
                <a:solidFill>
                  <a:srgbClr val="8E4220"/>
                </a:solidFill>
              </a:rPr>
              <a:t>(cont.)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8893" y="1819936"/>
            <a:ext cx="8246745" cy="2443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95"/>
              </a:spcBef>
              <a:buClr>
                <a:srgbClr val="E38312"/>
              </a:buClr>
              <a:buFont typeface="Arial"/>
              <a:buChar char="•"/>
              <a:tabLst>
                <a:tab pos="194310" algn="l"/>
              </a:tabLst>
            </a:pPr>
            <a:r>
              <a:rPr sz="1900" b="1" spc="-10" dirty="0">
                <a:solidFill>
                  <a:srgbClr val="404040"/>
                </a:solidFill>
                <a:latin typeface="Calibri"/>
                <a:cs typeface="Calibri"/>
              </a:rPr>
              <a:t>Interpreting</a:t>
            </a:r>
            <a:r>
              <a:rPr sz="1900" b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Findings</a:t>
            </a:r>
            <a:r>
              <a:rPr sz="19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900" b="1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Calibri"/>
                <a:cs typeface="Calibri"/>
              </a:rPr>
              <a:t>Drawing</a:t>
            </a:r>
            <a:r>
              <a:rPr sz="1900" b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Calibri"/>
                <a:cs typeface="Calibri"/>
              </a:rPr>
              <a:t>Conclusions: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  <a:buClr>
                <a:srgbClr val="E38312"/>
              </a:buClr>
              <a:buFont typeface="Arial"/>
              <a:buChar char="•"/>
            </a:pPr>
            <a:endParaRPr sz="1900">
              <a:latin typeface="Calibri"/>
              <a:cs typeface="Calibri"/>
            </a:endParaRPr>
          </a:p>
          <a:p>
            <a:pPr marL="650875" marR="577215" lvl="1" indent="-181610">
              <a:lnSpc>
                <a:spcPts val="2050"/>
              </a:lnSpc>
              <a:spcBef>
                <a:spcPts val="5"/>
              </a:spcBef>
              <a:buClr>
                <a:srgbClr val="E38312"/>
              </a:buClr>
              <a:buFont typeface="Arial"/>
              <a:buChar char="•"/>
              <a:tabLst>
                <a:tab pos="652145" algn="l"/>
              </a:tabLst>
            </a:pP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Contextualize</a:t>
            </a:r>
            <a:r>
              <a:rPr sz="19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Results:</a:t>
            </a:r>
            <a:r>
              <a:rPr sz="19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Relate</a:t>
            </a:r>
            <a:r>
              <a:rPr sz="19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findings</a:t>
            </a:r>
            <a:r>
              <a:rPr sz="19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back</a:t>
            </a:r>
            <a:r>
              <a:rPr sz="19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9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19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objectives</a:t>
            </a:r>
            <a:r>
              <a:rPr sz="19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alibri"/>
                <a:cs typeface="Calibri"/>
              </a:rPr>
              <a:t>and 	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research</a:t>
            </a:r>
            <a:r>
              <a:rPr sz="19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questions.</a:t>
            </a:r>
            <a:endParaRPr sz="1900">
              <a:latin typeface="Calibri"/>
              <a:cs typeface="Calibri"/>
            </a:endParaRPr>
          </a:p>
          <a:p>
            <a:pPr marL="650875" marR="5080" lvl="1" indent="-181610">
              <a:lnSpc>
                <a:spcPts val="2050"/>
              </a:lnSpc>
              <a:spcBef>
                <a:spcPts val="600"/>
              </a:spcBef>
              <a:buClr>
                <a:srgbClr val="E38312"/>
              </a:buClr>
              <a:buFont typeface="Arial"/>
              <a:buChar char="•"/>
              <a:tabLst>
                <a:tab pos="652145" algn="l"/>
              </a:tabLst>
            </a:pP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Identify</a:t>
            </a:r>
            <a:r>
              <a:rPr sz="19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Patterns</a:t>
            </a:r>
            <a:r>
              <a:rPr sz="1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9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alibri"/>
                <a:cs typeface="Calibri"/>
              </a:rPr>
              <a:t>Trends:</a:t>
            </a:r>
            <a:r>
              <a:rPr sz="19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Highlight</a:t>
            </a:r>
            <a:r>
              <a:rPr sz="19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significant</a:t>
            </a:r>
            <a:r>
              <a:rPr sz="19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trends</a:t>
            </a:r>
            <a:r>
              <a:rPr sz="19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19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patterns</a:t>
            </a:r>
            <a:r>
              <a:rPr sz="1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observed 	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9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900" spc="-20" dirty="0">
                <a:solidFill>
                  <a:srgbClr val="404040"/>
                </a:solidFill>
                <a:latin typeface="Calibri"/>
                <a:cs typeface="Calibri"/>
              </a:rPr>
              <a:t> data.</a:t>
            </a:r>
            <a:endParaRPr sz="1900">
              <a:latin typeface="Calibri"/>
              <a:cs typeface="Calibri"/>
            </a:endParaRPr>
          </a:p>
          <a:p>
            <a:pPr marL="650875" marR="45720" lvl="1" indent="-181610">
              <a:lnSpc>
                <a:spcPts val="2050"/>
              </a:lnSpc>
              <a:spcBef>
                <a:spcPts val="605"/>
              </a:spcBef>
              <a:buClr>
                <a:srgbClr val="E38312"/>
              </a:buClr>
              <a:buFont typeface="Arial"/>
              <a:buChar char="•"/>
              <a:tabLst>
                <a:tab pos="652145" algn="l"/>
              </a:tabLst>
            </a:pP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Draw</a:t>
            </a:r>
            <a:r>
              <a:rPr sz="19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Implications:</a:t>
            </a:r>
            <a:r>
              <a:rPr sz="19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Discuss</a:t>
            </a:r>
            <a:r>
              <a:rPr sz="19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9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implications</a:t>
            </a:r>
            <a:r>
              <a:rPr sz="19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9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findings</a:t>
            </a:r>
            <a:r>
              <a:rPr sz="19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19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decision-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making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alibri"/>
                <a:cs typeface="Calibri"/>
              </a:rPr>
              <a:t>or 	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further</a:t>
            </a:r>
            <a:r>
              <a:rPr sz="19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research.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75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701040" marR="5080" indent="-688975">
              <a:lnSpc>
                <a:spcPts val="3670"/>
              </a:lnSpc>
              <a:spcBef>
                <a:spcPts val="760"/>
              </a:spcBef>
            </a:pPr>
            <a:r>
              <a:rPr spc="-90" dirty="0"/>
              <a:t>Gathering</a:t>
            </a:r>
            <a:r>
              <a:rPr spc="-170" dirty="0"/>
              <a:t> </a:t>
            </a:r>
            <a:r>
              <a:rPr spc="-65" dirty="0"/>
              <a:t>the</a:t>
            </a:r>
            <a:r>
              <a:rPr spc="-150" dirty="0"/>
              <a:t> </a:t>
            </a:r>
            <a:r>
              <a:rPr spc="-85" dirty="0"/>
              <a:t>Facts</a:t>
            </a:r>
            <a:r>
              <a:rPr spc="-155" dirty="0"/>
              <a:t> </a:t>
            </a:r>
            <a:r>
              <a:rPr spc="-65" dirty="0"/>
              <a:t>and</a:t>
            </a:r>
            <a:r>
              <a:rPr spc="-160" dirty="0"/>
              <a:t> </a:t>
            </a:r>
            <a:r>
              <a:rPr spc="-45" dirty="0"/>
              <a:t>Data: </a:t>
            </a:r>
            <a:r>
              <a:rPr spc="-90" dirty="0">
                <a:solidFill>
                  <a:srgbClr val="8E4220"/>
                </a:solidFill>
              </a:rPr>
              <a:t>Analyzing</a:t>
            </a:r>
            <a:r>
              <a:rPr spc="-160" dirty="0">
                <a:solidFill>
                  <a:srgbClr val="8E4220"/>
                </a:solidFill>
              </a:rPr>
              <a:t> </a:t>
            </a:r>
            <a:r>
              <a:rPr spc="-90" dirty="0">
                <a:solidFill>
                  <a:srgbClr val="8E4220"/>
                </a:solidFill>
              </a:rPr>
              <a:t>Data</a:t>
            </a:r>
            <a:r>
              <a:rPr spc="-160" dirty="0">
                <a:solidFill>
                  <a:srgbClr val="8E4220"/>
                </a:solidFill>
              </a:rPr>
              <a:t> </a:t>
            </a:r>
            <a:r>
              <a:rPr spc="-10" dirty="0">
                <a:solidFill>
                  <a:srgbClr val="8E4220"/>
                </a:solidFill>
              </a:rPr>
              <a:t>(cont.)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pic>
        <p:nvPicPr>
          <p:cNvPr id="4" name="object 4" descr="The Data Analysis Process | Lifecycle Of a Data Analytics Project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7591" y="1961388"/>
            <a:ext cx="6548615" cy="392887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76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800100" marR="5080" indent="-788035">
              <a:lnSpc>
                <a:spcPts val="3670"/>
              </a:lnSpc>
              <a:spcBef>
                <a:spcPts val="760"/>
              </a:spcBef>
            </a:pPr>
            <a:r>
              <a:rPr spc="-90" dirty="0"/>
              <a:t>Gathering</a:t>
            </a:r>
            <a:r>
              <a:rPr spc="-170" dirty="0"/>
              <a:t> </a:t>
            </a:r>
            <a:r>
              <a:rPr spc="-65" dirty="0"/>
              <a:t>the</a:t>
            </a:r>
            <a:r>
              <a:rPr spc="-150" dirty="0"/>
              <a:t> </a:t>
            </a:r>
            <a:r>
              <a:rPr spc="-85" dirty="0"/>
              <a:t>Facts</a:t>
            </a:r>
            <a:r>
              <a:rPr spc="-155" dirty="0"/>
              <a:t> </a:t>
            </a:r>
            <a:r>
              <a:rPr spc="-65" dirty="0"/>
              <a:t>and</a:t>
            </a:r>
            <a:r>
              <a:rPr spc="-160" dirty="0"/>
              <a:t> </a:t>
            </a:r>
            <a:r>
              <a:rPr spc="-45" dirty="0"/>
              <a:t>Data: </a:t>
            </a:r>
            <a:r>
              <a:rPr spc="-85" dirty="0">
                <a:solidFill>
                  <a:srgbClr val="8E4220"/>
                </a:solidFill>
              </a:rPr>
              <a:t>Structure</a:t>
            </a:r>
            <a:r>
              <a:rPr spc="-150" dirty="0">
                <a:solidFill>
                  <a:srgbClr val="8E4220"/>
                </a:solidFill>
              </a:rPr>
              <a:t> </a:t>
            </a:r>
            <a:r>
              <a:rPr spc="-60" dirty="0">
                <a:solidFill>
                  <a:srgbClr val="8E4220"/>
                </a:solidFill>
              </a:rPr>
              <a:t>the</a:t>
            </a:r>
            <a:r>
              <a:rPr spc="-135" dirty="0">
                <a:solidFill>
                  <a:srgbClr val="8E4220"/>
                </a:solidFill>
              </a:rPr>
              <a:t> </a:t>
            </a:r>
            <a:r>
              <a:rPr spc="-10" dirty="0">
                <a:solidFill>
                  <a:srgbClr val="8E4220"/>
                </a:solidFill>
              </a:rPr>
              <a:t>Report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8893" y="1816888"/>
            <a:ext cx="8307070" cy="185483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93675" marR="5080" indent="-181610">
              <a:lnSpc>
                <a:spcPts val="2160"/>
              </a:lnSpc>
              <a:spcBef>
                <a:spcPts val="375"/>
              </a:spcBef>
              <a:buClr>
                <a:srgbClr val="E38312"/>
              </a:buClr>
              <a:buFont typeface="Arial"/>
              <a:buChar char="•"/>
              <a:tabLst>
                <a:tab pos="19558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How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arrange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your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report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pivotal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how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well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your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audience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digest 	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material.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logically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organized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report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improves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readability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amplifies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its 	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impact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delivering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core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message.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5"/>
              </a:spcBef>
              <a:buClr>
                <a:srgbClr val="E38312"/>
              </a:buClr>
              <a:buFont typeface="Arial"/>
              <a:buChar char="•"/>
            </a:pPr>
            <a:endParaRPr sz="2000">
              <a:latin typeface="Calibri"/>
              <a:cs typeface="Calibri"/>
            </a:endParaRPr>
          </a:p>
          <a:p>
            <a:pPr marL="193675" marR="367030" indent="-181610">
              <a:lnSpc>
                <a:spcPts val="2160"/>
              </a:lnSpc>
              <a:spcBef>
                <a:spcPts val="5"/>
              </a:spcBef>
              <a:buClr>
                <a:srgbClr val="E38312"/>
              </a:buClr>
              <a:buFont typeface="Arial"/>
              <a:buChar char="•"/>
              <a:tabLst>
                <a:tab pos="195580" algn="l"/>
              </a:tabLst>
            </a:pP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Your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report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should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natural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progression,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leading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reader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one 	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point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next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until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decisive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conclusion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reached.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77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800100" marR="5080" indent="-788035">
              <a:lnSpc>
                <a:spcPts val="3670"/>
              </a:lnSpc>
              <a:spcBef>
                <a:spcPts val="760"/>
              </a:spcBef>
            </a:pPr>
            <a:r>
              <a:rPr spc="-90" dirty="0"/>
              <a:t>Gathering</a:t>
            </a:r>
            <a:r>
              <a:rPr spc="-170" dirty="0"/>
              <a:t> </a:t>
            </a:r>
            <a:r>
              <a:rPr spc="-65" dirty="0"/>
              <a:t>the</a:t>
            </a:r>
            <a:r>
              <a:rPr spc="-150" dirty="0"/>
              <a:t> </a:t>
            </a:r>
            <a:r>
              <a:rPr spc="-85" dirty="0"/>
              <a:t>Facts</a:t>
            </a:r>
            <a:r>
              <a:rPr spc="-155" dirty="0"/>
              <a:t> </a:t>
            </a:r>
            <a:r>
              <a:rPr spc="-65" dirty="0"/>
              <a:t>and</a:t>
            </a:r>
            <a:r>
              <a:rPr spc="-160" dirty="0"/>
              <a:t> </a:t>
            </a:r>
            <a:r>
              <a:rPr spc="-45" dirty="0"/>
              <a:t>Data: </a:t>
            </a:r>
            <a:r>
              <a:rPr spc="-85" dirty="0">
                <a:solidFill>
                  <a:srgbClr val="8E4220"/>
                </a:solidFill>
              </a:rPr>
              <a:t>Structure</a:t>
            </a:r>
            <a:r>
              <a:rPr spc="-150" dirty="0">
                <a:solidFill>
                  <a:srgbClr val="8E4220"/>
                </a:solidFill>
              </a:rPr>
              <a:t> </a:t>
            </a:r>
            <a:r>
              <a:rPr spc="-60" dirty="0">
                <a:solidFill>
                  <a:srgbClr val="8E4220"/>
                </a:solidFill>
              </a:rPr>
              <a:t>the</a:t>
            </a:r>
            <a:r>
              <a:rPr spc="-135" dirty="0">
                <a:solidFill>
                  <a:srgbClr val="8E4220"/>
                </a:solidFill>
              </a:rPr>
              <a:t> </a:t>
            </a:r>
            <a:r>
              <a:rPr spc="-10" dirty="0">
                <a:solidFill>
                  <a:srgbClr val="8E4220"/>
                </a:solidFill>
              </a:rPr>
              <a:t>Report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2016252"/>
            <a:ext cx="7086599" cy="328574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78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55526" y="1026109"/>
            <a:ext cx="5041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Group</a:t>
            </a:r>
            <a:r>
              <a:rPr spc="-145" dirty="0"/>
              <a:t> </a:t>
            </a:r>
            <a:r>
              <a:rPr spc="-80" dirty="0"/>
              <a:t>Discussion</a:t>
            </a:r>
            <a:r>
              <a:rPr spc="-145" dirty="0"/>
              <a:t> </a:t>
            </a:r>
            <a:r>
              <a:rPr spc="-60" dirty="0"/>
              <a:t>Case</a:t>
            </a:r>
            <a:r>
              <a:rPr spc="-155" dirty="0"/>
              <a:t> </a:t>
            </a:r>
            <a:r>
              <a:rPr spc="-20" dirty="0"/>
              <a:t>Study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3344" y="1763684"/>
            <a:ext cx="8303895" cy="3442970"/>
          </a:xfrm>
          <a:prstGeom prst="rect">
            <a:avLst/>
          </a:prstGeom>
        </p:spPr>
        <p:txBody>
          <a:bodyPr vert="horz" wrap="square" lIns="0" tIns="193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2400" b="1" dirty="0">
                <a:solidFill>
                  <a:srgbClr val="8E4220"/>
                </a:solidFill>
                <a:latin typeface="Calibri"/>
                <a:cs typeface="Calibri"/>
              </a:rPr>
              <a:t>Scenario:</a:t>
            </a:r>
            <a:r>
              <a:rPr sz="2400" b="1" spc="-85" dirty="0">
                <a:solidFill>
                  <a:srgbClr val="8E422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8E4220"/>
                </a:solidFill>
                <a:latin typeface="Calibri"/>
                <a:cs typeface="Calibri"/>
              </a:rPr>
              <a:t>Final</a:t>
            </a:r>
            <a:r>
              <a:rPr sz="2400" b="1" spc="-60" dirty="0">
                <a:solidFill>
                  <a:srgbClr val="8E422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8E4220"/>
                </a:solidFill>
                <a:latin typeface="Calibri"/>
                <a:cs typeface="Calibri"/>
              </a:rPr>
              <a:t>Project</a:t>
            </a:r>
            <a:r>
              <a:rPr sz="2400" b="1" spc="-70" dirty="0">
                <a:solidFill>
                  <a:srgbClr val="8E422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8E4220"/>
                </a:solidFill>
                <a:latin typeface="Calibri"/>
                <a:cs typeface="Calibri"/>
              </a:rPr>
              <a:t>Report</a:t>
            </a:r>
            <a:r>
              <a:rPr sz="2400" b="1" spc="-65" dirty="0">
                <a:solidFill>
                  <a:srgbClr val="8E422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8E4220"/>
                </a:solidFill>
                <a:latin typeface="Calibri"/>
                <a:cs typeface="Calibri"/>
              </a:rPr>
              <a:t>Presentation</a:t>
            </a:r>
            <a:endParaRPr sz="2400">
              <a:latin typeface="Calibri"/>
              <a:cs typeface="Calibri"/>
            </a:endParaRPr>
          </a:p>
          <a:p>
            <a:pPr marL="12700" marR="159385">
              <a:lnSpc>
                <a:spcPts val="2160"/>
              </a:lnSpc>
              <a:spcBef>
                <a:spcPts val="1465"/>
              </a:spcBef>
            </a:pP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part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team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completed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six-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month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software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development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project.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preparing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final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report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presentation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delivered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senior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management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stakeholders.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Questions:</a:t>
            </a:r>
            <a:endParaRPr sz="2000">
              <a:latin typeface="Calibri"/>
              <a:cs typeface="Calibri"/>
            </a:endParaRPr>
          </a:p>
          <a:p>
            <a:pPr marL="165735" indent="-157480">
              <a:lnSpc>
                <a:spcPct val="100000"/>
              </a:lnSpc>
              <a:spcBef>
                <a:spcPts val="1240"/>
              </a:spcBef>
              <a:buClr>
                <a:srgbClr val="E38312"/>
              </a:buClr>
              <a:buSzPct val="93750"/>
              <a:buAutoNum type="arabicPeriod"/>
              <a:tabLst>
                <a:tab pos="165735" algn="l"/>
              </a:tabLst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What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key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elements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1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should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included</a:t>
            </a:r>
            <a:r>
              <a:rPr sz="1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your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final</a:t>
            </a:r>
            <a:r>
              <a:rPr sz="1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report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presentation?</a:t>
            </a:r>
            <a:endParaRPr sz="1600">
              <a:latin typeface="Calibri"/>
              <a:cs typeface="Calibri"/>
            </a:endParaRPr>
          </a:p>
          <a:p>
            <a:pPr marL="165735" indent="-157480">
              <a:lnSpc>
                <a:spcPct val="100000"/>
              </a:lnSpc>
              <a:spcBef>
                <a:spcPts val="1210"/>
              </a:spcBef>
              <a:buClr>
                <a:srgbClr val="E38312"/>
              </a:buClr>
              <a:buSzPct val="93750"/>
              <a:buAutoNum type="arabicPeriod"/>
              <a:tabLst>
                <a:tab pos="165735" algn="l"/>
              </a:tabLst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How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would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structure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your</a:t>
            </a:r>
            <a:r>
              <a:rPr sz="1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presentation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ensure</a:t>
            </a:r>
            <a:r>
              <a:rPr sz="1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clarity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coherence?</a:t>
            </a:r>
            <a:endParaRPr sz="1600">
              <a:latin typeface="Calibri"/>
              <a:cs typeface="Calibri"/>
            </a:endParaRPr>
          </a:p>
          <a:p>
            <a:pPr marL="104139" marR="5080" indent="-96520">
              <a:lnSpc>
                <a:spcPts val="1730"/>
              </a:lnSpc>
              <a:spcBef>
                <a:spcPts val="1420"/>
              </a:spcBef>
              <a:buClr>
                <a:srgbClr val="E38312"/>
              </a:buClr>
              <a:buSzPct val="93750"/>
              <a:buAutoNum type="arabicPeriod"/>
              <a:tabLst>
                <a:tab pos="104139" algn="l"/>
                <a:tab pos="165100" algn="l"/>
              </a:tabLst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	What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strategies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would</a:t>
            </a:r>
            <a:r>
              <a:rPr sz="1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r>
              <a:rPr sz="1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effectively</a:t>
            </a:r>
            <a:r>
              <a:rPr sz="1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communicate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project's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 outcomes,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challenges,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recommendations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your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audience?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79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904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Case</a:t>
            </a:r>
            <a:r>
              <a:rPr spc="-165" dirty="0"/>
              <a:t> </a:t>
            </a:r>
            <a:r>
              <a:rPr spc="-75" dirty="0"/>
              <a:t>Study:</a:t>
            </a:r>
            <a:r>
              <a:rPr spc="-155" dirty="0"/>
              <a:t> </a:t>
            </a:r>
            <a:r>
              <a:rPr spc="-80" dirty="0"/>
              <a:t>Discussion</a:t>
            </a:r>
            <a:r>
              <a:rPr spc="-170" dirty="0"/>
              <a:t> </a:t>
            </a:r>
            <a:r>
              <a:rPr spc="-45" dirty="0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0631" y="1739662"/>
            <a:ext cx="8041640" cy="3330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indent="-1143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95833"/>
              <a:buFont typeface="Arial"/>
              <a:buChar char="•"/>
              <a:tabLst>
                <a:tab pos="118745" algn="l"/>
              </a:tabLst>
            </a:pPr>
            <a:r>
              <a:rPr sz="2400" b="1" dirty="0">
                <a:solidFill>
                  <a:srgbClr val="404040"/>
                </a:solidFill>
                <a:latin typeface="Calibri"/>
                <a:cs typeface="Calibri"/>
              </a:rPr>
              <a:t>Key</a:t>
            </a:r>
            <a:r>
              <a:rPr sz="24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04040"/>
                </a:solidFill>
                <a:latin typeface="Calibri"/>
                <a:cs typeface="Calibri"/>
              </a:rPr>
              <a:t>Elements</a:t>
            </a:r>
            <a:r>
              <a:rPr sz="24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400" b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04040"/>
                </a:solidFill>
                <a:latin typeface="Calibri"/>
                <a:cs typeface="Calibri"/>
              </a:rPr>
              <a:t>Final</a:t>
            </a:r>
            <a:r>
              <a:rPr sz="24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400" b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04040"/>
                </a:solidFill>
                <a:latin typeface="Calibri"/>
                <a:cs typeface="Calibri"/>
              </a:rPr>
              <a:t>Report</a:t>
            </a:r>
            <a:r>
              <a:rPr sz="2400" b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Calibri"/>
                <a:cs typeface="Calibri"/>
              </a:rPr>
              <a:t>Presentation: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E38312"/>
              </a:buClr>
              <a:buFont typeface="Arial"/>
              <a:buChar char="•"/>
            </a:pPr>
            <a:endParaRPr sz="2400">
              <a:latin typeface="Calibri"/>
              <a:cs typeface="Calibri"/>
            </a:endParaRPr>
          </a:p>
          <a:p>
            <a:pPr marL="393700" lvl="1" indent="-181610">
              <a:lnSpc>
                <a:spcPct val="100000"/>
              </a:lnSpc>
              <a:buClr>
                <a:srgbClr val="E38312"/>
              </a:buClr>
              <a:buFont typeface="Arial"/>
              <a:buChar char="•"/>
              <a:tabLst>
                <a:tab pos="393700" algn="l"/>
              </a:tabLst>
            </a:pP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Introduction:</a:t>
            </a:r>
            <a:r>
              <a:rPr sz="2000" b="1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Overview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objectives,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team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introduction.</a:t>
            </a:r>
            <a:endParaRPr sz="2000">
              <a:latin typeface="Calibri"/>
              <a:cs typeface="Calibri"/>
            </a:endParaRPr>
          </a:p>
          <a:p>
            <a:pPr marL="393700" lvl="1" indent="-181610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Arial"/>
              <a:buChar char="•"/>
              <a:tabLst>
                <a:tab pos="393700" algn="l"/>
              </a:tabLst>
            </a:pP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000" b="1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Overview:</a:t>
            </a:r>
            <a:r>
              <a:rPr sz="20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Timeline,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phases,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milestones.</a:t>
            </a:r>
            <a:endParaRPr sz="2000">
              <a:latin typeface="Calibri"/>
              <a:cs typeface="Calibri"/>
            </a:endParaRPr>
          </a:p>
          <a:p>
            <a:pPr marL="393700" lvl="1" indent="-181610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Arial"/>
              <a:buChar char="•"/>
              <a:tabLst>
                <a:tab pos="393700" algn="l"/>
              </a:tabLst>
            </a:pP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Achievements:</a:t>
            </a:r>
            <a:r>
              <a:rPr sz="20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Deliverables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their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alignment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client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requirements.</a:t>
            </a:r>
            <a:endParaRPr sz="2000">
              <a:latin typeface="Calibri"/>
              <a:cs typeface="Calibri"/>
            </a:endParaRPr>
          </a:p>
          <a:p>
            <a:pPr marL="393700" lvl="1" indent="-181610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Arial"/>
              <a:buChar char="•"/>
              <a:tabLst>
                <a:tab pos="393700" algn="l"/>
              </a:tabLst>
            </a:pP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Challenges:</a:t>
            </a:r>
            <a:r>
              <a:rPr sz="20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Major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obstacles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faced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strategies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used.</a:t>
            </a:r>
            <a:endParaRPr sz="2000">
              <a:latin typeface="Calibri"/>
              <a:cs typeface="Calibri"/>
            </a:endParaRPr>
          </a:p>
          <a:p>
            <a:pPr marL="393700" lvl="1" indent="-181610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Arial"/>
              <a:buChar char="•"/>
              <a:tabLst>
                <a:tab pos="393700" algn="l"/>
              </a:tabLst>
            </a:pP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Results:</a:t>
            </a:r>
            <a:r>
              <a:rPr sz="2000" b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Quantitative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qualitative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outcomes.</a:t>
            </a:r>
            <a:endParaRPr sz="2000">
              <a:latin typeface="Calibri"/>
              <a:cs typeface="Calibri"/>
            </a:endParaRPr>
          </a:p>
          <a:p>
            <a:pPr marL="393700" lvl="1" indent="-181610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Arial"/>
              <a:buChar char="•"/>
              <a:tabLst>
                <a:tab pos="393700" algn="l"/>
              </a:tabLst>
            </a:pP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Recommendations:</a:t>
            </a:r>
            <a:r>
              <a:rPr sz="2000" b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Future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improvements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sustainability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strategies.</a:t>
            </a:r>
            <a:endParaRPr sz="2000">
              <a:latin typeface="Calibri"/>
              <a:cs typeface="Calibri"/>
            </a:endParaRPr>
          </a:p>
          <a:p>
            <a:pPr marL="393700" lvl="1" indent="-181610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Arial"/>
              <a:buChar char="•"/>
              <a:tabLst>
                <a:tab pos="393700" algn="l"/>
              </a:tabLst>
            </a:pP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Conclusion:</a:t>
            </a:r>
            <a:r>
              <a:rPr sz="2000" b="1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Recap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key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points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impact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80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904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Case</a:t>
            </a:r>
            <a:r>
              <a:rPr spc="-165" dirty="0"/>
              <a:t> </a:t>
            </a:r>
            <a:r>
              <a:rPr spc="-75" dirty="0"/>
              <a:t>Study:</a:t>
            </a:r>
            <a:r>
              <a:rPr spc="-155" dirty="0"/>
              <a:t> </a:t>
            </a:r>
            <a:r>
              <a:rPr spc="-80" dirty="0"/>
              <a:t>Discussion</a:t>
            </a:r>
            <a:r>
              <a:rPr spc="-170" dirty="0"/>
              <a:t> </a:t>
            </a:r>
            <a:r>
              <a:rPr spc="-45" dirty="0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0631" y="1807743"/>
            <a:ext cx="7265670" cy="2553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indent="-1143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95833"/>
              <a:buFont typeface="Arial"/>
              <a:buChar char="•"/>
              <a:tabLst>
                <a:tab pos="118745" algn="l"/>
              </a:tabLst>
            </a:pPr>
            <a:r>
              <a:rPr sz="2400" b="1" spc="-10" dirty="0">
                <a:solidFill>
                  <a:srgbClr val="404040"/>
                </a:solidFill>
                <a:latin typeface="Calibri"/>
                <a:cs typeface="Calibri"/>
              </a:rPr>
              <a:t>Presentation</a:t>
            </a:r>
            <a:r>
              <a:rPr sz="2400" b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Calibri"/>
                <a:cs typeface="Calibri"/>
              </a:rPr>
              <a:t>Structure</a:t>
            </a:r>
            <a:r>
              <a:rPr sz="24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4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Calibri"/>
                <a:cs typeface="Calibri"/>
              </a:rPr>
              <a:t>Clarity: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20"/>
              </a:spcBef>
              <a:buClr>
                <a:srgbClr val="E38312"/>
              </a:buClr>
              <a:buFont typeface="Arial"/>
              <a:buChar char="•"/>
            </a:pPr>
            <a:endParaRPr sz="2400">
              <a:latin typeface="Calibri"/>
              <a:cs typeface="Calibri"/>
            </a:endParaRPr>
          </a:p>
          <a:p>
            <a:pPr marL="393065" marR="5080" lvl="1" indent="-181610">
              <a:lnSpc>
                <a:spcPts val="2160"/>
              </a:lnSpc>
              <a:buClr>
                <a:srgbClr val="E38312"/>
              </a:buClr>
              <a:buFont typeface="Arial"/>
              <a:buChar char="•"/>
              <a:tabLst>
                <a:tab pos="394970" algn="l"/>
              </a:tabLst>
            </a:pP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Clear</a:t>
            </a:r>
            <a:r>
              <a:rPr sz="2000" b="1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Sections:</a:t>
            </a:r>
            <a:r>
              <a:rPr sz="20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structured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approach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(introduction,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overview, 	achievements,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challenges,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results,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recommendations,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conclusion).</a:t>
            </a:r>
            <a:endParaRPr sz="2000">
              <a:latin typeface="Calibri"/>
              <a:cs typeface="Calibri"/>
            </a:endParaRPr>
          </a:p>
          <a:p>
            <a:pPr marL="393700" lvl="1" indent="-181610">
              <a:lnSpc>
                <a:spcPct val="100000"/>
              </a:lnSpc>
              <a:spcBef>
                <a:spcPts val="330"/>
              </a:spcBef>
              <a:buClr>
                <a:srgbClr val="E38312"/>
              </a:buClr>
              <a:buFont typeface="Arial"/>
              <a:buChar char="•"/>
              <a:tabLst>
                <a:tab pos="393700" algn="l"/>
              </a:tabLst>
            </a:pP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Visual</a:t>
            </a:r>
            <a:r>
              <a:rPr sz="2000" b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Aids:</a:t>
            </a:r>
            <a:r>
              <a:rPr sz="2000" b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Charts,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graphs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illustrate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effectively.</a:t>
            </a:r>
            <a:endParaRPr sz="2000">
              <a:latin typeface="Calibri"/>
              <a:cs typeface="Calibri"/>
            </a:endParaRPr>
          </a:p>
          <a:p>
            <a:pPr marL="393700" lvl="1" indent="-181610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Arial"/>
              <a:buChar char="•"/>
              <a:tabLst>
                <a:tab pos="393700" algn="l"/>
              </a:tabLst>
            </a:pP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Engagement:</a:t>
            </a:r>
            <a:r>
              <a:rPr sz="20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Interactive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elements,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storytelling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techniques.</a:t>
            </a:r>
            <a:endParaRPr sz="2000">
              <a:latin typeface="Calibri"/>
              <a:cs typeface="Calibri"/>
            </a:endParaRPr>
          </a:p>
          <a:p>
            <a:pPr marL="393700" lvl="1" indent="-181610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Arial"/>
              <a:buChar char="•"/>
              <a:tabLst>
                <a:tab pos="393700" algn="l"/>
              </a:tabLst>
            </a:pP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2000" b="1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Management:</a:t>
            </a:r>
            <a:r>
              <a:rPr sz="20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Allocate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wisely,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practice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timing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81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904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Case</a:t>
            </a:r>
            <a:r>
              <a:rPr spc="-165" dirty="0"/>
              <a:t> </a:t>
            </a:r>
            <a:r>
              <a:rPr spc="-75" dirty="0"/>
              <a:t>Study:</a:t>
            </a:r>
            <a:r>
              <a:rPr spc="-155" dirty="0"/>
              <a:t> </a:t>
            </a:r>
            <a:r>
              <a:rPr spc="-80" dirty="0"/>
              <a:t>Discussion</a:t>
            </a:r>
            <a:r>
              <a:rPr spc="-170" dirty="0"/>
              <a:t> </a:t>
            </a:r>
            <a:r>
              <a:rPr spc="-45" dirty="0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0631" y="1807743"/>
            <a:ext cx="8390890" cy="2279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indent="-1143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95833"/>
              <a:buFont typeface="Arial"/>
              <a:buChar char="•"/>
              <a:tabLst>
                <a:tab pos="118745" algn="l"/>
              </a:tabLst>
            </a:pPr>
            <a:r>
              <a:rPr sz="2400" b="1" dirty="0">
                <a:solidFill>
                  <a:srgbClr val="404040"/>
                </a:solidFill>
                <a:latin typeface="Calibri"/>
                <a:cs typeface="Calibri"/>
              </a:rPr>
              <a:t>Communication</a:t>
            </a:r>
            <a:r>
              <a:rPr sz="2400" b="1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Calibri"/>
                <a:cs typeface="Calibri"/>
              </a:rPr>
              <a:t>Strategies: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E38312"/>
              </a:buClr>
              <a:buFont typeface="Arial"/>
              <a:buChar char="•"/>
            </a:pPr>
            <a:endParaRPr sz="2400">
              <a:latin typeface="Calibri"/>
              <a:cs typeface="Calibri"/>
            </a:endParaRPr>
          </a:p>
          <a:p>
            <a:pPr marL="393700" lvl="1" indent="-181610">
              <a:lnSpc>
                <a:spcPct val="100000"/>
              </a:lnSpc>
              <a:buClr>
                <a:srgbClr val="E38312"/>
              </a:buClr>
              <a:buFont typeface="Arial"/>
              <a:buChar char="•"/>
              <a:tabLst>
                <a:tab pos="393700" algn="l"/>
              </a:tabLst>
            </a:pPr>
            <a:r>
              <a:rPr sz="2000" b="1" spc="-25" dirty="0">
                <a:solidFill>
                  <a:srgbClr val="404040"/>
                </a:solidFill>
                <a:latin typeface="Calibri"/>
                <a:cs typeface="Calibri"/>
              </a:rPr>
              <a:t>Tailored</a:t>
            </a:r>
            <a:r>
              <a:rPr sz="20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Messaging:</a:t>
            </a:r>
            <a:r>
              <a:rPr sz="2000" b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Adapt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content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audience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knowledge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interests.</a:t>
            </a:r>
            <a:endParaRPr sz="2000">
              <a:latin typeface="Calibri"/>
              <a:cs typeface="Calibri"/>
            </a:endParaRPr>
          </a:p>
          <a:p>
            <a:pPr marL="393700" lvl="1" indent="-181610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Arial"/>
              <a:buChar char="•"/>
              <a:tabLst>
                <a:tab pos="393700" algn="l"/>
              </a:tabLst>
            </a:pPr>
            <a:r>
              <a:rPr sz="2000" b="1" spc="-20" dirty="0">
                <a:solidFill>
                  <a:srgbClr val="404040"/>
                </a:solidFill>
                <a:latin typeface="Calibri"/>
                <a:cs typeface="Calibri"/>
              </a:rPr>
              <a:t>Evidence-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20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Approach:</a:t>
            </a:r>
            <a:r>
              <a:rPr sz="20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Support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data,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metrics,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examples.</a:t>
            </a:r>
            <a:endParaRPr sz="2000">
              <a:latin typeface="Calibri"/>
              <a:cs typeface="Calibri"/>
            </a:endParaRPr>
          </a:p>
          <a:p>
            <a:pPr marL="393700" lvl="1" indent="-181610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Arial"/>
              <a:buChar char="•"/>
              <a:tabLst>
                <a:tab pos="393700" algn="l"/>
              </a:tabLst>
            </a:pP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Clarity</a:t>
            </a:r>
            <a:r>
              <a:rPr sz="2000" b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Simplicity:</a:t>
            </a:r>
            <a:r>
              <a:rPr sz="2000" b="1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simple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language,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summarize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complex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information.</a:t>
            </a:r>
            <a:endParaRPr sz="2000">
              <a:latin typeface="Calibri"/>
              <a:cs typeface="Calibri"/>
            </a:endParaRPr>
          </a:p>
          <a:p>
            <a:pPr marL="393700" lvl="1" indent="-181610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Arial"/>
              <a:buChar char="•"/>
              <a:tabLst>
                <a:tab pos="393700" algn="l"/>
              </a:tabLst>
            </a:pP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Open</a:t>
            </a:r>
            <a:r>
              <a:rPr sz="20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Dialogue:</a:t>
            </a:r>
            <a:r>
              <a:rPr sz="2000" b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Encourage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questions,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provide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clarifications.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82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24306" y="1026109"/>
            <a:ext cx="17056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Summary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04139" marR="520700" indent="-91440">
              <a:lnSpc>
                <a:spcPts val="1939"/>
              </a:lnSpc>
              <a:spcBef>
                <a:spcPts val="345"/>
              </a:spcBef>
              <a:buClr>
                <a:srgbClr val="E38312"/>
              </a:buClr>
              <a:buSzPct val="94444"/>
              <a:buFont typeface="Arial"/>
              <a:buChar char="•"/>
              <a:tabLst>
                <a:tab pos="104139" algn="l"/>
              </a:tabLst>
            </a:pPr>
            <a:r>
              <a:rPr spc="-10" dirty="0"/>
              <a:t>Introduction</a:t>
            </a:r>
            <a:r>
              <a:rPr spc="-4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Project</a:t>
            </a:r>
            <a:r>
              <a:rPr spc="-55" dirty="0"/>
              <a:t> </a:t>
            </a:r>
            <a:r>
              <a:rPr dirty="0"/>
              <a:t>Reports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Scope:</a:t>
            </a:r>
            <a:r>
              <a:rPr spc="-40" dirty="0"/>
              <a:t> </a:t>
            </a:r>
            <a:r>
              <a:rPr dirty="0"/>
              <a:t>Learn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fundamental</a:t>
            </a:r>
            <a:r>
              <a:rPr spc="-55" dirty="0"/>
              <a:t> </a:t>
            </a:r>
            <a:r>
              <a:rPr dirty="0"/>
              <a:t>importance</a:t>
            </a:r>
            <a:r>
              <a:rPr spc="-25" dirty="0"/>
              <a:t> of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reports</a:t>
            </a:r>
            <a:r>
              <a:rPr spc="-2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spc="-10" dirty="0"/>
              <a:t>documenting</a:t>
            </a:r>
            <a:r>
              <a:rPr spc="-20" dirty="0"/>
              <a:t> </a:t>
            </a:r>
            <a:r>
              <a:rPr spc="-10" dirty="0"/>
              <a:t>progress</a:t>
            </a:r>
            <a:r>
              <a:rPr spc="-4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outcomes.</a:t>
            </a:r>
          </a:p>
          <a:p>
            <a:pPr marL="104139" marR="415290" indent="-91440">
              <a:lnSpc>
                <a:spcPts val="1939"/>
              </a:lnSpc>
              <a:spcBef>
                <a:spcPts val="1415"/>
              </a:spcBef>
              <a:buClr>
                <a:srgbClr val="E38312"/>
              </a:buClr>
              <a:buSzPct val="94444"/>
              <a:buFont typeface="Arial"/>
              <a:buChar char="•"/>
              <a:tabLst>
                <a:tab pos="104139" algn="l"/>
              </a:tabLst>
            </a:pPr>
            <a:r>
              <a:rPr dirty="0"/>
              <a:t>Define</a:t>
            </a:r>
            <a:r>
              <a:rPr spc="-40" dirty="0"/>
              <a:t> </a:t>
            </a:r>
            <a:r>
              <a:rPr dirty="0"/>
              <a:t>Report</a:t>
            </a:r>
            <a:r>
              <a:rPr spc="-30" dirty="0"/>
              <a:t> </a:t>
            </a:r>
            <a:r>
              <a:rPr dirty="0"/>
              <a:t>Objectives:</a:t>
            </a:r>
            <a:r>
              <a:rPr spc="-50" dirty="0"/>
              <a:t> </a:t>
            </a:r>
            <a:r>
              <a:rPr dirty="0"/>
              <a:t>Clarify</a:t>
            </a:r>
            <a:r>
              <a:rPr spc="-4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specific</a:t>
            </a:r>
            <a:r>
              <a:rPr spc="-45" dirty="0"/>
              <a:t> </a:t>
            </a:r>
            <a:r>
              <a:rPr dirty="0"/>
              <a:t>goals</a:t>
            </a:r>
            <a:r>
              <a:rPr spc="-4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purposes</a:t>
            </a:r>
            <a:r>
              <a:rPr spc="-45" dirty="0"/>
              <a:t> </a:t>
            </a:r>
            <a:r>
              <a:rPr dirty="0"/>
              <a:t>that</a:t>
            </a:r>
            <a:r>
              <a:rPr spc="-55" dirty="0"/>
              <a:t> </a:t>
            </a:r>
            <a:r>
              <a:rPr dirty="0"/>
              <a:t>each</a:t>
            </a:r>
            <a:r>
              <a:rPr spc="-35" dirty="0"/>
              <a:t> </a:t>
            </a:r>
            <a:r>
              <a:rPr spc="-10" dirty="0"/>
              <a:t>project </a:t>
            </a:r>
            <a:r>
              <a:rPr dirty="0"/>
              <a:t>report</a:t>
            </a:r>
            <a:r>
              <a:rPr spc="-25" dirty="0"/>
              <a:t> </a:t>
            </a:r>
            <a:r>
              <a:rPr dirty="0"/>
              <a:t>aims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10" dirty="0"/>
              <a:t>achieve.</a:t>
            </a:r>
          </a:p>
          <a:p>
            <a:pPr marL="104139" marR="1159510" indent="-91440">
              <a:lnSpc>
                <a:spcPts val="1939"/>
              </a:lnSpc>
              <a:spcBef>
                <a:spcPts val="1400"/>
              </a:spcBef>
              <a:buClr>
                <a:srgbClr val="E38312"/>
              </a:buClr>
              <a:buSzPct val="94444"/>
              <a:buFont typeface="Arial"/>
              <a:buChar char="•"/>
              <a:tabLst>
                <a:tab pos="104139" algn="l"/>
              </a:tabLst>
            </a:pPr>
            <a:r>
              <a:rPr spc="-10" dirty="0"/>
              <a:t>Understand</a:t>
            </a:r>
            <a:r>
              <a:rPr spc="-55" dirty="0"/>
              <a:t> </a:t>
            </a:r>
            <a:r>
              <a:rPr spc="-20" dirty="0"/>
              <a:t>Your</a:t>
            </a:r>
            <a:r>
              <a:rPr spc="-60" dirty="0"/>
              <a:t> </a:t>
            </a:r>
            <a:r>
              <a:rPr dirty="0"/>
              <a:t>Audience:</a:t>
            </a:r>
            <a:r>
              <a:rPr spc="-50" dirty="0"/>
              <a:t> </a:t>
            </a:r>
            <a:r>
              <a:rPr spc="-20" dirty="0"/>
              <a:t>Tailor</a:t>
            </a:r>
            <a:r>
              <a:rPr spc="-45" dirty="0"/>
              <a:t> </a:t>
            </a:r>
            <a:r>
              <a:rPr dirty="0"/>
              <a:t>reports</a:t>
            </a:r>
            <a:r>
              <a:rPr spc="-55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spc="-10" dirty="0"/>
              <a:t>effectively</a:t>
            </a:r>
            <a:r>
              <a:rPr spc="-60" dirty="0"/>
              <a:t> </a:t>
            </a:r>
            <a:r>
              <a:rPr spc="-10" dirty="0"/>
              <a:t>communicate</a:t>
            </a:r>
            <a:r>
              <a:rPr spc="-50" dirty="0"/>
              <a:t> </a:t>
            </a:r>
            <a:r>
              <a:rPr spc="-20" dirty="0"/>
              <a:t>with </a:t>
            </a:r>
            <a:r>
              <a:rPr spc="-10" dirty="0"/>
              <a:t>stakeholders</a:t>
            </a:r>
            <a:r>
              <a:rPr spc="-35" dirty="0"/>
              <a:t> </a:t>
            </a:r>
            <a:r>
              <a:rPr dirty="0"/>
              <a:t>by</a:t>
            </a:r>
            <a:r>
              <a:rPr spc="-50" dirty="0"/>
              <a:t> </a:t>
            </a:r>
            <a:r>
              <a:rPr dirty="0"/>
              <a:t>analyzing</a:t>
            </a:r>
            <a:r>
              <a:rPr spc="-35" dirty="0"/>
              <a:t> </a:t>
            </a:r>
            <a:r>
              <a:rPr dirty="0"/>
              <a:t>their</a:t>
            </a:r>
            <a:r>
              <a:rPr spc="-45" dirty="0"/>
              <a:t> </a:t>
            </a:r>
            <a:r>
              <a:rPr dirty="0"/>
              <a:t>needs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preferences.</a:t>
            </a:r>
          </a:p>
          <a:p>
            <a:pPr marL="104139" marR="5080" indent="-91440">
              <a:lnSpc>
                <a:spcPts val="1939"/>
              </a:lnSpc>
              <a:spcBef>
                <a:spcPts val="1410"/>
              </a:spcBef>
              <a:buClr>
                <a:srgbClr val="E38312"/>
              </a:buClr>
              <a:buSzPct val="94444"/>
              <a:buFont typeface="Arial"/>
              <a:buChar char="•"/>
              <a:tabLst>
                <a:tab pos="104139" algn="l"/>
              </a:tabLst>
            </a:pPr>
            <a:r>
              <a:rPr dirty="0"/>
              <a:t>Report</a:t>
            </a:r>
            <a:r>
              <a:rPr spc="-40" dirty="0"/>
              <a:t> </a:t>
            </a:r>
            <a:r>
              <a:rPr dirty="0"/>
              <a:t>Format</a:t>
            </a:r>
            <a:r>
              <a:rPr spc="-4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Type:</a:t>
            </a:r>
            <a:r>
              <a:rPr spc="-35" dirty="0"/>
              <a:t> </a:t>
            </a:r>
            <a:r>
              <a:rPr dirty="0"/>
              <a:t>Choose</a:t>
            </a:r>
            <a:r>
              <a:rPr spc="-35" dirty="0"/>
              <a:t> </a:t>
            </a:r>
            <a:r>
              <a:rPr spc="-10" dirty="0"/>
              <a:t>appropriate</a:t>
            </a:r>
            <a:r>
              <a:rPr spc="-25" dirty="0"/>
              <a:t> </a:t>
            </a:r>
            <a:r>
              <a:rPr spc="-10" dirty="0"/>
              <a:t>formats—</a:t>
            </a:r>
            <a:r>
              <a:rPr dirty="0"/>
              <a:t>textual</a:t>
            </a:r>
            <a:r>
              <a:rPr spc="-60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spc="-20" dirty="0"/>
              <a:t>graphical—</a:t>
            </a:r>
            <a:r>
              <a:rPr dirty="0"/>
              <a:t>based</a:t>
            </a:r>
            <a:r>
              <a:rPr spc="-40" dirty="0"/>
              <a:t> </a:t>
            </a:r>
            <a:r>
              <a:rPr spc="-25" dirty="0"/>
              <a:t>on </a:t>
            </a:r>
            <a:r>
              <a:rPr spc="-10" dirty="0"/>
              <a:t>content</a:t>
            </a:r>
            <a:r>
              <a:rPr spc="-5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enhance</a:t>
            </a:r>
            <a:r>
              <a:rPr spc="-40" dirty="0"/>
              <a:t> </a:t>
            </a:r>
            <a:r>
              <a:rPr dirty="0"/>
              <a:t>readability</a:t>
            </a:r>
            <a:r>
              <a:rPr spc="-3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understanding.</a:t>
            </a:r>
          </a:p>
          <a:p>
            <a:pPr marL="104139" marR="198755" indent="-91440">
              <a:lnSpc>
                <a:spcPts val="1939"/>
              </a:lnSpc>
              <a:spcBef>
                <a:spcPts val="1410"/>
              </a:spcBef>
              <a:buClr>
                <a:srgbClr val="E38312"/>
              </a:buClr>
              <a:buSzPct val="94444"/>
              <a:buFont typeface="Arial"/>
              <a:buChar char="•"/>
              <a:tabLst>
                <a:tab pos="104139" algn="l"/>
              </a:tabLst>
            </a:pPr>
            <a:r>
              <a:rPr dirty="0"/>
              <a:t>Gather</a:t>
            </a:r>
            <a:r>
              <a:rPr spc="-5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Facts</a:t>
            </a:r>
            <a:r>
              <a:rPr spc="-4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Data:</a:t>
            </a:r>
            <a:r>
              <a:rPr spc="-40" dirty="0"/>
              <a:t> </a:t>
            </a:r>
            <a:r>
              <a:rPr dirty="0"/>
              <a:t>Employ</a:t>
            </a:r>
            <a:r>
              <a:rPr spc="-35" dirty="0"/>
              <a:t> </a:t>
            </a:r>
            <a:r>
              <a:rPr dirty="0"/>
              <a:t>various</a:t>
            </a:r>
            <a:r>
              <a:rPr spc="-45" dirty="0"/>
              <a:t> </a:t>
            </a:r>
            <a:r>
              <a:rPr dirty="0"/>
              <a:t>methods</a:t>
            </a:r>
            <a:r>
              <a:rPr spc="-40" dirty="0"/>
              <a:t> </a:t>
            </a:r>
            <a:r>
              <a:rPr dirty="0"/>
              <a:t>such</a:t>
            </a:r>
            <a:r>
              <a:rPr spc="-35" dirty="0"/>
              <a:t> </a:t>
            </a:r>
            <a:r>
              <a:rPr dirty="0"/>
              <a:t>as</a:t>
            </a:r>
            <a:r>
              <a:rPr spc="-55" dirty="0"/>
              <a:t> </a:t>
            </a:r>
            <a:r>
              <a:rPr dirty="0"/>
              <a:t>surveys,</a:t>
            </a:r>
            <a:r>
              <a:rPr spc="-65" dirty="0"/>
              <a:t> </a:t>
            </a:r>
            <a:r>
              <a:rPr spc="-10" dirty="0"/>
              <a:t>interviews,</a:t>
            </a:r>
            <a:r>
              <a:rPr spc="-40" dirty="0"/>
              <a:t> </a:t>
            </a:r>
            <a:r>
              <a:rPr spc="-25" dirty="0"/>
              <a:t>and </a:t>
            </a:r>
            <a:r>
              <a:rPr dirty="0"/>
              <a:t>data</a:t>
            </a:r>
            <a:r>
              <a:rPr spc="-60" dirty="0"/>
              <a:t> </a:t>
            </a: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ensure</a:t>
            </a:r>
            <a:r>
              <a:rPr spc="-50" dirty="0"/>
              <a:t> </a:t>
            </a:r>
            <a:r>
              <a:rPr dirty="0"/>
              <a:t>accuracy</a:t>
            </a:r>
            <a:r>
              <a:rPr spc="-4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reliability.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83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40327" y="1026109"/>
            <a:ext cx="8616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75" dirty="0">
                <a:solidFill>
                  <a:srgbClr val="00AFEF"/>
                </a:solidFill>
                <a:latin typeface="Calibri Light"/>
                <a:cs typeface="Calibri Light"/>
              </a:rPr>
              <a:t>Q&amp;A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504055" y="3067543"/>
            <a:ext cx="21342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solidFill>
                  <a:srgbClr val="404040"/>
                </a:solidFill>
                <a:latin typeface="Calibri"/>
                <a:cs typeface="Calibri"/>
              </a:rPr>
              <a:t>Question?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872" y="123975"/>
            <a:ext cx="3183623" cy="5054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84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ICT502</a:t>
            </a:r>
            <a:r>
              <a:rPr spc="165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7011D958-7B17-483C-B07B-1B379F607C55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642938" y="920262"/>
            <a:ext cx="8066087" cy="3788019"/>
          </a:xfrm>
        </p:spPr>
        <p:txBody>
          <a:bodyPr anchor="ctr">
            <a:normAutofit fontScale="92500" lnSpcReduction="10000"/>
          </a:bodyPr>
          <a:lstStyle/>
          <a:p>
            <a:pPr eaLnBrk="1" hangingPunct="1">
              <a:spcBef>
                <a:spcPts val="600"/>
              </a:spcBef>
              <a:spcAft>
                <a:spcPts val="2400"/>
              </a:spcAft>
            </a:pPr>
            <a:r>
              <a:rPr lang="en-AU" altLang="en-US" sz="5400" dirty="0">
                <a:solidFill>
                  <a:schemeClr val="accent2"/>
                </a:solidFill>
              </a:rPr>
              <a:t>Week 8 Workshop :</a:t>
            </a:r>
          </a:p>
          <a:p>
            <a:pPr eaLnBrk="1" hangingPunct="1">
              <a:spcBef>
                <a:spcPts val="600"/>
              </a:spcBef>
              <a:spcAft>
                <a:spcPts val="2400"/>
              </a:spcAft>
            </a:pPr>
            <a:r>
              <a:rPr lang="en-AU" sz="5400" dirty="0">
                <a:solidFill>
                  <a:schemeClr val="accent2"/>
                </a:solidFill>
              </a:rPr>
              <a:t>Writing and Presenting IT Project Reports</a:t>
            </a:r>
          </a:p>
          <a:p>
            <a:pPr algn="ctr" eaLnBrk="1" hangingPunct="1">
              <a:spcBef>
                <a:spcPts val="600"/>
              </a:spcBef>
              <a:spcAft>
                <a:spcPts val="2400"/>
              </a:spcAft>
            </a:pPr>
            <a:r>
              <a:rPr lang="en-AU" altLang="en-US" sz="7100" dirty="0">
                <a:solidFill>
                  <a:srgbClr val="0070C0"/>
                </a:solidFill>
              </a:rPr>
              <a:t>ICT502</a:t>
            </a: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7E97EA98-FA21-47E9-AAAB-D57D85BF5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B585785C-A56D-4F54-80A4-ABEA8B982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24A2BABC-6B4A-40B3-94BC-37C96408B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85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8A6C54-4984-4FE2-A1F7-5E325BF9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8175A72A-0461-4916-970D-5B68915483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86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B099342E-B11F-456B-BC89-8A3ACDD1C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F3B360EF-CFFC-D0F2-0D14-3B48A4D37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306040C-25C7-112A-A1A0-A3271E727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30603"/>
            <a:ext cx="5194300" cy="553998"/>
          </a:xfrm>
        </p:spPr>
        <p:txBody>
          <a:bodyPr/>
          <a:lstStyle/>
          <a:p>
            <a:r>
              <a:rPr lang="en-US" dirty="0">
                <a:hlinkClick r:id="rId4"/>
              </a:rPr>
              <a:t>IT Project Capstone Guide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5397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2196F-61F7-0E08-1174-E31BF560E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921F332-D687-D739-1D2A-B7AC71AC0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06" y="773328"/>
            <a:ext cx="802798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chemeClr val="accent2"/>
                </a:solidFill>
              </a:rPr>
              <a:t>Simple Project Status Report Template</a:t>
            </a:r>
            <a:endParaRPr lang="en-AU" altLang="en-US" sz="3600" b="1" dirty="0">
              <a:solidFill>
                <a:schemeClr val="accent2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1B76F15-193C-DD19-8F8A-42EDC68BC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DFD4B31F-26E4-36D2-F86A-B8EC92B58A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87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6B1E85C8-DAE2-287B-B223-28A0E4109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FF568B8B-2E83-1AE2-012E-5EDEC4815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6FE627-D0DE-0040-83AE-1365CA0F1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127" y="1781606"/>
            <a:ext cx="5161431" cy="450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0806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A2E8118-8989-4D83-B0B6-3780317E1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12775"/>
            <a:ext cx="802798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200" b="1" dirty="0">
                <a:solidFill>
                  <a:schemeClr val="accent2"/>
                </a:solidFill>
              </a:rPr>
              <a:t>Introduction to Ongoing Status Reports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3A1D5-959A-49F9-AB1B-63563D526D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8477" y="1841063"/>
            <a:ext cx="8698523" cy="4043800"/>
          </a:xfrm>
        </p:spPr>
        <p:txBody>
          <a:bodyPr/>
          <a:lstStyle/>
          <a:p>
            <a:r>
              <a:rPr lang="en-AU" sz="2400" b="1" dirty="0">
                <a:solidFill>
                  <a:schemeClr val="accent1">
                    <a:lumMod val="75000"/>
                  </a:schemeClr>
                </a:solidFill>
              </a:rPr>
              <a:t>Importance in Project Management: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Ongoing status reports play a crucial role in project management by providing regular updates on the project's progress, current status, and any issues or risks that may impact its success.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These reports help stakeholders, including project sponsors, team members, and clients, stay informed about project developments and ensure alignment with project goals and timelines.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8A6C54-4984-4FE2-A1F7-5E325BF9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8175A72A-0461-4916-970D-5B68915483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88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B099342E-B11F-456B-BC89-8A3ACDD1C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F3B360EF-CFFC-D0F2-0D14-3B48A4D37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169051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A2E8118-8989-4D83-B0B6-3780317E1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12775"/>
            <a:ext cx="802798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200" b="1" dirty="0">
                <a:solidFill>
                  <a:schemeClr val="accent2"/>
                </a:solidFill>
              </a:rPr>
              <a:t>Introduction to Ongoing Status Reports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3A1D5-959A-49F9-AB1B-63563D526D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8477" y="1841063"/>
            <a:ext cx="8698523" cy="4043800"/>
          </a:xfrm>
        </p:spPr>
        <p:txBody>
          <a:bodyPr/>
          <a:lstStyle/>
          <a:p>
            <a:r>
              <a:rPr lang="en-AU" sz="2400" b="1" dirty="0">
                <a:solidFill>
                  <a:schemeClr val="accent1">
                    <a:lumMod val="75000"/>
                  </a:schemeClr>
                </a:solidFill>
              </a:rPr>
              <a:t>Objectives:</a:t>
            </a:r>
            <a:endParaRPr lang="en-AU" sz="24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Monitoring Progress:</a:t>
            </a:r>
            <a:r>
              <a:rPr lang="en-AU" dirty="0"/>
              <a:t> Track milestones, tasks completed, and overall project timeline adherence.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Identifying Issues:</a:t>
            </a:r>
            <a:r>
              <a:rPr lang="en-AU" dirty="0"/>
              <a:t> Highlight challenges, risks, or bottlenecks that require attention and mitigation strategies.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Communicating Updates:</a:t>
            </a:r>
            <a:r>
              <a:rPr lang="en-AU" dirty="0"/>
              <a:t> Keep stakeholders informed about achievements, resource utilisation, and any adjustments to project plans.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8A6C54-4984-4FE2-A1F7-5E325BF9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8175A72A-0461-4916-970D-5B68915483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89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B099342E-B11F-456B-BC89-8A3ACDD1C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F3B360EF-CFFC-D0F2-0D14-3B48A4D37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93127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A2E8118-8989-4D83-B0B6-3780317E1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12775"/>
            <a:ext cx="802798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200" b="1" dirty="0">
                <a:solidFill>
                  <a:schemeClr val="accent2"/>
                </a:solidFill>
              </a:rPr>
              <a:t>Key Components of an Ongoing Status Report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3A1D5-959A-49F9-AB1B-63563D526D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8477" y="1841063"/>
            <a:ext cx="8698523" cy="4043800"/>
          </a:xfrm>
        </p:spPr>
        <p:txBody>
          <a:bodyPr/>
          <a:lstStyle/>
          <a:p>
            <a:r>
              <a:rPr lang="en-AU" sz="2400" b="1" dirty="0">
                <a:solidFill>
                  <a:schemeClr val="accent1">
                    <a:lumMod val="75000"/>
                  </a:schemeClr>
                </a:solidFill>
              </a:rPr>
              <a:t>Key Components: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800" b="1" dirty="0"/>
              <a:t>Project Overview: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600" dirty="0"/>
              <a:t>Provide a brief summary of the project's objectives, scope, and timeline to contextualise the ongoing progress updates.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600" dirty="0"/>
              <a:t>Include key metrics such as project start date, expected completion date, and major deliverables.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800" b="1" dirty="0"/>
              <a:t>Progress Update:</a:t>
            </a:r>
            <a:endParaRPr lang="en-AU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600" dirty="0"/>
              <a:t>Detail milestones achieved during the reporting period and compare against the project timeline.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600" dirty="0"/>
              <a:t>Summarise tasks completed, ongoing activities, and any deviations from the original plan.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800" b="1" dirty="0"/>
              <a:t>Resource Utilisation:</a:t>
            </a:r>
            <a:endParaRPr lang="en-AU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600" dirty="0"/>
              <a:t>Report on budget expenditure, resources allocated (e.g., personnel, equipment), and their efficiency metrics (e.g., burn rate, resource utilisation rates).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600" dirty="0"/>
              <a:t>Discuss any adjustments made to resource allocation based on project needs or unexpected challenges.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8A6C54-4984-4FE2-A1F7-5E325BF9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8175A72A-0461-4916-970D-5B68915483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90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B099342E-B11F-456B-BC89-8A3ACDD1C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F3B360EF-CFFC-D0F2-0D14-3B48A4D37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976275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A2E8118-8989-4D83-B0B6-3780317E1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73138"/>
            <a:ext cx="822483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3200" b="1" dirty="0">
                <a:solidFill>
                  <a:schemeClr val="accent2"/>
                </a:solidFill>
              </a:rPr>
              <a:t>Video: </a:t>
            </a:r>
            <a:r>
              <a:rPr lang="en-AU" sz="3200" b="1" dirty="0">
                <a:solidFill>
                  <a:schemeClr val="accent2"/>
                </a:solidFill>
              </a:rPr>
              <a:t>Project Status Reports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3A1D5-959A-49F9-AB1B-63563D526D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1836738"/>
            <a:ext cx="8299450" cy="2246769"/>
          </a:xfrm>
        </p:spPr>
        <p:txBody>
          <a:bodyPr/>
          <a:lstStyle/>
          <a:p>
            <a:r>
              <a:rPr lang="en-AU" sz="2800" dirty="0"/>
              <a:t>Watch this video. Project Status Reports: Everything you need to know and more!</a:t>
            </a:r>
          </a:p>
          <a:p>
            <a:endParaRPr lang="en-AU" sz="2200" dirty="0"/>
          </a:p>
          <a:p>
            <a:pPr>
              <a:buFont typeface="Arial" panose="020B0604020202020204" pitchFamily="34" charset="0"/>
              <a:buChar char="•"/>
            </a:pPr>
            <a:endParaRPr lang="en-AU" sz="1600" dirty="0">
              <a:solidFill>
                <a:srgbClr val="131313"/>
              </a:solidFill>
              <a:latin typeface="Roboto" panose="02000000000000000000" pitchFamily="2" charset="0"/>
            </a:endParaRPr>
          </a:p>
          <a:p>
            <a:r>
              <a:rPr lang="en-AU" sz="1800" b="0" i="0" u="none" strike="noStrike" baseline="0" dirty="0">
                <a:highlight>
                  <a:srgbClr val="93E3FF"/>
                </a:highlight>
                <a:latin typeface="Century Gothic" panose="020B0502020202020204" pitchFamily="34" charset="0"/>
              </a:rPr>
              <a:t>Watch this video to learn </a:t>
            </a:r>
            <a:r>
              <a:rPr lang="en-AU" sz="1800" dirty="0">
                <a:highlight>
                  <a:srgbClr val="93E3FF"/>
                </a:highlight>
                <a:latin typeface="Century Gothic" panose="020B0502020202020204" pitchFamily="34" charset="0"/>
              </a:rPr>
              <a:t>:</a:t>
            </a:r>
          </a:p>
          <a:p>
            <a:r>
              <a:rPr lang="en-AU" sz="1800" dirty="0">
                <a:solidFill>
                  <a:srgbClr val="131313"/>
                </a:solidFill>
                <a:latin typeface="Roboto" panose="02000000000000000000" pitchFamily="2" charset="0"/>
                <a:hlinkClick r:id="rId2"/>
              </a:rPr>
              <a:t>https://www.youtube.com/watch?v=U1oSjjNervA</a:t>
            </a:r>
            <a:endParaRPr lang="en-AU" sz="1800" dirty="0">
              <a:solidFill>
                <a:srgbClr val="131313"/>
              </a:solidFill>
              <a:latin typeface="Roboto" panose="02000000000000000000" pitchFamily="2" charset="0"/>
            </a:endParaRPr>
          </a:p>
          <a:p>
            <a:endParaRPr lang="en-AU" sz="1600" dirty="0">
              <a:solidFill>
                <a:srgbClr val="131313"/>
              </a:solidFill>
              <a:latin typeface="Roboto" panose="02000000000000000000" pitchFamily="2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8A6C54-4984-4FE2-A1F7-5E325BF9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8175A72A-0461-4916-970D-5B68915483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91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B099342E-B11F-456B-BC89-8A3ACDD1C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F3B360EF-CFFC-D0F2-0D14-3B48A4D37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674690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89F9D-11F9-D973-5DAA-E41F0E7D6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A1E029B-F0BA-1701-2684-761FD03D5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73138"/>
            <a:ext cx="822483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3200" b="1" dirty="0">
                <a:solidFill>
                  <a:schemeClr val="accent2"/>
                </a:solidFill>
              </a:rPr>
              <a:t>Video: </a:t>
            </a:r>
            <a:r>
              <a:rPr lang="en-AU" sz="3200" b="1" dirty="0">
                <a:solidFill>
                  <a:schemeClr val="accent2"/>
                </a:solidFill>
              </a:rPr>
              <a:t>Project Status Reports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A3BAFD-085B-98E9-7BB0-FB1E43D8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8D307F17-096B-3ED3-0151-EE9C225C0B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92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62B8DE15-8E84-F883-314E-947E15037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A1B8C0BC-446D-DC2F-26F7-41F8FF3BA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940562-545F-2919-9C70-53B69D660930}"/>
              </a:ext>
            </a:extLst>
          </p:cNvPr>
          <p:cNvSpPr txBox="1"/>
          <p:nvPr/>
        </p:nvSpPr>
        <p:spPr>
          <a:xfrm>
            <a:off x="0" y="1600201"/>
            <a:ext cx="9144000" cy="511819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+mj-lt"/>
              </a:rPr>
              <a:t>Key Messages / Lessons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latin typeface="+mj-lt"/>
              </a:rPr>
              <a:t>Project managers must track project progress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One of the main jobs of a project manager is checking how the project is going and updating the team and clients.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latin typeface="+mj-lt"/>
              </a:rPr>
              <a:t>Project status reports help communication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Status reports keep everyone informed about: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progress,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problems,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timelines,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and next steps</a:t>
            </a:r>
          </a:p>
        </p:txBody>
      </p:sp>
    </p:spTree>
    <p:extLst>
      <p:ext uri="{BB962C8B-B14F-4D97-AF65-F5344CB8AC3E}">
        <p14:creationId xmlns:p14="http://schemas.microsoft.com/office/powerpoint/2010/main" val="74067613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6F23F-0668-2FD7-9056-5D2E0312E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5BC3BD81-82F4-1CDF-3D2F-16797475B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73138"/>
            <a:ext cx="822483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3200" b="1" dirty="0">
                <a:solidFill>
                  <a:schemeClr val="accent2"/>
                </a:solidFill>
              </a:rPr>
              <a:t>Video: </a:t>
            </a:r>
            <a:r>
              <a:rPr lang="en-AU" sz="3200" b="1" dirty="0">
                <a:solidFill>
                  <a:schemeClr val="accent2"/>
                </a:solidFill>
              </a:rPr>
              <a:t>Project Status Reports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8B3D1B-5EF3-6516-0A19-3EA95848C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CC5B0C73-F6A4-FE73-AA3C-C0984CDFE1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93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7533AEC9-814D-7B60-C13F-DDCCC7E9E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A7876CD6-2D1C-9511-8653-E71E2488B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E356F7-74A8-127D-381B-7110AE20D15F}"/>
              </a:ext>
            </a:extLst>
          </p:cNvPr>
          <p:cNvSpPr txBox="1"/>
          <p:nvPr/>
        </p:nvSpPr>
        <p:spPr>
          <a:xfrm>
            <a:off x="0" y="1600201"/>
            <a:ext cx="9144000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en-US" sz="2800" b="1" dirty="0">
                <a:latin typeface="+mj-lt"/>
              </a:rPr>
              <a:t>Reports should clearly identify the project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Every report should explain:</a:t>
            </a:r>
          </a:p>
          <a:p>
            <a:pPr marL="89376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what project it is about, </a:t>
            </a:r>
          </a:p>
          <a:p>
            <a:pPr marL="89376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and who the report is for.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en-US" sz="2800" b="1" dirty="0">
                <a:latin typeface="+mj-lt"/>
              </a:rPr>
              <a:t>Include the project vision or goal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The report should briefly explain the purpose or goal of the project.</a:t>
            </a:r>
          </a:p>
        </p:txBody>
      </p:sp>
    </p:spTree>
    <p:extLst>
      <p:ext uri="{BB962C8B-B14F-4D97-AF65-F5344CB8AC3E}">
        <p14:creationId xmlns:p14="http://schemas.microsoft.com/office/powerpoint/2010/main" val="280855938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B757A-89BA-41D4-6AA4-785499994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449696A7-EC98-5CA3-0B18-D1C9CE62B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73138"/>
            <a:ext cx="822483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3200" b="1" dirty="0">
                <a:solidFill>
                  <a:schemeClr val="accent2"/>
                </a:solidFill>
              </a:rPr>
              <a:t>Video: </a:t>
            </a:r>
            <a:r>
              <a:rPr lang="en-AU" sz="3200" b="1" dirty="0">
                <a:solidFill>
                  <a:schemeClr val="accent2"/>
                </a:solidFill>
              </a:rPr>
              <a:t>Project Status Reports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9DB135C-1D8B-DE2C-706A-932AE04A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125FD429-CE2C-E2AA-1D87-B3A317BAA7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94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1896A5F3-0BC0-2261-CE0E-DB0F001D0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933A48B8-C857-B8F3-CD1F-113812763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F23FEE-3B02-2FF7-6373-20840954BCC4}"/>
              </a:ext>
            </a:extLst>
          </p:cNvPr>
          <p:cNvSpPr txBox="1"/>
          <p:nvPr/>
        </p:nvSpPr>
        <p:spPr>
          <a:xfrm>
            <a:off x="0" y="1600201"/>
            <a:ext cx="9144000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sz="2800" b="1" dirty="0">
                <a:latin typeface="+mj-lt"/>
              </a:rPr>
              <a:t>Use RAG status (Red, Amber, Green)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RAG status helps quickly show project health:</a:t>
            </a:r>
          </a:p>
          <a:p>
            <a:pPr marL="9874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Green = project is doing well </a:t>
            </a:r>
          </a:p>
          <a:p>
            <a:pPr marL="9874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Amber = some issues exist </a:t>
            </a:r>
          </a:p>
          <a:p>
            <a:pPr marL="9874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Red = major problems exist</a:t>
            </a:r>
          </a:p>
        </p:txBody>
      </p:sp>
    </p:spTree>
    <p:extLst>
      <p:ext uri="{BB962C8B-B14F-4D97-AF65-F5344CB8AC3E}">
        <p14:creationId xmlns:p14="http://schemas.microsoft.com/office/powerpoint/2010/main" val="307449431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E4172-1D60-F026-8E58-8355FBAE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D92AA905-195F-B7EA-B899-B72E20465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73138"/>
            <a:ext cx="822483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3200" b="1" dirty="0">
                <a:solidFill>
                  <a:schemeClr val="accent2"/>
                </a:solidFill>
              </a:rPr>
              <a:t>Video: </a:t>
            </a:r>
            <a:r>
              <a:rPr lang="en-AU" sz="3200" b="1" dirty="0">
                <a:solidFill>
                  <a:schemeClr val="accent2"/>
                </a:solidFill>
              </a:rPr>
              <a:t>Project Status Reports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B26B5CE-1E98-E5E1-3997-9BC016BE8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C48F9505-8399-4F0E-4455-95D25DC5D9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95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BEF5C27E-6C22-A0AE-A27A-D80D8AE95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6726DB7C-F6A3-DA6C-4EB0-75BD502FE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18A946-0838-4DFE-3787-E58331095F21}"/>
              </a:ext>
            </a:extLst>
          </p:cNvPr>
          <p:cNvSpPr txBox="1"/>
          <p:nvPr/>
        </p:nvSpPr>
        <p:spPr>
          <a:xfrm>
            <a:off x="0" y="1600201"/>
            <a:ext cx="9144000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6. Always explain the status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Do not only show </a:t>
            </a:r>
            <a:r>
              <a:rPr lang="en-US" sz="2800" dirty="0" err="1">
                <a:latin typeface="+mj-lt"/>
              </a:rPr>
              <a:t>colours</a:t>
            </a:r>
            <a:r>
              <a:rPr lang="en-US" sz="2800" dirty="0">
                <a:latin typeface="+mj-lt"/>
              </a:rPr>
              <a:t>. Add short notes explaining why the project is green, amber, or red.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7. Track budget and timeline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Reports should show whether the project is staying within: </a:t>
            </a:r>
          </a:p>
          <a:p>
            <a:pPr marL="8937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budget, </a:t>
            </a:r>
          </a:p>
          <a:p>
            <a:pPr marL="8937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schedule, </a:t>
            </a:r>
          </a:p>
          <a:p>
            <a:pPr marL="8937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and deadlines.</a:t>
            </a:r>
          </a:p>
        </p:txBody>
      </p:sp>
    </p:spTree>
    <p:extLst>
      <p:ext uri="{BB962C8B-B14F-4D97-AF65-F5344CB8AC3E}">
        <p14:creationId xmlns:p14="http://schemas.microsoft.com/office/powerpoint/2010/main" val="61214975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0A6EB-B261-9FD7-45C0-D36059EC6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40C7A6DB-92E3-B626-54D3-7EE37D79B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73138"/>
            <a:ext cx="822483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3200" b="1" dirty="0">
                <a:solidFill>
                  <a:schemeClr val="accent2"/>
                </a:solidFill>
              </a:rPr>
              <a:t>Video: </a:t>
            </a:r>
            <a:r>
              <a:rPr lang="en-AU" sz="3200" b="1" dirty="0">
                <a:solidFill>
                  <a:schemeClr val="accent2"/>
                </a:solidFill>
              </a:rPr>
              <a:t>Project Status Reports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42D1EF6-9212-3433-0BB2-BCFA18503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AB2ABA34-1EAB-6E99-5629-525282FDEA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96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ED99CFC5-DA7D-C8CB-DAE8-B2073EAD2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F51D795A-F157-3A95-5990-88BFEE02D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311877-E325-31E0-9CB6-174B69C6106C}"/>
              </a:ext>
            </a:extLst>
          </p:cNvPr>
          <p:cNvSpPr txBox="1"/>
          <p:nvPr/>
        </p:nvSpPr>
        <p:spPr>
          <a:xfrm>
            <a:off x="0" y="1600201"/>
            <a:ext cx="9144000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8. Include completed and upcoming tasks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Reports should explain:</a:t>
            </a:r>
          </a:p>
          <a:p>
            <a:pPr marL="9874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what has already been finished, </a:t>
            </a:r>
          </a:p>
          <a:p>
            <a:pPr marL="9874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and what will happen next.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9. Mention risks and roadblocks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Important problems should be clearly reported early before they become bigger issues.</a:t>
            </a:r>
          </a:p>
        </p:txBody>
      </p:sp>
    </p:spTree>
    <p:extLst>
      <p:ext uri="{BB962C8B-B14F-4D97-AF65-F5344CB8AC3E}">
        <p14:creationId xmlns:p14="http://schemas.microsoft.com/office/powerpoint/2010/main" val="329811583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24E91-659E-9E82-B3EE-5DD1FD15E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F58758F9-A66C-27E5-D3CB-9178E6457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73138"/>
            <a:ext cx="822483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3200" b="1" dirty="0">
                <a:solidFill>
                  <a:schemeClr val="accent2"/>
                </a:solidFill>
              </a:rPr>
              <a:t>Video: </a:t>
            </a:r>
            <a:r>
              <a:rPr lang="en-AU" sz="3200" b="1" dirty="0">
                <a:solidFill>
                  <a:schemeClr val="accent2"/>
                </a:solidFill>
              </a:rPr>
              <a:t>Project Status Reports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5513AE-5051-6DA4-11E6-3F72CAF6E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51477AAE-86BD-AAD2-0FA7-309FA12D2D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97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E83BAF0E-0E84-687D-6271-D54537B2E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AB2014DD-023D-2C7D-0DFD-7F7202464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0489A1-6F2E-5129-6056-D016B305EB33}"/>
              </a:ext>
            </a:extLst>
          </p:cNvPr>
          <p:cNvSpPr txBox="1"/>
          <p:nvPr/>
        </p:nvSpPr>
        <p:spPr>
          <a:xfrm>
            <a:off x="0" y="1600201"/>
            <a:ext cx="9144000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10. Milestones are important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Major project goals and deadlines should be clearly listed.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11. Keep reports short and simple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Good reports are: </a:t>
            </a:r>
          </a:p>
          <a:p>
            <a:pPr marL="9874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clear, </a:t>
            </a:r>
          </a:p>
          <a:p>
            <a:pPr marL="9874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concise, </a:t>
            </a:r>
          </a:p>
          <a:p>
            <a:pPr marL="9874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easy to read, </a:t>
            </a:r>
          </a:p>
          <a:p>
            <a:pPr marL="9874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and focused on important information.</a:t>
            </a:r>
          </a:p>
        </p:txBody>
      </p:sp>
    </p:spTree>
    <p:extLst>
      <p:ext uri="{BB962C8B-B14F-4D97-AF65-F5344CB8AC3E}">
        <p14:creationId xmlns:p14="http://schemas.microsoft.com/office/powerpoint/2010/main" val="106052698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2EC30-DA04-AFCB-E321-69FE04016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1DF02FA4-7516-D3B9-65A5-95645196D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73138"/>
            <a:ext cx="822483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3200" b="1" dirty="0">
                <a:solidFill>
                  <a:schemeClr val="accent2"/>
                </a:solidFill>
              </a:rPr>
              <a:t>Video: </a:t>
            </a:r>
            <a:r>
              <a:rPr lang="en-AU" sz="3200" b="1" dirty="0">
                <a:solidFill>
                  <a:schemeClr val="accent2"/>
                </a:solidFill>
              </a:rPr>
              <a:t>Project Status Reports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3530FB7-A114-A88F-3984-6FAFB3D73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97B9F0ED-F9E1-078A-D8C6-1DA70D8DB9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98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69ACEADD-DBBE-AB07-64CD-0B536900A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59588845-C960-0EE7-461B-AE8ED7684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B1BCDC-18EA-FB2D-6366-837AE1DB380B}"/>
              </a:ext>
            </a:extLst>
          </p:cNvPr>
          <p:cNvSpPr txBox="1"/>
          <p:nvPr/>
        </p:nvSpPr>
        <p:spPr>
          <a:xfrm>
            <a:off x="0" y="1600201"/>
            <a:ext cx="9144000" cy="519340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12. Do not blame people in reports</a:t>
            </a:r>
            <a:br>
              <a:rPr lang="en-US" sz="2800" dirty="0">
                <a:latin typeface="+mj-lt"/>
              </a:rPr>
            </a:br>
            <a:r>
              <a:rPr lang="en-US" sz="2800" dirty="0" err="1">
                <a:latin typeface="+mj-lt"/>
              </a:rPr>
              <a:t>Reports</a:t>
            </a:r>
            <a:r>
              <a:rPr lang="en-US" sz="2800" dirty="0">
                <a:latin typeface="+mj-lt"/>
              </a:rPr>
              <a:t> should stay professional and avoid attacking team members or clients.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13. Do not ask too many questions in reports</a:t>
            </a:r>
            <a:br>
              <a:rPr lang="en-US" sz="2800" dirty="0">
                <a:latin typeface="+mj-lt"/>
              </a:rPr>
            </a:br>
            <a:r>
              <a:rPr lang="en-US" sz="2800" dirty="0" err="1">
                <a:latin typeface="+mj-lt"/>
              </a:rPr>
              <a:t>Reports</a:t>
            </a:r>
            <a:r>
              <a:rPr lang="en-US" sz="2800" dirty="0">
                <a:latin typeface="+mj-lt"/>
              </a:rPr>
              <a:t> should provide answers and updates, not confusion. </a:t>
            </a:r>
            <a:r>
              <a:rPr lang="en-US" sz="2800" b="1" dirty="0">
                <a:latin typeface="+mj-lt"/>
              </a:rPr>
              <a:t>14. Gather information before writing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Project managers should collect data and speak with the team before preparing the report.</a:t>
            </a:r>
          </a:p>
        </p:txBody>
      </p:sp>
    </p:spTree>
    <p:extLst>
      <p:ext uri="{BB962C8B-B14F-4D97-AF65-F5344CB8AC3E}">
        <p14:creationId xmlns:p14="http://schemas.microsoft.com/office/powerpoint/2010/main" val="157943953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8EFB8-19D5-C246-6007-10210D248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E47ED87D-54AB-FF7C-9A25-EB561460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73138"/>
            <a:ext cx="822483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3200" b="1" dirty="0">
                <a:solidFill>
                  <a:schemeClr val="accent2"/>
                </a:solidFill>
              </a:rPr>
              <a:t>Video: </a:t>
            </a:r>
            <a:r>
              <a:rPr lang="en-AU" sz="3200" b="1" dirty="0">
                <a:solidFill>
                  <a:schemeClr val="accent2"/>
                </a:solidFill>
              </a:rPr>
              <a:t>Project Status Reports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4DB71D4-4CD0-CC88-15B2-BF5F7F704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003132BA-3D2A-A90D-8B4E-62F6C7AF15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99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859E674A-6E58-479D-B016-F2E166A47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245C3215-E45A-1538-F658-2D3ECD773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2631F9-DB26-C458-9D5A-64864A14832C}"/>
              </a:ext>
            </a:extLst>
          </p:cNvPr>
          <p:cNvSpPr txBox="1"/>
          <p:nvPr/>
        </p:nvSpPr>
        <p:spPr>
          <a:xfrm>
            <a:off x="0" y="1600201"/>
            <a:ext cx="9144000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15. Templates save time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Using templates helps create reports faster and more consistently.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16. First drafts do not need to be perfect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Start writing first, then improve and edit later.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17. Editing is very important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Check grammar, spelling, formatting, and missing information before sending the report.</a:t>
            </a:r>
          </a:p>
        </p:txBody>
      </p:sp>
    </p:spTree>
    <p:extLst>
      <p:ext uri="{BB962C8B-B14F-4D97-AF65-F5344CB8AC3E}">
        <p14:creationId xmlns:p14="http://schemas.microsoft.com/office/powerpoint/2010/main" val="412644743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DFAA7-45A8-46AB-30B1-AE252E1EA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EDBDCDBC-9BF5-5A61-70FC-9DCFA3551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73138"/>
            <a:ext cx="822483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3200" b="1" dirty="0">
                <a:solidFill>
                  <a:schemeClr val="accent2"/>
                </a:solidFill>
              </a:rPr>
              <a:t>Video: </a:t>
            </a:r>
            <a:r>
              <a:rPr lang="en-AU" sz="3200" b="1" dirty="0">
                <a:solidFill>
                  <a:schemeClr val="accent2"/>
                </a:solidFill>
              </a:rPr>
              <a:t>Project Status Reports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049CDAC-F642-B5D4-4074-728FCC800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5ACD7119-5C9E-06C6-C8BC-4CC71BF479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100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20729C80-0622-F1EF-7212-A5A90C338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CE772790-F26F-1FBF-0934-1A5720E77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DFE09E-3D53-821E-8995-43B89C6EC35B}"/>
              </a:ext>
            </a:extLst>
          </p:cNvPr>
          <p:cNvSpPr txBox="1"/>
          <p:nvPr/>
        </p:nvSpPr>
        <p:spPr>
          <a:xfrm>
            <a:off x="0" y="1600201"/>
            <a:ext cx="9144000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18. </a:t>
            </a:r>
            <a:r>
              <a:rPr lang="en-US" sz="2800" b="1" dirty="0" err="1">
                <a:latin typeface="+mj-lt"/>
              </a:rPr>
              <a:t>Recognise</a:t>
            </a:r>
            <a:r>
              <a:rPr lang="en-US" sz="2800" b="1" dirty="0">
                <a:latin typeface="+mj-lt"/>
              </a:rPr>
              <a:t> team achievements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Thanking team members helps improve teamwork and motivation.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19. Always confirm the report was received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Make sure important stakeholders actually receive and read the report.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20. Reports should improve over time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Ask for feedback and continue improving future reports.</a:t>
            </a:r>
          </a:p>
        </p:txBody>
      </p:sp>
    </p:spTree>
    <p:extLst>
      <p:ext uri="{BB962C8B-B14F-4D97-AF65-F5344CB8AC3E}">
        <p14:creationId xmlns:p14="http://schemas.microsoft.com/office/powerpoint/2010/main" val="390840966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C1A03-4515-A203-28CE-5F64DED36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53378B8B-DC26-6DFB-5605-AF235709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73138"/>
            <a:ext cx="822483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3200" b="1" dirty="0">
                <a:solidFill>
                  <a:schemeClr val="accent2"/>
                </a:solidFill>
              </a:rPr>
              <a:t>Video: </a:t>
            </a:r>
            <a:r>
              <a:rPr lang="en-AU" sz="3200" b="1" dirty="0">
                <a:solidFill>
                  <a:schemeClr val="accent2"/>
                </a:solidFill>
              </a:rPr>
              <a:t>Project Status Reports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42B647-4A1B-CE5A-90CC-28031BA59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A669B558-9C2D-B4F7-D56C-E7E3894AEB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101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E7018859-3FAE-1B28-26AF-14D2455C0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3F2C49FA-93AA-4828-6CCF-3BD7D9A7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8C0F50-3382-E42D-0F55-6E27631DCEEA}"/>
              </a:ext>
            </a:extLst>
          </p:cNvPr>
          <p:cNvSpPr txBox="1"/>
          <p:nvPr/>
        </p:nvSpPr>
        <p:spPr>
          <a:xfrm>
            <a:off x="0" y="1600201"/>
            <a:ext cx="9144000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Discussion Questions and Answers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What is the main purpose of a project status report?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The main purpose is to update teams and clients about project progress, problems, timelines, and important tasks.</a:t>
            </a:r>
          </a:p>
        </p:txBody>
      </p:sp>
    </p:spTree>
    <p:extLst>
      <p:ext uri="{BB962C8B-B14F-4D97-AF65-F5344CB8AC3E}">
        <p14:creationId xmlns:p14="http://schemas.microsoft.com/office/powerpoint/2010/main" val="1113215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87FF5-E3F9-C4EC-7D8F-19B08377B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05B9A0CF-4CD8-2DBC-6D71-F9B6F777F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73138"/>
            <a:ext cx="822483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3200" b="1" dirty="0">
                <a:solidFill>
                  <a:schemeClr val="accent2"/>
                </a:solidFill>
              </a:rPr>
              <a:t>Video: </a:t>
            </a:r>
            <a:r>
              <a:rPr lang="en-AU" sz="3200" b="1" dirty="0">
                <a:solidFill>
                  <a:schemeClr val="accent2"/>
                </a:solidFill>
              </a:rPr>
              <a:t>Project Status Reports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BBBE9D-8120-3373-91C5-9A55EF52C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AA2BA1F1-878B-FEEC-8201-42283CC5BD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102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C2F87E75-95C5-BEDB-5931-BDD40C4F8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41CB296E-4239-BD1E-DFC2-0E344408A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6FF563-5354-CEB2-E9B5-1A9A0A6B3CB0}"/>
              </a:ext>
            </a:extLst>
          </p:cNvPr>
          <p:cNvSpPr txBox="1"/>
          <p:nvPr/>
        </p:nvSpPr>
        <p:spPr>
          <a:xfrm>
            <a:off x="0" y="1600201"/>
            <a:ext cx="9144000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What does the RAG system mean?</a:t>
            </a:r>
          </a:p>
          <a:p>
            <a:pPr marL="8096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Green = everything is going well </a:t>
            </a:r>
          </a:p>
          <a:p>
            <a:pPr marL="8096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Amber = there are some issues </a:t>
            </a:r>
          </a:p>
          <a:p>
            <a:pPr marL="8096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Red = serious problems exist</a:t>
            </a:r>
          </a:p>
        </p:txBody>
      </p:sp>
    </p:spTree>
    <p:extLst>
      <p:ext uri="{BB962C8B-B14F-4D97-AF65-F5344CB8AC3E}">
        <p14:creationId xmlns:p14="http://schemas.microsoft.com/office/powerpoint/2010/main" val="145556171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8DBF2-6D8A-D72B-6310-6EB2DED81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1B3A9223-8313-EFC1-46D1-55BB5FD02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73138"/>
            <a:ext cx="822483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3200" b="1" dirty="0">
                <a:solidFill>
                  <a:schemeClr val="accent2"/>
                </a:solidFill>
              </a:rPr>
              <a:t>Video: </a:t>
            </a:r>
            <a:r>
              <a:rPr lang="en-AU" sz="3200" b="1" dirty="0">
                <a:solidFill>
                  <a:schemeClr val="accent2"/>
                </a:solidFill>
              </a:rPr>
              <a:t>Project Status Reports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F55BF3-296A-380D-E044-97C8496F5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B476B9DB-6E2B-63EA-7997-77175FEE5B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103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3C6F1A47-17A6-8693-A5D0-BBD802269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67EBD824-FD0F-2EB5-5350-ABEEDFDDC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08970C-06C2-164B-E5FC-59F6B813CE13}"/>
              </a:ext>
            </a:extLst>
          </p:cNvPr>
          <p:cNvSpPr txBox="1"/>
          <p:nvPr/>
        </p:nvSpPr>
        <p:spPr>
          <a:xfrm>
            <a:off x="0" y="1600201"/>
            <a:ext cx="9144000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Why should project reports include the project vision?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The project vision reminds everyone about the main goal and purpose of the project.</a:t>
            </a:r>
          </a:p>
        </p:txBody>
      </p:sp>
    </p:spTree>
    <p:extLst>
      <p:ext uri="{BB962C8B-B14F-4D97-AF65-F5344CB8AC3E}">
        <p14:creationId xmlns:p14="http://schemas.microsoft.com/office/powerpoint/2010/main" val="341711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ECD79-89E9-B5A3-E9BE-1DFF2C55B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FBDF647A-B0F0-B491-4554-E5F9B5C23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73138"/>
            <a:ext cx="822483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3200" b="1" dirty="0">
                <a:solidFill>
                  <a:schemeClr val="accent2"/>
                </a:solidFill>
              </a:rPr>
              <a:t>Video: </a:t>
            </a:r>
            <a:r>
              <a:rPr lang="en-AU" sz="3200" b="1" dirty="0">
                <a:solidFill>
                  <a:schemeClr val="accent2"/>
                </a:solidFill>
              </a:rPr>
              <a:t>Project Status Reports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B870A2-8365-8C72-8A09-348CB1B30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4BE7698C-8FF1-BF3C-7C6C-11BDC2FE77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104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4BD33F30-7281-501F-8809-D58FAD78D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8927AE73-A871-EFDD-27EC-561A04EF4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4FDFCB-A374-B798-8BBA-8EFBA9602A94}"/>
              </a:ext>
            </a:extLst>
          </p:cNvPr>
          <p:cNvSpPr txBox="1"/>
          <p:nvPr/>
        </p:nvSpPr>
        <p:spPr>
          <a:xfrm>
            <a:off x="0" y="1600201"/>
            <a:ext cx="9144000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Why is it important to track project budget and timeline?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Tracking budget and timeline helps make sure the project stays on schedule and does not overspend.</a:t>
            </a:r>
          </a:p>
        </p:txBody>
      </p:sp>
    </p:spTree>
    <p:extLst>
      <p:ext uri="{BB962C8B-B14F-4D97-AF65-F5344CB8AC3E}">
        <p14:creationId xmlns:p14="http://schemas.microsoft.com/office/powerpoint/2010/main" val="429105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EDC60-8AF2-DE0C-0365-81E7942B9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927A3664-79A9-8A82-688C-A9F027D62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73138"/>
            <a:ext cx="822483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3200" b="1" dirty="0">
                <a:solidFill>
                  <a:schemeClr val="accent2"/>
                </a:solidFill>
              </a:rPr>
              <a:t>Video: </a:t>
            </a:r>
            <a:r>
              <a:rPr lang="en-AU" sz="3200" b="1" dirty="0">
                <a:solidFill>
                  <a:schemeClr val="accent2"/>
                </a:solidFill>
              </a:rPr>
              <a:t>Project Status Reports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D60B29F-8FD7-3C06-6141-FAFB9405B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AE9C1661-1C6C-50E2-9173-F175834B77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105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EE9E36CD-53ED-0A71-BC51-6492C4829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B42247CF-75D6-BCCB-B7F9-DAD0A3678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6E6985-E432-1D97-4DEB-D3F70CD99EB9}"/>
              </a:ext>
            </a:extLst>
          </p:cNvPr>
          <p:cNvSpPr txBox="1"/>
          <p:nvPr/>
        </p:nvSpPr>
        <p:spPr>
          <a:xfrm>
            <a:off x="0" y="1600201"/>
            <a:ext cx="9144000" cy="39035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5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What should be included about completed and upcoming tasks?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The report should explain:</a:t>
            </a:r>
          </a:p>
          <a:p>
            <a:pPr marL="8096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what tasks are finished, </a:t>
            </a:r>
          </a:p>
          <a:p>
            <a:pPr marL="8096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and what tasks will happen next.</a:t>
            </a:r>
          </a:p>
        </p:txBody>
      </p:sp>
    </p:spTree>
    <p:extLst>
      <p:ext uri="{BB962C8B-B14F-4D97-AF65-F5344CB8AC3E}">
        <p14:creationId xmlns:p14="http://schemas.microsoft.com/office/powerpoint/2010/main" val="228435687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A24CA-5609-9817-AB3D-2A732F9E2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FD6DCB10-AF67-D6C1-93CD-FBF1E0BAE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73138"/>
            <a:ext cx="822483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3200" b="1" dirty="0">
                <a:solidFill>
                  <a:schemeClr val="accent2"/>
                </a:solidFill>
              </a:rPr>
              <a:t>Video: </a:t>
            </a:r>
            <a:r>
              <a:rPr lang="en-AU" sz="3200" b="1" dirty="0">
                <a:solidFill>
                  <a:schemeClr val="accent2"/>
                </a:solidFill>
              </a:rPr>
              <a:t>Project Status Reports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3BA75E6-8B6A-308B-574F-BC5E25CDD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20E4AC8B-AF60-E648-4DEF-38AB8956C0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106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211E294D-3390-0AC8-1EB3-FAE5E11E5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C00BCD6F-B5C1-62D1-7BB0-06542EBDE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F09388-BE0D-168F-26F5-D06D5AE1961D}"/>
              </a:ext>
            </a:extLst>
          </p:cNvPr>
          <p:cNvSpPr txBox="1"/>
          <p:nvPr/>
        </p:nvSpPr>
        <p:spPr>
          <a:xfrm>
            <a:off x="0" y="1600201"/>
            <a:ext cx="9144000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6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Why should risks and roadblocks be reported early?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Early reporting helps the team solve problems before they become serious.</a:t>
            </a:r>
          </a:p>
        </p:txBody>
      </p:sp>
    </p:spTree>
    <p:extLst>
      <p:ext uri="{BB962C8B-B14F-4D97-AF65-F5344CB8AC3E}">
        <p14:creationId xmlns:p14="http://schemas.microsoft.com/office/powerpoint/2010/main" val="361108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71658-4187-752F-5170-157CEDA8F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7CA0FB66-AB07-C8DA-AAFF-C6280A68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73138"/>
            <a:ext cx="822483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3200" b="1" dirty="0">
                <a:solidFill>
                  <a:schemeClr val="accent2"/>
                </a:solidFill>
              </a:rPr>
              <a:t>Video: </a:t>
            </a:r>
            <a:r>
              <a:rPr lang="en-AU" sz="3200" b="1" dirty="0">
                <a:solidFill>
                  <a:schemeClr val="accent2"/>
                </a:solidFill>
              </a:rPr>
              <a:t>Project Status Reports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65CE45-9EE9-5BB9-2CD4-118BE94DC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E7B9FFF6-4E28-6925-52BB-F86F791EE3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107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2A869235-D8FC-B3D1-5085-4E554EFC2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6A08FFD6-8965-3C0B-7758-430F50756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8F39BD-BF7F-BDA2-F2F8-031BF8ADCCEF}"/>
              </a:ext>
            </a:extLst>
          </p:cNvPr>
          <p:cNvSpPr txBox="1"/>
          <p:nvPr/>
        </p:nvSpPr>
        <p:spPr>
          <a:xfrm>
            <a:off x="0" y="1600201"/>
            <a:ext cx="9144000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7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Why should project reports stay short and clear?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Short and clear reports are easier to read and help stakeholders quickly understand important information.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8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Why is blaming team members inappropriate in reports?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Blaming people is unprofessional and can damage teamwork and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1547640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43907-CD6A-2CCB-9470-EF24A4E2C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469BB637-1CC9-B043-001B-C3F26C456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73138"/>
            <a:ext cx="822483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3200" b="1" dirty="0">
                <a:solidFill>
                  <a:schemeClr val="accent2"/>
                </a:solidFill>
              </a:rPr>
              <a:t>Video: </a:t>
            </a:r>
            <a:r>
              <a:rPr lang="en-AU" sz="3200" b="1" dirty="0">
                <a:solidFill>
                  <a:schemeClr val="accent2"/>
                </a:solidFill>
              </a:rPr>
              <a:t>Project Status Reports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30573F-B04D-48F7-0FB7-9B8B343E4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F8AA6A5E-27C8-C4E1-9185-4068B881C8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108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CC9D06C0-C58E-DE6C-3D9F-BBA0B4142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7E96044D-A2B7-2008-CF30-82CF02B6D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84BA6D-C1AE-74EB-FF0F-FC1E5CCFCEC4}"/>
              </a:ext>
            </a:extLst>
          </p:cNvPr>
          <p:cNvSpPr txBox="1"/>
          <p:nvPr/>
        </p:nvSpPr>
        <p:spPr>
          <a:xfrm>
            <a:off x="0" y="1600201"/>
            <a:ext cx="9144000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9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Why is editing important before sending a report?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Editing helps remove mistakes, improve clarity, and make the report more professional.</a:t>
            </a:r>
          </a:p>
        </p:txBody>
      </p:sp>
    </p:spTree>
    <p:extLst>
      <p:ext uri="{BB962C8B-B14F-4D97-AF65-F5344CB8AC3E}">
        <p14:creationId xmlns:p14="http://schemas.microsoft.com/office/powerpoint/2010/main" val="50429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500F8-3958-3F86-8C26-9097F5978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FF6937E1-3A60-5EC4-5E03-6DE12FAC6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73138"/>
            <a:ext cx="822483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3200" b="1" dirty="0">
                <a:solidFill>
                  <a:schemeClr val="accent2"/>
                </a:solidFill>
              </a:rPr>
              <a:t>Video: </a:t>
            </a:r>
            <a:r>
              <a:rPr lang="en-AU" sz="3200" b="1" dirty="0">
                <a:solidFill>
                  <a:schemeClr val="accent2"/>
                </a:solidFill>
              </a:rPr>
              <a:t>Project Status Reports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16123D-F160-E1B7-BEF5-EC398C0DD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7E635ABE-0645-83C5-CDAB-AEDDBB737D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109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BE393649-8022-F4E6-2B5D-DF46A0814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500DB86A-2666-C73A-0041-5C0F5B3B0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4855BA-A828-CB25-7F5E-7CEA88ABC347}"/>
              </a:ext>
            </a:extLst>
          </p:cNvPr>
          <p:cNvSpPr txBox="1"/>
          <p:nvPr/>
        </p:nvSpPr>
        <p:spPr>
          <a:xfrm>
            <a:off x="0" y="1600201"/>
            <a:ext cx="9144000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Question 10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Why should project managers confirm report receipt?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Confirmation ensures that stakeholders received and reviewed the important information.</a:t>
            </a:r>
          </a:p>
        </p:txBody>
      </p:sp>
    </p:spTree>
    <p:extLst>
      <p:ext uri="{BB962C8B-B14F-4D97-AF65-F5344CB8AC3E}">
        <p14:creationId xmlns:p14="http://schemas.microsoft.com/office/powerpoint/2010/main" val="248333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D4678-DF11-893A-7436-6FB91CE48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E6AB6295-1DA8-49C0-0599-A15F83D0A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73138"/>
            <a:ext cx="822483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3200" b="1" dirty="0">
                <a:solidFill>
                  <a:schemeClr val="accent2"/>
                </a:solidFill>
              </a:rPr>
              <a:t>Video: </a:t>
            </a:r>
            <a:r>
              <a:rPr lang="en-AU" sz="3200" b="1" dirty="0">
                <a:solidFill>
                  <a:schemeClr val="accent2"/>
                </a:solidFill>
              </a:rPr>
              <a:t>Project Status Reports</a:t>
            </a:r>
            <a:endParaRPr lang="en-AU" altLang="en-US" sz="3200" b="1" dirty="0">
              <a:solidFill>
                <a:schemeClr val="accent2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54FDC58-D7A7-138A-045F-760F7C978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D233FB90-2020-EE2D-CD11-15FDDC96DF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110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0486" name="Picture 5">
            <a:extLst>
              <a:ext uri="{FF2B5EF4-FFF2-40B4-BE49-F238E27FC236}">
                <a16:creationId xmlns:a16="http://schemas.microsoft.com/office/drawing/2014/main" id="{F43F525B-B0AC-54D5-4F45-D7B3F1011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 descr="page2image2758544">
            <a:extLst>
              <a:ext uri="{FF2B5EF4-FFF2-40B4-BE49-F238E27FC236}">
                <a16:creationId xmlns:a16="http://schemas.microsoft.com/office/drawing/2014/main" id="{BBA54CF2-0F84-5811-0E03-4C49150E0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687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966A71-6669-FFE5-3C77-B0C687A1B5EE}"/>
              </a:ext>
            </a:extLst>
          </p:cNvPr>
          <p:cNvSpPr txBox="1"/>
          <p:nvPr/>
        </p:nvSpPr>
        <p:spPr>
          <a:xfrm>
            <a:off x="0" y="1600201"/>
            <a:ext cx="9144000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Short Reflection Question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How can good project status reports help a project succeed?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Good project status reports improve communication, help identify problems early, keep teams </a:t>
            </a:r>
            <a:r>
              <a:rPr lang="en-US" sz="2800" dirty="0" err="1">
                <a:latin typeface="+mj-lt"/>
              </a:rPr>
              <a:t>organised</a:t>
            </a:r>
            <a:r>
              <a:rPr lang="en-US" sz="2800" dirty="0">
                <a:latin typeface="+mj-lt"/>
              </a:rPr>
              <a:t>, and support better decision-making throughout the project.</a:t>
            </a:r>
          </a:p>
        </p:txBody>
      </p:sp>
    </p:spTree>
    <p:extLst>
      <p:ext uri="{BB962C8B-B14F-4D97-AF65-F5344CB8AC3E}">
        <p14:creationId xmlns:p14="http://schemas.microsoft.com/office/powerpoint/2010/main" val="91339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chemeClr val="accent2"/>
                </a:solidFill>
              </a:rPr>
              <a:t>Workshop Activity 1</a:t>
            </a:r>
            <a:endParaRPr lang="en-AU" altLang="en-US" sz="3600" b="1" dirty="0">
              <a:solidFill>
                <a:schemeClr val="accent2"/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6045" y="1840295"/>
            <a:ext cx="8643668" cy="4321533"/>
          </a:xfrm>
        </p:spPr>
        <p:txBody>
          <a:bodyPr/>
          <a:lstStyle/>
          <a:p>
            <a:r>
              <a:rPr lang="en-AU" sz="2400" b="1" dirty="0">
                <a:solidFill>
                  <a:srgbClr val="00B0F0"/>
                </a:solidFill>
              </a:rPr>
              <a:t>Scenario 1:</a:t>
            </a:r>
            <a:r>
              <a:rPr lang="en-AU" sz="2400" dirty="0">
                <a:solidFill>
                  <a:srgbClr val="00B0F0"/>
                </a:solidFill>
              </a:rPr>
              <a:t> </a:t>
            </a:r>
            <a:r>
              <a:rPr lang="en-AU" sz="2400" b="1" dirty="0">
                <a:solidFill>
                  <a:srgbClr val="00B0F0"/>
                </a:solidFill>
              </a:rPr>
              <a:t>ERP Implementation Project </a:t>
            </a:r>
          </a:p>
          <a:p>
            <a:r>
              <a:rPr lang="en-AU" dirty="0"/>
              <a:t>You are the project manager overseeing the implementation of a new Enterprise Resource Planning (ERP) system for a medium-sized manufacturing company. The project aims to integrate all business processes, from inventory management to finance, into a unified platform to enhance operational efficiency and decision-making. </a:t>
            </a:r>
          </a:p>
          <a:p>
            <a:r>
              <a:rPr lang="en-AU" b="1" dirty="0"/>
              <a:t>Discuss</a:t>
            </a:r>
            <a:r>
              <a:rPr lang="en-US" altLang="zh-CN" b="1" dirty="0"/>
              <a:t> in your groups</a:t>
            </a:r>
            <a:r>
              <a:rPr lang="en-AU" b="1" dirty="0"/>
              <a:t>:</a:t>
            </a:r>
            <a:endParaRPr lang="en-AU" dirty="0"/>
          </a:p>
          <a:p>
            <a:pPr>
              <a:buFont typeface="+mj-lt"/>
              <a:buAutoNum type="arabicPeriod"/>
            </a:pPr>
            <a:r>
              <a:rPr lang="en-AU" sz="1800" dirty="0"/>
              <a:t>What are the key components that should be included in the Project Status Report for the ERP implementation project?</a:t>
            </a:r>
          </a:p>
          <a:p>
            <a:pPr>
              <a:buFont typeface="+mj-lt"/>
              <a:buAutoNum type="arabicPeriod"/>
            </a:pPr>
            <a:r>
              <a:rPr lang="en-AU" sz="1800" dirty="0"/>
              <a:t>How would you communicate the benefits of the ERP system in the Project Status Report?</a:t>
            </a:r>
          </a:p>
          <a:p>
            <a:pPr>
              <a:buFont typeface="+mj-lt"/>
              <a:buAutoNum type="arabicPeriod"/>
            </a:pPr>
            <a:r>
              <a:rPr lang="en-AU" sz="1800" dirty="0"/>
              <a:t>Why is it essential to include stakeholder feedback in the Project Status Report for the ERP project?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111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407093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chemeClr val="accent2"/>
                </a:solidFill>
              </a:rPr>
              <a:t>Workshop Activity 2</a:t>
            </a:r>
            <a:endParaRPr lang="en-AU" altLang="en-US" sz="3600" b="1" dirty="0">
              <a:solidFill>
                <a:schemeClr val="accent2"/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6045" y="1799883"/>
            <a:ext cx="8643668" cy="4321533"/>
          </a:xfrm>
        </p:spPr>
        <p:txBody>
          <a:bodyPr/>
          <a:lstStyle/>
          <a:p>
            <a:r>
              <a:rPr lang="en-AU" sz="2400" b="1" dirty="0">
                <a:solidFill>
                  <a:srgbClr val="00B0F0"/>
                </a:solidFill>
              </a:rPr>
              <a:t>Scenario 2: Website Redesign Project</a:t>
            </a:r>
          </a:p>
          <a:p>
            <a:r>
              <a:rPr lang="en-AU" dirty="0"/>
              <a:t>You are leading a project team tasked with redesigning and launching a company's corporate website to improve user experience (UX) and drive online sales. The project involves redesigning the website architecture, implementing new features, and optimising for mobile responsiveness. </a:t>
            </a:r>
          </a:p>
          <a:p>
            <a:r>
              <a:rPr lang="en-AU" b="1" dirty="0"/>
              <a:t>Discuss</a:t>
            </a:r>
            <a:r>
              <a:rPr lang="en-US" altLang="zh-CN" b="1" dirty="0"/>
              <a:t> in your groups</a:t>
            </a:r>
            <a:r>
              <a:rPr lang="en-AU" b="1" dirty="0"/>
              <a:t>:</a:t>
            </a:r>
            <a:endParaRPr lang="en-AU" dirty="0"/>
          </a:p>
          <a:p>
            <a:pPr>
              <a:buFont typeface="+mj-lt"/>
              <a:buAutoNum type="arabicPeriod"/>
            </a:pPr>
            <a:r>
              <a:rPr lang="en-AU" sz="1800" dirty="0"/>
              <a:t>Which metrics would you include in the Project Status Report to measure the success of the website redesign project? </a:t>
            </a:r>
          </a:p>
          <a:p>
            <a:pPr>
              <a:buFont typeface="+mj-lt"/>
              <a:buAutoNum type="arabicPeriod"/>
            </a:pPr>
            <a:r>
              <a:rPr lang="en-AU" sz="1800" dirty="0"/>
              <a:t>How should you address unexpected delays in the website redesign project in the Project Status Report? </a:t>
            </a:r>
          </a:p>
          <a:p>
            <a:pPr>
              <a:buFont typeface="+mj-lt"/>
              <a:buAutoNum type="arabicPeriod"/>
            </a:pPr>
            <a:r>
              <a:rPr lang="en-AU" sz="1800" dirty="0"/>
              <a:t>What are the key challenges you might face in reporting progress on the website redesign project?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112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010422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chemeClr val="accent2"/>
                </a:solidFill>
              </a:rPr>
              <a:t>Workshop Activity 3: </a:t>
            </a:r>
            <a:br>
              <a:rPr lang="en-AU" sz="3600" b="1" dirty="0">
                <a:solidFill>
                  <a:schemeClr val="accent2"/>
                </a:solidFill>
              </a:rPr>
            </a:br>
            <a:r>
              <a:rPr lang="en-AU" sz="3600" b="1" dirty="0">
                <a:solidFill>
                  <a:schemeClr val="accent2"/>
                </a:solidFill>
              </a:rPr>
              <a:t>Open Questions</a:t>
            </a:r>
            <a:endParaRPr lang="en-AU" altLang="en-US" sz="3600" b="1" dirty="0">
              <a:solidFill>
                <a:schemeClr val="accent2"/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9879" y="1557069"/>
            <a:ext cx="8386493" cy="4321533"/>
          </a:xfrm>
        </p:spPr>
        <p:txBody>
          <a:bodyPr/>
          <a:lstStyle/>
          <a:p>
            <a:pPr marL="0" indent="0">
              <a:buNone/>
            </a:pPr>
            <a:endParaRPr lang="en-AU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AU" b="1" i="0" u="none" strike="noStrike" baseline="0" dirty="0">
                <a:solidFill>
                  <a:srgbClr val="00B0F0"/>
                </a:solidFill>
                <a:latin typeface="Arial" panose="020B0604020202020204" pitchFamily="34" charset="0"/>
              </a:rPr>
              <a:t>Discuss in your group with the help of an online search platform: </a:t>
            </a:r>
          </a:p>
          <a:p>
            <a:pPr>
              <a:buFont typeface="+mj-lt"/>
              <a:buAutoNum type="arabicPeriod"/>
            </a:pPr>
            <a:r>
              <a:rPr lang="en-AU" sz="1800" dirty="0"/>
              <a:t>How do you prioritise information when structuring a project report?</a:t>
            </a:r>
          </a:p>
          <a:p>
            <a:pPr>
              <a:buFont typeface="+mj-lt"/>
              <a:buAutoNum type="arabicPeriod"/>
            </a:pPr>
            <a:r>
              <a:rPr lang="en-AU" sz="1800" dirty="0"/>
              <a:t>What challenges have you encountered when communicating project progress to stakeholders, and how did you overcome them?</a:t>
            </a:r>
            <a:endParaRPr lang="en-AU" sz="1600" dirty="0"/>
          </a:p>
          <a:p>
            <a:pPr>
              <a:buFont typeface="+mj-lt"/>
              <a:buAutoNum type="arabicPeriod"/>
            </a:pPr>
            <a:r>
              <a:rPr lang="en-AU" sz="1800" dirty="0"/>
              <a:t>How do you ensure that a project report remains relevant and useful throughout the project lifecycle?</a:t>
            </a:r>
            <a:endParaRPr lang="en-AU" sz="1600" dirty="0"/>
          </a:p>
          <a:p>
            <a:pPr>
              <a:buFont typeface="+mj-lt"/>
              <a:buAutoNum type="arabicPeriod"/>
            </a:pPr>
            <a:r>
              <a:rPr lang="en-AU" sz="1800" dirty="0"/>
              <a:t>In what ways can project reports contribute to continuous improvement in project management practices?</a:t>
            </a:r>
            <a:endParaRPr lang="en-AU" sz="1600" dirty="0"/>
          </a:p>
          <a:p>
            <a:pPr>
              <a:buFont typeface="+mj-lt"/>
              <a:buAutoNum type="arabicPeriod"/>
            </a:pPr>
            <a:r>
              <a:rPr lang="en-AU" sz="1800" dirty="0"/>
              <a:t>What role does data visualisation play in conveying project insights effectively?</a:t>
            </a:r>
            <a:endParaRPr lang="en-AU" sz="1600" dirty="0"/>
          </a:p>
          <a:p>
            <a:pPr>
              <a:buFont typeface="+mj-lt"/>
              <a:buAutoNum type="arabicPeriod"/>
            </a:pPr>
            <a:r>
              <a:rPr lang="en-AU" sz="1800" dirty="0"/>
              <a:t>How do you incorporate feedback from stakeholders into the project report to enhance its impact and relevance?</a:t>
            </a:r>
            <a:endParaRPr lang="en-AU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113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249531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chemeClr val="accent2"/>
                </a:solidFill>
              </a:rPr>
              <a:t>Workshop Activity 4: Infographic summary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6045" y="1799883"/>
            <a:ext cx="8643668" cy="4321533"/>
          </a:xfrm>
        </p:spPr>
        <p:txBody>
          <a:bodyPr/>
          <a:lstStyle/>
          <a:p>
            <a:pPr marL="0" indent="0">
              <a:buNone/>
            </a:pPr>
            <a:endParaRPr lang="en-AU" sz="1800" b="0" i="0" u="none" strike="noStrike" baseline="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AU" sz="1800" dirty="0">
                <a:solidFill>
                  <a:srgbClr val="B31165"/>
                </a:solidFill>
                <a:latin typeface="Wingdings 3" panose="05040102010807070707" pitchFamily="18" charset="2"/>
              </a:rPr>
              <a:t> </a:t>
            </a:r>
            <a:r>
              <a:rPr lang="en-AU" sz="1800" b="0" i="0" u="none" strike="noStrike" baseline="0" dirty="0">
                <a:solidFill>
                  <a:srgbClr val="B31165"/>
                </a:solidFill>
                <a:latin typeface="Wingdings 3" panose="05040102010807070707" pitchFamily="18" charset="2"/>
              </a:rPr>
              <a:t> </a:t>
            </a:r>
            <a:r>
              <a:rPr lang="en-AU" sz="1800" b="0" i="0" u="none" strike="noStrike" baseline="0" dirty="0">
                <a:solidFill>
                  <a:srgbClr val="404040"/>
                </a:solidFill>
                <a:latin typeface="Arial" panose="020B0604020202020204" pitchFamily="34" charset="0"/>
              </a:rPr>
              <a:t>Students are required to list the concepts that have been covered in the reading materials and lecture and group them by their category.  </a:t>
            </a:r>
          </a:p>
          <a:p>
            <a:r>
              <a:rPr lang="en-AU" sz="1800" b="0" i="0" u="none" strike="noStrike" baseline="0" dirty="0">
                <a:solidFill>
                  <a:srgbClr val="B31165"/>
                </a:solidFill>
                <a:latin typeface="Wingdings 3" panose="05040102010807070707" pitchFamily="18" charset="2"/>
              </a:rPr>
              <a:t> </a:t>
            </a:r>
            <a:r>
              <a:rPr lang="en-AU" sz="1800" b="0" i="0" u="none" strike="noStrike" baseline="0" dirty="0">
                <a:solidFill>
                  <a:srgbClr val="404040"/>
                </a:solidFill>
                <a:latin typeface="Arial" panose="020B0604020202020204" pitchFamily="34" charset="0"/>
              </a:rPr>
              <a:t>Use an online tool (such as https://www.canva.com/ ) to produce the infographic summary to be submitted and present to the class. </a:t>
            </a:r>
          </a:p>
          <a:p>
            <a:endParaRPr lang="en-AU" sz="1800" b="0" i="0" u="none" strike="noStrike" baseline="0" dirty="0">
              <a:solidFill>
                <a:srgbClr val="404040"/>
              </a:solidFill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900" kern="1200" cap="all" baseline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/>
              <a:t>ICT401 Programming for the Information Age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195665D-46DE-48AA-A147-583A9E243055}" type="slidenum">
              <a:rPr lang="en-US" altLang="en-US" smtClean="0"/>
              <a:pPr>
                <a:defRPr/>
              </a:pPr>
              <a:t>114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4711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997E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6261</Words>
  <Application>Microsoft Office PowerPoint</Application>
  <PresentationFormat>On-screen Show (4:3)</PresentationFormat>
  <Paragraphs>904</Paragraphs>
  <Slides>114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114</vt:i4>
      </vt:variant>
    </vt:vector>
  </HeadingPairs>
  <TitlesOfParts>
    <vt:vector size="125" baseType="lpstr">
      <vt:lpstr>Aptos</vt:lpstr>
      <vt:lpstr>Arial</vt:lpstr>
      <vt:lpstr>Arial Narrow</vt:lpstr>
      <vt:lpstr>Calibri</vt:lpstr>
      <vt:lpstr>Calibri Light</vt:lpstr>
      <vt:lpstr>Century Gothic</vt:lpstr>
      <vt:lpstr>Roboto</vt:lpstr>
      <vt:lpstr>Symbol</vt:lpstr>
      <vt:lpstr>Times New Roman</vt:lpstr>
      <vt:lpstr>Wingdings 3</vt:lpstr>
      <vt:lpstr>Office Theme</vt:lpstr>
      <vt:lpstr>ICT502</vt:lpstr>
      <vt:lpstr>What we learned last week</vt:lpstr>
      <vt:lpstr>Why IT Project Reports Matter</vt:lpstr>
      <vt:lpstr>Common Student Mistakes in Reports</vt:lpstr>
      <vt:lpstr>Assessment 4 = Professional IT Proposal</vt:lpstr>
      <vt:lpstr>Understanding Report Objectives</vt:lpstr>
      <vt:lpstr>Define Scope Clearly</vt:lpstr>
      <vt:lpstr>Understanding the Audience</vt:lpstr>
      <vt:lpstr>Writing for Different Audiences</vt:lpstr>
      <vt:lpstr>Writing for Different Audiences</vt:lpstr>
      <vt:lpstr>Questions Students Can Ask NSW IT Support</vt:lpstr>
      <vt:lpstr>Questions Students Can Ask NSW IT Support</vt:lpstr>
      <vt:lpstr>Questions About Data &amp; Evidence</vt:lpstr>
      <vt:lpstr>Example: Turning Company Information into Report Content</vt:lpstr>
      <vt:lpstr>Example: Turning Company Information into Report Content</vt:lpstr>
      <vt:lpstr>Gathering Facts and Data</vt:lpstr>
      <vt:lpstr>Example Sources Students Can Use</vt:lpstr>
      <vt:lpstr>Example Sources Students Can Use</vt:lpstr>
      <vt:lpstr>Report Structure for Assessment 4</vt:lpstr>
      <vt:lpstr>Report Structure for Assessment 4</vt:lpstr>
      <vt:lpstr>Helping Students Write Better Solutions</vt:lpstr>
      <vt:lpstr>Sustainability Section (Students Often Forget)</vt:lpstr>
      <vt:lpstr>Questions About Sustainability</vt:lpstr>
      <vt:lpstr>Ethical &amp; Security Questions</vt:lpstr>
      <vt:lpstr>Example Challenges &amp; Possible Student Solutions</vt:lpstr>
      <vt:lpstr>Professional Report Writing Tips</vt:lpstr>
      <vt:lpstr>Final Advice for Assessment 4</vt:lpstr>
      <vt:lpstr>Final Message to Students</vt:lpstr>
      <vt:lpstr>Mini Report Example</vt:lpstr>
      <vt:lpstr>Week 8 Pre-Class Readings</vt:lpstr>
      <vt:lpstr>Week 8 Pre-Class Readings</vt:lpstr>
      <vt:lpstr>Week 8 Pre-Class Readings</vt:lpstr>
      <vt:lpstr>Week 8 Pre-Class Readings</vt:lpstr>
      <vt:lpstr>Week 8 Pre-Class Readings</vt:lpstr>
      <vt:lpstr>Week 8 Pre-Class Readings</vt:lpstr>
      <vt:lpstr>Design Discussion Questions</vt:lpstr>
      <vt:lpstr>Design Discussion Questions</vt:lpstr>
      <vt:lpstr>Design Discussion Questions</vt:lpstr>
      <vt:lpstr>Design Discussion Questions</vt:lpstr>
      <vt:lpstr>Design Discussion Questions</vt:lpstr>
      <vt:lpstr>Design Discussion Questions</vt:lpstr>
      <vt:lpstr>Design Discussion Questions</vt:lpstr>
      <vt:lpstr>Design Discussion Questions</vt:lpstr>
      <vt:lpstr>Design Discussion Questions</vt:lpstr>
      <vt:lpstr>Design Discussion Questions</vt:lpstr>
      <vt:lpstr>Design Discussion Questions</vt:lpstr>
      <vt:lpstr>Week 8 Topics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Introduction to Project Reports</vt:lpstr>
      <vt:lpstr>Introduction to Project Reports (cont.)</vt:lpstr>
      <vt:lpstr>Introduction to Project Reports (cont.)</vt:lpstr>
      <vt:lpstr>Define Report Objectives and Scope</vt:lpstr>
      <vt:lpstr>Define Report Objectives and Scope (cont.)</vt:lpstr>
      <vt:lpstr>Understand Your Audience</vt:lpstr>
      <vt:lpstr>Understand Your Audience (cont.)</vt:lpstr>
      <vt:lpstr>Report Format and Type: Choosing the Right Report Format</vt:lpstr>
      <vt:lpstr>Report Format and Type: Structuring the Report</vt:lpstr>
      <vt:lpstr>Report Format and Type: Structuring the Report (cont.)</vt:lpstr>
      <vt:lpstr>Gathering the Facts and Data: Data Collection Methods</vt:lpstr>
      <vt:lpstr>Gathering the Facts and Data: Analyzing Data</vt:lpstr>
      <vt:lpstr>Gathering the Facts and Data: Analyzing Data (cont.)</vt:lpstr>
      <vt:lpstr>Gathering the Facts and Data: Analyzing Data (cont.)</vt:lpstr>
      <vt:lpstr>Gathering the Facts and Data: Structure the Report</vt:lpstr>
      <vt:lpstr>Gathering the Facts and Data: Structure the Report</vt:lpstr>
      <vt:lpstr>Group Discussion Case Study</vt:lpstr>
      <vt:lpstr>Case Study: Discussion Points</vt:lpstr>
      <vt:lpstr>Case Study: Discussion Points</vt:lpstr>
      <vt:lpstr>Case Study: Discussion Points</vt:lpstr>
      <vt:lpstr>Summary</vt:lpstr>
      <vt:lpstr>Question?</vt:lpstr>
      <vt:lpstr>PowerPoint Presentation</vt:lpstr>
      <vt:lpstr>IT Project Capstone Guide</vt:lpstr>
      <vt:lpstr>Simple Project Status Report Template</vt:lpstr>
      <vt:lpstr>Introduction to Ongoing Status Reports</vt:lpstr>
      <vt:lpstr>Introduction to Ongoing Status Reports</vt:lpstr>
      <vt:lpstr>Key Components of an Ongoing Status Report</vt:lpstr>
      <vt:lpstr>Video: Project Status Reports</vt:lpstr>
      <vt:lpstr>Video: Project Status Reports</vt:lpstr>
      <vt:lpstr>Video: Project Status Reports</vt:lpstr>
      <vt:lpstr>Video: Project Status Reports</vt:lpstr>
      <vt:lpstr>Video: Project Status Reports</vt:lpstr>
      <vt:lpstr>Video: Project Status Reports</vt:lpstr>
      <vt:lpstr>Video: Project Status Reports</vt:lpstr>
      <vt:lpstr>Video: Project Status Reports</vt:lpstr>
      <vt:lpstr>Video: Project Status Reports</vt:lpstr>
      <vt:lpstr>Video: Project Status Reports</vt:lpstr>
      <vt:lpstr>Video: Project Status Reports</vt:lpstr>
      <vt:lpstr>Video: Project Status Reports</vt:lpstr>
      <vt:lpstr>Video: Project Status Reports</vt:lpstr>
      <vt:lpstr>Video: Project Status Reports</vt:lpstr>
      <vt:lpstr>Video: Project Status Reports</vt:lpstr>
      <vt:lpstr>Video: Project Status Reports</vt:lpstr>
      <vt:lpstr>Video: Project Status Reports</vt:lpstr>
      <vt:lpstr>Video: Project Status Reports</vt:lpstr>
      <vt:lpstr>Video: Project Status Reports</vt:lpstr>
      <vt:lpstr>Video: Project Status Reports</vt:lpstr>
      <vt:lpstr>Workshop Activity 1</vt:lpstr>
      <vt:lpstr>Workshop Activity 2</vt:lpstr>
      <vt:lpstr>Workshop Activity 3:  Open Questions</vt:lpstr>
      <vt:lpstr>Workshop Activity 4: Infographic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Lavecchia, Olga (CL AUS)</dc:creator>
  <cp:lastModifiedBy>Farshid Keivanian</cp:lastModifiedBy>
  <cp:revision>62</cp:revision>
  <dcterms:created xsi:type="dcterms:W3CDTF">2026-05-10T22:26:58Z</dcterms:created>
  <dcterms:modified xsi:type="dcterms:W3CDTF">2026-05-12T17:41:08Z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2024-07-18T00:00:00Z</vt:filetime>
  </property>
  <property fmtid="{D5CDD505-2E9C-101B-9397-08002B2CF9AE}" pid="3" name="Creator">
    <vt:lpwstr>Acrobat PDFMaker 24 for PowerPoint</vt:lpwstr>
  </property>
  <property fmtid="{D5CDD505-2E9C-101B-9397-08002B2CF9AE}" pid="4" name="LastSaved">
    <vt:filetime>2026-05-10T00:00:00Z</vt:filetime>
  </property>
  <property fmtid="{D5CDD505-2E9C-101B-9397-08002B2CF9AE}" pid="5" name="Producer">
    <vt:lpwstr>Adobe PDF Library 24.2.159</vt:lpwstr>
  </property>
</Properties>
</file>