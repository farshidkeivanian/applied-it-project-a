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31"/>
  </p:notesMasterIdLst>
  <p:handoutMasterIdLst>
    <p:handoutMasterId r:id="rId32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9144000" cy="6858000" type="screen4x3"/>
  <p:notesSz cx="6858000" cy="9144000"/>
  <p:custDataLst>
    <p:tags r:id="rId33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ff 45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073"/>
    <a:srgbClr val="BD92DE"/>
    <a:srgbClr val="A7D971"/>
    <a:srgbClr val="93E3FF"/>
    <a:srgbClr val="65D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41" autoAdjust="0"/>
    <p:restoredTop sz="95714" autoAdjust="0"/>
  </p:normalViewPr>
  <p:slideViewPr>
    <p:cSldViewPr snapToGrid="0" snapToObjects="1">
      <p:cViewPr varScale="1">
        <p:scale>
          <a:sx n="59" d="100"/>
          <a:sy n="59" d="100"/>
        </p:scale>
        <p:origin x="591" y="26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>
        <p:scale>
          <a:sx n="100" d="100"/>
          <a:sy n="100" d="100"/>
        </p:scale>
        <p:origin x="-1632" y="176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D888D3-E0B3-4EC8-A0F8-AF7221993A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706D2-77D8-407C-A72D-20BBC22DB2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38AF6E5-6A99-4991-BBC1-EAD7CBCD643F}" type="datetimeFigureOut">
              <a:rPr lang="en-AU"/>
              <a:pPr>
                <a:defRPr/>
              </a:pPr>
              <a:t>20/04/2026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AA8F4-8CE8-419C-93D9-32E6EB8748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AU"/>
              <a:t>MGM1201 Introduction to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AE922-90BD-4BEB-B517-77994FA713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EB6C266-7148-4A73-9792-6361C0E7D9CE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C9D7FC-AE7B-4171-9664-F81F340972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 Narrow" pitchFamily="34" charset="0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0DDF3-705A-4AD4-BB96-1812D9EDCDB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Narrow" pitchFamily="34" charset="0"/>
                <a:cs typeface="Arial" charset="0"/>
              </a:defRPr>
            </a:lvl1pPr>
          </a:lstStyle>
          <a:p>
            <a:pPr>
              <a:defRPr/>
            </a:pPr>
            <a:fld id="{91F64CF8-3EFE-421F-BD7A-0A9B398E75CD}" type="datetimeFigureOut">
              <a:rPr lang="en-US"/>
              <a:pPr>
                <a:defRPr/>
              </a:pPr>
              <a:t>4/20/2026</a:t>
            </a:fld>
            <a:endParaRPr lang="en-AU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28F1839-C53D-4FDD-9833-C60E30978F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B5005B8-2463-4395-A223-76E74F3A1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B34A1-0E20-4E59-AEDA-1BEB43815D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 Narrow" pitchFamily="34" charset="0"/>
                <a:cs typeface="Arial" charset="0"/>
              </a:defRPr>
            </a:lvl1pPr>
          </a:lstStyle>
          <a:p>
            <a:pPr>
              <a:defRPr/>
            </a:pPr>
            <a:r>
              <a:rPr lang="en-AU"/>
              <a:t>MGM1201 Introduction to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234FB-833F-4B2C-A50C-511DF9183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D02EFCD8-A2D0-4328-B179-5217C2DCF70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495F52CD-DF24-453B-9DB4-CE8008EF32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996B2CE6-C6F1-4353-B4FB-CC52476FFF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2D59A1C5-FCE8-4561-A2F6-2F27658A1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B24EE58C-0BEF-4C39-BD7A-04ABFA94A1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865D-40B7-13EA-1110-BAFD81505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C30BF728-2D69-A16B-79EF-D507AB190C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D0BF8D93-B425-CF46-D368-AA1A29C06B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42BD2509-0AA3-2238-39AD-31BEF8C00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E230A8DF-0262-BD68-D81C-6A40D11E4F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3254831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4CE6-D07B-7604-C451-522812DB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75C2D506-146D-D635-D33C-C4B1FDDFEE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BE13F8ED-F865-FB7B-D831-71DD033C2F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010745A4-DC91-0065-1D82-7FCD623C4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3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0D6E8B6F-DD48-A6DA-67BB-DB01B3C952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708833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AA3B2-09B1-BB50-E8C3-5C095F1EC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33B26183-127B-5BEE-1854-32B424F4FA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A108D3F6-5998-0820-50D2-413E7903F1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69226F1A-7074-47CA-777F-22058D3DA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4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1E16C368-FF4F-0912-0648-968386F9CE2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2529533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8AFC-C5EC-1EB3-D8F3-57F67E40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44822BC1-C358-35D1-F720-7EC2D52C38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81ED1E4E-D73D-5ADB-D57A-52CF37F4D9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64AD156A-0534-89DD-D878-BF4301BF5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5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9757BE55-B0E2-1936-B04D-F1E5A071372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2691625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894E3-5D68-567C-AC0F-2DA8AF7E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810FF9A6-248F-2922-01E5-C12BB3D9A9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FCAB83CF-52F3-91F3-4954-FB2B3C62CE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74D52717-A796-0060-2ADD-F4C011580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6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9345BBF5-BB0A-5221-0A46-02840AB263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3094641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3E39-1D70-7B43-8954-02814D105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3F65800D-5174-6B81-0A37-41600DFA5A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DD35F6E1-84E2-C37F-13BD-DBB0631299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DF96B6A2-DD44-3F3A-4396-88BC2524B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7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2BDE9F7E-CAB9-E786-26C0-8F2D875E9D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458792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7384-FB34-CA85-CA82-F820FBF6F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2056FCE1-D461-26D4-EF82-2BD0418A5D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C8838C29-638E-ECCC-BAED-A632DB98D9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15F2B0CB-C7A3-CF8C-C45C-ADE77066F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8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8E9FBB6F-FF98-B455-846F-4136FFF8C8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3848008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112D1-70B0-0FC7-35D9-BA0A71950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030BE4FA-2F89-0EC7-80FB-3ED584DAF5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867B7EFB-1392-131B-001B-F5A6D15DB8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BD64567A-6284-6DCB-002D-3995E214A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9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574D35E4-1A11-109C-6D3D-2B4D90FD55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2140265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88072-F6C1-852E-D28A-C6283D13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243552BD-CE75-8DDB-195E-0F415FB116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6E662BDF-4564-30CD-91AA-AB9EEEC489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5FCD4EDB-D58E-5B02-82C5-F4383EFCF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10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08FB1ACC-9C8C-A94E-A43C-6A093A53E7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4097982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E499D-61B8-1D6E-ABBE-2DF28A2C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EABB746A-5DD4-A30B-3E38-AEAAE91D80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5E805B69-C760-04E8-27EB-5301634EDF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B0B95D6B-F89E-0311-ADDA-B4A1EBAA3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11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B934F4E2-42AA-CCC0-9ABC-FDDDB31085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712137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8E0AD-1F23-0866-261F-73F61020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096596D2-BC15-5038-63AD-9DC0FB7DEE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F9A7855E-485E-7CFB-D99C-B0D99DC567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B9A9F6D-621E-5834-8167-A512B4702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12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86A2BEDE-B5A8-5B8E-7E51-0CB0BE3592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1683263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AB906-CD5E-8189-4D8D-BA8583713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4E107C5E-1DBC-2448-61A5-86A1D0A30A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A02FE090-2E28-D535-634E-1DE05C2F7D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BF15439B-0318-1EFE-120A-E40D4E906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13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39DE3E4F-D43C-F58E-914E-0F06766C5B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1950991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CF68-2E4B-BC59-8245-771D62AE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0B64DB41-EC08-CEDD-C161-B553B66DB9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CB221BD7-EBBC-E220-506F-23C9C1CEF8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B59FBCC5-9383-AD75-8A5C-35439A565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14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753A6E3E-7317-4A25-1F68-0677F1ABA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1639573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FD652-D07B-C1F5-4584-75D9E3730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409DBEC4-16DC-D676-8E24-F2A0BC29F4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A0252698-B191-69BF-ADD0-DF5AC72562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42C8C29F-3356-7040-AED7-D1F3B9F52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15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907E0AC2-F34F-F9C2-924E-4B5C0CAEFA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4067593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5FAE1-C3F0-5036-178D-A2C99A19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7FAB71C5-F472-54CE-C0E3-16CCFB853E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34E5FD2E-1A00-5E39-6647-96D269769B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39D465B3-D55E-198F-EF15-981DB5B7C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16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E8EF953F-3293-483F-AECB-74ABC48F108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2386015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6E26F-19DD-B5FA-08DF-32FF5EB1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8B940633-D6D5-28B6-297D-11D377B463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7D60A635-FB38-CD3D-25C7-0BA669BC82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8A702C4C-FC27-9194-984B-514A0E1FA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17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DFA8AA53-A870-C9AA-99C0-1FE54A2590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8301028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F9B4-A72A-081D-C389-E0300E6B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C59D3C3E-B88D-9E6B-19E7-5EAC611399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285AC568-50AB-B8BC-C4F9-FBCB206D8A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FD1692D-94DF-BAFF-F7CD-67CFDF388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18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368481A1-D0E7-A248-04CD-E29A80B98D5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3439027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3B23-95AF-8EA6-3388-C2C10621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57A5297B-4485-B4FF-B5BF-2F61173A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7DF2B505-DB3D-E738-E7B2-5159BA3E6A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7330AA11-AF84-6D5E-7F55-95037E637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19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3CDCB400-9527-8DEE-1157-84C4A06C2D7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24598887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416D2-3941-EB83-93B9-31DDC8A0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D9C7152B-C26F-1594-FA48-52C3D3F040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742B9FC4-F7D0-92F0-7EBF-26CBFB679F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C760467-FD24-D311-24BA-9412B2B68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20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D0A06F75-67E9-83DB-B00A-EE3465BB741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801395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7698-5F84-26C2-DDCF-EEBBCED7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C1AFDFB5-AE7E-616F-C575-D2CC8380E7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454CBE15-CA32-1BE8-3D3C-FC36E2F815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FE6CEF90-D7B2-193B-8151-C32D5814D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21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7F96783C-B8E2-E108-7150-0693835DD64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4387693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CC79C-3548-6763-2583-340CE773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70879546-BAC6-CA5C-FDE5-E284CB6376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08E0ECDA-786D-9D6E-8447-2281792CD8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51FFADAE-C104-F022-698D-A986D5187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22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AEF82FF3-2D15-11FE-5593-99625217620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4258822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ADE5-2AF6-1145-BBB4-3758F2555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F5606AA6-30A2-4965-D59A-6F22E44AA2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AAE5FEA6-98FA-EED5-3895-B8FEA09F99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3F288DC1-BD07-50F2-4BD3-7E163E4C5C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23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491386E7-D96D-06B7-1659-FF2A9DC764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20494368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46429-337E-4750-0B60-0F54D0BF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5901BD28-F1A0-C7EF-FB42-2C5E67A420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51F70253-BD5B-EE61-4738-F4F65C6E3A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C6007DAE-B216-C64D-C489-D1131E5DD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24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47808803-4D7C-96DC-5210-20D6B60371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2634868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5356-843A-DF08-2E8E-04259B8E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1D218508-0CAD-2CC6-957B-53B228BC3C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7B88BD3E-62F9-E038-24E7-BBC609EAF8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32F89B6D-7192-3194-36C7-1333A64B3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25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D86D1FA2-9F7A-2767-FD46-AAD062B4E2D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34610095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14472-3ED5-4CE5-770B-A54D8DFE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EA2F8C99-5869-4CA2-AC2F-AD821E97CF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C4F53977-6CAE-C375-7FDB-48E1678913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16C74F72-12AB-8EBF-CF8B-6B1C59851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26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36BAF8EF-C78D-7697-8B51-50466D6564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31818811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AF896-0E58-A0FF-7C99-BEDBDE7E2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DBABB8CB-1677-A7A7-D20C-B7769A0CDF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CEB4E43B-F016-9386-195D-69244BEAFF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728CE949-BEE7-F6C1-2E4D-82660F66A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27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6F3729A8-3AC4-234D-44A0-9505333CD1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16532073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E5F5-3210-1C2A-0919-B7A06F6D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BA5FB22E-7D1E-9CCD-F6D3-D63314A6B3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615C602C-2C56-A4CD-443E-51A37F6410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7D3F6EDE-37A2-613E-E06F-1B634D1E6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28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361C826E-0066-F455-D43E-B04250B6C2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40678093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1F63-DBF5-9656-1A9B-32581895A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34C44381-FDCE-EC87-0B33-51AD1C253A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796F1C45-1D0B-1079-C384-C9888690E1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1481168E-C22D-9A37-5C1B-BA27D6669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29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B781ADC7-ACE4-877F-85BE-910CBBC654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  <p:extLst>
      <p:ext uri="{BB962C8B-B14F-4D97-AF65-F5344CB8AC3E}">
        <p14:creationId xmlns:p14="http://schemas.microsoft.com/office/powerpoint/2010/main" val="1116347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8DDF8-BBAF-4CA3-8385-C9F26D1F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79088-81E5-42AE-A449-F335DB56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ICT401 Programming for the Information 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B2800-BB2A-42FC-A1F7-6D65D432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5665D-46DE-48AA-A147-583A9E2430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205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987425" y="2424114"/>
            <a:ext cx="4208463" cy="754516"/>
          </a:xfrm>
        </p:spPr>
        <p:txBody>
          <a:bodyPr>
            <a:normAutofit/>
          </a:bodyPr>
          <a:lstStyle>
            <a:lvl1pPr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987425" y="3429000"/>
            <a:ext cx="7300913" cy="2565400"/>
          </a:xfrm>
        </p:spPr>
        <p:txBody>
          <a:bodyPr>
            <a:normAutofit/>
          </a:bodyPr>
          <a:lstStyle>
            <a:lvl1pPr>
              <a:buNone/>
              <a:defRPr sz="4000">
                <a:solidFill>
                  <a:schemeClr val="accent3">
                    <a:lumMod val="75000"/>
                  </a:schemeClr>
                </a:solidFill>
                <a:latin typeface="Arial Narrow" pitchFamily="34" charset="0"/>
              </a:defRPr>
            </a:lvl1pPr>
          </a:lstStyle>
          <a:p>
            <a:pPr lvl="0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0068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AF0ADA-31EF-4C37-BFB4-6846F8CC73AD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F093B2-0F82-47F8-A8E7-F20180BAC978}"/>
              </a:ext>
            </a:extLst>
          </p:cNvPr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CA925-85C2-4A83-ADE3-8FCC18A8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7" name="Text Placeholder 2">
            <a:extLst>
              <a:ext uri="{FF2B5EF4-FFF2-40B4-BE49-F238E27FC236}">
                <a16:creationId xmlns:a16="http://schemas.microsoft.com/office/drawing/2014/main" id="{2D186389-A230-473D-BE88-C2B1FB76B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AD95A-D7C1-4161-B153-68D2FB553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E9959-195D-4693-AA37-953BDC04C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Ict401 Programming for the Information 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DC37D-D0BA-42B9-9D61-2CF676F40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5BE3CB0-5624-47F4-A482-33D6D62E6D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B8F089-64D3-47EA-93ED-A369A77005E1}"/>
              </a:ext>
            </a:extLst>
          </p:cNvPr>
          <p:cNvCxnSpPr/>
          <p:nvPr/>
        </p:nvCxnSpPr>
        <p:spPr>
          <a:xfrm>
            <a:off x="895350" y="1738313"/>
            <a:ext cx="74755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81" r:id="rId2"/>
  </p:sldLayoutIdLst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swits.com.au/about-u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7011D958-7B17-483C-B07B-1B379F607C5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538956" y="314325"/>
            <a:ext cx="8066087" cy="4864578"/>
          </a:xfrm>
        </p:spPr>
        <p:txBody>
          <a:bodyPr anchor="ctr"/>
          <a:lstStyle/>
          <a:p>
            <a:pPr algn="ctr" eaLnBrk="1" hangingPunct="1">
              <a:spcBef>
                <a:spcPts val="600"/>
              </a:spcBef>
              <a:spcAft>
                <a:spcPts val="2400"/>
              </a:spcAft>
            </a:pPr>
            <a:r>
              <a:rPr lang="en-AU" altLang="en-US" sz="5400" dirty="0">
                <a:solidFill>
                  <a:srgbClr val="00B0F0"/>
                </a:solidFill>
              </a:rPr>
              <a:t>NSW IT Support</a:t>
            </a:r>
          </a:p>
          <a:p>
            <a:pPr algn="ctr" eaLnBrk="1" hangingPunct="1">
              <a:spcBef>
                <a:spcPts val="600"/>
              </a:spcBef>
              <a:spcAft>
                <a:spcPts val="2400"/>
              </a:spcAft>
            </a:pPr>
            <a:r>
              <a:rPr lang="en-AU" altLang="en-US" sz="5400" dirty="0">
                <a:solidFill>
                  <a:srgbClr val="00B0F0"/>
                </a:solidFill>
              </a:rPr>
              <a:t>Assessment 3</a:t>
            </a: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7E97EA98-FA21-47E9-AAAB-D57D85BF5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B585785C-A56D-4F54-80A4-ABEA8B982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24A2BABC-6B4A-40B3-94BC-37C96408B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B2024-CC04-EDC8-24FD-A49DA18E2870}"/>
              </a:ext>
            </a:extLst>
          </p:cNvPr>
          <p:cNvSpPr txBox="1"/>
          <p:nvPr/>
        </p:nvSpPr>
        <p:spPr>
          <a:xfrm>
            <a:off x="2286000" y="57225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dirty="0">
                <a:hlinkClick r:id="rId4"/>
              </a:rPr>
              <a:t>https://nswits.com.au/about-us/</a:t>
            </a:r>
            <a:r>
              <a:rPr lang="en-AU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0ACC-7AEF-1C03-B750-A21DB7AA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B2BA829F-8A60-8AB6-ACED-1E8C07C665AE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46050"/>
            <a:ext cx="9144000" cy="6505603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NSW IT Support is a Sydney-based IT company established in 2012, providing end-to-end technology solutions for businesses across New South Wales.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What They Do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Managed IT Services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Cloud &amp; Procurement Services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Cybersecurity &amp; IT Consulting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Web Development &amp; Telecommunications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BD6F191F-1E33-387A-803B-4249A5EA8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ED20D84E-F984-4570-E8E7-8BBC1F8B2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72522C89-1D38-0C4C-C426-3C5CC5AE4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5511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B8F01-9367-07B5-BECD-08B32546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27E3702B-9B56-8EC9-1226-C7142C8093CC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398463"/>
            <a:ext cx="9144000" cy="5243246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Key Strengths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Supports SMEs and large </a:t>
            </a:r>
            <a:r>
              <a:rPr lang="en-US" sz="2800" b="0" dirty="0" err="1">
                <a:solidFill>
                  <a:schemeClr val="tx1"/>
                </a:solidFill>
              </a:rPr>
              <a:t>organisations</a:t>
            </a:r>
            <a:r>
              <a:rPr lang="en-US" sz="2800" b="0" dirty="0">
                <a:solidFill>
                  <a:schemeClr val="tx1"/>
                </a:solidFill>
              </a:rPr>
              <a:t>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Works across industries (e.g., healthcare, law, retail, education)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Partners with global brands (Microsoft, VMware, Adobe)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Provides tailored IT solutions based on client needs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7006CBE0-69B5-9D60-7923-5547E4E7F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45C5FC14-B8DC-BB87-1466-DAD127282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ACCEBB0B-A711-A3BA-51DF-E7EDF9A9D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104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F951-62BC-B076-EAEC-1FD57666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171B57A9-7026-28E9-5AA9-B8BA254D947D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398463"/>
            <a:ext cx="9144000" cy="5243246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Their Approach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Involve: Understand client requirements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Empower: Deliver and manage solutions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Augment: Improve through feedback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Evolve: Provide ongoing IT advice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1134ED2D-6B8B-B91F-0929-2E55A7776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5FBEC084-2C5E-6A64-E786-D3AB5038C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00F9D310-B6CB-4221-D24A-F3A1F1C1D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572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DBC9C-BDB9-47D4-79A7-9089ABBE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6C81316C-B2A9-B049-C355-82E628ACCB3A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398463"/>
            <a:ext cx="9144000" cy="5243246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Mission &amp; Vision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Help businesses grow using modern technology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Become a one-stop IT solution provider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5ECED034-B161-C846-66E0-FB24020A0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3CDE8E4D-2BF0-4D26-5E47-4DB724AAA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08008D9E-336F-0D0B-49C7-279598AE6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5737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EC9D0-E9BF-C96C-C503-15928E7B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67BF94CF-ED49-328F-E73A-E2AEB5178FB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398463"/>
            <a:ext cx="9144000" cy="5243246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NSW IT Support is a real-world IT service company that helps businesses solve problems using technology. They don’t just install systems — they understand client needs, design solutions, and choose the best technology. This is exactly what you are learning in this unit.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91228FB4-C2E2-5CAA-B2A3-5DBE9EA2F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19D2DFA6-0A77-35A5-85CF-B536412AB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93CE1E32-4F6A-F58B-496E-D09CA7A6E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371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A02D2-C055-4B92-767A-DDA5C2FF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3B01301B-9606-30CC-B659-7EE847DDA49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398462"/>
            <a:ext cx="9144000" cy="6002337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1. Questions about the Design Process (SLO1)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These help students understand how projects are designed in real life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Simple student-friendly questions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Problem understanding</a:t>
            </a:r>
          </a:p>
          <a:p>
            <a:pPr marL="6223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usually identify a client’s problem? </a:t>
            </a:r>
          </a:p>
          <a:p>
            <a:pPr marL="6223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know what the client actually needs? </a:t>
            </a:r>
          </a:p>
          <a:p>
            <a:pPr marL="6223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 clients always clearly explain their problems?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0936D76B-3ADD-34C8-9558-ED17B5C82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5F4F7ED6-5705-C733-A1CC-4063221A2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B1B5739D-6A45-DB4D-90C1-75C2CA122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407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DA37-1785-3A5A-66B8-1FA5C59A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19A28268-6D8F-102F-9635-70E3D9422DBE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579898"/>
            <a:ext cx="9144000" cy="3639466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Why this matters: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Links to problem definition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Links to requirements gathering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CF7002E0-54D8-908E-151F-4392C59B5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43DF5DDC-A992-3E86-FB32-62476A7CE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3E0953D5-7851-4415-9F34-DC9EB99A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9634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C4CA-D464-F694-F9E3-923F701E2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97D365C6-3321-B0CF-FD32-B3E4E6DD64BC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579898"/>
            <a:ext cx="9144000" cy="3639466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Requirements gathering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collect requirements from clients?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 you talk to different stakeholders (e.g., managers, staff)?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What happens if client requirements change?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D29787FF-EC33-C8EB-940E-D9C7D411C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18F18536-0C99-8169-544A-974FA2BCC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9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C06BEA5F-AB68-C6CC-8B27-FCDFDA852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3931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38A5E-66A0-8169-13FB-8041C8836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C1330E28-056B-D207-5E90-24CA1405FFD4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2024961"/>
            <a:ext cx="9144000" cy="2749340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Links to:</a:t>
            </a:r>
          </a:p>
          <a:p>
            <a:pPr marL="8096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stakeholder analysis </a:t>
            </a:r>
          </a:p>
          <a:p>
            <a:pPr marL="8096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requirements elicitation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E610825D-BB15-4E72-5DFA-EF0D7C121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A592D743-AB7E-3387-4ADC-E0BC012D5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10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F239DC64-9B25-A0F5-0915-4F4911389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2083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88E59-E2F5-B5D8-D6BD-D59AB016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81D5302F-84D7-6833-3C54-1E570211AE0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534073"/>
            <a:ext cx="9144000" cy="6028567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Solution design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decide what solution to propose?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 you design multiple solutions or just one?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 you create diagrams (like use case diagrams or system designs)? 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Links to: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conceptual design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planning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2C9A2826-2EB7-9400-2819-0940F3947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701E5907-D7F9-5220-9594-FA45CAC8F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11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202401F0-16CC-646C-3DAC-DCAA369B4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8480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9172C-7458-95A6-4FD7-3001933F1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018572EA-13AF-5035-A2DE-7D464B99776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534073"/>
            <a:ext cx="9144000" cy="6028567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Testing and improvement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test your solutions before giving them to clients?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 you improve solutions after client feedback? 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Links to: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iteration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real-world design process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938A26E9-88FD-B3D5-23E8-0E08F2D3F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F16B6FA1-6D3E-0853-9960-64A232C2C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12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4F47F925-F415-9C62-DD2C-91EF946CA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3950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306F-E6C0-5A3F-9F95-87DAF8AEA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63E18D5A-5132-ED40-8E29-674284D297A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746027"/>
            <a:ext cx="9144000" cy="5178904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2. Questions about Technology Choices (SLO2)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These are VERY IMPORTANT for Assessment 3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Technology selection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choose which technology to use for a project?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 you compare different tools or systems?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FAD8560D-29A9-95B4-C8E2-E72F412B6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F175AE73-9C9B-32F8-EFCD-706498C25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13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909DF929-2F57-75FB-4DEA-DACCB6A42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8150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0347B-8D98-5775-258D-1EBA4EDDC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6BF4A45D-A77D-0E3F-8DB0-F0BB77D52B3E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283222"/>
            <a:ext cx="9144000" cy="6176316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Evaluation criteria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What factors are most important when choosing technology?</a:t>
            </a:r>
            <a:br>
              <a:rPr lang="en-US" sz="2800" b="0" dirty="0">
                <a:solidFill>
                  <a:schemeClr val="tx1"/>
                </a:solidFill>
              </a:rPr>
            </a:br>
            <a:r>
              <a:rPr lang="en-US" sz="2800" b="0" dirty="0">
                <a:solidFill>
                  <a:schemeClr val="tx1"/>
                </a:solidFill>
              </a:rPr>
              <a:t>(e.g., cost, security, performance, ease of use)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Real-world decision making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Have you ever chosen a simpler solution instead of a more advanced one? Why?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 clients influence your technology choices?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863B07CD-1BB6-187B-95DC-CFEC89BB9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F7DE8691-DDB0-10FF-3F9D-3B4404C0D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14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E707A01B-6BDF-342B-BB9D-8F7E5FF65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0883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BB74-D77E-9BAB-B01E-853ED6212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66AA87C9-9A64-F26E-B4E4-36FF0D75235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345372"/>
            <a:ext cx="9144000" cy="4052016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Cloud &amp; IT services (specific to NSW IT Support)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decide between cloud solutions and on-premise systems?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What cloud platforms do you usually recommend (e.g., Microsoft, VMware)?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9B8D89D7-A3FC-D95D-A439-043586822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F0B2CD35-AAE4-3BD1-BA26-90C1EDC8C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15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AFEE9D2C-06EA-726C-D112-63E18967A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6451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F9D8-8491-2C6F-0B4D-C138C4A4C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3748186A-5E76-F5D7-C12B-C2831606D2B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2089840"/>
            <a:ext cx="9144000" cy="2563080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Cybersecurity (important for this company)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decide what level of security a client needs?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What factors affect cybersecurity decisions?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C29BFE3C-52D7-F50E-28D0-6A3E2E348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4086CBF9-13EB-B474-D51E-C293CC274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16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7E80838E-03A4-C23A-2BFE-017D7A028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0146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0D0B7-ED48-2FDB-757B-CDE5A4585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571BDAD8-59EB-AAC9-89E6-76F612621198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054059"/>
            <a:ext cx="9144000" cy="4634642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3. Questions specific to NSW IT Support (VERY GOOD)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These show students are thinking about the actual company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Business focus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What types of businesses do you mainly support (e.g., SMEs, law firms, childcare)?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 different industries require different IT solutions?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4382507C-02C2-C7F7-1778-F82403607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01BA7220-51C9-AE53-06EA-DC93CAA8A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17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06DB6FD7-215E-E605-4DA9-41C8D4BE2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3091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9277-7A1A-C150-C2C8-A303EBE6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F15B3398-D9EE-87D6-10A2-66F786C93F9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782342"/>
            <a:ext cx="9144000" cy="3178076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Managed IT services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What are the most common problems your clients face?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</a:t>
            </a:r>
            <a:r>
              <a:rPr lang="en-US" sz="2800" b="0" dirty="0" err="1">
                <a:solidFill>
                  <a:schemeClr val="tx1"/>
                </a:solidFill>
              </a:rPr>
              <a:t>prioritise</a:t>
            </a:r>
            <a:r>
              <a:rPr lang="en-US" sz="2800" b="0" dirty="0">
                <a:solidFill>
                  <a:schemeClr val="tx1"/>
                </a:solidFill>
              </a:rPr>
              <a:t> support requests?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B5B11AE4-315E-0482-CA86-CAE97D80C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E6BACB8E-57AA-92D6-849E-3B486BADE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18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49D5B0BE-BAB3-434E-ECF9-81552554E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379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85AA-8C54-3FAD-C00B-22F40ACA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98276FFB-CDD1-EB7C-31E6-57258EA4E442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685238"/>
            <a:ext cx="9144000" cy="2967682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Customer experience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improve customer experience using IT?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measure if your solution is successful?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7916EDB5-8FC6-ED41-FF23-7B2352635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8B8029FA-02A2-05C0-CFF4-D839F13D8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19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D7EE4358-E553-75EC-6771-B083ADF6B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6525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1ED48-904F-523F-710F-5A8F4BA1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5432DB91-C69F-7031-A3E6-1054127C749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685238"/>
            <a:ext cx="9144000" cy="2967682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Governance / IT Governance students (VERY IMPORTANT)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9625" algn="l"/>
              </a:tabLst>
            </a:pPr>
            <a:r>
              <a:rPr lang="en-US" sz="2800" b="0" dirty="0">
                <a:solidFill>
                  <a:schemeClr val="tx1"/>
                </a:solidFill>
              </a:rPr>
              <a:t>How do you manage risk and compliance for your clients?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9625" algn="l"/>
              </a:tabLst>
            </a:pPr>
            <a:r>
              <a:rPr lang="en-US" sz="2800" b="0" dirty="0">
                <a:solidFill>
                  <a:schemeClr val="tx1"/>
                </a:solidFill>
              </a:rPr>
              <a:t>Do you follow any frameworks (e.g., policies, standards)?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9625" algn="l"/>
              </a:tabLst>
            </a:pPr>
            <a:r>
              <a:rPr lang="en-US" sz="2800" b="0" dirty="0">
                <a:solidFill>
                  <a:schemeClr val="tx1"/>
                </a:solidFill>
              </a:rPr>
              <a:t>How do you ensure data security and privacy?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A16C71D0-1367-9767-B452-D6625C124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076F4DEB-EEFC-4EAF-DF0E-1BBD6CCDC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20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28732CBC-0739-E000-CFF6-A8CEBAC06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1954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F8C33-E218-74F3-244A-35A589B1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377CB66C-29AF-3AF1-214B-A0D97FC964B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685238"/>
            <a:ext cx="9144000" cy="2967682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Business Information Systems students</a:t>
            </a:r>
          </a:p>
          <a:p>
            <a:pPr marL="720725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align IT solutions with business goals? </a:t>
            </a:r>
          </a:p>
          <a:p>
            <a:pPr marL="720725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do you improve business processes using IT systems? </a:t>
            </a:r>
          </a:p>
          <a:p>
            <a:pPr marL="720725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 you recommend ERP, CRM, or other systems?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7F2BE947-5148-9039-3477-A5B87805E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223CB9AF-4C3B-3F09-D2EF-3C067421C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21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24C4FBA4-2FE8-B2DE-9689-1ECECD2BC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8615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52297-0E68-B633-EA2E-3902086F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36E7F7CA-DE9D-41F7-76DD-CA673DD4244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685238"/>
            <a:ext cx="9144000" cy="2967682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4. Questions linking to their Forage internship (SMART students will do this)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Students should compare: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“What I saw in Forage” vs “What happens in real company”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715D66C2-548D-E88B-5C88-1223ADEF8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568C8B70-5B4E-311D-6CD2-ED378E0AE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22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B8E571A1-DE16-0060-233E-73C91969C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4346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A90E-5EA9-152D-096D-144A1830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FDA0B43C-C082-7CB7-B26F-43879C5AB1E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568537"/>
            <a:ext cx="9144000" cy="5201084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Reflection questions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In my Forage internship, we followed a structured process. Do you follow a similar process in real projects?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In the internship, we had to choose between different tools. Do you face similar decisions in real projects?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realistic are virtual internship tasks compared to real client work?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7B36BAFF-19D9-6125-3A47-28E0C370B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7F467CDB-C0DA-53CA-B6D9-1521D0024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23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32ED9844-74E3-A2A0-83E2-73B213C63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5771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77527-7DD1-B540-BE62-8D0AB5C9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1631D01F-789A-22F6-DAE1-AD200AE4EB4E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568536"/>
            <a:ext cx="9144000" cy="6143413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5. How students use these answers in Assessment 3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Tell students to use answers like this: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In my Forage internship, I </a:t>
            </a:r>
            <a:r>
              <a:rPr lang="en-US" sz="2800" b="0" dirty="0" err="1">
                <a:solidFill>
                  <a:schemeClr val="tx1"/>
                </a:solidFill>
              </a:rPr>
              <a:t>analysed</a:t>
            </a:r>
            <a:r>
              <a:rPr lang="en-US" sz="2800" b="0" dirty="0">
                <a:solidFill>
                  <a:schemeClr val="tx1"/>
                </a:solidFill>
              </a:rPr>
              <a:t> a business problem and proposed a solution. Similarly, in NSW IT Support, engineers also begin by understanding client needs and gathering requirements before designing solutions. This shows that the design process is essential in both simulated and real-world environments.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94AB8330-3546-E039-9C47-99D0EED36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3F1A189D-CF7C-DF17-0163-7A6A0C6A4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24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CF48B793-7C3F-C8CE-84AA-2329D9A59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242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2F3D-E2EE-CD8A-9A43-6D13D2C6A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3A8D39D7-3DF1-ADDA-E746-2F1C0C75B134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568536"/>
            <a:ext cx="9144000" cy="6143413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Example (technology)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The internship required selecting a suitable tool, and NSW IT Support also evaluates technology based on factors such as cost, security, and client needs. This confirms that real-world technology decisions are influenced by both technical and business considerations.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F4CBFBE9-5E4F-51C0-2065-4294C7B4A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E47995A4-D948-CEC5-F1DA-60F5E796D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25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84886E92-0666-4262-61CE-47CD25E82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6920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635E-1AFC-E197-D418-7E21C39DD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4EB20606-EE92-4A7C-7AFD-B5A7171CC79A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568536"/>
            <a:ext cx="9144000" cy="5678515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6. Simple structure students can follow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Ask → Note → Use in report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Ask questions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Write short notes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Use them in: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Design process section (SLO1)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Technology evaluation section (SLO2)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5A87935B-5813-21F8-1362-737EB42E7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36106DEE-C2D2-FFA2-5B95-49AC831B1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26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3EEEFC35-D34A-8779-8AF3-E5EFAEB9D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0888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D9CED-8AF6-334D-B314-69214FAF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1D4B3786-E5AE-B45C-ED5E-D398E12A1D7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215899"/>
            <a:ext cx="9144000" cy="4383790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What students should NOT do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Don’t ask only yes/no questions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Don’t ask random questions not related to assignment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Don’t just copy answers — they must </a:t>
            </a:r>
            <a:r>
              <a:rPr lang="en-US" sz="2800" b="0" dirty="0" err="1">
                <a:solidFill>
                  <a:schemeClr val="tx1"/>
                </a:solidFill>
              </a:rPr>
              <a:t>analyse</a:t>
            </a:r>
            <a:r>
              <a:rPr lang="en-US" sz="2800" b="0" dirty="0">
                <a:solidFill>
                  <a:schemeClr val="tx1"/>
                </a:solidFill>
              </a:rPr>
              <a:t> and reflect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CBB0C087-88D8-25FC-7D43-52FEBD5CD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22BCCAE3-D498-90DA-F0CC-9C203F18E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27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5D3600FF-327E-7A0B-574D-A72DBBBF2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0081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C089F-F814-4315-4145-0F49A929D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78774653-E7AC-C283-0E0A-2F4A41AF8E2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315589"/>
            <a:ext cx="9144000" cy="6184410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Final simple instruction to students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Ask questions that help you understand: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problems are identified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solutions are designed </a:t>
            </a:r>
          </a:p>
          <a:p>
            <a:pPr marL="7207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how technology is chosen 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Then compare what you learned from NSW IT Support with your Forage internship.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E0CAED57-A0F0-AFD4-D319-E013B467C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CEDAD3EE-2E87-5927-89C2-2E72E5619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28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2EB0698A-F62C-F584-F718-CAB576AD4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7051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3D25E-2D0F-7194-F3B8-418A6635A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6A553D16-0A6C-2FC2-7730-F035A96D363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660961"/>
            <a:ext cx="9144000" cy="3121432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chemeClr val="tx1"/>
                </a:solidFill>
              </a:rPr>
              <a:t>These questions help students connect their Forage internship experience with real-world IT practices, especially in relation to the design process and technology decision-making.</a:t>
            </a:r>
          </a:p>
        </p:txBody>
      </p:sp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EEE4F228-ED37-F7F2-624F-7025A4916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57AB46D7-9E86-9D52-D875-32A198849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29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B77D1D17-324F-38C0-E402-B3BA5BD41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3232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7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260&quot;/&gt;&lt;/object&gt;&lt;object type=&quot;3&quot; unique_id=&quot;10005&quot;&gt;&lt;property id=&quot;20148&quot; value=&quot;5&quot;/&gt;&lt;property id=&quot;20300&quot; value=&quot;Slide 3 - &amp;quot;What is management?&amp;quot;&quot;/&gt;&lt;property id=&quot;20307&quot; value=&quot;297&quot;/&gt;&lt;/object&gt;&lt;object type=&quot;3&quot; unique_id=&quot;10006&quot;&gt;&lt;property id=&quot;20148&quot; value=&quot;5&quot;/&gt;&lt;property id=&quot;20300&quot; value=&quot;Slide 4 - &amp;quot;Management is…&amp;quot;&quot;/&gt;&lt;property id=&quot;20307&quot; value=&quot;298&quot;/&gt;&lt;/object&gt;&lt;object type=&quot;3&quot; unique_id=&quot;10007&quot;&gt;&lt;property id=&quot;20148&quot; value=&quot;5&quot;/&gt;&lt;property id=&quot;20300&quot; value=&quot;Slide 5 - &amp;quot;Management  functions&amp;quot;&quot;/&gt;&lt;property id=&quot;20307&quot; value=&quot;299&quot;/&gt;&lt;/object&gt;&lt;object type=&quot;3&quot; unique_id=&quot;10008&quot;&gt;&lt;property id=&quot;20148&quot; value=&quot;5&quot;/&gt;&lt;property id=&quot;20300&quot; value=&quot;Slide 6 - &amp;quot;Planning&amp;quot;&quot;/&gt;&lt;property id=&quot;20307&quot; value=&quot;300&quot;/&gt;&lt;/object&gt;&lt;object type=&quot;3&quot; unique_id=&quot;10009&quot;&gt;&lt;property id=&quot;20148&quot; value=&quot;5&quot;/&gt;&lt;property id=&quot;20300&quot; value=&quot;Slide 7 - &amp;quot;Organising&amp;quot;&quot;/&gt;&lt;property id=&quot;20307&quot; value=&quot;301&quot;/&gt;&lt;/object&gt;&lt;object type=&quot;3&quot; unique_id=&quot;10010&quot;&gt;&lt;property id=&quot;20148&quot; value=&quot;5&quot;/&gt;&lt;property id=&quot;20300&quot; value=&quot;Slide 8 - &amp;quot;Leading&amp;quot;&quot;/&gt;&lt;property id=&quot;20307&quot; value=&quot;302&quot;/&gt;&lt;/object&gt;&lt;object type=&quot;3&quot; unique_id=&quot;10011&quot;&gt;&lt;property id=&quot;20148&quot; value=&quot;5&quot;/&gt;&lt;property id=&quot;20300&quot; value=&quot;Slide 9 - &amp;quot;Controlling&amp;quot;&quot;/&gt;&lt;property id=&quot;20307&quot; value=&quot;303&quot;/&gt;&lt;/object&gt;&lt;object type=&quot;3&quot; unique_id=&quot;10012&quot;&gt;&lt;property id=&quot;20148&quot; value=&quot;5&quot;/&gt;&lt;property id=&quot;20300&quot; value=&quot;Slide 10 - &amp;quot;The control process&amp;quot;&quot;/&gt;&lt;property id=&quot;20307&quot; value=&quot;304&quot;/&gt;&lt;/object&gt;&lt;object type=&quot;3&quot; unique_id=&quot;10013&quot;&gt;&lt;property id=&quot;20148&quot; value=&quot;5&quot;/&gt;&lt;property id=&quot;20300&quot; value=&quot;Slide 11 - &amp;quot;What do managers do?&amp;quot;&quot;/&gt;&lt;property id=&quot;20307&quot; value=&quot;305&quot;/&gt;&lt;/object&gt;&lt;object type=&quot;3&quot; unique_id=&quot;10014&quot;&gt;&lt;property id=&quot;20148&quot; value=&quot;5&quot;/&gt;&lt;property id=&quot;20300&quot; value=&quot;Slide 12 - &amp;quot;Kinds of managers&amp;quot;&quot;/&gt;&lt;property id=&quot;20307&quot; value=&quot;306&quot;/&gt;&lt;/object&gt;&lt;object type=&quot;3&quot; unique_id=&quot;10015&quot;&gt;&lt;property id=&quot;20148&quot; value=&quot;5&quot;/&gt;&lt;property id=&quot;20300&quot; value=&quot;Slide 13 - &amp;quot;Top managers hold positions such as:&amp;quot;&quot;/&gt;&lt;property id=&quot;20307&quot; value=&quot;307&quot;/&gt;&lt;/object&gt;&lt;object type=&quot;3&quot; unique_id=&quot;10016&quot;&gt;&lt;property id=&quot;20148&quot; value=&quot;5&quot;/&gt;&lt;property id=&quot;20300&quot; value=&quot;Slide 14 - &amp;quot;Responsibilities of top managers&amp;quot;&quot;/&gt;&lt;property id=&quot;20307&quot; value=&quot;308&quot;/&gt;&lt;/object&gt;&lt;object type=&quot;3&quot; unique_id=&quot;10017&quot;&gt;&lt;property id=&quot;20148&quot; value=&quot;5&quot;/&gt;&lt;property id=&quot;20300&quot; value=&quot;Slide 15 - &amp;quot;Middle managers hold such positions as:&amp;quot;&quot;/&gt;&lt;property id=&quot;20307&quot; value=&quot;309&quot;/&gt;&lt;/object&gt;&lt;object type=&quot;3&quot; unique_id=&quot;10018&quot;&gt;&lt;property id=&quot;20148&quot; value=&quot;5&quot;/&gt;&lt;property id=&quot;20300&quot; value=&quot;Slide 16 - &amp;quot;Responsibilities of middle managers&amp;quot;&quot;/&gt;&lt;property id=&quot;20307&quot; value=&quot;310&quot;/&gt;&lt;/object&gt;&lt;object type=&quot;3&quot; unique_id=&quot;10019&quot;&gt;&lt;property id=&quot;20148&quot; value=&quot;5&quot;/&gt;&lt;property id=&quot;20300&quot; value=&quot;Slide 17 - &amp;quot;First-line managers hold such positions as:&amp;quot;&quot;/&gt;&lt;property id=&quot;20307&quot; value=&quot;311&quot;/&gt;&lt;/object&gt;&lt;object type=&quot;3&quot; unique_id=&quot;10020&quot;&gt;&lt;property id=&quot;20148&quot; value=&quot;5&quot;/&gt;&lt;property id=&quot;20300&quot; value=&quot;Slide 18 - &amp;quot;Responsibilities of first-line managers&amp;quot;&quot;/&gt;&lt;property id=&quot;20307&quot; value=&quot;312&quot;/&gt;&lt;/object&gt;&lt;object type=&quot;3&quot; unique_id=&quot;10021&quot;&gt;&lt;property id=&quot;20148&quot; value=&quot;5&quot;/&gt;&lt;property id=&quot;20300&quot; value=&quot;Slide 19 - &amp;quot;Responsibilities of team leaders&amp;quot;&quot;/&gt;&lt;property id=&quot;20307&quot; value=&quot;313&quot;/&gt;&lt;/object&gt;&lt;object type=&quot;3&quot; unique_id=&quot;10022&quot;&gt;&lt;property id=&quot;20148&quot; value=&quot;5&quot;/&gt;&lt;property id=&quot;20300&quot; value=&quot;Slide 20 - &amp;quot;Mintzberg’s managerial roles&amp;quot;&quot;/&gt;&lt;property id=&quot;20307&quot; value=&quot;314&quot;/&gt;&lt;/object&gt;&lt;object type=&quot;3&quot; unique_id=&quot;10023&quot;&gt;&lt;property id=&quot;20148&quot; value=&quot;5&quot;/&gt;&lt;property id=&quot;20300&quot; value=&quot;Slide 21 - &amp;quot;Managerial roles&amp;quot;&quot;/&gt;&lt;property id=&quot;20307&quot; value=&quot;315&quot;/&gt;&lt;/object&gt;&lt;object type=&quot;3&quot; unique_id=&quot;10024&quot;&gt;&lt;property id=&quot;20148&quot; value=&quot;5&quot;/&gt;&lt;property id=&quot;20300&quot; value=&quot;Slide 22 - &amp;quot;Managerial roles&amp;quot;&quot;/&gt;&lt;property id=&quot;20307&quot; value=&quot;316&quot;/&gt;&lt;/object&gt;&lt;object type=&quot;3&quot; unique_id=&quot;10025&quot;&gt;&lt;property id=&quot;20148&quot; value=&quot;5&quot;/&gt;&lt;property id=&quot;20300&quot; value=&quot;Slide 23 - &amp;quot;Managerial roles&amp;quot;&quot;/&gt;&lt;property id=&quot;20307&quot; value=&quot;317&quot;/&gt;&lt;/object&gt;&lt;object type=&quot;3&quot; unique_id=&quot;10026&quot;&gt;&lt;property id=&quot;20148&quot; value=&quot;5&quot;/&gt;&lt;property id=&quot;20300&quot; value=&quot;Slide 24 - &amp;quot;Manager’s quick response &amp;#x0D;&amp;#x0A;saves clients&amp;quot;&quot;/&gt;&lt;property id=&quot;20307&quot; value=&quot;318&quot;/&gt;&lt;/object&gt;&lt;object type=&quot;3&quot; unique_id=&quot;10027&quot;&gt;&lt;property id=&quot;20148&quot; value=&quot;5&quot;/&gt;&lt;property id=&quot;20300&quot; value=&quot;Slide 25 - &amp;quot;What does it take to be a manager?&amp;quot;&quot;/&gt;&lt;property id=&quot;20307&quot; value=&quot;319&quot;/&gt;&lt;/object&gt;&lt;object type=&quot;3&quot; unique_id=&quot;10028&quot;&gt;&lt;property id=&quot;20148&quot; value=&quot;5&quot;/&gt;&lt;property id=&quot;20300&quot; value=&quot;Slide 26 - &amp;quot;Skills companies look for in managers&amp;quot;&quot;/&gt;&lt;property id=&quot;20307&quot; value=&quot;320&quot;/&gt;&lt;/object&gt;&lt;object type=&quot;3&quot; unique_id=&quot;10029&quot;&gt;&lt;property id=&quot;20148&quot; value=&quot;5&quot;/&gt;&lt;property id=&quot;20300&quot; value=&quot;Slide 27 - &amp;quot;Management skills&amp;quot;&quot;/&gt;&lt;property id=&quot;20307&quot; value=&quot;321&quot;/&gt;&lt;/object&gt;&lt;object type=&quot;3&quot; unique_id=&quot;10030&quot;&gt;&lt;property id=&quot;20148&quot; value=&quot;5&quot;/&gt;&lt;property id=&quot;20300&quot; value=&quot;Slide 28 - &amp;quot;Some common mistakes managers make&amp;quot;&quot;/&gt;&lt;property id=&quot;20307&quot; value=&quot;322&quot;/&gt;&lt;/object&gt;&lt;object type=&quot;3&quot; unique_id=&quot;10031&quot;&gt;&lt;property id=&quot;20148&quot; value=&quot;5&quot;/&gt;&lt;property id=&quot;20300&quot; value=&quot;Slide 29 - &amp;quot;Transition to management (the first year)&amp;quot;&quot;/&gt;&lt;property id=&quot;20307&quot; value=&quot;323&quot;/&gt;&lt;/object&gt;&lt;object type=&quot;3&quot; unique_id=&quot;10032&quot;&gt;&lt;property id=&quot;20148&quot; value=&quot;5&quot;/&gt;&lt;property id=&quot;20300&quot; value=&quot;Slide 30 - &amp;quot;Why management matters&amp;quot;&quot;/&gt;&lt;property id=&quot;20307&quot; value=&quot;324&quot;/&gt;&lt;/object&gt;&lt;object type=&quot;3&quot; unique_id=&quot;10033&quot;&gt;&lt;property id=&quot;20148&quot; value=&quot;5&quot;/&gt;&lt;property id=&quot;20300&quot; value=&quot;Slide 31 - &amp;quot;Competitive advantage through people&amp;quot;&quot;/&gt;&lt;property id=&quot;20307&quot; value=&quot;325&quot;/&gt;&lt;/object&gt;&lt;object type=&quot;3&quot; unique_id=&quot;10034&quot;&gt;&lt;property id=&quot;20148&quot; value=&quot;5&quot;/&gt;&lt;property id=&quot;20300&quot; value=&quot;Slide 32 - &amp;quot;Competitive advantage through people&amp;quot;&quot;/&gt;&lt;property id=&quot;20307&quot; value=&quot;326&quot;/&gt;&lt;/object&gt;&lt;object type=&quot;3&quot; unique_id=&quot;10035&quot;&gt;&lt;property id=&quot;20148&quot; value=&quot;5&quot;/&gt;&lt;property id=&quot;20300&quot; value=&quot;Slide 33 - &amp;quot;Competitive advantage through people&amp;quot;&quot;/&gt;&lt;property id=&quot;20307&quot; value=&quot;327&quot;/&gt;&lt;/object&gt;&lt;/object&gt;&lt;object type=&quot;8&quot; unique_id=&quot;10070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3687</TotalTime>
  <Words>1336</Words>
  <Application>Microsoft Office PowerPoint</Application>
  <PresentationFormat>On-screen Show (4:3)</PresentationFormat>
  <Paragraphs>235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Narrow</vt:lpstr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Lavecchia, Olga (CL AUS)</dc:creator>
  <cp:lastModifiedBy>Farshid Keivanian</cp:lastModifiedBy>
  <cp:revision>418</cp:revision>
  <dcterms:created xsi:type="dcterms:W3CDTF">2009-10-28T23:36:30Z</dcterms:created>
  <dcterms:modified xsi:type="dcterms:W3CDTF">2026-04-20T06:37:34Z</dcterms:modified>
</cp:coreProperties>
</file>