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04"/>
  </p:notesMasterIdLst>
  <p:handoutMasterIdLst>
    <p:handoutMasterId r:id="rId105"/>
  </p:handoutMasterIdLst>
  <p:sldIdLst>
    <p:sldId id="260" r:id="rId2"/>
    <p:sldId id="286" r:id="rId3"/>
    <p:sldId id="304" r:id="rId4"/>
    <p:sldId id="502" r:id="rId5"/>
    <p:sldId id="503" r:id="rId6"/>
    <p:sldId id="504" r:id="rId7"/>
    <p:sldId id="505" r:id="rId8"/>
    <p:sldId id="506" r:id="rId9"/>
    <p:sldId id="507" r:id="rId10"/>
    <p:sldId id="508" r:id="rId11"/>
    <p:sldId id="509" r:id="rId12"/>
    <p:sldId id="510" r:id="rId13"/>
    <p:sldId id="511" r:id="rId14"/>
    <p:sldId id="512" r:id="rId15"/>
    <p:sldId id="513" r:id="rId16"/>
    <p:sldId id="514" r:id="rId17"/>
    <p:sldId id="515" r:id="rId18"/>
    <p:sldId id="516" r:id="rId19"/>
    <p:sldId id="517" r:id="rId20"/>
    <p:sldId id="518" r:id="rId21"/>
    <p:sldId id="519" r:id="rId22"/>
    <p:sldId id="520" r:id="rId23"/>
    <p:sldId id="521" r:id="rId24"/>
    <p:sldId id="522" r:id="rId25"/>
    <p:sldId id="523" r:id="rId26"/>
    <p:sldId id="524" r:id="rId27"/>
    <p:sldId id="525" r:id="rId28"/>
    <p:sldId id="526" r:id="rId29"/>
    <p:sldId id="527" r:id="rId30"/>
    <p:sldId id="528" r:id="rId31"/>
    <p:sldId id="501" r:id="rId32"/>
    <p:sldId id="529" r:id="rId33"/>
    <p:sldId id="530" r:id="rId34"/>
    <p:sldId id="531" r:id="rId35"/>
    <p:sldId id="532" r:id="rId36"/>
    <p:sldId id="533" r:id="rId37"/>
    <p:sldId id="535" r:id="rId38"/>
    <p:sldId id="536" r:id="rId39"/>
    <p:sldId id="537" r:id="rId40"/>
    <p:sldId id="538" r:id="rId41"/>
    <p:sldId id="539" r:id="rId42"/>
    <p:sldId id="540" r:id="rId43"/>
    <p:sldId id="541" r:id="rId44"/>
    <p:sldId id="542" r:id="rId45"/>
    <p:sldId id="543" r:id="rId46"/>
    <p:sldId id="544" r:id="rId47"/>
    <p:sldId id="545" r:id="rId48"/>
    <p:sldId id="305" r:id="rId49"/>
    <p:sldId id="457" r:id="rId50"/>
    <p:sldId id="546" r:id="rId51"/>
    <p:sldId id="547" r:id="rId52"/>
    <p:sldId id="548" r:id="rId53"/>
    <p:sldId id="549" r:id="rId54"/>
    <p:sldId id="550" r:id="rId55"/>
    <p:sldId id="551" r:id="rId56"/>
    <p:sldId id="552" r:id="rId57"/>
    <p:sldId id="553" r:id="rId58"/>
    <p:sldId id="554" r:id="rId59"/>
    <p:sldId id="555" r:id="rId60"/>
    <p:sldId id="556" r:id="rId61"/>
    <p:sldId id="557" r:id="rId62"/>
    <p:sldId id="558" r:id="rId63"/>
    <p:sldId id="559" r:id="rId64"/>
    <p:sldId id="560" r:id="rId65"/>
    <p:sldId id="561" r:id="rId66"/>
    <p:sldId id="562" r:id="rId67"/>
    <p:sldId id="563" r:id="rId68"/>
    <p:sldId id="564" r:id="rId69"/>
    <p:sldId id="565" r:id="rId70"/>
    <p:sldId id="566" r:id="rId71"/>
    <p:sldId id="567" r:id="rId72"/>
    <p:sldId id="568" r:id="rId73"/>
    <p:sldId id="569" r:id="rId74"/>
    <p:sldId id="570" r:id="rId75"/>
    <p:sldId id="412" r:id="rId76"/>
    <p:sldId id="487" r:id="rId77"/>
    <p:sldId id="438" r:id="rId78"/>
    <p:sldId id="476" r:id="rId79"/>
    <p:sldId id="478" r:id="rId80"/>
    <p:sldId id="479" r:id="rId81"/>
    <p:sldId id="480" r:id="rId82"/>
    <p:sldId id="481" r:id="rId83"/>
    <p:sldId id="488" r:id="rId84"/>
    <p:sldId id="482" r:id="rId85"/>
    <p:sldId id="483" r:id="rId86"/>
    <p:sldId id="490" r:id="rId87"/>
    <p:sldId id="484" r:id="rId88"/>
    <p:sldId id="489" r:id="rId89"/>
    <p:sldId id="485" r:id="rId90"/>
    <p:sldId id="486" r:id="rId91"/>
    <p:sldId id="491" r:id="rId92"/>
    <p:sldId id="492" r:id="rId93"/>
    <p:sldId id="494" r:id="rId94"/>
    <p:sldId id="495" r:id="rId95"/>
    <p:sldId id="496" r:id="rId96"/>
    <p:sldId id="497" r:id="rId97"/>
    <p:sldId id="292" r:id="rId98"/>
    <p:sldId id="363" r:id="rId99"/>
    <p:sldId id="500" r:id="rId100"/>
    <p:sldId id="499" r:id="rId101"/>
    <p:sldId id="295" r:id="rId102"/>
    <p:sldId id="296" r:id="rId103"/>
  </p:sldIdLst>
  <p:sldSz cx="9144000" cy="6858000" type="screen4x3"/>
  <p:notesSz cx="6858000" cy="9144000"/>
  <p:custDataLst>
    <p:tags r:id="rId106"/>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9" autoAdjust="0"/>
    <p:restoredTop sz="95714" autoAdjust="0"/>
  </p:normalViewPr>
  <p:slideViewPr>
    <p:cSldViewPr snapToGrid="0" snapToObjects="1">
      <p:cViewPr>
        <p:scale>
          <a:sx n="50" d="100"/>
          <a:sy n="50" d="100"/>
        </p:scale>
        <p:origin x="1290" y="498"/>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ommentAuthors" Target="commen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18/05/2026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5/18/2026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URStfl3Igg&amp;list=PLJBzV_AsRENMOTklGQ2jhzkvjckCQMjaU"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uCUsj7_vAcI"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127000" y="372858"/>
            <a:ext cx="8605044"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9</a:t>
            </a:r>
            <a:r>
              <a:rPr lang="en-AU" altLang="en-US" sz="5400" dirty="0">
                <a:solidFill>
                  <a:srgbClr val="00B0F0"/>
                </a:solidFill>
              </a:rPr>
              <a:t>: </a:t>
            </a:r>
            <a:r>
              <a:rPr lang="en-AU" sz="5400" dirty="0">
                <a:solidFill>
                  <a:srgbClr val="00B0F0"/>
                </a:solidFill>
              </a:rPr>
              <a:t>Project Evaluation and Reflection</a:t>
            </a: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Introduction to IT Project Reports</a:t>
            </a:r>
          </a:p>
          <a:p>
            <a:pPr marL="342900" lvl="0" indent="-342900">
              <a:buSzPts val="1000"/>
              <a:buFont typeface="Symbol" panose="05050102010706020507" pitchFamily="18" charset="2"/>
              <a:buChar char=""/>
              <a:tabLst>
                <a:tab pos="457200" algn="l"/>
              </a:tabLst>
            </a:pPr>
            <a:r>
              <a:rPr lang="en-AU" sz="2400" dirty="0">
                <a:latin typeface="Times New Roman" panose="02020603050405020304" pitchFamily="18" charset="0"/>
              </a:rPr>
              <a:t>Define Report Objectives and Scope</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Understand Your Audience</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Report Format and Type</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Gather the Facts and Data</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Structure the Report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b="1" dirty="0">
                <a:solidFill>
                  <a:srgbClr val="00B0F0"/>
                </a:solidFill>
              </a:rPr>
              <a:t>Evaluating IT Projects in Real Industry</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r>
              <a:rPr lang="en-US" sz="2400" b="1" dirty="0"/>
              <a:t>This week students learn:</a:t>
            </a:r>
          </a:p>
          <a:p>
            <a:r>
              <a:rPr lang="en-US" sz="2400" dirty="0"/>
              <a:t>- how IT projects are evaluated, </a:t>
            </a:r>
          </a:p>
          <a:p>
            <a:r>
              <a:rPr lang="en-US" sz="2400" dirty="0"/>
              <a:t>- how companies measure success, </a:t>
            </a:r>
          </a:p>
          <a:p>
            <a:r>
              <a:rPr lang="en-US" sz="2400" dirty="0"/>
              <a:t>- how stakeholder feedback improves projects, </a:t>
            </a:r>
          </a:p>
          <a:p>
            <a:r>
              <a:rPr lang="en-US" sz="2400" dirty="0"/>
              <a:t>- how to critically reflect on project outcomes, </a:t>
            </a:r>
          </a:p>
          <a:p>
            <a:r>
              <a:rPr lang="en-US" sz="2400" dirty="0"/>
              <a:t>- and how to apply lessons learned. </a:t>
            </a:r>
          </a:p>
          <a:p>
            <a:r>
              <a:rPr lang="en-US" sz="2400" dirty="0"/>
              <a:t>These ideas directly support Assessment 4.</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3E733-5D5E-3718-CAA8-ED1A69E8DF3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F2B1BB1-0813-0512-A599-17E5AEBD77D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Why Project Evaluation Matters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B954C35-BB97-4DE2-B930-6417086B7F92}"/>
              </a:ext>
            </a:extLst>
          </p:cNvPr>
          <p:cNvSpPr>
            <a:spLocks noGrp="1" noChangeArrowheads="1"/>
          </p:cNvSpPr>
          <p:nvPr>
            <p:ph idx="1"/>
          </p:nvPr>
        </p:nvSpPr>
        <p:spPr>
          <a:xfrm>
            <a:off x="558006" y="1835151"/>
            <a:ext cx="8027988" cy="4901980"/>
          </a:xfrm>
          <a:solidFill>
            <a:schemeClr val="bg1"/>
          </a:solidFill>
        </p:spPr>
        <p:txBody>
          <a:bodyPr/>
          <a:lstStyle/>
          <a:p>
            <a:pPr>
              <a:lnSpc>
                <a:spcPct val="150000"/>
              </a:lnSpc>
            </a:pPr>
            <a:r>
              <a:rPr lang="en-US" sz="2200" b="1" dirty="0"/>
              <a:t>In Real Companies Like NSW IT Support:</a:t>
            </a:r>
          </a:p>
          <a:p>
            <a:pPr>
              <a:lnSpc>
                <a:spcPct val="150000"/>
              </a:lnSpc>
            </a:pPr>
            <a:r>
              <a:rPr lang="en-US" sz="2200" dirty="0"/>
              <a:t>Projects are not considered successful only because:</a:t>
            </a:r>
            <a:br>
              <a:rPr lang="en-US" sz="2200" dirty="0"/>
            </a:br>
            <a:r>
              <a:rPr lang="en-US" sz="2200" dirty="0"/>
              <a:t>✔ the system works.</a:t>
            </a:r>
          </a:p>
          <a:p>
            <a:pPr>
              <a:lnSpc>
                <a:spcPct val="150000"/>
              </a:lnSpc>
            </a:pPr>
            <a:r>
              <a:rPr lang="en-US" sz="2200" dirty="0"/>
              <a:t>Projects must also:</a:t>
            </a:r>
            <a:br>
              <a:rPr lang="en-US" sz="2200" dirty="0"/>
            </a:br>
            <a:r>
              <a:rPr lang="en-US" sz="2200" dirty="0"/>
              <a:t>✔ solve business problems</a:t>
            </a:r>
            <a:br>
              <a:rPr lang="en-US" sz="2200" dirty="0"/>
            </a:br>
            <a:r>
              <a:rPr lang="en-US" sz="2200" dirty="0"/>
              <a:t>✔ improve customer experience</a:t>
            </a:r>
            <a:br>
              <a:rPr lang="en-US" sz="2200" dirty="0"/>
            </a:br>
            <a:r>
              <a:rPr lang="en-US" sz="2200" dirty="0"/>
              <a:t>✔ reduce cost/time</a:t>
            </a:r>
            <a:br>
              <a:rPr lang="en-US" sz="2200" dirty="0"/>
            </a:br>
            <a:r>
              <a:rPr lang="en-US" sz="2200" dirty="0"/>
              <a:t>✔ improve security</a:t>
            </a:r>
            <a:br>
              <a:rPr lang="en-US" sz="2200" dirty="0"/>
            </a:br>
            <a:r>
              <a:rPr lang="en-US" sz="2200" dirty="0"/>
              <a:t>✔ satisfy stakeholders</a:t>
            </a:r>
          </a:p>
        </p:txBody>
      </p:sp>
      <p:sp>
        <p:nvSpPr>
          <p:cNvPr id="2" name="Footer Placeholder 1">
            <a:extLst>
              <a:ext uri="{FF2B5EF4-FFF2-40B4-BE49-F238E27FC236}">
                <a16:creationId xmlns:a16="http://schemas.microsoft.com/office/drawing/2014/main" id="{565170C8-2688-71F1-4283-1E9AA6130C4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40A1DD3-BF51-1045-2CEB-9EA38055BB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144047C6-8205-02DB-FB6B-434D2089D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430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63AE3-B196-07F5-C749-114710B5A8A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27F115A-0F06-997C-57BE-D71A374B8A3B}"/>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b="1" dirty="0">
                <a:solidFill>
                  <a:srgbClr val="00B0F0"/>
                </a:solidFill>
              </a:rPr>
              <a:t>Connecting Week 9 to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40915538-89FE-D39F-7121-210D50883980}"/>
              </a:ext>
            </a:extLst>
          </p:cNvPr>
          <p:cNvSpPr>
            <a:spLocks noGrp="1" noChangeArrowheads="1"/>
          </p:cNvSpPr>
          <p:nvPr>
            <p:ph idx="1"/>
          </p:nvPr>
        </p:nvSpPr>
        <p:spPr>
          <a:xfrm>
            <a:off x="0" y="1835151"/>
            <a:ext cx="9144000" cy="3595493"/>
          </a:xfrm>
          <a:solidFill>
            <a:schemeClr val="bg1"/>
          </a:solidFill>
        </p:spPr>
        <p:txBody>
          <a:bodyPr/>
          <a:lstStyle/>
          <a:p>
            <a:pPr>
              <a:lnSpc>
                <a:spcPct val="150000"/>
              </a:lnSpc>
            </a:pPr>
            <a:r>
              <a:rPr lang="en-US" sz="2400" b="1" dirty="0"/>
              <a:t>Assessment 4 Requires Students To Think About:</a:t>
            </a:r>
          </a:p>
          <a:p>
            <a:pPr>
              <a:lnSpc>
                <a:spcPct val="150000"/>
              </a:lnSpc>
            </a:pPr>
            <a:r>
              <a:rPr lang="en-US" sz="2400" b="1" dirty="0"/>
              <a:t>Evaluation</a:t>
            </a:r>
          </a:p>
          <a:p>
            <a:pPr>
              <a:lnSpc>
                <a:spcPct val="150000"/>
              </a:lnSpc>
            </a:pPr>
            <a:r>
              <a:rPr lang="en-US" sz="2400" dirty="0"/>
              <a:t>How will you know your solution works?</a:t>
            </a:r>
          </a:p>
          <a:p>
            <a:pPr>
              <a:lnSpc>
                <a:spcPct val="150000"/>
              </a:lnSpc>
            </a:pPr>
            <a:r>
              <a:rPr lang="en-US" sz="2400" b="1" dirty="0"/>
              <a:t>Stakeholder Feedback</a:t>
            </a:r>
          </a:p>
          <a:p>
            <a:pPr>
              <a:lnSpc>
                <a:spcPct val="150000"/>
              </a:lnSpc>
            </a:pPr>
            <a:r>
              <a:rPr lang="en-US" sz="2400" dirty="0"/>
              <a:t>What do users/clients think?</a:t>
            </a:r>
          </a:p>
        </p:txBody>
      </p:sp>
      <p:sp>
        <p:nvSpPr>
          <p:cNvPr id="2" name="Footer Placeholder 1">
            <a:extLst>
              <a:ext uri="{FF2B5EF4-FFF2-40B4-BE49-F238E27FC236}">
                <a16:creationId xmlns:a16="http://schemas.microsoft.com/office/drawing/2014/main" id="{205C827B-B83F-94D2-A5C4-A214B05DC24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54CD456-54AC-A0E4-3B7B-8CE0807FF1B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908CA4A3-AE58-C40F-B549-AC7F52F83D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8493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429E-8435-0872-07FD-DCF2C854E3E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DDCAAA7-1A37-6D6C-DD96-824E2B83ACB2}"/>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b="1" dirty="0">
                <a:solidFill>
                  <a:srgbClr val="00B0F0"/>
                </a:solidFill>
              </a:rPr>
              <a:t>Connecting Week 9 to Assessment 4</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28D99CF-872F-9879-99BF-7DE63FAEE77E}"/>
              </a:ext>
            </a:extLst>
          </p:cNvPr>
          <p:cNvSpPr>
            <a:spLocks noGrp="1" noChangeArrowheads="1"/>
          </p:cNvSpPr>
          <p:nvPr>
            <p:ph idx="1"/>
          </p:nvPr>
        </p:nvSpPr>
        <p:spPr>
          <a:xfrm>
            <a:off x="0" y="1835151"/>
            <a:ext cx="9144000" cy="2848361"/>
          </a:xfrm>
          <a:solidFill>
            <a:schemeClr val="bg1"/>
          </a:solidFill>
        </p:spPr>
        <p:txBody>
          <a:bodyPr/>
          <a:lstStyle/>
          <a:p>
            <a:pPr>
              <a:lnSpc>
                <a:spcPct val="150000"/>
              </a:lnSpc>
            </a:pPr>
            <a:r>
              <a:rPr lang="en-US" sz="2400" b="1" dirty="0"/>
              <a:t>Reflection</a:t>
            </a:r>
          </a:p>
          <a:p>
            <a:pPr>
              <a:lnSpc>
                <a:spcPct val="150000"/>
              </a:lnSpc>
            </a:pPr>
            <a:r>
              <a:rPr lang="en-US" sz="2400" dirty="0"/>
              <a:t>What could be improved later?</a:t>
            </a:r>
          </a:p>
          <a:p>
            <a:pPr>
              <a:lnSpc>
                <a:spcPct val="150000"/>
              </a:lnSpc>
            </a:pPr>
            <a:r>
              <a:rPr lang="en-US" sz="2400" b="1" dirty="0"/>
              <a:t>Future Development</a:t>
            </a:r>
          </a:p>
          <a:p>
            <a:pPr>
              <a:lnSpc>
                <a:spcPct val="150000"/>
              </a:lnSpc>
            </a:pPr>
            <a:r>
              <a:rPr lang="en-US" sz="2400" dirty="0"/>
              <a:t>How can the system evolve?</a:t>
            </a:r>
          </a:p>
        </p:txBody>
      </p:sp>
      <p:sp>
        <p:nvSpPr>
          <p:cNvPr id="2" name="Footer Placeholder 1">
            <a:extLst>
              <a:ext uri="{FF2B5EF4-FFF2-40B4-BE49-F238E27FC236}">
                <a16:creationId xmlns:a16="http://schemas.microsoft.com/office/drawing/2014/main" id="{E7114DBB-9171-A0C1-5B51-E07B43F9212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FB007A-6272-F200-96AA-9A118F12862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8CB416D6-86CA-7D6D-0EBC-600D960F8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9804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B72E1-6BFB-84FD-49C6-D1FBD24664C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A03761C-D2F4-AE95-DFBA-1F6599D8CDE7}"/>
              </a:ext>
            </a:extLst>
          </p:cNvPr>
          <p:cNvSpPr>
            <a:spLocks noGrp="1"/>
          </p:cNvSpPr>
          <p:nvPr>
            <p:ph type="title"/>
          </p:nvPr>
        </p:nvSpPr>
        <p:spPr>
          <a:xfrm>
            <a:off x="0" y="612775"/>
            <a:ext cx="9107488" cy="1222376"/>
          </a:xfrm>
        </p:spPr>
        <p:txBody>
          <a:bodyPr>
            <a:normAutofit fontScale="90000"/>
          </a:bodyPr>
          <a:lstStyle/>
          <a:p>
            <a:pPr algn="ctr" eaLnBrk="1" fontAlgn="auto" hangingPunct="1">
              <a:spcAft>
                <a:spcPts val="0"/>
              </a:spcAft>
              <a:defRPr/>
            </a:pPr>
            <a:r>
              <a:rPr lang="en-US" b="1" dirty="0">
                <a:solidFill>
                  <a:srgbClr val="00B0F0"/>
                </a:solidFill>
              </a:rPr>
              <a:t>Common Problems NSW IT Support May Face</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A71277E-4366-EA1F-EB4A-2229448FFE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9B3E644-E635-E5AF-84CC-E6111B8D4A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A94D5435-B6AC-7B96-1519-E328BA81B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9DF7EF3C-8801-879F-8488-828F6FAC77F8}"/>
              </a:ext>
            </a:extLst>
          </p:cNvPr>
          <p:cNvGraphicFramePr>
            <a:graphicFrameLocks noGrp="1"/>
          </p:cNvGraphicFramePr>
          <p:nvPr>
            <p:extLst>
              <p:ext uri="{D42A27DB-BD31-4B8C-83A1-F6EECF244321}">
                <p14:modId xmlns:p14="http://schemas.microsoft.com/office/powerpoint/2010/main" val="437812947"/>
              </p:ext>
            </p:extLst>
          </p:nvPr>
        </p:nvGraphicFramePr>
        <p:xfrm>
          <a:off x="781844" y="2360196"/>
          <a:ext cx="7543800" cy="3627120"/>
        </p:xfrm>
        <a:graphic>
          <a:graphicData uri="http://schemas.openxmlformats.org/drawingml/2006/table">
            <a:tbl>
              <a:tblPr>
                <a:tableStyleId>{616DA210-FB5B-4158-B5E0-FEB733F419BA}</a:tableStyleId>
              </a:tblPr>
              <a:tblGrid>
                <a:gridCol w="3771900">
                  <a:extLst>
                    <a:ext uri="{9D8B030D-6E8A-4147-A177-3AD203B41FA5}">
                      <a16:colId xmlns:a16="http://schemas.microsoft.com/office/drawing/2014/main" val="777018369"/>
                    </a:ext>
                  </a:extLst>
                </a:gridCol>
                <a:gridCol w="3771900">
                  <a:extLst>
                    <a:ext uri="{9D8B030D-6E8A-4147-A177-3AD203B41FA5}">
                      <a16:colId xmlns:a16="http://schemas.microsoft.com/office/drawing/2014/main" val="3569482052"/>
                    </a:ext>
                  </a:extLst>
                </a:gridCol>
              </a:tblGrid>
              <a:tr h="0">
                <a:tc>
                  <a:txBody>
                    <a:bodyPr/>
                    <a:lstStyle/>
                    <a:p>
                      <a:pPr>
                        <a:buNone/>
                      </a:pPr>
                      <a:r>
                        <a:rPr lang="en-US" sz="2800" dirty="0"/>
                        <a:t>Challenge</a:t>
                      </a:r>
                    </a:p>
                  </a:txBody>
                  <a:tcPr anchor="ctr">
                    <a:solidFill>
                      <a:schemeClr val="accent1">
                        <a:lumMod val="20000"/>
                        <a:lumOff val="80000"/>
                      </a:schemeClr>
                    </a:solidFill>
                  </a:tcPr>
                </a:tc>
                <a:tc>
                  <a:txBody>
                    <a:bodyPr/>
                    <a:lstStyle/>
                    <a:p>
                      <a:pPr>
                        <a:buNone/>
                      </a:pPr>
                      <a:r>
                        <a:rPr lang="en-US" sz="2800" dirty="0"/>
                        <a:t>Business Impact</a:t>
                      </a:r>
                    </a:p>
                  </a:txBody>
                  <a:tcPr anchor="ctr">
                    <a:solidFill>
                      <a:schemeClr val="accent1">
                        <a:lumMod val="20000"/>
                        <a:lumOff val="80000"/>
                      </a:schemeClr>
                    </a:solidFill>
                  </a:tcPr>
                </a:tc>
                <a:extLst>
                  <a:ext uri="{0D108BD9-81ED-4DB2-BD59-A6C34878D82A}">
                    <a16:rowId xmlns:a16="http://schemas.microsoft.com/office/drawing/2014/main" val="722612972"/>
                  </a:ext>
                </a:extLst>
              </a:tr>
              <a:tr h="0">
                <a:tc>
                  <a:txBody>
                    <a:bodyPr/>
                    <a:lstStyle/>
                    <a:p>
                      <a:pPr>
                        <a:buNone/>
                      </a:pPr>
                      <a:r>
                        <a:rPr lang="en-US" sz="2800"/>
                        <a:t>Slow support response</a:t>
                      </a:r>
                    </a:p>
                  </a:txBody>
                  <a:tcPr anchor="ctr"/>
                </a:tc>
                <a:tc>
                  <a:txBody>
                    <a:bodyPr/>
                    <a:lstStyle/>
                    <a:p>
                      <a:pPr>
                        <a:buNone/>
                      </a:pPr>
                      <a:r>
                        <a:rPr lang="en-US" sz="2800"/>
                        <a:t>unhappy clients</a:t>
                      </a:r>
                    </a:p>
                  </a:txBody>
                  <a:tcPr anchor="ctr"/>
                </a:tc>
                <a:extLst>
                  <a:ext uri="{0D108BD9-81ED-4DB2-BD59-A6C34878D82A}">
                    <a16:rowId xmlns:a16="http://schemas.microsoft.com/office/drawing/2014/main" val="3269481735"/>
                  </a:ext>
                </a:extLst>
              </a:tr>
              <a:tr h="0">
                <a:tc>
                  <a:txBody>
                    <a:bodyPr/>
                    <a:lstStyle/>
                    <a:p>
                      <a:pPr>
                        <a:buNone/>
                      </a:pPr>
                      <a:r>
                        <a:rPr lang="en-US" sz="2800"/>
                        <a:t>Cybersecurity incidents</a:t>
                      </a:r>
                    </a:p>
                  </a:txBody>
                  <a:tcPr anchor="ctr"/>
                </a:tc>
                <a:tc>
                  <a:txBody>
                    <a:bodyPr/>
                    <a:lstStyle/>
                    <a:p>
                      <a:pPr>
                        <a:buNone/>
                      </a:pPr>
                      <a:r>
                        <a:rPr lang="en-US" sz="2800"/>
                        <a:t>security risks</a:t>
                      </a:r>
                    </a:p>
                  </a:txBody>
                  <a:tcPr anchor="ctr"/>
                </a:tc>
                <a:extLst>
                  <a:ext uri="{0D108BD9-81ED-4DB2-BD59-A6C34878D82A}">
                    <a16:rowId xmlns:a16="http://schemas.microsoft.com/office/drawing/2014/main" val="2867861214"/>
                  </a:ext>
                </a:extLst>
              </a:tr>
              <a:tr h="0">
                <a:tc>
                  <a:txBody>
                    <a:bodyPr/>
                    <a:lstStyle/>
                    <a:p>
                      <a:pPr>
                        <a:buNone/>
                      </a:pPr>
                      <a:r>
                        <a:rPr lang="en-US" sz="2800"/>
                        <a:t>Too many manual tasks</a:t>
                      </a:r>
                    </a:p>
                  </a:txBody>
                  <a:tcPr anchor="ctr"/>
                </a:tc>
                <a:tc>
                  <a:txBody>
                    <a:bodyPr/>
                    <a:lstStyle/>
                    <a:p>
                      <a:pPr>
                        <a:buNone/>
                      </a:pPr>
                      <a:r>
                        <a:rPr lang="en-US" sz="2800"/>
                        <a:t>wasted staff time</a:t>
                      </a:r>
                    </a:p>
                  </a:txBody>
                  <a:tcPr anchor="ctr"/>
                </a:tc>
                <a:extLst>
                  <a:ext uri="{0D108BD9-81ED-4DB2-BD59-A6C34878D82A}">
                    <a16:rowId xmlns:a16="http://schemas.microsoft.com/office/drawing/2014/main" val="1658308724"/>
                  </a:ext>
                </a:extLst>
              </a:tr>
              <a:tr h="0">
                <a:tc>
                  <a:txBody>
                    <a:bodyPr/>
                    <a:lstStyle/>
                    <a:p>
                      <a:pPr>
                        <a:buNone/>
                      </a:pPr>
                      <a:r>
                        <a:rPr lang="en-US" sz="2800"/>
                        <a:t>Poor communication</a:t>
                      </a:r>
                    </a:p>
                  </a:txBody>
                  <a:tcPr anchor="ctr"/>
                </a:tc>
                <a:tc>
                  <a:txBody>
                    <a:bodyPr/>
                    <a:lstStyle/>
                    <a:p>
                      <a:pPr>
                        <a:buNone/>
                      </a:pPr>
                      <a:r>
                        <a:rPr lang="en-US" sz="2800"/>
                        <a:t>client frustration</a:t>
                      </a:r>
                    </a:p>
                  </a:txBody>
                  <a:tcPr anchor="ctr"/>
                </a:tc>
                <a:extLst>
                  <a:ext uri="{0D108BD9-81ED-4DB2-BD59-A6C34878D82A}">
                    <a16:rowId xmlns:a16="http://schemas.microsoft.com/office/drawing/2014/main" val="2771869283"/>
                  </a:ext>
                </a:extLst>
              </a:tr>
              <a:tr h="0">
                <a:tc>
                  <a:txBody>
                    <a:bodyPr/>
                    <a:lstStyle/>
                    <a:p>
                      <a:pPr>
                        <a:buNone/>
                      </a:pPr>
                      <a:r>
                        <a:rPr lang="en-US" sz="2800"/>
                        <a:t>System downtime</a:t>
                      </a:r>
                    </a:p>
                  </a:txBody>
                  <a:tcPr anchor="ctr"/>
                </a:tc>
                <a:tc>
                  <a:txBody>
                    <a:bodyPr/>
                    <a:lstStyle/>
                    <a:p>
                      <a:pPr>
                        <a:buNone/>
                      </a:pPr>
                      <a:r>
                        <a:rPr lang="en-US" sz="2800"/>
                        <a:t>business disruption</a:t>
                      </a:r>
                    </a:p>
                  </a:txBody>
                  <a:tcPr anchor="ctr"/>
                </a:tc>
                <a:extLst>
                  <a:ext uri="{0D108BD9-81ED-4DB2-BD59-A6C34878D82A}">
                    <a16:rowId xmlns:a16="http://schemas.microsoft.com/office/drawing/2014/main" val="1365193665"/>
                  </a:ext>
                </a:extLst>
              </a:tr>
              <a:tr h="0">
                <a:tc>
                  <a:txBody>
                    <a:bodyPr/>
                    <a:lstStyle/>
                    <a:p>
                      <a:pPr>
                        <a:buNone/>
                      </a:pPr>
                      <a:r>
                        <a:rPr lang="en-US" sz="2800"/>
                        <a:t>Managing many clients</a:t>
                      </a:r>
                    </a:p>
                  </a:txBody>
                  <a:tcPr anchor="ctr"/>
                </a:tc>
                <a:tc>
                  <a:txBody>
                    <a:bodyPr/>
                    <a:lstStyle/>
                    <a:p>
                      <a:pPr>
                        <a:buNone/>
                      </a:pPr>
                      <a:r>
                        <a:rPr lang="en-US" sz="2800" dirty="0"/>
                        <a:t>operational complexity</a:t>
                      </a:r>
                    </a:p>
                  </a:txBody>
                  <a:tcPr anchor="ctr"/>
                </a:tc>
                <a:extLst>
                  <a:ext uri="{0D108BD9-81ED-4DB2-BD59-A6C34878D82A}">
                    <a16:rowId xmlns:a16="http://schemas.microsoft.com/office/drawing/2014/main" val="967647335"/>
                  </a:ext>
                </a:extLst>
              </a:tr>
            </a:tbl>
          </a:graphicData>
        </a:graphic>
      </p:graphicFrame>
      <p:sp>
        <p:nvSpPr>
          <p:cNvPr id="6" name="TextBox 5">
            <a:extLst>
              <a:ext uri="{FF2B5EF4-FFF2-40B4-BE49-F238E27FC236}">
                <a16:creationId xmlns:a16="http://schemas.microsoft.com/office/drawing/2014/main" id="{FE3B0069-B9E5-B69C-E0FD-8D3AA1D8FBDF}"/>
              </a:ext>
            </a:extLst>
          </p:cNvPr>
          <p:cNvSpPr txBox="1"/>
          <p:nvPr/>
        </p:nvSpPr>
        <p:spPr>
          <a:xfrm>
            <a:off x="-68436" y="1836976"/>
            <a:ext cx="4622180" cy="523220"/>
          </a:xfrm>
          <a:prstGeom prst="rect">
            <a:avLst/>
          </a:prstGeom>
          <a:noFill/>
        </p:spPr>
        <p:txBody>
          <a:bodyPr wrap="square">
            <a:spAutoFit/>
          </a:bodyPr>
          <a:lstStyle/>
          <a:p>
            <a:pPr>
              <a:buNone/>
            </a:pPr>
            <a:r>
              <a:rPr lang="en-US" sz="2800" b="1" dirty="0">
                <a:latin typeface="+mn-lt"/>
              </a:rPr>
              <a:t>Possible Business Challenges</a:t>
            </a:r>
          </a:p>
        </p:txBody>
      </p:sp>
      <p:sp>
        <p:nvSpPr>
          <p:cNvPr id="8" name="TextBox 7">
            <a:extLst>
              <a:ext uri="{FF2B5EF4-FFF2-40B4-BE49-F238E27FC236}">
                <a16:creationId xmlns:a16="http://schemas.microsoft.com/office/drawing/2014/main" id="{D3D98B01-799A-8C94-4DE1-11F5115CF007}"/>
              </a:ext>
            </a:extLst>
          </p:cNvPr>
          <p:cNvSpPr txBox="1"/>
          <p:nvPr/>
        </p:nvSpPr>
        <p:spPr>
          <a:xfrm>
            <a:off x="0" y="6123612"/>
            <a:ext cx="9144000" cy="671851"/>
          </a:xfrm>
          <a:prstGeom prst="rect">
            <a:avLst/>
          </a:prstGeom>
          <a:solidFill>
            <a:schemeClr val="bg1"/>
          </a:solidFill>
        </p:spPr>
        <p:txBody>
          <a:bodyPr wrap="square">
            <a:spAutoFit/>
          </a:bodyPr>
          <a:lstStyle/>
          <a:p>
            <a:pPr>
              <a:lnSpc>
                <a:spcPct val="150000"/>
              </a:lnSpc>
            </a:pPr>
            <a:r>
              <a:rPr lang="en-US" sz="2800" dirty="0">
                <a:latin typeface="+mn-lt"/>
              </a:rPr>
              <a:t>Students should design solutions for realistic problems.</a:t>
            </a:r>
          </a:p>
        </p:txBody>
      </p:sp>
    </p:spTree>
    <p:extLst>
      <p:ext uri="{BB962C8B-B14F-4D97-AF65-F5344CB8AC3E}">
        <p14:creationId xmlns:p14="http://schemas.microsoft.com/office/powerpoint/2010/main" val="2900873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8FB4-E98C-353B-B281-4BEFC24EF00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9673614-4F3E-2C5B-35DE-EDCBC7C34191}"/>
              </a:ext>
            </a:extLst>
          </p:cNvPr>
          <p:cNvSpPr>
            <a:spLocks noGrp="1"/>
          </p:cNvSpPr>
          <p:nvPr>
            <p:ph type="title"/>
          </p:nvPr>
        </p:nvSpPr>
        <p:spPr>
          <a:xfrm>
            <a:off x="0" y="612775"/>
            <a:ext cx="9107488" cy="1222376"/>
          </a:xfrm>
        </p:spPr>
        <p:txBody>
          <a:bodyPr>
            <a:normAutofit fontScale="90000"/>
          </a:bodyPr>
          <a:lstStyle/>
          <a:p>
            <a:pPr algn="ctr" eaLnBrk="1" fontAlgn="auto" hangingPunct="1">
              <a:spcAft>
                <a:spcPts val="0"/>
              </a:spcAft>
              <a:defRPr/>
            </a:pPr>
            <a:r>
              <a:rPr lang="en-US" b="1" dirty="0">
                <a:solidFill>
                  <a:srgbClr val="00B0F0"/>
                </a:solidFill>
              </a:rPr>
              <a:t>Questions Students Can Ask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E0FB86D-58D8-8F4E-78B7-9F3570BAB39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F4AA923-62DD-C238-40B0-AC56F57F60A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C8651171-D03C-D8D0-E8B3-29B4382ED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6E4DBD0-D837-EBDF-4383-1A156A59CFC7}"/>
              </a:ext>
            </a:extLst>
          </p:cNvPr>
          <p:cNvSpPr txBox="1"/>
          <p:nvPr/>
        </p:nvSpPr>
        <p:spPr>
          <a:xfrm>
            <a:off x="0" y="1717289"/>
            <a:ext cx="9144000" cy="4549835"/>
          </a:xfrm>
          <a:prstGeom prst="rect">
            <a:avLst/>
          </a:prstGeom>
          <a:noFill/>
        </p:spPr>
        <p:txBody>
          <a:bodyPr wrap="square">
            <a:spAutoFit/>
          </a:bodyPr>
          <a:lstStyle/>
          <a:p>
            <a:pPr>
              <a:lnSpc>
                <a:spcPct val="150000"/>
              </a:lnSpc>
              <a:buNone/>
            </a:pPr>
            <a:r>
              <a:rPr lang="en-US" sz="2800" b="1" dirty="0">
                <a:latin typeface="+mn-lt"/>
              </a:rPr>
              <a:t>About Project Success</a:t>
            </a:r>
          </a:p>
          <a:p>
            <a:pPr>
              <a:lnSpc>
                <a:spcPct val="150000"/>
              </a:lnSpc>
              <a:buNone/>
            </a:pPr>
            <a:r>
              <a:rPr lang="en-US" sz="2800" b="1" dirty="0">
                <a:latin typeface="+mn-lt"/>
              </a:rPr>
              <a:t>Useful Questions:</a:t>
            </a:r>
          </a:p>
          <a:p>
            <a:pPr>
              <a:lnSpc>
                <a:spcPct val="150000"/>
              </a:lnSpc>
            </a:pPr>
            <a:r>
              <a:rPr lang="en-US" sz="2800" dirty="0">
                <a:latin typeface="+mn-lt"/>
              </a:rPr>
              <a:t>- How do you know if an IT solution is successful? </a:t>
            </a:r>
          </a:p>
          <a:p>
            <a:pPr>
              <a:lnSpc>
                <a:spcPct val="150000"/>
              </a:lnSpc>
            </a:pPr>
            <a:r>
              <a:rPr lang="en-US" sz="2800" dirty="0">
                <a:latin typeface="+mn-lt"/>
              </a:rPr>
              <a:t>- What metrics/KPIs do you use? </a:t>
            </a:r>
          </a:p>
          <a:p>
            <a:pPr>
              <a:lnSpc>
                <a:spcPct val="150000"/>
              </a:lnSpc>
            </a:pPr>
            <a:r>
              <a:rPr lang="en-US" sz="2800" dirty="0">
                <a:latin typeface="+mn-lt"/>
              </a:rPr>
              <a:t>- How do you measure customer satisfaction? </a:t>
            </a:r>
          </a:p>
          <a:p>
            <a:pPr>
              <a:lnSpc>
                <a:spcPct val="150000"/>
              </a:lnSpc>
            </a:pPr>
            <a:r>
              <a:rPr lang="en-US" sz="2800" dirty="0">
                <a:latin typeface="+mn-lt"/>
              </a:rPr>
              <a:t>- How do you evaluate cybersecurity improvements? </a:t>
            </a:r>
          </a:p>
          <a:p>
            <a:pPr>
              <a:lnSpc>
                <a:spcPct val="150000"/>
              </a:lnSpc>
            </a:pPr>
            <a:r>
              <a:rPr lang="en-US" sz="2800" dirty="0">
                <a:latin typeface="+mn-lt"/>
              </a:rPr>
              <a:t>- What problems still remain after implementation?</a:t>
            </a:r>
          </a:p>
        </p:txBody>
      </p:sp>
    </p:spTree>
    <p:extLst>
      <p:ext uri="{BB962C8B-B14F-4D97-AF65-F5344CB8AC3E}">
        <p14:creationId xmlns:p14="http://schemas.microsoft.com/office/powerpoint/2010/main" val="124649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D27D-7304-4C10-F74A-56F03A44AE0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B820A2D-A162-0486-164E-D813921B2C61}"/>
              </a:ext>
            </a:extLst>
          </p:cNvPr>
          <p:cNvSpPr>
            <a:spLocks noGrp="1"/>
          </p:cNvSpPr>
          <p:nvPr>
            <p:ph type="title"/>
          </p:nvPr>
        </p:nvSpPr>
        <p:spPr>
          <a:xfrm>
            <a:off x="0" y="612775"/>
            <a:ext cx="9107488" cy="758825"/>
          </a:xfrm>
        </p:spPr>
        <p:txBody>
          <a:bodyPr>
            <a:normAutofit fontScale="90000"/>
          </a:bodyPr>
          <a:lstStyle/>
          <a:p>
            <a:pPr algn="ctr" eaLnBrk="1" fontAlgn="auto" hangingPunct="1">
              <a:spcAft>
                <a:spcPts val="0"/>
              </a:spcAft>
              <a:defRPr/>
            </a:pPr>
            <a:r>
              <a:rPr lang="en-US" b="1" dirty="0">
                <a:solidFill>
                  <a:srgbClr val="00B0F0"/>
                </a:solidFill>
              </a:rPr>
              <a:t>Questions About Stakeholder Feedback</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84D1234-EE7A-AB98-8AC6-99646F39EB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3B1D5A7-3532-C937-585A-BA7B618BD5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049B5788-08EB-91C7-A2AF-760B3CFD6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F6FB6AB-7087-6AC4-3347-867FF475AEAA}"/>
              </a:ext>
            </a:extLst>
          </p:cNvPr>
          <p:cNvSpPr txBox="1"/>
          <p:nvPr/>
        </p:nvSpPr>
        <p:spPr>
          <a:xfrm>
            <a:off x="36512" y="1241426"/>
            <a:ext cx="9144000" cy="5842497"/>
          </a:xfrm>
          <a:prstGeom prst="rect">
            <a:avLst/>
          </a:prstGeom>
          <a:solidFill>
            <a:schemeClr val="bg1"/>
          </a:solidFill>
        </p:spPr>
        <p:txBody>
          <a:bodyPr wrap="square">
            <a:spAutoFit/>
          </a:bodyPr>
          <a:lstStyle/>
          <a:p>
            <a:pPr>
              <a:lnSpc>
                <a:spcPct val="150000"/>
              </a:lnSpc>
            </a:pPr>
            <a:r>
              <a:rPr lang="en-US" sz="2800" b="1" dirty="0">
                <a:latin typeface="+mn-lt"/>
              </a:rPr>
              <a:t>Important Week 9 Questions</a:t>
            </a:r>
          </a:p>
          <a:p>
            <a:pPr>
              <a:lnSpc>
                <a:spcPct val="150000"/>
              </a:lnSpc>
            </a:pPr>
            <a:r>
              <a:rPr lang="en-US" sz="2800" b="1" dirty="0">
                <a:latin typeface="+mn-lt"/>
              </a:rPr>
              <a:t>Students Can Ask:</a:t>
            </a:r>
          </a:p>
          <a:p>
            <a:pPr>
              <a:lnSpc>
                <a:spcPct val="150000"/>
              </a:lnSpc>
            </a:pPr>
            <a:r>
              <a:rPr lang="en-US" sz="2800" dirty="0">
                <a:latin typeface="+mn-lt"/>
              </a:rPr>
              <a:t>- How do clients give feedback? </a:t>
            </a:r>
          </a:p>
          <a:p>
            <a:pPr>
              <a:lnSpc>
                <a:spcPct val="150000"/>
              </a:lnSpc>
            </a:pPr>
            <a:r>
              <a:rPr lang="en-US" sz="2800" dirty="0">
                <a:latin typeface="+mn-lt"/>
              </a:rPr>
              <a:t>- What complaints are most common? </a:t>
            </a:r>
          </a:p>
          <a:p>
            <a:pPr>
              <a:lnSpc>
                <a:spcPct val="150000"/>
              </a:lnSpc>
            </a:pPr>
            <a:r>
              <a:rPr lang="en-US" sz="2800" dirty="0">
                <a:latin typeface="+mn-lt"/>
              </a:rPr>
              <a:t>- How do engineers report project issues? </a:t>
            </a:r>
          </a:p>
          <a:p>
            <a:pPr>
              <a:lnSpc>
                <a:spcPct val="150000"/>
              </a:lnSpc>
            </a:pPr>
            <a:r>
              <a:rPr lang="en-US" sz="2800" dirty="0">
                <a:latin typeface="+mn-lt"/>
              </a:rPr>
              <a:t>- How do you improve services after feedback? </a:t>
            </a:r>
          </a:p>
          <a:p>
            <a:pPr>
              <a:lnSpc>
                <a:spcPct val="150000"/>
              </a:lnSpc>
            </a:pPr>
            <a:r>
              <a:rPr lang="en-US" sz="2800" dirty="0">
                <a:latin typeface="+mn-lt"/>
              </a:rPr>
              <a:t>- Do you conduct customer satisfaction surveys? </a:t>
            </a:r>
          </a:p>
          <a:p>
            <a:pPr>
              <a:lnSpc>
                <a:spcPct val="150000"/>
              </a:lnSpc>
            </a:pPr>
            <a:r>
              <a:rPr lang="en-US" sz="2800" dirty="0">
                <a:latin typeface="+mn-lt"/>
              </a:rPr>
              <a:t>These questions help students write stronger evaluation and reflection sections.</a:t>
            </a:r>
          </a:p>
        </p:txBody>
      </p:sp>
    </p:spTree>
    <p:extLst>
      <p:ext uri="{BB962C8B-B14F-4D97-AF65-F5344CB8AC3E}">
        <p14:creationId xmlns:p14="http://schemas.microsoft.com/office/powerpoint/2010/main" val="3574617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AF33-F141-B9D7-48FD-55EB88A866C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9353457-C6D4-8933-9E8E-C9A11D0A1800}"/>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Questions About Reflection &amp; Lessons Learned</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280621B-C3B6-8E25-4C72-3D9EAFEFDA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79C4004-BA78-4310-3333-B2E3125BE2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F88DA2F1-C615-87B9-D9EF-04095137A8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420E1F0-3674-5F73-3605-9A2413D44D84}"/>
              </a:ext>
            </a:extLst>
          </p:cNvPr>
          <p:cNvSpPr txBox="1"/>
          <p:nvPr/>
        </p:nvSpPr>
        <p:spPr>
          <a:xfrm>
            <a:off x="36512" y="1862673"/>
            <a:ext cx="9144000" cy="4536819"/>
          </a:xfrm>
          <a:prstGeom prst="rect">
            <a:avLst/>
          </a:prstGeom>
          <a:solidFill>
            <a:schemeClr val="bg1"/>
          </a:solidFill>
        </p:spPr>
        <p:txBody>
          <a:bodyPr wrap="square">
            <a:spAutoFit/>
          </a:bodyPr>
          <a:lstStyle/>
          <a:p>
            <a:pPr>
              <a:lnSpc>
                <a:spcPct val="150000"/>
              </a:lnSpc>
            </a:pPr>
            <a:r>
              <a:rPr lang="en-US" sz="2800" b="1" dirty="0">
                <a:latin typeface="+mn-lt"/>
              </a:rPr>
              <a:t>Reflection Questions</a:t>
            </a:r>
          </a:p>
          <a:p>
            <a:pPr>
              <a:lnSpc>
                <a:spcPct val="150000"/>
              </a:lnSpc>
            </a:pPr>
            <a:r>
              <a:rPr lang="en-US" sz="2800" b="1" dirty="0">
                <a:latin typeface="+mn-lt"/>
              </a:rPr>
              <a:t>Students Can Ask:</a:t>
            </a:r>
          </a:p>
          <a:p>
            <a:pPr>
              <a:lnSpc>
                <a:spcPct val="150000"/>
              </a:lnSpc>
            </a:pPr>
            <a:r>
              <a:rPr lang="en-US" sz="2800" dirty="0">
                <a:latin typeface="+mn-lt"/>
              </a:rPr>
              <a:t>- What are common mistakes in IT projects? </a:t>
            </a:r>
          </a:p>
          <a:p>
            <a:pPr>
              <a:lnSpc>
                <a:spcPct val="150000"/>
              </a:lnSpc>
            </a:pPr>
            <a:r>
              <a:rPr lang="en-US" sz="2800" dirty="0">
                <a:latin typeface="+mn-lt"/>
              </a:rPr>
              <a:t>- Have any projects failed or faced delays? </a:t>
            </a:r>
          </a:p>
          <a:p>
            <a:pPr>
              <a:lnSpc>
                <a:spcPct val="150000"/>
              </a:lnSpc>
            </a:pPr>
            <a:r>
              <a:rPr lang="en-US" sz="2800" dirty="0">
                <a:latin typeface="+mn-lt"/>
              </a:rPr>
              <a:t>- What lessons has the company learned? </a:t>
            </a:r>
          </a:p>
          <a:p>
            <a:pPr>
              <a:lnSpc>
                <a:spcPct val="150000"/>
              </a:lnSpc>
            </a:pPr>
            <a:r>
              <a:rPr lang="en-US" sz="2800" dirty="0">
                <a:latin typeface="+mn-lt"/>
              </a:rPr>
              <a:t>- How has NSW IT Support improved over time? </a:t>
            </a:r>
          </a:p>
          <a:p>
            <a:pPr>
              <a:lnSpc>
                <a:spcPct val="150000"/>
              </a:lnSpc>
            </a:pPr>
            <a:r>
              <a:rPr lang="en-US" sz="2800" dirty="0">
                <a:latin typeface="+mn-lt"/>
              </a:rPr>
              <a:t>- What would you do differently in future projects?</a:t>
            </a:r>
          </a:p>
        </p:txBody>
      </p:sp>
    </p:spTree>
    <p:extLst>
      <p:ext uri="{BB962C8B-B14F-4D97-AF65-F5344CB8AC3E}">
        <p14:creationId xmlns:p14="http://schemas.microsoft.com/office/powerpoint/2010/main" val="1789142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91CD0-BC5A-C9BD-DA32-87FB9CC4681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0CF4C3C-F584-43C0-E14E-A4F8CFD4457D}"/>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Helping Students Think Critically</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F4B509F-CB33-8DDC-511E-C43040C2DD5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4F8529C-2429-FE19-8ABE-849EE3FE5E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711C048E-AD15-39F5-A086-0920D0B8D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AAFF5D7-72FB-72CE-B41B-39EA77406044}"/>
              </a:ext>
            </a:extLst>
          </p:cNvPr>
          <p:cNvSpPr txBox="1"/>
          <p:nvPr/>
        </p:nvSpPr>
        <p:spPr>
          <a:xfrm>
            <a:off x="36512" y="1862673"/>
            <a:ext cx="9144000" cy="5018618"/>
          </a:xfrm>
          <a:prstGeom prst="rect">
            <a:avLst/>
          </a:prstGeom>
          <a:solidFill>
            <a:schemeClr val="bg1"/>
          </a:solidFill>
        </p:spPr>
        <p:txBody>
          <a:bodyPr wrap="square">
            <a:spAutoFit/>
          </a:bodyPr>
          <a:lstStyle/>
          <a:p>
            <a:pPr>
              <a:lnSpc>
                <a:spcPct val="150000"/>
              </a:lnSpc>
            </a:pPr>
            <a:r>
              <a:rPr lang="en-US" sz="2400" b="1" dirty="0">
                <a:latin typeface="+mn-lt"/>
              </a:rPr>
              <a:t>Weak Thinking:</a:t>
            </a:r>
          </a:p>
          <a:p>
            <a:pPr>
              <a:lnSpc>
                <a:spcPct val="150000"/>
              </a:lnSpc>
            </a:pPr>
            <a:r>
              <a:rPr lang="en-US" sz="2400" dirty="0">
                <a:latin typeface="+mn-lt"/>
              </a:rPr>
              <a:t>“The project was successful because the system worked.”</a:t>
            </a:r>
          </a:p>
          <a:p>
            <a:pPr>
              <a:lnSpc>
                <a:spcPct val="150000"/>
              </a:lnSpc>
            </a:pPr>
            <a:r>
              <a:rPr lang="en-US" sz="2400" dirty="0">
                <a:highlight>
                  <a:srgbClr val="FF0000"/>
                </a:highlight>
                <a:latin typeface="+mn-lt"/>
              </a:rPr>
              <a:t>X</a:t>
            </a:r>
            <a:r>
              <a:rPr lang="en-US" sz="2400" dirty="0">
                <a:latin typeface="+mn-lt"/>
              </a:rPr>
              <a:t> Too simple</a:t>
            </a:r>
          </a:p>
          <a:p>
            <a:pPr>
              <a:lnSpc>
                <a:spcPct val="150000"/>
              </a:lnSpc>
            </a:pPr>
            <a:r>
              <a:rPr lang="en-US" sz="2400" b="1" dirty="0">
                <a:latin typeface="+mn-lt"/>
              </a:rPr>
              <a:t>Better Thinking:</a:t>
            </a:r>
          </a:p>
          <a:p>
            <a:pPr>
              <a:lnSpc>
                <a:spcPct val="150000"/>
              </a:lnSpc>
            </a:pPr>
            <a:r>
              <a:rPr lang="en-US" sz="2400" dirty="0">
                <a:latin typeface="+mn-lt"/>
              </a:rPr>
              <a:t>“The project improved ticket response time, reduced manual workload, and increased customer satisfaction.”</a:t>
            </a:r>
          </a:p>
          <a:p>
            <a:pPr>
              <a:lnSpc>
                <a:spcPct val="150000"/>
              </a:lnSpc>
            </a:pPr>
            <a:r>
              <a:rPr lang="en-US" sz="2400" dirty="0">
                <a:latin typeface="+mn-lt"/>
              </a:rPr>
              <a:t>- measurable</a:t>
            </a:r>
            <a:br>
              <a:rPr lang="en-US" sz="2400" dirty="0">
                <a:latin typeface="+mn-lt"/>
              </a:rPr>
            </a:br>
            <a:r>
              <a:rPr lang="en-US" sz="2400" dirty="0">
                <a:latin typeface="+mn-lt"/>
              </a:rPr>
              <a:t>- business-focused</a:t>
            </a:r>
            <a:br>
              <a:rPr lang="en-US" sz="2400" dirty="0">
                <a:latin typeface="+mn-lt"/>
              </a:rPr>
            </a:br>
            <a:r>
              <a:rPr lang="en-US" sz="2400" dirty="0">
                <a:latin typeface="+mn-lt"/>
              </a:rPr>
              <a:t>- evaluative</a:t>
            </a:r>
          </a:p>
        </p:txBody>
      </p:sp>
    </p:spTree>
    <p:extLst>
      <p:ext uri="{BB962C8B-B14F-4D97-AF65-F5344CB8AC3E}">
        <p14:creationId xmlns:p14="http://schemas.microsoft.com/office/powerpoint/2010/main" val="1663924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B59A0-3D86-6EB8-8381-F18F0AAFE50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F8B7286-F183-2271-6501-A29A1E737FD0}"/>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Example: Evaluation for Assessment 4</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CEF671B-F6EE-1195-334C-6161946FC86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F92B536-C81F-130B-159C-14C8509AF4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A49606E9-E83D-A776-5CF4-C858F4D66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4284275-8468-4B80-2800-1A8356D0243B}"/>
              </a:ext>
            </a:extLst>
          </p:cNvPr>
          <p:cNvSpPr txBox="1"/>
          <p:nvPr/>
        </p:nvSpPr>
        <p:spPr>
          <a:xfrm>
            <a:off x="36512" y="1862673"/>
            <a:ext cx="9144000" cy="5021055"/>
          </a:xfrm>
          <a:prstGeom prst="rect">
            <a:avLst/>
          </a:prstGeom>
          <a:solidFill>
            <a:schemeClr val="bg1"/>
          </a:solidFill>
        </p:spPr>
        <p:txBody>
          <a:bodyPr wrap="square">
            <a:spAutoFit/>
          </a:bodyPr>
          <a:lstStyle/>
          <a:p>
            <a:pPr>
              <a:lnSpc>
                <a:spcPct val="150000"/>
              </a:lnSpc>
            </a:pPr>
            <a:r>
              <a:rPr lang="en-US" sz="2400" b="1" dirty="0">
                <a:latin typeface="+mn-lt"/>
              </a:rPr>
              <a:t>Proposed Project:</a:t>
            </a:r>
          </a:p>
          <a:p>
            <a:pPr>
              <a:lnSpc>
                <a:spcPct val="150000"/>
              </a:lnSpc>
            </a:pPr>
            <a:r>
              <a:rPr lang="en-US" sz="2400" dirty="0">
                <a:latin typeface="+mn-lt"/>
              </a:rPr>
              <a:t>AI-based Ticketing System</a:t>
            </a:r>
          </a:p>
          <a:p>
            <a:pPr>
              <a:lnSpc>
                <a:spcPct val="150000"/>
              </a:lnSpc>
            </a:pPr>
            <a:r>
              <a:rPr lang="en-US" sz="2400" b="1" dirty="0">
                <a:latin typeface="+mn-lt"/>
              </a:rPr>
              <a:t>How Students Can Evaluate Success</a:t>
            </a:r>
          </a:p>
          <a:p>
            <a:pPr>
              <a:lnSpc>
                <a:spcPct val="150000"/>
              </a:lnSpc>
            </a:pPr>
            <a:r>
              <a:rPr lang="en-US" sz="2400" b="1" dirty="0">
                <a:latin typeface="+mn-lt"/>
              </a:rPr>
              <a:t>Metrics:</a:t>
            </a:r>
          </a:p>
          <a:p>
            <a:pPr>
              <a:lnSpc>
                <a:spcPct val="150000"/>
              </a:lnSpc>
            </a:pPr>
            <a:r>
              <a:rPr lang="en-US" sz="2400" dirty="0">
                <a:latin typeface="+mn-lt"/>
              </a:rPr>
              <a:t>- reduced ticket response time </a:t>
            </a:r>
          </a:p>
          <a:p>
            <a:pPr>
              <a:lnSpc>
                <a:spcPct val="150000"/>
              </a:lnSpc>
            </a:pPr>
            <a:r>
              <a:rPr lang="en-US" sz="2400" dirty="0">
                <a:latin typeface="+mn-lt"/>
              </a:rPr>
              <a:t>- fewer unresolved tickets </a:t>
            </a:r>
          </a:p>
          <a:p>
            <a:pPr>
              <a:lnSpc>
                <a:spcPct val="150000"/>
              </a:lnSpc>
            </a:pPr>
            <a:r>
              <a:rPr lang="en-US" sz="2400" dirty="0">
                <a:latin typeface="+mn-lt"/>
              </a:rPr>
              <a:t>- improved customer satisfaction </a:t>
            </a:r>
          </a:p>
          <a:p>
            <a:pPr>
              <a:lnSpc>
                <a:spcPct val="150000"/>
              </a:lnSpc>
            </a:pPr>
            <a:r>
              <a:rPr lang="en-US" sz="2400" dirty="0">
                <a:latin typeface="+mn-lt"/>
              </a:rPr>
              <a:t>- reduced manual ticket sorting </a:t>
            </a:r>
          </a:p>
          <a:p>
            <a:pPr>
              <a:lnSpc>
                <a:spcPct val="150000"/>
              </a:lnSpc>
            </a:pPr>
            <a:r>
              <a:rPr lang="en-US" sz="2400" dirty="0">
                <a:latin typeface="+mn-lt"/>
              </a:rPr>
              <a:t>- improved operational efficiency</a:t>
            </a:r>
          </a:p>
        </p:txBody>
      </p:sp>
    </p:spTree>
    <p:extLst>
      <p:ext uri="{BB962C8B-B14F-4D97-AF65-F5344CB8AC3E}">
        <p14:creationId xmlns:p14="http://schemas.microsoft.com/office/powerpoint/2010/main" val="916018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D486-643A-90DE-96B7-AB670EEF092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395B98F-ED6B-43DE-6C21-1393BF15233B}"/>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Quantitative Evaluation Examples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944E458-6813-1DA3-9DE7-B9A24E519C5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5FC4AB8-61A1-7616-1986-C223E6D0C12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93BF7915-2419-FD5B-F5AE-419D2DF8C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57903E8A-F493-9D55-C1F6-AA4CFE5C7B1F}"/>
              </a:ext>
            </a:extLst>
          </p:cNvPr>
          <p:cNvGraphicFramePr>
            <a:graphicFrameLocks noGrp="1"/>
          </p:cNvGraphicFramePr>
          <p:nvPr>
            <p:extLst>
              <p:ext uri="{D42A27DB-BD31-4B8C-83A1-F6EECF244321}">
                <p14:modId xmlns:p14="http://schemas.microsoft.com/office/powerpoint/2010/main" val="2387014758"/>
              </p:ext>
            </p:extLst>
          </p:nvPr>
        </p:nvGraphicFramePr>
        <p:xfrm>
          <a:off x="865188" y="3429000"/>
          <a:ext cx="7543800" cy="3326765"/>
        </p:xfrm>
        <a:graphic>
          <a:graphicData uri="http://schemas.openxmlformats.org/drawingml/2006/table">
            <a:tbl>
              <a:tblPr>
                <a:tableStyleId>{BC89EF96-8CEA-46FF-86C4-4CE0E7609802}</a:tableStyleId>
              </a:tblPr>
              <a:tblGrid>
                <a:gridCol w="3771900">
                  <a:extLst>
                    <a:ext uri="{9D8B030D-6E8A-4147-A177-3AD203B41FA5}">
                      <a16:colId xmlns:a16="http://schemas.microsoft.com/office/drawing/2014/main" val="4214754678"/>
                    </a:ext>
                  </a:extLst>
                </a:gridCol>
                <a:gridCol w="3771900">
                  <a:extLst>
                    <a:ext uri="{9D8B030D-6E8A-4147-A177-3AD203B41FA5}">
                      <a16:colId xmlns:a16="http://schemas.microsoft.com/office/drawing/2014/main" val="2804320164"/>
                    </a:ext>
                  </a:extLst>
                </a:gridCol>
              </a:tblGrid>
              <a:tr h="0">
                <a:tc>
                  <a:txBody>
                    <a:bodyPr/>
                    <a:lstStyle/>
                    <a:p>
                      <a:pPr>
                        <a:lnSpc>
                          <a:spcPct val="150000"/>
                        </a:lnSpc>
                        <a:buNone/>
                      </a:pPr>
                      <a:r>
                        <a:rPr lang="en-US" sz="2800" dirty="0"/>
                        <a:t>Metric</a:t>
                      </a:r>
                    </a:p>
                  </a:txBody>
                  <a:tcPr anchor="ctr">
                    <a:solidFill>
                      <a:schemeClr val="accent1">
                        <a:lumMod val="20000"/>
                        <a:lumOff val="80000"/>
                      </a:schemeClr>
                    </a:solidFill>
                  </a:tcPr>
                </a:tc>
                <a:tc>
                  <a:txBody>
                    <a:bodyPr/>
                    <a:lstStyle/>
                    <a:p>
                      <a:pPr>
                        <a:lnSpc>
                          <a:spcPct val="150000"/>
                        </a:lnSpc>
                        <a:buNone/>
                      </a:pPr>
                      <a:r>
                        <a:rPr lang="en-US" sz="2800" dirty="0"/>
                        <a:t>Example</a:t>
                      </a:r>
                    </a:p>
                  </a:txBody>
                  <a:tcPr anchor="ctr">
                    <a:solidFill>
                      <a:schemeClr val="accent1">
                        <a:lumMod val="20000"/>
                        <a:lumOff val="80000"/>
                      </a:schemeClr>
                    </a:solidFill>
                  </a:tcPr>
                </a:tc>
                <a:extLst>
                  <a:ext uri="{0D108BD9-81ED-4DB2-BD59-A6C34878D82A}">
                    <a16:rowId xmlns:a16="http://schemas.microsoft.com/office/drawing/2014/main" val="4285948719"/>
                  </a:ext>
                </a:extLst>
              </a:tr>
              <a:tr h="0">
                <a:tc>
                  <a:txBody>
                    <a:bodyPr/>
                    <a:lstStyle/>
                    <a:p>
                      <a:pPr>
                        <a:lnSpc>
                          <a:spcPct val="150000"/>
                        </a:lnSpc>
                        <a:buNone/>
                      </a:pPr>
                      <a:r>
                        <a:rPr lang="en-US" sz="2800"/>
                        <a:t>Response time</a:t>
                      </a:r>
                    </a:p>
                  </a:txBody>
                  <a:tcPr anchor="ctr">
                    <a:solidFill>
                      <a:schemeClr val="bg1"/>
                    </a:solidFill>
                  </a:tcPr>
                </a:tc>
                <a:tc>
                  <a:txBody>
                    <a:bodyPr/>
                    <a:lstStyle/>
                    <a:p>
                      <a:pPr>
                        <a:lnSpc>
                          <a:spcPct val="150000"/>
                        </a:lnSpc>
                        <a:buNone/>
                      </a:pPr>
                      <a:r>
                        <a:rPr lang="en-US" sz="2800"/>
                        <a:t>40% faster</a:t>
                      </a:r>
                    </a:p>
                  </a:txBody>
                  <a:tcPr anchor="ctr">
                    <a:solidFill>
                      <a:schemeClr val="bg1"/>
                    </a:solidFill>
                  </a:tcPr>
                </a:tc>
                <a:extLst>
                  <a:ext uri="{0D108BD9-81ED-4DB2-BD59-A6C34878D82A}">
                    <a16:rowId xmlns:a16="http://schemas.microsoft.com/office/drawing/2014/main" val="3256865605"/>
                  </a:ext>
                </a:extLst>
              </a:tr>
              <a:tr h="0">
                <a:tc>
                  <a:txBody>
                    <a:bodyPr/>
                    <a:lstStyle/>
                    <a:p>
                      <a:pPr>
                        <a:lnSpc>
                          <a:spcPct val="150000"/>
                        </a:lnSpc>
                        <a:buNone/>
                      </a:pPr>
                      <a:r>
                        <a:rPr lang="en-US" sz="2800"/>
                        <a:t>Ticket resolution</a:t>
                      </a:r>
                    </a:p>
                  </a:txBody>
                  <a:tcPr anchor="ctr">
                    <a:solidFill>
                      <a:schemeClr val="bg1"/>
                    </a:solidFill>
                  </a:tcPr>
                </a:tc>
                <a:tc>
                  <a:txBody>
                    <a:bodyPr/>
                    <a:lstStyle/>
                    <a:p>
                      <a:pPr>
                        <a:lnSpc>
                          <a:spcPct val="150000"/>
                        </a:lnSpc>
                        <a:buNone/>
                      </a:pPr>
                      <a:r>
                        <a:rPr lang="en-US" sz="2800"/>
                        <a:t>fewer pending tickets</a:t>
                      </a:r>
                    </a:p>
                  </a:txBody>
                  <a:tcPr anchor="ctr">
                    <a:solidFill>
                      <a:schemeClr val="bg1"/>
                    </a:solidFill>
                  </a:tcPr>
                </a:tc>
                <a:extLst>
                  <a:ext uri="{0D108BD9-81ED-4DB2-BD59-A6C34878D82A}">
                    <a16:rowId xmlns:a16="http://schemas.microsoft.com/office/drawing/2014/main" val="1326201332"/>
                  </a:ext>
                </a:extLst>
              </a:tr>
              <a:tr h="0">
                <a:tc>
                  <a:txBody>
                    <a:bodyPr/>
                    <a:lstStyle/>
                    <a:p>
                      <a:pPr>
                        <a:lnSpc>
                          <a:spcPct val="150000"/>
                        </a:lnSpc>
                        <a:buNone/>
                      </a:pPr>
                      <a:r>
                        <a:rPr lang="en-US" sz="2800"/>
                        <a:t>Cost savings</a:t>
                      </a:r>
                    </a:p>
                  </a:txBody>
                  <a:tcPr anchor="ctr">
                    <a:solidFill>
                      <a:schemeClr val="bg1"/>
                    </a:solidFill>
                  </a:tcPr>
                </a:tc>
                <a:tc>
                  <a:txBody>
                    <a:bodyPr/>
                    <a:lstStyle/>
                    <a:p>
                      <a:pPr>
                        <a:lnSpc>
                          <a:spcPct val="150000"/>
                        </a:lnSpc>
                        <a:buNone/>
                      </a:pPr>
                      <a:r>
                        <a:rPr lang="en-US" sz="2800"/>
                        <a:t>reduced staff workload</a:t>
                      </a:r>
                    </a:p>
                  </a:txBody>
                  <a:tcPr anchor="ctr">
                    <a:solidFill>
                      <a:schemeClr val="bg1"/>
                    </a:solidFill>
                  </a:tcPr>
                </a:tc>
                <a:extLst>
                  <a:ext uri="{0D108BD9-81ED-4DB2-BD59-A6C34878D82A}">
                    <a16:rowId xmlns:a16="http://schemas.microsoft.com/office/drawing/2014/main" val="2828918540"/>
                  </a:ext>
                </a:extLst>
              </a:tr>
              <a:tr h="0">
                <a:tc>
                  <a:txBody>
                    <a:bodyPr/>
                    <a:lstStyle/>
                    <a:p>
                      <a:pPr>
                        <a:lnSpc>
                          <a:spcPct val="150000"/>
                        </a:lnSpc>
                        <a:buNone/>
                      </a:pPr>
                      <a:r>
                        <a:rPr lang="en-US" sz="2800"/>
                        <a:t>Downtime reduction</a:t>
                      </a:r>
                    </a:p>
                  </a:txBody>
                  <a:tcPr anchor="ctr">
                    <a:solidFill>
                      <a:schemeClr val="bg1"/>
                    </a:solidFill>
                  </a:tcPr>
                </a:tc>
                <a:tc>
                  <a:txBody>
                    <a:bodyPr/>
                    <a:lstStyle/>
                    <a:p>
                      <a:pPr>
                        <a:lnSpc>
                          <a:spcPct val="150000"/>
                        </a:lnSpc>
                        <a:buNone/>
                      </a:pPr>
                      <a:r>
                        <a:rPr lang="en-US" sz="2800" dirty="0"/>
                        <a:t>improved reliability</a:t>
                      </a:r>
                    </a:p>
                  </a:txBody>
                  <a:tcPr anchor="ctr">
                    <a:solidFill>
                      <a:schemeClr val="bg1"/>
                    </a:solidFill>
                  </a:tcPr>
                </a:tc>
                <a:extLst>
                  <a:ext uri="{0D108BD9-81ED-4DB2-BD59-A6C34878D82A}">
                    <a16:rowId xmlns:a16="http://schemas.microsoft.com/office/drawing/2014/main" val="527373797"/>
                  </a:ext>
                </a:extLst>
              </a:tr>
            </a:tbl>
          </a:graphicData>
        </a:graphic>
      </p:graphicFrame>
      <p:sp>
        <p:nvSpPr>
          <p:cNvPr id="6" name="TextBox 5">
            <a:extLst>
              <a:ext uri="{FF2B5EF4-FFF2-40B4-BE49-F238E27FC236}">
                <a16:creationId xmlns:a16="http://schemas.microsoft.com/office/drawing/2014/main" id="{F1CB6C93-9AED-A5C6-952E-F812C368BDEB}"/>
              </a:ext>
            </a:extLst>
          </p:cNvPr>
          <p:cNvSpPr txBox="1"/>
          <p:nvPr/>
        </p:nvSpPr>
        <p:spPr>
          <a:xfrm>
            <a:off x="0" y="1968759"/>
            <a:ext cx="9144000" cy="1315296"/>
          </a:xfrm>
          <a:prstGeom prst="rect">
            <a:avLst/>
          </a:prstGeom>
          <a:noFill/>
        </p:spPr>
        <p:txBody>
          <a:bodyPr wrap="square">
            <a:spAutoFit/>
          </a:bodyPr>
          <a:lstStyle/>
          <a:p>
            <a:pPr>
              <a:lnSpc>
                <a:spcPct val="150000"/>
              </a:lnSpc>
              <a:buNone/>
            </a:pPr>
            <a:r>
              <a:rPr lang="en-US" sz="2800" b="1" dirty="0">
                <a:latin typeface="+mn-lt"/>
              </a:rPr>
              <a:t>Students Can Measure:</a:t>
            </a:r>
          </a:p>
          <a:p>
            <a:pPr>
              <a:lnSpc>
                <a:spcPct val="150000"/>
              </a:lnSpc>
              <a:buNone/>
            </a:pPr>
            <a:r>
              <a:rPr lang="en-US" sz="2800" dirty="0">
                <a:latin typeface="+mn-lt"/>
              </a:rPr>
              <a:t>This supports ROI and cost-benefit analysis.</a:t>
            </a:r>
          </a:p>
        </p:txBody>
      </p:sp>
    </p:spTree>
    <p:extLst>
      <p:ext uri="{BB962C8B-B14F-4D97-AF65-F5344CB8AC3E}">
        <p14:creationId xmlns:p14="http://schemas.microsoft.com/office/powerpoint/2010/main" val="1861247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B2EC5-F424-3B74-00ED-B7D5ECD1F3C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D01857D-10AF-B5E8-44F2-A9248E423A00}"/>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Qualitative Evaluation Examples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4D3E594-00E9-A000-C882-23164EB5B22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90AD417-F84B-4ED1-479D-E6AD368A33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222085A5-C2A8-7E1E-13D2-5D09CCC71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C4EBBDD-7BBC-EE18-8D28-6CFF74193BFD}"/>
              </a:ext>
            </a:extLst>
          </p:cNvPr>
          <p:cNvSpPr txBox="1"/>
          <p:nvPr/>
        </p:nvSpPr>
        <p:spPr>
          <a:xfrm>
            <a:off x="0" y="1817649"/>
            <a:ext cx="9144000" cy="4549835"/>
          </a:xfrm>
          <a:prstGeom prst="rect">
            <a:avLst/>
          </a:prstGeom>
          <a:noFill/>
        </p:spPr>
        <p:txBody>
          <a:bodyPr wrap="square">
            <a:spAutoFit/>
          </a:bodyPr>
          <a:lstStyle/>
          <a:p>
            <a:pPr>
              <a:lnSpc>
                <a:spcPct val="150000"/>
              </a:lnSpc>
              <a:buNone/>
            </a:pPr>
            <a:r>
              <a:rPr lang="en-US" sz="2800" b="1" dirty="0">
                <a:latin typeface="+mn-lt"/>
              </a:rPr>
              <a:t>Students Can Gather:</a:t>
            </a:r>
          </a:p>
          <a:p>
            <a:pPr>
              <a:lnSpc>
                <a:spcPct val="150000"/>
              </a:lnSpc>
              <a:buNone/>
            </a:pPr>
            <a:r>
              <a:rPr lang="en-US" sz="2800" b="1" dirty="0">
                <a:latin typeface="+mn-lt"/>
              </a:rPr>
              <a:t>Client Feedback</a:t>
            </a:r>
          </a:p>
          <a:p>
            <a:pPr>
              <a:lnSpc>
                <a:spcPct val="150000"/>
              </a:lnSpc>
            </a:pPr>
            <a:r>
              <a:rPr lang="en-US" sz="2800" dirty="0">
                <a:latin typeface="+mn-lt"/>
              </a:rPr>
              <a:t>- easier communication </a:t>
            </a:r>
          </a:p>
          <a:p>
            <a:pPr>
              <a:lnSpc>
                <a:spcPct val="150000"/>
              </a:lnSpc>
            </a:pPr>
            <a:r>
              <a:rPr lang="en-US" sz="2800" dirty="0">
                <a:latin typeface="+mn-lt"/>
              </a:rPr>
              <a:t>- better support experience </a:t>
            </a:r>
          </a:p>
          <a:p>
            <a:pPr>
              <a:lnSpc>
                <a:spcPct val="150000"/>
              </a:lnSpc>
              <a:buNone/>
            </a:pPr>
            <a:r>
              <a:rPr lang="en-US" sz="2800" b="1" dirty="0">
                <a:latin typeface="+mn-lt"/>
              </a:rPr>
              <a:t>Staff Feedback</a:t>
            </a:r>
          </a:p>
          <a:p>
            <a:pPr>
              <a:lnSpc>
                <a:spcPct val="150000"/>
              </a:lnSpc>
            </a:pPr>
            <a:r>
              <a:rPr lang="en-US" sz="2800" dirty="0">
                <a:latin typeface="+mn-lt"/>
              </a:rPr>
              <a:t>- reduced workload </a:t>
            </a:r>
          </a:p>
          <a:p>
            <a:pPr>
              <a:lnSpc>
                <a:spcPct val="150000"/>
              </a:lnSpc>
            </a:pPr>
            <a:r>
              <a:rPr lang="en-US" sz="2800" dirty="0">
                <a:latin typeface="+mn-lt"/>
              </a:rPr>
              <a:t>- easier system management </a:t>
            </a:r>
          </a:p>
        </p:txBody>
      </p:sp>
    </p:spTree>
    <p:extLst>
      <p:ext uri="{BB962C8B-B14F-4D97-AF65-F5344CB8AC3E}">
        <p14:creationId xmlns:p14="http://schemas.microsoft.com/office/powerpoint/2010/main" val="1188462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25DA-A3A1-4135-3716-E42673F37A9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FB5D6B8-951E-DC05-C8DF-FA2184376CBB}"/>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Qualitative Evaluation Examples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AE7A715-4E98-4283-4F4D-FA910188610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E199A03-D3C6-C627-02D9-E7587BA4026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6153872C-9989-C053-7D23-E94D515AD2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E59C2DC-D5AA-3962-046D-0DC02F7FC1E0}"/>
              </a:ext>
            </a:extLst>
          </p:cNvPr>
          <p:cNvSpPr txBox="1"/>
          <p:nvPr/>
        </p:nvSpPr>
        <p:spPr>
          <a:xfrm>
            <a:off x="0" y="1817649"/>
            <a:ext cx="9144000" cy="1964512"/>
          </a:xfrm>
          <a:prstGeom prst="rect">
            <a:avLst/>
          </a:prstGeom>
          <a:noFill/>
        </p:spPr>
        <p:txBody>
          <a:bodyPr wrap="square">
            <a:spAutoFit/>
          </a:bodyPr>
          <a:lstStyle/>
          <a:p>
            <a:pPr>
              <a:lnSpc>
                <a:spcPct val="150000"/>
              </a:lnSpc>
              <a:buNone/>
            </a:pPr>
            <a:r>
              <a:rPr lang="en-US" sz="2800" b="1" dirty="0"/>
              <a:t>Management Feedback</a:t>
            </a:r>
          </a:p>
          <a:p>
            <a:pPr>
              <a:lnSpc>
                <a:spcPct val="150000"/>
              </a:lnSpc>
            </a:pPr>
            <a:r>
              <a:rPr lang="en-US" sz="2800" dirty="0"/>
              <a:t>- improved efficiency </a:t>
            </a:r>
          </a:p>
          <a:p>
            <a:pPr>
              <a:lnSpc>
                <a:spcPct val="150000"/>
              </a:lnSpc>
            </a:pPr>
            <a:r>
              <a:rPr lang="en-US" sz="2800" dirty="0"/>
              <a:t>- better reporting</a:t>
            </a:r>
          </a:p>
        </p:txBody>
      </p:sp>
    </p:spTree>
    <p:extLst>
      <p:ext uri="{BB962C8B-B14F-4D97-AF65-F5344CB8AC3E}">
        <p14:creationId xmlns:p14="http://schemas.microsoft.com/office/powerpoint/2010/main" val="78957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6AA87-352D-2233-EF52-DD1AD686997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5F82CF8-A09B-887E-2433-7E4648E07F02}"/>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Example Stakeholder Analysis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637152C-C681-1EB5-3299-FC7E3DB9D47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15CE5CE-640A-5931-BD6B-768CFDF05A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D42F2CE9-3BD9-A4B1-47CC-BB7EAD0D1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82E71082-AE82-8CD6-9021-FCA0AC9B821B}"/>
              </a:ext>
            </a:extLst>
          </p:cNvPr>
          <p:cNvGraphicFramePr>
            <a:graphicFrameLocks noGrp="1"/>
          </p:cNvGraphicFramePr>
          <p:nvPr>
            <p:extLst>
              <p:ext uri="{D42A27DB-BD31-4B8C-83A1-F6EECF244321}">
                <p14:modId xmlns:p14="http://schemas.microsoft.com/office/powerpoint/2010/main" val="2777398013"/>
              </p:ext>
            </p:extLst>
          </p:nvPr>
        </p:nvGraphicFramePr>
        <p:xfrm>
          <a:off x="865188" y="2430424"/>
          <a:ext cx="7543800" cy="3326765"/>
        </p:xfrm>
        <a:graphic>
          <a:graphicData uri="http://schemas.openxmlformats.org/drawingml/2006/table">
            <a:tbl>
              <a:tblPr>
                <a:tableStyleId>{5DA37D80-6434-44D0-A028-1B22A696006F}</a:tableStyleId>
              </a:tblPr>
              <a:tblGrid>
                <a:gridCol w="3771900">
                  <a:extLst>
                    <a:ext uri="{9D8B030D-6E8A-4147-A177-3AD203B41FA5}">
                      <a16:colId xmlns:a16="http://schemas.microsoft.com/office/drawing/2014/main" val="4021720704"/>
                    </a:ext>
                  </a:extLst>
                </a:gridCol>
                <a:gridCol w="3771900">
                  <a:extLst>
                    <a:ext uri="{9D8B030D-6E8A-4147-A177-3AD203B41FA5}">
                      <a16:colId xmlns:a16="http://schemas.microsoft.com/office/drawing/2014/main" val="2063708447"/>
                    </a:ext>
                  </a:extLst>
                </a:gridCol>
              </a:tblGrid>
              <a:tr h="0">
                <a:tc>
                  <a:txBody>
                    <a:bodyPr/>
                    <a:lstStyle/>
                    <a:p>
                      <a:pPr>
                        <a:lnSpc>
                          <a:spcPct val="150000"/>
                        </a:lnSpc>
                        <a:buNone/>
                      </a:pPr>
                      <a:r>
                        <a:rPr lang="en-US" sz="2800" dirty="0"/>
                        <a:t>Stakeholder</a:t>
                      </a:r>
                    </a:p>
                  </a:txBody>
                  <a:tcPr anchor="ctr">
                    <a:solidFill>
                      <a:schemeClr val="accent1">
                        <a:lumMod val="20000"/>
                        <a:lumOff val="80000"/>
                      </a:schemeClr>
                    </a:solidFill>
                  </a:tcPr>
                </a:tc>
                <a:tc>
                  <a:txBody>
                    <a:bodyPr/>
                    <a:lstStyle/>
                    <a:p>
                      <a:pPr>
                        <a:lnSpc>
                          <a:spcPct val="150000"/>
                        </a:lnSpc>
                        <a:buNone/>
                      </a:pPr>
                      <a:r>
                        <a:rPr lang="en-US" sz="2800" dirty="0"/>
                        <a:t>Interest</a:t>
                      </a:r>
                    </a:p>
                  </a:txBody>
                  <a:tcPr anchor="ctr">
                    <a:solidFill>
                      <a:schemeClr val="accent1">
                        <a:lumMod val="20000"/>
                        <a:lumOff val="80000"/>
                      </a:schemeClr>
                    </a:solidFill>
                  </a:tcPr>
                </a:tc>
                <a:extLst>
                  <a:ext uri="{0D108BD9-81ED-4DB2-BD59-A6C34878D82A}">
                    <a16:rowId xmlns:a16="http://schemas.microsoft.com/office/drawing/2014/main" val="2437678455"/>
                  </a:ext>
                </a:extLst>
              </a:tr>
              <a:tr h="0">
                <a:tc>
                  <a:txBody>
                    <a:bodyPr/>
                    <a:lstStyle/>
                    <a:p>
                      <a:pPr>
                        <a:lnSpc>
                          <a:spcPct val="150000"/>
                        </a:lnSpc>
                        <a:buNone/>
                      </a:pPr>
                      <a:r>
                        <a:rPr lang="en-US" sz="2800"/>
                        <a:t>Clients</a:t>
                      </a:r>
                    </a:p>
                  </a:txBody>
                  <a:tcPr anchor="ctr"/>
                </a:tc>
                <a:tc>
                  <a:txBody>
                    <a:bodyPr/>
                    <a:lstStyle/>
                    <a:p>
                      <a:pPr>
                        <a:lnSpc>
                          <a:spcPct val="150000"/>
                        </a:lnSpc>
                        <a:buNone/>
                      </a:pPr>
                      <a:r>
                        <a:rPr lang="en-US" sz="2800"/>
                        <a:t>fast support</a:t>
                      </a:r>
                    </a:p>
                  </a:txBody>
                  <a:tcPr anchor="ctr"/>
                </a:tc>
                <a:extLst>
                  <a:ext uri="{0D108BD9-81ED-4DB2-BD59-A6C34878D82A}">
                    <a16:rowId xmlns:a16="http://schemas.microsoft.com/office/drawing/2014/main" val="1631951811"/>
                  </a:ext>
                </a:extLst>
              </a:tr>
              <a:tr h="0">
                <a:tc>
                  <a:txBody>
                    <a:bodyPr/>
                    <a:lstStyle/>
                    <a:p>
                      <a:pPr>
                        <a:lnSpc>
                          <a:spcPct val="150000"/>
                        </a:lnSpc>
                        <a:buNone/>
                      </a:pPr>
                      <a:r>
                        <a:rPr lang="en-US" sz="2800"/>
                        <a:t>Engineers</a:t>
                      </a:r>
                    </a:p>
                  </a:txBody>
                  <a:tcPr anchor="ctr"/>
                </a:tc>
                <a:tc>
                  <a:txBody>
                    <a:bodyPr/>
                    <a:lstStyle/>
                    <a:p>
                      <a:pPr>
                        <a:lnSpc>
                          <a:spcPct val="150000"/>
                        </a:lnSpc>
                        <a:buNone/>
                      </a:pPr>
                      <a:r>
                        <a:rPr lang="en-US" sz="2800"/>
                        <a:t>easier workflow</a:t>
                      </a:r>
                    </a:p>
                  </a:txBody>
                  <a:tcPr anchor="ctr"/>
                </a:tc>
                <a:extLst>
                  <a:ext uri="{0D108BD9-81ED-4DB2-BD59-A6C34878D82A}">
                    <a16:rowId xmlns:a16="http://schemas.microsoft.com/office/drawing/2014/main" val="2227853921"/>
                  </a:ext>
                </a:extLst>
              </a:tr>
              <a:tr h="0">
                <a:tc>
                  <a:txBody>
                    <a:bodyPr/>
                    <a:lstStyle/>
                    <a:p>
                      <a:pPr>
                        <a:lnSpc>
                          <a:spcPct val="150000"/>
                        </a:lnSpc>
                        <a:buNone/>
                      </a:pPr>
                      <a:r>
                        <a:rPr lang="en-US" sz="2800"/>
                        <a:t>Managers</a:t>
                      </a:r>
                    </a:p>
                  </a:txBody>
                  <a:tcPr anchor="ctr"/>
                </a:tc>
                <a:tc>
                  <a:txBody>
                    <a:bodyPr/>
                    <a:lstStyle/>
                    <a:p>
                      <a:pPr>
                        <a:lnSpc>
                          <a:spcPct val="150000"/>
                        </a:lnSpc>
                        <a:buNone/>
                      </a:pPr>
                      <a:r>
                        <a:rPr lang="en-US" sz="2800"/>
                        <a:t>lower cost</a:t>
                      </a:r>
                    </a:p>
                  </a:txBody>
                  <a:tcPr anchor="ctr"/>
                </a:tc>
                <a:extLst>
                  <a:ext uri="{0D108BD9-81ED-4DB2-BD59-A6C34878D82A}">
                    <a16:rowId xmlns:a16="http://schemas.microsoft.com/office/drawing/2014/main" val="4261972022"/>
                  </a:ext>
                </a:extLst>
              </a:tr>
              <a:tr h="0">
                <a:tc>
                  <a:txBody>
                    <a:bodyPr/>
                    <a:lstStyle/>
                    <a:p>
                      <a:pPr>
                        <a:lnSpc>
                          <a:spcPct val="150000"/>
                        </a:lnSpc>
                        <a:buNone/>
                      </a:pPr>
                      <a:r>
                        <a:rPr lang="en-US" sz="2800"/>
                        <a:t>Security teams</a:t>
                      </a:r>
                    </a:p>
                  </a:txBody>
                  <a:tcPr anchor="ctr"/>
                </a:tc>
                <a:tc>
                  <a:txBody>
                    <a:bodyPr/>
                    <a:lstStyle/>
                    <a:p>
                      <a:pPr>
                        <a:lnSpc>
                          <a:spcPct val="150000"/>
                        </a:lnSpc>
                        <a:buNone/>
                      </a:pPr>
                      <a:r>
                        <a:rPr lang="en-US" sz="2800" dirty="0"/>
                        <a:t>better protection</a:t>
                      </a:r>
                    </a:p>
                  </a:txBody>
                  <a:tcPr anchor="ctr"/>
                </a:tc>
                <a:extLst>
                  <a:ext uri="{0D108BD9-81ED-4DB2-BD59-A6C34878D82A}">
                    <a16:rowId xmlns:a16="http://schemas.microsoft.com/office/drawing/2014/main" val="1205908961"/>
                  </a:ext>
                </a:extLst>
              </a:tr>
            </a:tbl>
          </a:graphicData>
        </a:graphic>
      </p:graphicFrame>
      <p:sp>
        <p:nvSpPr>
          <p:cNvPr id="8" name="TextBox 7">
            <a:extLst>
              <a:ext uri="{FF2B5EF4-FFF2-40B4-BE49-F238E27FC236}">
                <a16:creationId xmlns:a16="http://schemas.microsoft.com/office/drawing/2014/main" id="{A550939C-BAAD-5EB1-DD03-97061A61FCF8}"/>
              </a:ext>
            </a:extLst>
          </p:cNvPr>
          <p:cNvSpPr txBox="1"/>
          <p:nvPr/>
        </p:nvSpPr>
        <p:spPr>
          <a:xfrm>
            <a:off x="65088" y="5757189"/>
            <a:ext cx="9144000" cy="523220"/>
          </a:xfrm>
          <a:prstGeom prst="rect">
            <a:avLst/>
          </a:prstGeom>
          <a:noFill/>
        </p:spPr>
        <p:txBody>
          <a:bodyPr wrap="square">
            <a:spAutoFit/>
          </a:bodyPr>
          <a:lstStyle/>
          <a:p>
            <a:r>
              <a:rPr lang="en-US" sz="2800" dirty="0">
                <a:latin typeface="+mn-lt"/>
              </a:rPr>
              <a:t>Students can include this in Assessment 4.</a:t>
            </a:r>
          </a:p>
        </p:txBody>
      </p:sp>
    </p:spTree>
    <p:extLst>
      <p:ext uri="{BB962C8B-B14F-4D97-AF65-F5344CB8AC3E}">
        <p14:creationId xmlns:p14="http://schemas.microsoft.com/office/powerpoint/2010/main" val="2752157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013A-6D50-1A48-A452-B93B1D676A0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3B781C7-7105-1F30-4DBD-503EB7800C60}"/>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Example Challenges &amp; Student Solutions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333364C-FDD0-4F29-73D3-A8C4817C8B5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D319F2B-264D-C405-D273-C78D39B85C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C1A6032A-20C3-62C6-1F12-5F9375A47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F1159200-E15B-F3B7-55FE-791832E637AE}"/>
              </a:ext>
            </a:extLst>
          </p:cNvPr>
          <p:cNvGraphicFramePr>
            <a:graphicFrameLocks noGrp="1"/>
          </p:cNvGraphicFramePr>
          <p:nvPr>
            <p:extLst>
              <p:ext uri="{D42A27DB-BD31-4B8C-83A1-F6EECF244321}">
                <p14:modId xmlns:p14="http://schemas.microsoft.com/office/powerpoint/2010/main" val="1697174306"/>
              </p:ext>
            </p:extLst>
          </p:nvPr>
        </p:nvGraphicFramePr>
        <p:xfrm>
          <a:off x="147484" y="2157393"/>
          <a:ext cx="8996516" cy="3962400"/>
        </p:xfrm>
        <a:graphic>
          <a:graphicData uri="http://schemas.openxmlformats.org/drawingml/2006/table">
            <a:tbl>
              <a:tblPr>
                <a:tableStyleId>{5DA37D80-6434-44D0-A028-1B22A696006F}</a:tableStyleId>
              </a:tblPr>
              <a:tblGrid>
                <a:gridCol w="4070554">
                  <a:extLst>
                    <a:ext uri="{9D8B030D-6E8A-4147-A177-3AD203B41FA5}">
                      <a16:colId xmlns:a16="http://schemas.microsoft.com/office/drawing/2014/main" val="596818659"/>
                    </a:ext>
                  </a:extLst>
                </a:gridCol>
                <a:gridCol w="4925962">
                  <a:extLst>
                    <a:ext uri="{9D8B030D-6E8A-4147-A177-3AD203B41FA5}">
                      <a16:colId xmlns:a16="http://schemas.microsoft.com/office/drawing/2014/main" val="879582088"/>
                    </a:ext>
                  </a:extLst>
                </a:gridCol>
              </a:tblGrid>
              <a:tr h="0">
                <a:tc>
                  <a:txBody>
                    <a:bodyPr/>
                    <a:lstStyle/>
                    <a:p>
                      <a:pPr>
                        <a:buNone/>
                      </a:pPr>
                      <a:r>
                        <a:rPr lang="en-US" sz="2800" b="1" dirty="0"/>
                        <a:t>NSW IT Support Challenge</a:t>
                      </a:r>
                    </a:p>
                  </a:txBody>
                  <a:tcPr anchor="ctr">
                    <a:solidFill>
                      <a:schemeClr val="bg1"/>
                    </a:solidFill>
                  </a:tcPr>
                </a:tc>
                <a:tc>
                  <a:txBody>
                    <a:bodyPr/>
                    <a:lstStyle/>
                    <a:p>
                      <a:pPr>
                        <a:buNone/>
                      </a:pPr>
                      <a:r>
                        <a:rPr lang="en-US" sz="2800" b="1" dirty="0"/>
                        <a:t>Possible Student Solution</a:t>
                      </a:r>
                    </a:p>
                  </a:txBody>
                  <a:tcPr anchor="ctr">
                    <a:solidFill>
                      <a:schemeClr val="bg1"/>
                    </a:solidFill>
                  </a:tcPr>
                </a:tc>
                <a:extLst>
                  <a:ext uri="{0D108BD9-81ED-4DB2-BD59-A6C34878D82A}">
                    <a16:rowId xmlns:a16="http://schemas.microsoft.com/office/drawing/2014/main" val="4236367738"/>
                  </a:ext>
                </a:extLst>
              </a:tr>
              <a:tr h="0">
                <a:tc>
                  <a:txBody>
                    <a:bodyPr/>
                    <a:lstStyle/>
                    <a:p>
                      <a:pPr>
                        <a:buNone/>
                      </a:pPr>
                      <a:r>
                        <a:rPr lang="en-US" sz="2800"/>
                        <a:t>repetitive support tickets</a:t>
                      </a:r>
                    </a:p>
                  </a:txBody>
                  <a:tcPr anchor="ctr">
                    <a:solidFill>
                      <a:schemeClr val="bg1"/>
                    </a:solidFill>
                  </a:tcPr>
                </a:tc>
                <a:tc>
                  <a:txBody>
                    <a:bodyPr/>
                    <a:lstStyle/>
                    <a:p>
                      <a:pPr>
                        <a:buNone/>
                      </a:pPr>
                      <a:r>
                        <a:rPr lang="en-US" sz="2800"/>
                        <a:t>AI chatbot</a:t>
                      </a:r>
                    </a:p>
                  </a:txBody>
                  <a:tcPr anchor="ctr">
                    <a:solidFill>
                      <a:schemeClr val="bg1"/>
                    </a:solidFill>
                  </a:tcPr>
                </a:tc>
                <a:extLst>
                  <a:ext uri="{0D108BD9-81ED-4DB2-BD59-A6C34878D82A}">
                    <a16:rowId xmlns:a16="http://schemas.microsoft.com/office/drawing/2014/main" val="4153503988"/>
                  </a:ext>
                </a:extLst>
              </a:tr>
              <a:tr h="0">
                <a:tc>
                  <a:txBody>
                    <a:bodyPr/>
                    <a:lstStyle/>
                    <a:p>
                      <a:pPr>
                        <a:buNone/>
                      </a:pPr>
                      <a:r>
                        <a:rPr lang="en-US" sz="2800" dirty="0"/>
                        <a:t>security monitoring difficulty</a:t>
                      </a:r>
                    </a:p>
                  </a:txBody>
                  <a:tcPr anchor="ctr">
                    <a:solidFill>
                      <a:schemeClr val="bg1"/>
                    </a:solidFill>
                  </a:tcPr>
                </a:tc>
                <a:tc>
                  <a:txBody>
                    <a:bodyPr/>
                    <a:lstStyle/>
                    <a:p>
                      <a:pPr>
                        <a:buNone/>
                      </a:pPr>
                      <a:r>
                        <a:rPr lang="en-US" sz="2800"/>
                        <a:t>cybersecurity dashboard</a:t>
                      </a:r>
                    </a:p>
                  </a:txBody>
                  <a:tcPr anchor="ctr">
                    <a:solidFill>
                      <a:schemeClr val="bg1"/>
                    </a:solidFill>
                  </a:tcPr>
                </a:tc>
                <a:extLst>
                  <a:ext uri="{0D108BD9-81ED-4DB2-BD59-A6C34878D82A}">
                    <a16:rowId xmlns:a16="http://schemas.microsoft.com/office/drawing/2014/main" val="725615454"/>
                  </a:ext>
                </a:extLst>
              </a:tr>
              <a:tr h="0">
                <a:tc>
                  <a:txBody>
                    <a:bodyPr/>
                    <a:lstStyle/>
                    <a:p>
                      <a:pPr>
                        <a:buNone/>
                      </a:pPr>
                      <a:r>
                        <a:rPr lang="en-US" sz="2800"/>
                        <a:t>client communication delays</a:t>
                      </a:r>
                    </a:p>
                  </a:txBody>
                  <a:tcPr anchor="ctr">
                    <a:solidFill>
                      <a:schemeClr val="bg1"/>
                    </a:solidFill>
                  </a:tcPr>
                </a:tc>
                <a:tc>
                  <a:txBody>
                    <a:bodyPr/>
                    <a:lstStyle/>
                    <a:p>
                      <a:pPr>
                        <a:buNone/>
                      </a:pPr>
                      <a:r>
                        <a:rPr lang="en-US" sz="2800"/>
                        <a:t>customer portal</a:t>
                      </a:r>
                    </a:p>
                  </a:txBody>
                  <a:tcPr anchor="ctr">
                    <a:solidFill>
                      <a:schemeClr val="bg1"/>
                    </a:solidFill>
                  </a:tcPr>
                </a:tc>
                <a:extLst>
                  <a:ext uri="{0D108BD9-81ED-4DB2-BD59-A6C34878D82A}">
                    <a16:rowId xmlns:a16="http://schemas.microsoft.com/office/drawing/2014/main" val="1174030864"/>
                  </a:ext>
                </a:extLst>
              </a:tr>
              <a:tr h="0">
                <a:tc>
                  <a:txBody>
                    <a:bodyPr/>
                    <a:lstStyle/>
                    <a:p>
                      <a:pPr>
                        <a:buNone/>
                      </a:pPr>
                      <a:r>
                        <a:rPr lang="en-US" sz="2800"/>
                        <a:t>manual reporting</a:t>
                      </a:r>
                    </a:p>
                  </a:txBody>
                  <a:tcPr anchor="ctr">
                    <a:solidFill>
                      <a:schemeClr val="bg1"/>
                    </a:solidFill>
                  </a:tcPr>
                </a:tc>
                <a:tc>
                  <a:txBody>
                    <a:bodyPr/>
                    <a:lstStyle/>
                    <a:p>
                      <a:pPr>
                        <a:buNone/>
                      </a:pPr>
                      <a:r>
                        <a:rPr lang="en-US" sz="2800"/>
                        <a:t>automated analytics dashboard</a:t>
                      </a:r>
                    </a:p>
                  </a:txBody>
                  <a:tcPr anchor="ctr">
                    <a:solidFill>
                      <a:schemeClr val="bg1"/>
                    </a:solidFill>
                  </a:tcPr>
                </a:tc>
                <a:extLst>
                  <a:ext uri="{0D108BD9-81ED-4DB2-BD59-A6C34878D82A}">
                    <a16:rowId xmlns:a16="http://schemas.microsoft.com/office/drawing/2014/main" val="2188475635"/>
                  </a:ext>
                </a:extLst>
              </a:tr>
              <a:tr h="0">
                <a:tc>
                  <a:txBody>
                    <a:bodyPr/>
                    <a:lstStyle/>
                    <a:p>
                      <a:pPr>
                        <a:buNone/>
                      </a:pPr>
                      <a:r>
                        <a:rPr lang="en-US" sz="2800"/>
                        <a:t>remote support issues</a:t>
                      </a:r>
                    </a:p>
                  </a:txBody>
                  <a:tcPr anchor="ctr">
                    <a:solidFill>
                      <a:schemeClr val="bg1"/>
                    </a:solidFill>
                  </a:tcPr>
                </a:tc>
                <a:tc>
                  <a:txBody>
                    <a:bodyPr/>
                    <a:lstStyle/>
                    <a:p>
                      <a:pPr>
                        <a:buNone/>
                      </a:pPr>
                      <a:r>
                        <a:rPr lang="en-US" sz="2800" dirty="0"/>
                        <a:t>cloud-based support system</a:t>
                      </a:r>
                    </a:p>
                  </a:txBody>
                  <a:tcPr anchor="ctr">
                    <a:solidFill>
                      <a:schemeClr val="bg1"/>
                    </a:solidFill>
                  </a:tcPr>
                </a:tc>
                <a:extLst>
                  <a:ext uri="{0D108BD9-81ED-4DB2-BD59-A6C34878D82A}">
                    <a16:rowId xmlns:a16="http://schemas.microsoft.com/office/drawing/2014/main" val="3321557090"/>
                  </a:ext>
                </a:extLst>
              </a:tr>
            </a:tbl>
          </a:graphicData>
        </a:graphic>
      </p:graphicFrame>
    </p:spTree>
    <p:extLst>
      <p:ext uri="{BB962C8B-B14F-4D97-AF65-F5344CB8AC3E}">
        <p14:creationId xmlns:p14="http://schemas.microsoft.com/office/powerpoint/2010/main" val="3272532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56E09-6159-5A1B-8BFE-E4F23610CF6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ACBC1CE-15F6-1ED3-73C2-E4636C88006E}"/>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Critical Reflection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CC64317-E2BF-B70F-20FE-9997670F71E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7129ECC-C84E-7256-43E4-067DE72A2C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D91BD523-938A-646F-C04C-9EA5DB075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4938B7F-44E6-19DE-7042-8329D66D85D8}"/>
              </a:ext>
            </a:extLst>
          </p:cNvPr>
          <p:cNvSpPr txBox="1"/>
          <p:nvPr/>
        </p:nvSpPr>
        <p:spPr>
          <a:xfrm>
            <a:off x="0" y="1710813"/>
            <a:ext cx="9144000" cy="5193281"/>
          </a:xfrm>
          <a:prstGeom prst="rect">
            <a:avLst/>
          </a:prstGeom>
          <a:solidFill>
            <a:schemeClr val="bg1"/>
          </a:solidFill>
        </p:spPr>
        <p:txBody>
          <a:bodyPr wrap="square">
            <a:spAutoFit/>
          </a:bodyPr>
          <a:lstStyle/>
          <a:p>
            <a:pPr>
              <a:lnSpc>
                <a:spcPct val="150000"/>
              </a:lnSpc>
              <a:buNone/>
            </a:pPr>
            <a:r>
              <a:rPr lang="en-US" sz="2800" b="1" dirty="0">
                <a:latin typeface="+mn-lt"/>
              </a:rPr>
              <a:t>Students Should Reflect:</a:t>
            </a:r>
          </a:p>
          <a:p>
            <a:pPr>
              <a:lnSpc>
                <a:spcPct val="150000"/>
              </a:lnSpc>
            </a:pPr>
            <a:r>
              <a:rPr lang="en-US" sz="2800" dirty="0">
                <a:latin typeface="+mn-lt"/>
              </a:rPr>
              <a:t>- What worked well in our project? </a:t>
            </a:r>
          </a:p>
          <a:p>
            <a:pPr>
              <a:lnSpc>
                <a:spcPct val="150000"/>
              </a:lnSpc>
            </a:pPr>
            <a:r>
              <a:rPr lang="en-US" sz="2800" dirty="0">
                <a:latin typeface="+mn-lt"/>
              </a:rPr>
              <a:t>- What challenges did we face? </a:t>
            </a:r>
          </a:p>
          <a:p>
            <a:pPr>
              <a:lnSpc>
                <a:spcPct val="150000"/>
              </a:lnSpc>
            </a:pPr>
            <a:r>
              <a:rPr lang="en-US" sz="2800" dirty="0">
                <a:latin typeface="+mn-lt"/>
              </a:rPr>
              <a:t>- Was our solution realistic? </a:t>
            </a:r>
          </a:p>
          <a:p>
            <a:pPr>
              <a:lnSpc>
                <a:spcPct val="150000"/>
              </a:lnSpc>
            </a:pPr>
            <a:r>
              <a:rPr lang="en-US" sz="2800" dirty="0">
                <a:latin typeface="+mn-lt"/>
              </a:rPr>
              <a:t>- What would we improve? </a:t>
            </a:r>
          </a:p>
          <a:p>
            <a:pPr>
              <a:lnSpc>
                <a:spcPct val="150000"/>
              </a:lnSpc>
            </a:pPr>
            <a:r>
              <a:rPr lang="en-US" sz="2800" dirty="0">
                <a:latin typeface="+mn-lt"/>
              </a:rPr>
              <a:t>- Did we communicate effectively? </a:t>
            </a:r>
          </a:p>
          <a:p>
            <a:pPr>
              <a:lnSpc>
                <a:spcPct val="150000"/>
              </a:lnSpc>
            </a:pPr>
            <a:r>
              <a:rPr lang="en-US" sz="2800" dirty="0">
                <a:latin typeface="+mn-lt"/>
              </a:rPr>
              <a:t>- Did our project meet stakeholder needs? </a:t>
            </a:r>
          </a:p>
          <a:p>
            <a:pPr>
              <a:lnSpc>
                <a:spcPct val="150000"/>
              </a:lnSpc>
              <a:buNone/>
            </a:pPr>
            <a:r>
              <a:rPr lang="en-US" sz="2800" dirty="0">
                <a:latin typeface="+mn-lt"/>
              </a:rPr>
              <a:t>This strengthens Section 6 of Assessment 4.</a:t>
            </a:r>
          </a:p>
        </p:txBody>
      </p:sp>
    </p:spTree>
    <p:extLst>
      <p:ext uri="{BB962C8B-B14F-4D97-AF65-F5344CB8AC3E}">
        <p14:creationId xmlns:p14="http://schemas.microsoft.com/office/powerpoint/2010/main" val="528970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ACA0-8E28-4F9E-8A84-23BB19FA68B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BD761CB-B2F4-0C6C-DEE8-2ADB266D758B}"/>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Integrating Evaluation into Project Management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98A3C60-D120-AEA2-5C71-3C77E535739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B2437B4-EDD7-9B0A-F023-9EA6F89C5F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76CB77F7-5765-1CAE-57C8-0599E59E5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6CDEAC5-4051-D64C-BC70-D9FED211D2DA}"/>
              </a:ext>
            </a:extLst>
          </p:cNvPr>
          <p:cNvSpPr txBox="1"/>
          <p:nvPr/>
        </p:nvSpPr>
        <p:spPr>
          <a:xfrm>
            <a:off x="0" y="1710813"/>
            <a:ext cx="9144000" cy="4549835"/>
          </a:xfrm>
          <a:prstGeom prst="rect">
            <a:avLst/>
          </a:prstGeom>
          <a:solidFill>
            <a:schemeClr val="bg1"/>
          </a:solidFill>
        </p:spPr>
        <p:txBody>
          <a:bodyPr wrap="square">
            <a:spAutoFit/>
          </a:bodyPr>
          <a:lstStyle/>
          <a:p>
            <a:pPr>
              <a:lnSpc>
                <a:spcPct val="150000"/>
              </a:lnSpc>
            </a:pPr>
            <a:r>
              <a:rPr lang="en-US" sz="2800" b="1" dirty="0">
                <a:latin typeface="+mn-lt"/>
              </a:rPr>
              <a:t>Students Should Explain:</a:t>
            </a:r>
          </a:p>
          <a:p>
            <a:pPr>
              <a:lnSpc>
                <a:spcPct val="150000"/>
              </a:lnSpc>
            </a:pPr>
            <a:r>
              <a:rPr lang="en-US" sz="2800" b="1" dirty="0">
                <a:latin typeface="+mn-lt"/>
              </a:rPr>
              <a:t>Before Implementation</a:t>
            </a:r>
          </a:p>
          <a:p>
            <a:pPr>
              <a:lnSpc>
                <a:spcPct val="150000"/>
              </a:lnSpc>
            </a:pPr>
            <a:r>
              <a:rPr lang="en-US" sz="2800" dirty="0">
                <a:latin typeface="+mn-lt"/>
              </a:rPr>
              <a:t>- feasibility analysis </a:t>
            </a:r>
          </a:p>
          <a:p>
            <a:pPr>
              <a:lnSpc>
                <a:spcPct val="150000"/>
              </a:lnSpc>
            </a:pPr>
            <a:r>
              <a:rPr lang="en-US" sz="2800" dirty="0">
                <a:latin typeface="+mn-lt"/>
              </a:rPr>
              <a:t>- stakeholder analysis </a:t>
            </a:r>
          </a:p>
          <a:p>
            <a:pPr>
              <a:lnSpc>
                <a:spcPct val="150000"/>
              </a:lnSpc>
            </a:pPr>
            <a:r>
              <a:rPr lang="en-US" sz="2800" b="1" dirty="0">
                <a:latin typeface="+mn-lt"/>
              </a:rPr>
              <a:t>During Implementation</a:t>
            </a:r>
          </a:p>
          <a:p>
            <a:pPr>
              <a:lnSpc>
                <a:spcPct val="150000"/>
              </a:lnSpc>
            </a:pPr>
            <a:r>
              <a:rPr lang="en-US" sz="2800" dirty="0">
                <a:latin typeface="+mn-lt"/>
              </a:rPr>
              <a:t>- progress monitoring </a:t>
            </a:r>
          </a:p>
          <a:p>
            <a:pPr>
              <a:lnSpc>
                <a:spcPct val="150000"/>
              </a:lnSpc>
            </a:pPr>
            <a:r>
              <a:rPr lang="en-US" sz="2800" dirty="0">
                <a:latin typeface="+mn-lt"/>
              </a:rPr>
              <a:t>- testing </a:t>
            </a:r>
          </a:p>
        </p:txBody>
      </p:sp>
    </p:spTree>
    <p:extLst>
      <p:ext uri="{BB962C8B-B14F-4D97-AF65-F5344CB8AC3E}">
        <p14:creationId xmlns:p14="http://schemas.microsoft.com/office/powerpoint/2010/main" val="643313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A7BD-4435-670F-3312-A4A542855B3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DC42B8B-A6BE-77BF-7FDD-BFB3299935AF}"/>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Integrating Evaluation into Project Management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C697EB5-ABD5-3B49-D5D8-72E48A7C952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5C42857-C525-9439-67C5-7387CF09B8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C6BB3481-FE76-0EBF-0AF0-793DF08EB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68A99B5-EFBC-C76F-CCDE-76DF7572CB8B}"/>
              </a:ext>
            </a:extLst>
          </p:cNvPr>
          <p:cNvSpPr txBox="1"/>
          <p:nvPr/>
        </p:nvSpPr>
        <p:spPr>
          <a:xfrm>
            <a:off x="0" y="1710813"/>
            <a:ext cx="9144000" cy="2610843"/>
          </a:xfrm>
          <a:prstGeom prst="rect">
            <a:avLst/>
          </a:prstGeom>
          <a:solidFill>
            <a:schemeClr val="bg1"/>
          </a:solidFill>
        </p:spPr>
        <p:txBody>
          <a:bodyPr wrap="square">
            <a:spAutoFit/>
          </a:bodyPr>
          <a:lstStyle/>
          <a:p>
            <a:pPr>
              <a:lnSpc>
                <a:spcPct val="150000"/>
              </a:lnSpc>
            </a:pPr>
            <a:r>
              <a:rPr lang="en-US" sz="2800" b="1" dirty="0"/>
              <a:t>After Implementation</a:t>
            </a:r>
          </a:p>
          <a:p>
            <a:pPr>
              <a:lnSpc>
                <a:spcPct val="150000"/>
              </a:lnSpc>
            </a:pPr>
            <a:r>
              <a:rPr lang="en-US" sz="2800" dirty="0"/>
              <a:t>- evaluation </a:t>
            </a:r>
          </a:p>
          <a:p>
            <a:pPr>
              <a:lnSpc>
                <a:spcPct val="150000"/>
              </a:lnSpc>
            </a:pPr>
            <a:r>
              <a:rPr lang="en-US" sz="2800" dirty="0"/>
              <a:t>- client feedback </a:t>
            </a:r>
          </a:p>
          <a:p>
            <a:pPr>
              <a:lnSpc>
                <a:spcPct val="150000"/>
              </a:lnSpc>
            </a:pPr>
            <a:r>
              <a:rPr lang="en-US" sz="2800" dirty="0"/>
              <a:t>- future improvements</a:t>
            </a:r>
          </a:p>
        </p:txBody>
      </p:sp>
    </p:spTree>
    <p:extLst>
      <p:ext uri="{BB962C8B-B14F-4D97-AF65-F5344CB8AC3E}">
        <p14:creationId xmlns:p14="http://schemas.microsoft.com/office/powerpoint/2010/main" val="278465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8F0D-1775-6833-53BA-9E3340CE169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374C95A-F971-50EC-5444-0A8F78C48A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1D67EDE-DF28-33E6-22FE-717D932CDB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85927D47-2915-1271-93C7-7CFFD704A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2E04693-3077-1F00-7C3C-73D88B3FB36C}"/>
              </a:ext>
            </a:extLst>
          </p:cNvPr>
          <p:cNvSpPr txBox="1"/>
          <p:nvPr/>
        </p:nvSpPr>
        <p:spPr>
          <a:xfrm>
            <a:off x="0" y="1634134"/>
            <a:ext cx="9144000" cy="5223866"/>
          </a:xfrm>
          <a:prstGeom prst="rect">
            <a:avLst/>
          </a:prstGeom>
          <a:solidFill>
            <a:schemeClr val="bg1"/>
          </a:solidFill>
        </p:spPr>
        <p:txBody>
          <a:bodyPr wrap="square">
            <a:spAutoFit/>
          </a:bodyPr>
          <a:lstStyle/>
          <a:p>
            <a:pPr>
              <a:lnSpc>
                <a:spcPct val="150000"/>
              </a:lnSpc>
            </a:pPr>
            <a:r>
              <a:rPr lang="en-US" sz="2500" b="1" dirty="0">
                <a:latin typeface="+mn-lt"/>
              </a:rPr>
              <a:t>Example:</a:t>
            </a:r>
          </a:p>
          <a:p>
            <a:pPr>
              <a:lnSpc>
                <a:spcPct val="150000"/>
              </a:lnSpc>
            </a:pPr>
            <a:r>
              <a:rPr lang="en-US" sz="2500" dirty="0">
                <a:latin typeface="+mn-lt"/>
              </a:rPr>
              <a:t>AI Ticketing System</a:t>
            </a:r>
          </a:p>
          <a:p>
            <a:pPr>
              <a:lnSpc>
                <a:spcPct val="150000"/>
              </a:lnSpc>
            </a:pPr>
            <a:r>
              <a:rPr lang="en-US" sz="2500" b="1" dirty="0">
                <a:latin typeface="+mn-lt"/>
              </a:rPr>
              <a:t>Future Improvements:</a:t>
            </a:r>
          </a:p>
          <a:p>
            <a:pPr>
              <a:lnSpc>
                <a:spcPct val="150000"/>
              </a:lnSpc>
            </a:pPr>
            <a:r>
              <a:rPr lang="en-US" sz="2500" dirty="0">
                <a:latin typeface="+mn-lt"/>
              </a:rPr>
              <a:t>- voice AI support </a:t>
            </a:r>
          </a:p>
          <a:p>
            <a:pPr>
              <a:lnSpc>
                <a:spcPct val="150000"/>
              </a:lnSpc>
            </a:pPr>
            <a:r>
              <a:rPr lang="en-US" sz="2500" dirty="0">
                <a:latin typeface="+mn-lt"/>
              </a:rPr>
              <a:t>- predictive analytics </a:t>
            </a:r>
          </a:p>
          <a:p>
            <a:pPr>
              <a:lnSpc>
                <a:spcPct val="150000"/>
              </a:lnSpc>
            </a:pPr>
            <a:r>
              <a:rPr lang="en-US" sz="2500" dirty="0">
                <a:latin typeface="+mn-lt"/>
              </a:rPr>
              <a:t>- mobile app integration </a:t>
            </a:r>
          </a:p>
          <a:p>
            <a:pPr>
              <a:lnSpc>
                <a:spcPct val="150000"/>
              </a:lnSpc>
            </a:pPr>
            <a:r>
              <a:rPr lang="en-US" sz="2500" dirty="0">
                <a:latin typeface="+mn-lt"/>
              </a:rPr>
              <a:t>- multilingual chatbot </a:t>
            </a:r>
          </a:p>
          <a:p>
            <a:pPr>
              <a:lnSpc>
                <a:spcPct val="150000"/>
              </a:lnSpc>
            </a:pPr>
            <a:r>
              <a:rPr lang="en-US" sz="2500" dirty="0">
                <a:latin typeface="+mn-lt"/>
              </a:rPr>
              <a:t>- automated cybersecurity alerts </a:t>
            </a:r>
          </a:p>
          <a:p>
            <a:pPr>
              <a:lnSpc>
                <a:spcPct val="150000"/>
              </a:lnSpc>
            </a:pPr>
            <a:r>
              <a:rPr lang="en-US" sz="2500" dirty="0">
                <a:latin typeface="+mn-lt"/>
              </a:rPr>
              <a:t>Helps students write stronger “Future Development” sections.</a:t>
            </a:r>
          </a:p>
        </p:txBody>
      </p:sp>
      <p:sp>
        <p:nvSpPr>
          <p:cNvPr id="6146" name="Title 1">
            <a:extLst>
              <a:ext uri="{FF2B5EF4-FFF2-40B4-BE49-F238E27FC236}">
                <a16:creationId xmlns:a16="http://schemas.microsoft.com/office/drawing/2014/main" id="{4344C758-582B-C186-B2AE-831FB5D1762B}"/>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Example Future Development Ideas</a:t>
            </a:r>
            <a:endParaRPr lang="en-AU" altLang="en-US" b="1" dirty="0">
              <a:solidFill>
                <a:srgbClr val="00B0F0"/>
              </a:solidFill>
            </a:endParaRPr>
          </a:p>
        </p:txBody>
      </p:sp>
    </p:spTree>
    <p:extLst>
      <p:ext uri="{BB962C8B-B14F-4D97-AF65-F5344CB8AC3E}">
        <p14:creationId xmlns:p14="http://schemas.microsoft.com/office/powerpoint/2010/main" val="1269817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19127-C939-5698-E66E-6A342CAC664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10D169-C1A9-1157-EB44-B55E0B77232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033BD58-16CD-55C8-9120-8717E2BBF56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1927F35E-ACEC-5408-EA60-D893FFB5C2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837DCFD-C5E9-500E-547A-C3A2AB09284C}"/>
              </a:ext>
            </a:extLst>
          </p:cNvPr>
          <p:cNvSpPr txBox="1"/>
          <p:nvPr/>
        </p:nvSpPr>
        <p:spPr>
          <a:xfrm>
            <a:off x="0" y="1634134"/>
            <a:ext cx="9144000" cy="3244158"/>
          </a:xfrm>
          <a:prstGeom prst="rect">
            <a:avLst/>
          </a:prstGeom>
          <a:solidFill>
            <a:schemeClr val="bg1"/>
          </a:solidFill>
        </p:spPr>
        <p:txBody>
          <a:bodyPr wrap="square">
            <a:spAutoFit/>
          </a:bodyPr>
          <a:lstStyle/>
          <a:p>
            <a:pPr>
              <a:lnSpc>
                <a:spcPct val="150000"/>
              </a:lnSpc>
            </a:pPr>
            <a:r>
              <a:rPr lang="en-US" sz="2800" b="1" dirty="0">
                <a:latin typeface="+mn-lt"/>
              </a:rPr>
              <a:t>Students Can Ask:</a:t>
            </a:r>
          </a:p>
          <a:p>
            <a:pPr>
              <a:lnSpc>
                <a:spcPct val="150000"/>
              </a:lnSpc>
            </a:pPr>
            <a:r>
              <a:rPr lang="en-US" sz="2800" dirty="0">
                <a:latin typeface="+mn-lt"/>
              </a:rPr>
              <a:t>- What technologies do you plan to adopt in future? </a:t>
            </a:r>
          </a:p>
          <a:p>
            <a:pPr>
              <a:lnSpc>
                <a:spcPct val="150000"/>
              </a:lnSpc>
            </a:pPr>
            <a:r>
              <a:rPr lang="en-US" sz="2800" dirty="0">
                <a:latin typeface="+mn-lt"/>
              </a:rPr>
              <a:t>- Is AI becoming more important? </a:t>
            </a:r>
          </a:p>
          <a:p>
            <a:pPr>
              <a:lnSpc>
                <a:spcPct val="150000"/>
              </a:lnSpc>
            </a:pPr>
            <a:r>
              <a:rPr lang="en-US" sz="2800" dirty="0">
                <a:latin typeface="+mn-lt"/>
              </a:rPr>
              <a:t>- How important is cloud computing now? </a:t>
            </a:r>
          </a:p>
          <a:p>
            <a:pPr>
              <a:lnSpc>
                <a:spcPct val="150000"/>
              </a:lnSpc>
            </a:pPr>
            <a:r>
              <a:rPr lang="en-US" sz="2800" dirty="0">
                <a:latin typeface="+mn-lt"/>
              </a:rPr>
              <a:t>- What cybersecurity trends concern your company most?</a:t>
            </a:r>
          </a:p>
        </p:txBody>
      </p:sp>
      <p:sp>
        <p:nvSpPr>
          <p:cNvPr id="6146" name="Title 1">
            <a:extLst>
              <a:ext uri="{FF2B5EF4-FFF2-40B4-BE49-F238E27FC236}">
                <a16:creationId xmlns:a16="http://schemas.microsoft.com/office/drawing/2014/main" id="{EAF82325-E6C1-1CDB-6757-3477A984B725}"/>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Questions About Future Technology</a:t>
            </a:r>
            <a:endParaRPr lang="en-AU" altLang="en-US" b="1" dirty="0">
              <a:solidFill>
                <a:srgbClr val="00B0F0"/>
              </a:solidFill>
            </a:endParaRPr>
          </a:p>
        </p:txBody>
      </p:sp>
    </p:spTree>
    <p:extLst>
      <p:ext uri="{BB962C8B-B14F-4D97-AF65-F5344CB8AC3E}">
        <p14:creationId xmlns:p14="http://schemas.microsoft.com/office/powerpoint/2010/main" val="1176838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54940-D788-11D8-3F78-2517C58785E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CB0FD8-3C6E-FF5D-5CE9-2820AABEBEB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33F90F5-2EF0-BEE0-58BA-50C7464E36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9AFE58C1-CBDE-E8AA-3A3E-EB9D79917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D563495-B181-9424-A374-69967FF2EE69}"/>
              </a:ext>
            </a:extLst>
          </p:cNvPr>
          <p:cNvSpPr txBox="1"/>
          <p:nvPr/>
        </p:nvSpPr>
        <p:spPr>
          <a:xfrm>
            <a:off x="-18256" y="2277713"/>
            <a:ext cx="9144000" cy="4546950"/>
          </a:xfrm>
          <a:prstGeom prst="rect">
            <a:avLst/>
          </a:prstGeom>
          <a:solidFill>
            <a:schemeClr val="bg1"/>
          </a:solidFill>
        </p:spPr>
        <p:txBody>
          <a:bodyPr wrap="square">
            <a:spAutoFit/>
          </a:bodyPr>
          <a:lstStyle/>
          <a:p>
            <a:pPr>
              <a:lnSpc>
                <a:spcPct val="150000"/>
              </a:lnSpc>
            </a:pPr>
            <a:r>
              <a:rPr lang="en-US" sz="2800" b="1" dirty="0">
                <a:latin typeface="+mn-lt"/>
              </a:rPr>
              <a:t>Students Should Think About Australian IT Challenges:</a:t>
            </a:r>
          </a:p>
          <a:p>
            <a:pPr>
              <a:lnSpc>
                <a:spcPct val="150000"/>
              </a:lnSpc>
            </a:pPr>
            <a:r>
              <a:rPr lang="en-US" sz="2800" dirty="0">
                <a:latin typeface="+mn-lt"/>
              </a:rPr>
              <a:t>- cybersecurity attacks on businesses </a:t>
            </a:r>
          </a:p>
          <a:p>
            <a:pPr>
              <a:lnSpc>
                <a:spcPct val="150000"/>
              </a:lnSpc>
            </a:pPr>
            <a:r>
              <a:rPr lang="en-US" sz="2800" dirty="0">
                <a:latin typeface="+mn-lt"/>
              </a:rPr>
              <a:t>- privacy and data protection </a:t>
            </a:r>
          </a:p>
          <a:p>
            <a:pPr>
              <a:lnSpc>
                <a:spcPct val="150000"/>
              </a:lnSpc>
            </a:pPr>
            <a:r>
              <a:rPr lang="en-US" sz="2800" dirty="0">
                <a:latin typeface="+mn-lt"/>
              </a:rPr>
              <a:t>- remote work/cloud security </a:t>
            </a:r>
          </a:p>
          <a:p>
            <a:pPr>
              <a:lnSpc>
                <a:spcPct val="150000"/>
              </a:lnSpc>
            </a:pPr>
            <a:r>
              <a:rPr lang="en-US" sz="2800" dirty="0">
                <a:latin typeface="+mn-lt"/>
              </a:rPr>
              <a:t>- SMEs needing affordable IT solutions </a:t>
            </a:r>
          </a:p>
          <a:p>
            <a:pPr>
              <a:lnSpc>
                <a:spcPct val="150000"/>
              </a:lnSpc>
            </a:pPr>
            <a:r>
              <a:rPr lang="en-US" sz="2800" dirty="0">
                <a:latin typeface="+mn-lt"/>
              </a:rPr>
              <a:t>- rising AI and automation adoption </a:t>
            </a:r>
          </a:p>
          <a:p>
            <a:pPr>
              <a:lnSpc>
                <a:spcPct val="150000"/>
              </a:lnSpc>
            </a:pPr>
            <a:r>
              <a:rPr lang="en-US" sz="2800" dirty="0">
                <a:latin typeface="+mn-lt"/>
              </a:rPr>
              <a:t>Makes projects more realistic and industry-relevant.</a:t>
            </a:r>
          </a:p>
        </p:txBody>
      </p:sp>
      <p:sp>
        <p:nvSpPr>
          <p:cNvPr id="6146" name="Title 1">
            <a:extLst>
              <a:ext uri="{FF2B5EF4-FFF2-40B4-BE49-F238E27FC236}">
                <a16:creationId xmlns:a16="http://schemas.microsoft.com/office/drawing/2014/main" id="{0672FAAF-F841-9202-3814-1AAF09D25F7D}"/>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Australian Context (Very Important)</a:t>
            </a:r>
            <a:endParaRPr lang="en-AU" altLang="en-US" b="1" dirty="0">
              <a:solidFill>
                <a:srgbClr val="00B0F0"/>
              </a:solidFill>
            </a:endParaRPr>
          </a:p>
        </p:txBody>
      </p:sp>
    </p:spTree>
    <p:extLst>
      <p:ext uri="{BB962C8B-B14F-4D97-AF65-F5344CB8AC3E}">
        <p14:creationId xmlns:p14="http://schemas.microsoft.com/office/powerpoint/2010/main" val="3003174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09354-12F5-A56C-BF5A-16385B7BC54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6ED180-2F58-E576-132C-1F1D1BCE427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6761D4-61D5-73A5-19A4-DCAD9E07E24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50F95BA2-4818-7B91-1DA7-7A79CC029F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574F84D-92FF-C46C-8790-7094612A6B33}"/>
              </a:ext>
            </a:extLst>
          </p:cNvPr>
          <p:cNvSpPr txBox="1"/>
          <p:nvPr/>
        </p:nvSpPr>
        <p:spPr>
          <a:xfrm>
            <a:off x="-18256" y="2277713"/>
            <a:ext cx="9144000" cy="4549835"/>
          </a:xfrm>
          <a:prstGeom prst="rect">
            <a:avLst/>
          </a:prstGeom>
          <a:solidFill>
            <a:schemeClr val="bg1"/>
          </a:solidFill>
        </p:spPr>
        <p:txBody>
          <a:bodyPr wrap="square">
            <a:spAutoFit/>
          </a:bodyPr>
          <a:lstStyle/>
          <a:p>
            <a:pPr>
              <a:lnSpc>
                <a:spcPct val="150000"/>
              </a:lnSpc>
            </a:pPr>
            <a:r>
              <a:rPr lang="en-US" sz="2800" b="1" dirty="0">
                <a:latin typeface="+mn-lt"/>
              </a:rPr>
              <a:t>Students Can Ask:</a:t>
            </a:r>
          </a:p>
          <a:p>
            <a:pPr>
              <a:lnSpc>
                <a:spcPct val="150000"/>
              </a:lnSpc>
            </a:pPr>
            <a:r>
              <a:rPr lang="en-US" sz="2800" dirty="0">
                <a:latin typeface="+mn-lt"/>
              </a:rPr>
              <a:t>- What cybersecurity concerns are most common for Australian SMEs? </a:t>
            </a:r>
          </a:p>
          <a:p>
            <a:pPr>
              <a:lnSpc>
                <a:spcPct val="150000"/>
              </a:lnSpc>
            </a:pPr>
            <a:r>
              <a:rPr lang="en-US" sz="2800" dirty="0">
                <a:latin typeface="+mn-lt"/>
              </a:rPr>
              <a:t>- How do Australian privacy regulations affect your projects? </a:t>
            </a:r>
          </a:p>
          <a:p>
            <a:pPr>
              <a:lnSpc>
                <a:spcPct val="150000"/>
              </a:lnSpc>
            </a:pPr>
            <a:r>
              <a:rPr lang="en-US" sz="2800" dirty="0">
                <a:latin typeface="+mn-lt"/>
              </a:rPr>
              <a:t>- Do clients prefer cloud or on-premise systems? </a:t>
            </a:r>
          </a:p>
          <a:p>
            <a:pPr>
              <a:lnSpc>
                <a:spcPct val="150000"/>
              </a:lnSpc>
            </a:pPr>
            <a:r>
              <a:rPr lang="en-US" sz="2800" dirty="0">
                <a:latin typeface="+mn-lt"/>
              </a:rPr>
              <a:t>- How has remote work changed client needs? </a:t>
            </a:r>
          </a:p>
          <a:p>
            <a:pPr>
              <a:lnSpc>
                <a:spcPct val="150000"/>
              </a:lnSpc>
            </a:pPr>
            <a:r>
              <a:rPr lang="en-US" sz="2800" dirty="0">
                <a:latin typeface="+mn-lt"/>
              </a:rPr>
              <a:t>- Are AI solutions becoming more common in Australia?</a:t>
            </a:r>
          </a:p>
        </p:txBody>
      </p:sp>
      <p:sp>
        <p:nvSpPr>
          <p:cNvPr id="6146" name="Title 1">
            <a:extLst>
              <a:ext uri="{FF2B5EF4-FFF2-40B4-BE49-F238E27FC236}">
                <a16:creationId xmlns:a16="http://schemas.microsoft.com/office/drawing/2014/main" id="{3E13664F-1501-E17A-0C88-9DDB2C5862BB}"/>
              </a:ext>
            </a:extLst>
          </p:cNvPr>
          <p:cNvSpPr>
            <a:spLocks noGrp="1"/>
          </p:cNvSpPr>
          <p:nvPr>
            <p:ph type="title"/>
          </p:nvPr>
        </p:nvSpPr>
        <p:spPr>
          <a:xfrm>
            <a:off x="0" y="612775"/>
            <a:ext cx="9107488" cy="1204874"/>
          </a:xfrm>
        </p:spPr>
        <p:txBody>
          <a:bodyPr>
            <a:normAutofit fontScale="90000"/>
          </a:bodyPr>
          <a:lstStyle/>
          <a:p>
            <a:pPr algn="ctr" eaLnBrk="1" fontAlgn="auto" hangingPunct="1">
              <a:spcAft>
                <a:spcPts val="0"/>
              </a:spcAft>
              <a:defRPr/>
            </a:pPr>
            <a:r>
              <a:rPr lang="en-US" b="1" dirty="0">
                <a:solidFill>
                  <a:srgbClr val="00B0F0"/>
                </a:solidFill>
              </a:rPr>
              <a:t>Australian Industry-Focused Questions</a:t>
            </a:r>
            <a:endParaRPr lang="en-AU" altLang="en-US" b="1" dirty="0">
              <a:solidFill>
                <a:srgbClr val="00B0F0"/>
              </a:solidFill>
            </a:endParaRPr>
          </a:p>
        </p:txBody>
      </p:sp>
    </p:spTree>
    <p:extLst>
      <p:ext uri="{BB962C8B-B14F-4D97-AF65-F5344CB8AC3E}">
        <p14:creationId xmlns:p14="http://schemas.microsoft.com/office/powerpoint/2010/main" val="117774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A700E-D941-FBE0-D525-D0CA3B6421B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152EEE-3AE4-993B-4FD5-E664B2F4369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5832B5D-51FB-D4CB-4786-ED0B6AD7E8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FE0D956C-9CC8-942A-AECF-03D34DA8C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D5780E4-7409-7D83-7B30-616E70E07A17}"/>
              </a:ext>
            </a:extLst>
          </p:cNvPr>
          <p:cNvSpPr txBox="1"/>
          <p:nvPr/>
        </p:nvSpPr>
        <p:spPr>
          <a:xfrm>
            <a:off x="-18256" y="2277713"/>
            <a:ext cx="9144000" cy="3900620"/>
          </a:xfrm>
          <a:prstGeom prst="rect">
            <a:avLst/>
          </a:prstGeom>
          <a:solidFill>
            <a:schemeClr val="bg1"/>
          </a:solidFill>
        </p:spPr>
        <p:txBody>
          <a:bodyPr wrap="square">
            <a:spAutoFit/>
          </a:bodyPr>
          <a:lstStyle/>
          <a:p>
            <a:pPr>
              <a:lnSpc>
                <a:spcPct val="150000"/>
              </a:lnSpc>
            </a:pPr>
            <a:r>
              <a:rPr lang="en-US" sz="2800" b="1" dirty="0">
                <a:latin typeface="+mn-lt"/>
              </a:rPr>
              <a:t>When Speaking to NSW IT Support</a:t>
            </a:r>
          </a:p>
          <a:p>
            <a:pPr marL="265113">
              <a:lnSpc>
                <a:spcPct val="150000"/>
              </a:lnSpc>
            </a:pPr>
            <a:r>
              <a:rPr lang="en-US" sz="2800" dirty="0">
                <a:latin typeface="+mn-lt"/>
              </a:rPr>
              <a:t>- ask business-focused questions</a:t>
            </a:r>
            <a:br>
              <a:rPr lang="en-US" sz="2800" dirty="0">
                <a:latin typeface="+mn-lt"/>
              </a:rPr>
            </a:br>
            <a:r>
              <a:rPr lang="en-US" sz="2800" dirty="0">
                <a:latin typeface="+mn-lt"/>
              </a:rPr>
              <a:t>- ask WHY decisions are made</a:t>
            </a:r>
            <a:br>
              <a:rPr lang="en-US" sz="2800" dirty="0">
                <a:latin typeface="+mn-lt"/>
              </a:rPr>
            </a:br>
            <a:r>
              <a:rPr lang="en-US" sz="2800" dirty="0">
                <a:latin typeface="+mn-lt"/>
              </a:rPr>
              <a:t>- ask about challenges and improvements</a:t>
            </a:r>
            <a:br>
              <a:rPr lang="en-US" sz="2800" dirty="0">
                <a:latin typeface="+mn-lt"/>
              </a:rPr>
            </a:br>
            <a:r>
              <a:rPr lang="en-US" sz="2800" dirty="0">
                <a:latin typeface="+mn-lt"/>
              </a:rPr>
              <a:t>- take notes professionally</a:t>
            </a:r>
            <a:br>
              <a:rPr lang="en-US" sz="2800" dirty="0">
                <a:latin typeface="+mn-lt"/>
              </a:rPr>
            </a:br>
            <a:r>
              <a:rPr lang="en-US" sz="2800" dirty="0">
                <a:latin typeface="+mn-lt"/>
              </a:rPr>
              <a:t>- connect answers to Assessment 4</a:t>
            </a:r>
          </a:p>
        </p:txBody>
      </p:sp>
      <p:sp>
        <p:nvSpPr>
          <p:cNvPr id="6146" name="Title 1">
            <a:extLst>
              <a:ext uri="{FF2B5EF4-FFF2-40B4-BE49-F238E27FC236}">
                <a16:creationId xmlns:a16="http://schemas.microsoft.com/office/drawing/2014/main" id="{2B2E5BA1-B163-635C-CEE4-F5CCBDDA2478}"/>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Professional Communication Tips</a:t>
            </a:r>
            <a:endParaRPr lang="en-AU" altLang="en-US" b="1" dirty="0">
              <a:solidFill>
                <a:srgbClr val="00B0F0"/>
              </a:solidFill>
            </a:endParaRPr>
          </a:p>
        </p:txBody>
      </p:sp>
    </p:spTree>
    <p:extLst>
      <p:ext uri="{BB962C8B-B14F-4D97-AF65-F5344CB8AC3E}">
        <p14:creationId xmlns:p14="http://schemas.microsoft.com/office/powerpoint/2010/main" val="1438876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F80BB-125D-6A79-DE8D-EE7EE23C533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894EEE-DDED-9AD0-3CD4-64CEC9E8719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09DEB74-DC49-79E4-5BB8-76C2F9C0F8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F4A3C0F0-FF34-E76C-49BA-086F8F325C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9060B0B-F91E-85E1-0B7D-D19E353A94E8}"/>
              </a:ext>
            </a:extLst>
          </p:cNvPr>
          <p:cNvSpPr txBox="1"/>
          <p:nvPr/>
        </p:nvSpPr>
        <p:spPr>
          <a:xfrm>
            <a:off x="-3507" y="1654440"/>
            <a:ext cx="9144000" cy="5196166"/>
          </a:xfrm>
          <a:prstGeom prst="rect">
            <a:avLst/>
          </a:prstGeom>
          <a:solidFill>
            <a:schemeClr val="bg1"/>
          </a:solidFill>
        </p:spPr>
        <p:txBody>
          <a:bodyPr wrap="square">
            <a:spAutoFit/>
          </a:bodyPr>
          <a:lstStyle/>
          <a:p>
            <a:pPr>
              <a:lnSpc>
                <a:spcPct val="150000"/>
              </a:lnSpc>
            </a:pPr>
            <a:r>
              <a:rPr lang="en-US" sz="2800" b="1" dirty="0">
                <a:latin typeface="+mn-lt"/>
              </a:rPr>
              <a:t>Example</a:t>
            </a:r>
          </a:p>
          <a:p>
            <a:pPr>
              <a:lnSpc>
                <a:spcPct val="150000"/>
              </a:lnSpc>
            </a:pPr>
            <a:r>
              <a:rPr lang="en-US" sz="2800" dirty="0">
                <a:latin typeface="+mn-lt"/>
              </a:rPr>
              <a:t>NSW IT Support identified slow ticket handling and repetitive support requests as common operational challenges. To address this issue, the proposed solution introduces an AI-assisted ticket classification system that automatically </a:t>
            </a:r>
            <a:r>
              <a:rPr lang="en-US" sz="2800" dirty="0" err="1">
                <a:latin typeface="+mn-lt"/>
              </a:rPr>
              <a:t>prioritises</a:t>
            </a:r>
            <a:r>
              <a:rPr lang="en-US" sz="2800" dirty="0">
                <a:latin typeface="+mn-lt"/>
              </a:rPr>
              <a:t> support requests. The project’s success can be evaluated through reduced response time, improved client satisfaction, and lower manual workload for engineers.</a:t>
            </a:r>
          </a:p>
        </p:txBody>
      </p:sp>
      <p:sp>
        <p:nvSpPr>
          <p:cNvPr id="6146" name="Title 1">
            <a:extLst>
              <a:ext uri="{FF2B5EF4-FFF2-40B4-BE49-F238E27FC236}">
                <a16:creationId xmlns:a16="http://schemas.microsoft.com/office/drawing/2014/main" id="{96BC32E9-80D2-3EC6-C785-E30FE595C5E5}"/>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Example Assessment 4 Paragraph</a:t>
            </a:r>
            <a:endParaRPr lang="en-AU" altLang="en-US" b="1" dirty="0">
              <a:solidFill>
                <a:srgbClr val="00B0F0"/>
              </a:solidFill>
            </a:endParaRPr>
          </a:p>
        </p:txBody>
      </p:sp>
    </p:spTree>
    <p:extLst>
      <p:ext uri="{BB962C8B-B14F-4D97-AF65-F5344CB8AC3E}">
        <p14:creationId xmlns:p14="http://schemas.microsoft.com/office/powerpoint/2010/main" val="1576854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36E2-75C0-2421-2A92-F9B17256663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79D82D-77D9-CBEF-29BB-E93BE13D5DA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649C13A-C2C4-997A-8A47-69A98C4B71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0969B63B-C5AF-BB27-1C0D-F1B34B397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0BEDA35-07FB-2E5C-0456-63F970FB4171}"/>
              </a:ext>
            </a:extLst>
          </p:cNvPr>
          <p:cNvSpPr txBox="1"/>
          <p:nvPr/>
        </p:nvSpPr>
        <p:spPr>
          <a:xfrm>
            <a:off x="-18256" y="2244375"/>
            <a:ext cx="9144000" cy="3257174"/>
          </a:xfrm>
          <a:prstGeom prst="rect">
            <a:avLst/>
          </a:prstGeom>
          <a:solidFill>
            <a:schemeClr val="bg1"/>
          </a:solidFill>
        </p:spPr>
        <p:txBody>
          <a:bodyPr wrap="square">
            <a:spAutoFit/>
          </a:bodyPr>
          <a:lstStyle/>
          <a:p>
            <a:pPr>
              <a:lnSpc>
                <a:spcPct val="150000"/>
              </a:lnSpc>
            </a:pPr>
            <a:r>
              <a:rPr lang="en-US" sz="2800" dirty="0">
                <a:latin typeface="+mn-lt"/>
              </a:rPr>
              <a:t>This shows:</a:t>
            </a:r>
          </a:p>
          <a:p>
            <a:pPr marL="265113">
              <a:lnSpc>
                <a:spcPct val="150000"/>
              </a:lnSpc>
            </a:pPr>
            <a:r>
              <a:rPr lang="en-US" sz="2800" dirty="0">
                <a:latin typeface="+mn-lt"/>
              </a:rPr>
              <a:t>- problem</a:t>
            </a:r>
            <a:br>
              <a:rPr lang="en-US" sz="2800" dirty="0">
                <a:latin typeface="+mn-lt"/>
              </a:rPr>
            </a:br>
            <a:r>
              <a:rPr lang="en-US" sz="2800" dirty="0">
                <a:latin typeface="+mn-lt"/>
              </a:rPr>
              <a:t>- evidence</a:t>
            </a:r>
            <a:br>
              <a:rPr lang="en-US" sz="2800" dirty="0">
                <a:latin typeface="+mn-lt"/>
              </a:rPr>
            </a:br>
            <a:r>
              <a:rPr lang="en-US" sz="2800" dirty="0">
                <a:latin typeface="+mn-lt"/>
              </a:rPr>
              <a:t>- solution</a:t>
            </a:r>
            <a:br>
              <a:rPr lang="en-US" sz="2800" dirty="0">
                <a:latin typeface="+mn-lt"/>
              </a:rPr>
            </a:br>
            <a:r>
              <a:rPr lang="en-US" sz="2800" dirty="0">
                <a:latin typeface="+mn-lt"/>
              </a:rPr>
              <a:t>- evaluation</a:t>
            </a:r>
          </a:p>
        </p:txBody>
      </p:sp>
      <p:sp>
        <p:nvSpPr>
          <p:cNvPr id="6146" name="Title 1">
            <a:extLst>
              <a:ext uri="{FF2B5EF4-FFF2-40B4-BE49-F238E27FC236}">
                <a16:creationId xmlns:a16="http://schemas.microsoft.com/office/drawing/2014/main" id="{C0919CDB-2733-7E1E-DB70-3402D995F412}"/>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Example Assessment 4 Paragraph</a:t>
            </a:r>
            <a:endParaRPr lang="en-AU" altLang="en-US" b="1" dirty="0">
              <a:solidFill>
                <a:srgbClr val="00B0F0"/>
              </a:solidFill>
            </a:endParaRPr>
          </a:p>
        </p:txBody>
      </p:sp>
    </p:spTree>
    <p:extLst>
      <p:ext uri="{BB962C8B-B14F-4D97-AF65-F5344CB8AC3E}">
        <p14:creationId xmlns:p14="http://schemas.microsoft.com/office/powerpoint/2010/main" val="2801381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79EA-4513-0E4A-3655-0C214EDF0F0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15C1B9-23A1-7F79-075E-A4FD24DF3AA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19934B4-4B13-FF14-CBF1-02544F3870F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272BB769-8E9D-3DED-6DC9-F8B1FB5D74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0B2EBE7-BEFA-B13E-3021-89144A896B6D}"/>
              </a:ext>
            </a:extLst>
          </p:cNvPr>
          <p:cNvSpPr txBox="1"/>
          <p:nvPr/>
        </p:nvSpPr>
        <p:spPr>
          <a:xfrm>
            <a:off x="-18256" y="2244375"/>
            <a:ext cx="9144000" cy="4546950"/>
          </a:xfrm>
          <a:prstGeom prst="rect">
            <a:avLst/>
          </a:prstGeom>
          <a:solidFill>
            <a:schemeClr val="bg1"/>
          </a:solidFill>
        </p:spPr>
        <p:txBody>
          <a:bodyPr wrap="square">
            <a:spAutoFit/>
          </a:bodyPr>
          <a:lstStyle/>
          <a:p>
            <a:pPr>
              <a:lnSpc>
                <a:spcPct val="150000"/>
              </a:lnSpc>
            </a:pPr>
            <a:r>
              <a:rPr lang="en-US" sz="2800" b="1" dirty="0">
                <a:latin typeface="+mn-lt"/>
              </a:rPr>
              <a:t>High-Quality Assessment 4 Reports:</a:t>
            </a:r>
          </a:p>
          <a:p>
            <a:pPr marL="176213">
              <a:lnSpc>
                <a:spcPct val="150000"/>
              </a:lnSpc>
            </a:pPr>
            <a:r>
              <a:rPr lang="en-US" sz="2800" b="1" dirty="0">
                <a:latin typeface="+mn-lt"/>
              </a:rPr>
              <a:t>- </a:t>
            </a:r>
            <a:r>
              <a:rPr lang="en-US" sz="2800" dirty="0">
                <a:latin typeface="+mn-lt"/>
              </a:rPr>
              <a:t> solve realistic business problems</a:t>
            </a:r>
            <a:br>
              <a:rPr lang="en-US" sz="2800" dirty="0">
                <a:latin typeface="+mn-lt"/>
              </a:rPr>
            </a:br>
            <a:r>
              <a:rPr lang="en-US" sz="2800" dirty="0">
                <a:latin typeface="+mn-lt"/>
              </a:rPr>
              <a:t>-  evaluate project success clearly</a:t>
            </a:r>
            <a:br>
              <a:rPr lang="en-US" sz="2800" dirty="0">
                <a:latin typeface="+mn-lt"/>
              </a:rPr>
            </a:br>
            <a:r>
              <a:rPr lang="en-US" sz="2800" dirty="0">
                <a:latin typeface="+mn-lt"/>
              </a:rPr>
              <a:t>-  include stakeholder feedback</a:t>
            </a:r>
            <a:br>
              <a:rPr lang="en-US" sz="2800" dirty="0">
                <a:latin typeface="+mn-lt"/>
              </a:rPr>
            </a:br>
            <a:r>
              <a:rPr lang="en-US" sz="2800" dirty="0">
                <a:latin typeface="+mn-lt"/>
              </a:rPr>
              <a:t>-  discuss lessons learned</a:t>
            </a:r>
            <a:br>
              <a:rPr lang="en-US" sz="2800" dirty="0">
                <a:latin typeface="+mn-lt"/>
              </a:rPr>
            </a:br>
            <a:r>
              <a:rPr lang="en-US" sz="2800" dirty="0">
                <a:latin typeface="+mn-lt"/>
              </a:rPr>
              <a:t>-  propose future improvements</a:t>
            </a:r>
            <a:br>
              <a:rPr lang="en-US" sz="2800" dirty="0">
                <a:latin typeface="+mn-lt"/>
              </a:rPr>
            </a:br>
            <a:r>
              <a:rPr lang="en-US" sz="2800" dirty="0">
                <a:latin typeface="+mn-lt"/>
              </a:rPr>
              <a:t>-  connect technology to business value</a:t>
            </a:r>
          </a:p>
        </p:txBody>
      </p:sp>
      <p:sp>
        <p:nvSpPr>
          <p:cNvPr id="6146" name="Title 1">
            <a:extLst>
              <a:ext uri="{FF2B5EF4-FFF2-40B4-BE49-F238E27FC236}">
                <a16:creationId xmlns:a16="http://schemas.microsoft.com/office/drawing/2014/main" id="{D438B56A-5357-F9B6-786D-0DAE4929F6C2}"/>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Final Advice for Students</a:t>
            </a:r>
            <a:endParaRPr lang="en-AU" altLang="en-US" b="1" dirty="0">
              <a:solidFill>
                <a:srgbClr val="00B0F0"/>
              </a:solidFill>
            </a:endParaRPr>
          </a:p>
        </p:txBody>
      </p:sp>
    </p:spTree>
    <p:extLst>
      <p:ext uri="{BB962C8B-B14F-4D97-AF65-F5344CB8AC3E}">
        <p14:creationId xmlns:p14="http://schemas.microsoft.com/office/powerpoint/2010/main" val="1039986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9E62-6459-1947-039B-E672EC2A0D7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F6714A-112E-AE21-4AE9-B5B9B4B16AC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5C2F677-A58E-ECCC-611B-E89D8542020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705369CD-B2E7-F1EA-E40D-8CF8B7C6D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E334870-436F-27A9-5CB8-57C23820C0A3}"/>
              </a:ext>
            </a:extLst>
          </p:cNvPr>
          <p:cNvSpPr txBox="1"/>
          <p:nvPr/>
        </p:nvSpPr>
        <p:spPr>
          <a:xfrm>
            <a:off x="-18256" y="2244375"/>
            <a:ext cx="9144000" cy="4549835"/>
          </a:xfrm>
          <a:prstGeom prst="rect">
            <a:avLst/>
          </a:prstGeom>
          <a:solidFill>
            <a:schemeClr val="bg1"/>
          </a:solidFill>
        </p:spPr>
        <p:txBody>
          <a:bodyPr wrap="square">
            <a:spAutoFit/>
          </a:bodyPr>
          <a:lstStyle/>
          <a:p>
            <a:pPr>
              <a:lnSpc>
                <a:spcPct val="150000"/>
              </a:lnSpc>
            </a:pPr>
            <a:r>
              <a:rPr lang="en-US" sz="2800" b="1" dirty="0">
                <a:latin typeface="+mn-lt"/>
              </a:rPr>
              <a:t>Think Like a Real IT Consultant</a:t>
            </a:r>
          </a:p>
          <a:p>
            <a:pPr>
              <a:lnSpc>
                <a:spcPct val="150000"/>
              </a:lnSpc>
            </a:pPr>
            <a:r>
              <a:rPr lang="en-US" sz="2800" dirty="0">
                <a:latin typeface="+mn-lt"/>
              </a:rPr>
              <a:t>Ask yourself:</a:t>
            </a:r>
          </a:p>
          <a:p>
            <a:pPr>
              <a:lnSpc>
                <a:spcPct val="150000"/>
              </a:lnSpc>
            </a:pPr>
            <a:r>
              <a:rPr lang="en-US" sz="2800" dirty="0">
                <a:latin typeface="+mn-lt"/>
              </a:rPr>
              <a:t>- Did my solution improve the business? </a:t>
            </a:r>
          </a:p>
          <a:p>
            <a:pPr>
              <a:lnSpc>
                <a:spcPct val="150000"/>
              </a:lnSpc>
            </a:pPr>
            <a:r>
              <a:rPr lang="en-US" sz="2800" dirty="0">
                <a:latin typeface="+mn-lt"/>
              </a:rPr>
              <a:t>- How would the company measure success? </a:t>
            </a:r>
          </a:p>
          <a:p>
            <a:pPr>
              <a:lnSpc>
                <a:spcPct val="150000"/>
              </a:lnSpc>
            </a:pPr>
            <a:r>
              <a:rPr lang="en-US" sz="2800" dirty="0">
                <a:latin typeface="+mn-lt"/>
              </a:rPr>
              <a:t>- What feedback would users give? </a:t>
            </a:r>
          </a:p>
          <a:p>
            <a:pPr>
              <a:lnSpc>
                <a:spcPct val="150000"/>
              </a:lnSpc>
            </a:pPr>
            <a:r>
              <a:rPr lang="en-US" sz="2800" dirty="0">
                <a:latin typeface="+mn-lt"/>
              </a:rPr>
              <a:t>- What could be improved later? </a:t>
            </a:r>
          </a:p>
          <a:p>
            <a:pPr>
              <a:lnSpc>
                <a:spcPct val="150000"/>
              </a:lnSpc>
            </a:pPr>
            <a:r>
              <a:rPr lang="en-US" sz="2800" dirty="0">
                <a:latin typeface="+mn-lt"/>
              </a:rPr>
              <a:t>- Is my project realistic in Australia’s IT industry?</a:t>
            </a:r>
          </a:p>
        </p:txBody>
      </p:sp>
      <p:sp>
        <p:nvSpPr>
          <p:cNvPr id="6146" name="Title 1">
            <a:extLst>
              <a:ext uri="{FF2B5EF4-FFF2-40B4-BE49-F238E27FC236}">
                <a16:creationId xmlns:a16="http://schemas.microsoft.com/office/drawing/2014/main" id="{37FAAD96-DE4D-40E0-52DD-B39C63170B21}"/>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Final Message</a:t>
            </a:r>
            <a:endParaRPr lang="en-AU" altLang="en-US" b="1" dirty="0">
              <a:solidFill>
                <a:srgbClr val="00B0F0"/>
              </a:solidFill>
            </a:endParaRPr>
          </a:p>
        </p:txBody>
      </p:sp>
    </p:spTree>
    <p:extLst>
      <p:ext uri="{BB962C8B-B14F-4D97-AF65-F5344CB8AC3E}">
        <p14:creationId xmlns:p14="http://schemas.microsoft.com/office/powerpoint/2010/main" val="744809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F13E-B26B-DC8E-1B41-07D7605F63D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583AB2-7ABE-A869-6B8B-C2608A1AA9E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8D60451-5933-A801-2A99-DE516209DF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650B6FDE-453E-6DDF-927C-EE1638D0C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D09B986-B02D-3960-CE2D-B34382954B11}"/>
              </a:ext>
            </a:extLst>
          </p:cNvPr>
          <p:cNvSpPr txBox="1"/>
          <p:nvPr/>
        </p:nvSpPr>
        <p:spPr>
          <a:xfrm>
            <a:off x="3968" y="1679202"/>
            <a:ext cx="9144000" cy="5196166"/>
          </a:xfrm>
          <a:prstGeom prst="rect">
            <a:avLst/>
          </a:prstGeom>
          <a:solidFill>
            <a:schemeClr val="bg1"/>
          </a:solidFill>
        </p:spPr>
        <p:txBody>
          <a:bodyPr wrap="square">
            <a:spAutoFit/>
          </a:bodyPr>
          <a:lstStyle/>
          <a:p>
            <a:pPr>
              <a:lnSpc>
                <a:spcPct val="150000"/>
              </a:lnSpc>
            </a:pPr>
            <a:r>
              <a:rPr lang="en-US" sz="2800" b="1" dirty="0">
                <a:latin typeface="+mn-lt"/>
              </a:rPr>
              <a:t>Mini Evaluation Workshop</a:t>
            </a:r>
          </a:p>
          <a:p>
            <a:pPr>
              <a:lnSpc>
                <a:spcPct val="150000"/>
              </a:lnSpc>
            </a:pPr>
            <a:r>
              <a:rPr lang="en-US" sz="2800" b="1" dirty="0">
                <a:latin typeface="+mn-lt"/>
              </a:rPr>
              <a:t>Task:</a:t>
            </a:r>
          </a:p>
          <a:p>
            <a:pPr>
              <a:lnSpc>
                <a:spcPct val="150000"/>
              </a:lnSpc>
            </a:pPr>
            <a:r>
              <a:rPr lang="en-US" sz="2800" dirty="0">
                <a:latin typeface="+mn-lt"/>
              </a:rPr>
              <a:t>Students choose:</a:t>
            </a:r>
          </a:p>
          <a:p>
            <a:pPr marL="265113">
              <a:lnSpc>
                <a:spcPct val="150000"/>
              </a:lnSpc>
            </a:pPr>
            <a:r>
              <a:rPr lang="en-US" sz="2800" dirty="0">
                <a:latin typeface="+mn-lt"/>
              </a:rPr>
              <a:t>- one business challenge, </a:t>
            </a:r>
          </a:p>
          <a:p>
            <a:pPr marL="265113">
              <a:lnSpc>
                <a:spcPct val="150000"/>
              </a:lnSpc>
            </a:pPr>
            <a:r>
              <a:rPr lang="en-US" sz="2800" dirty="0">
                <a:latin typeface="+mn-lt"/>
              </a:rPr>
              <a:t>- one proposed solution, </a:t>
            </a:r>
          </a:p>
          <a:p>
            <a:pPr marL="265113">
              <a:lnSpc>
                <a:spcPct val="150000"/>
              </a:lnSpc>
            </a:pPr>
            <a:r>
              <a:rPr lang="en-US" sz="2800" dirty="0">
                <a:latin typeface="+mn-lt"/>
              </a:rPr>
              <a:t>- three evaluation metrics, </a:t>
            </a:r>
          </a:p>
          <a:p>
            <a:pPr marL="265113">
              <a:lnSpc>
                <a:spcPct val="150000"/>
              </a:lnSpc>
            </a:pPr>
            <a:r>
              <a:rPr lang="en-US" sz="2800" dirty="0">
                <a:latin typeface="+mn-lt"/>
              </a:rPr>
              <a:t>- and one future improvement idea. </a:t>
            </a:r>
          </a:p>
          <a:p>
            <a:pPr>
              <a:lnSpc>
                <a:spcPct val="150000"/>
              </a:lnSpc>
            </a:pPr>
            <a:r>
              <a:rPr lang="en-US" sz="2800" dirty="0">
                <a:latin typeface="+mn-lt"/>
              </a:rPr>
              <a:t>This would help them directly prepare for Assessment 4.</a:t>
            </a:r>
          </a:p>
        </p:txBody>
      </p:sp>
      <p:sp>
        <p:nvSpPr>
          <p:cNvPr id="6146" name="Title 1">
            <a:extLst>
              <a:ext uri="{FF2B5EF4-FFF2-40B4-BE49-F238E27FC236}">
                <a16:creationId xmlns:a16="http://schemas.microsoft.com/office/drawing/2014/main" id="{F86A7C5B-1179-6728-6FD2-4190F9C5C20D}"/>
              </a:ext>
            </a:extLst>
          </p:cNvPr>
          <p:cNvSpPr>
            <a:spLocks noGrp="1"/>
          </p:cNvSpPr>
          <p:nvPr>
            <p:ph type="title"/>
          </p:nvPr>
        </p:nvSpPr>
        <p:spPr>
          <a:xfrm>
            <a:off x="0" y="612775"/>
            <a:ext cx="9107488" cy="1204874"/>
          </a:xfrm>
        </p:spPr>
        <p:txBody>
          <a:bodyPr>
            <a:normAutofit/>
          </a:bodyPr>
          <a:lstStyle/>
          <a:p>
            <a:pPr algn="ctr" eaLnBrk="1" fontAlgn="auto" hangingPunct="1">
              <a:spcAft>
                <a:spcPts val="0"/>
              </a:spcAft>
              <a:defRPr/>
            </a:pPr>
            <a:r>
              <a:rPr lang="en-US" b="1" dirty="0">
                <a:solidFill>
                  <a:srgbClr val="00B0F0"/>
                </a:solidFill>
              </a:rPr>
              <a:t>VERY STRONG OPTIONAL ACTIVITY</a:t>
            </a:r>
            <a:endParaRPr lang="en-AU" altLang="en-US" b="1" dirty="0">
              <a:solidFill>
                <a:srgbClr val="00B0F0"/>
              </a:solidFill>
            </a:endParaRPr>
          </a:p>
        </p:txBody>
      </p:sp>
    </p:spTree>
    <p:extLst>
      <p:ext uri="{BB962C8B-B14F-4D97-AF65-F5344CB8AC3E}">
        <p14:creationId xmlns:p14="http://schemas.microsoft.com/office/powerpoint/2010/main" val="3007948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0624-6105-C8F1-7AFE-74F3BBDA580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432D8D5-D4A0-2EC4-513D-988A1C5447A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0D92E4B-5733-07D2-582E-4D937F4E1ED0}"/>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Watch the Video in 10 minutes - YouTube Video: </a:t>
            </a:r>
          </a:p>
          <a:p>
            <a:endParaRPr lang="en-AU" sz="2400" b="0" i="0" u="none" strike="noStrike" baseline="0" dirty="0">
              <a:solidFill>
                <a:srgbClr val="4B1858"/>
              </a:solidFill>
              <a:highlight>
                <a:srgbClr val="FFFF00"/>
              </a:highlight>
              <a:latin typeface="Arial" panose="020B0604020202020204" pitchFamily="34" charset="0"/>
            </a:endParaRPr>
          </a:p>
          <a:p>
            <a:r>
              <a:rPr lang="en-AU" sz="2400" dirty="0">
                <a:solidFill>
                  <a:srgbClr val="4B1858"/>
                </a:solidFill>
                <a:latin typeface="Arial" panose="020B0604020202020204" pitchFamily="34" charset="0"/>
              </a:rPr>
              <a:t>Types of Project Evaluation Methods</a:t>
            </a:r>
          </a:p>
          <a:p>
            <a:r>
              <a:rPr lang="en-AU" sz="2400" dirty="0">
                <a:solidFill>
                  <a:srgbClr val="4B1858"/>
                </a:solidFill>
                <a:latin typeface="Arial" panose="020B0604020202020204" pitchFamily="34" charset="0"/>
                <a:hlinkClick r:id="rId2"/>
              </a:rPr>
              <a:t>https://www.youtube.com/watch?v=mURStfl3Igg&amp;list=PLJBzV_AsRENMOTklGQ2jhzkvjckCQMjaU</a:t>
            </a:r>
            <a:endParaRPr lang="en-AU" sz="240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12323FCD-8DB1-0471-DB66-EBA655CACFE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8F0AEF7-1C34-0211-39F6-6F84AA347E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937806D5-B631-5431-CF5F-17E618E1E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8619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4AF02-63D0-E228-D5A1-78DCDF3CC6F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52034A6-D2FC-25C7-DDF1-5B219B84E26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697D972-AE05-80AF-472F-0D9DDCA11F3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8AB6194-A0F8-2E0A-FEF3-FFA7567BE81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EA601E5C-8FDA-961F-D9EB-A6B8931B46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2281762-7927-358E-BD26-F182B86DA234}"/>
              </a:ext>
            </a:extLst>
          </p:cNvPr>
          <p:cNvSpPr txBox="1"/>
          <p:nvPr/>
        </p:nvSpPr>
        <p:spPr>
          <a:xfrm>
            <a:off x="0" y="1755058"/>
            <a:ext cx="9144000" cy="3257174"/>
          </a:xfrm>
          <a:prstGeom prst="rect">
            <a:avLst/>
          </a:prstGeom>
          <a:noFill/>
        </p:spPr>
        <p:txBody>
          <a:bodyPr wrap="square">
            <a:spAutoFit/>
          </a:bodyPr>
          <a:lstStyle/>
          <a:p>
            <a:pPr>
              <a:lnSpc>
                <a:spcPct val="150000"/>
              </a:lnSpc>
              <a:buNone/>
            </a:pPr>
            <a:r>
              <a:rPr lang="en-US" sz="2800" b="1" dirty="0">
                <a:latin typeface="+mn-lt"/>
              </a:rPr>
              <a:t>Key messages from the video: Project Evaluation Methods</a:t>
            </a:r>
          </a:p>
          <a:p>
            <a:pPr>
              <a:lnSpc>
                <a:spcPct val="150000"/>
              </a:lnSpc>
            </a:pPr>
            <a:r>
              <a:rPr lang="en-US" sz="2800" b="1" dirty="0">
                <a:latin typeface="+mn-lt"/>
              </a:rPr>
              <a:t>1. Every project needs evaluation</a:t>
            </a:r>
          </a:p>
          <a:p>
            <a:pPr>
              <a:lnSpc>
                <a:spcPct val="150000"/>
              </a:lnSpc>
            </a:pPr>
            <a:r>
              <a:rPr lang="en-US" sz="2800" dirty="0">
                <a:latin typeface="+mn-lt"/>
              </a:rPr>
              <a:t>A project should not finish without checking whether it was successful. Evaluation helps us understand if the project achieved its goals.</a:t>
            </a:r>
          </a:p>
        </p:txBody>
      </p:sp>
    </p:spTree>
    <p:extLst>
      <p:ext uri="{BB962C8B-B14F-4D97-AF65-F5344CB8AC3E}">
        <p14:creationId xmlns:p14="http://schemas.microsoft.com/office/powerpoint/2010/main" val="1998175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4C741-D31C-F23B-21D5-706F1A36EE9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1C94C39-8C61-E37D-A533-7FC37532A0C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5FE44CF-DE9C-916A-F416-BE626E6BCD6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8E4B97A-89C8-4983-00B3-C01125CEE2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9164544B-E953-AF71-046C-08ABB9CFA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FE80209-1E43-11A0-5078-2C515AD5DD2F}"/>
              </a:ext>
            </a:extLst>
          </p:cNvPr>
          <p:cNvSpPr txBox="1"/>
          <p:nvPr/>
        </p:nvSpPr>
        <p:spPr>
          <a:xfrm>
            <a:off x="0" y="1755058"/>
            <a:ext cx="9144000" cy="4536819"/>
          </a:xfrm>
          <a:prstGeom prst="rect">
            <a:avLst/>
          </a:prstGeom>
          <a:noFill/>
        </p:spPr>
        <p:txBody>
          <a:bodyPr wrap="square">
            <a:spAutoFit/>
          </a:bodyPr>
          <a:lstStyle/>
          <a:p>
            <a:pPr>
              <a:lnSpc>
                <a:spcPct val="150000"/>
              </a:lnSpc>
            </a:pPr>
            <a:r>
              <a:rPr lang="en-US" sz="2800" b="1" dirty="0">
                <a:latin typeface="+mn-lt"/>
              </a:rPr>
              <a:t>2. Evaluation means checking the value of a project</a:t>
            </a:r>
          </a:p>
          <a:p>
            <a:pPr>
              <a:lnSpc>
                <a:spcPct val="150000"/>
              </a:lnSpc>
            </a:pPr>
            <a:r>
              <a:rPr lang="en-US" sz="2800" dirty="0">
                <a:latin typeface="+mn-lt"/>
              </a:rPr>
              <a:t>Evaluation is a detailed review of a project. It answers questions like:</a:t>
            </a:r>
          </a:p>
          <a:p>
            <a:pPr>
              <a:lnSpc>
                <a:spcPct val="150000"/>
              </a:lnSpc>
            </a:pPr>
            <a:r>
              <a:rPr lang="en-US" sz="2800" dirty="0">
                <a:latin typeface="+mn-lt"/>
              </a:rPr>
              <a:t>- Did the project work? </a:t>
            </a:r>
          </a:p>
          <a:p>
            <a:pPr>
              <a:lnSpc>
                <a:spcPct val="150000"/>
              </a:lnSpc>
            </a:pPr>
            <a:r>
              <a:rPr lang="en-US" sz="2800" dirty="0">
                <a:latin typeface="+mn-lt"/>
              </a:rPr>
              <a:t>- Did it solve the problem? </a:t>
            </a:r>
          </a:p>
          <a:p>
            <a:pPr>
              <a:lnSpc>
                <a:spcPct val="150000"/>
              </a:lnSpc>
            </a:pPr>
            <a:r>
              <a:rPr lang="en-US" sz="2800" dirty="0">
                <a:latin typeface="+mn-lt"/>
              </a:rPr>
              <a:t>- Was it worth the time and money? </a:t>
            </a:r>
          </a:p>
          <a:p>
            <a:pPr>
              <a:lnSpc>
                <a:spcPct val="150000"/>
              </a:lnSpc>
            </a:pPr>
            <a:r>
              <a:rPr lang="en-US" sz="2800" dirty="0">
                <a:latin typeface="+mn-lt"/>
              </a:rPr>
              <a:t>- What changed because of the project? </a:t>
            </a:r>
          </a:p>
        </p:txBody>
      </p:sp>
    </p:spTree>
    <p:extLst>
      <p:ext uri="{BB962C8B-B14F-4D97-AF65-F5344CB8AC3E}">
        <p14:creationId xmlns:p14="http://schemas.microsoft.com/office/powerpoint/2010/main" val="3068946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050B-C225-B249-C98E-91BF4090D11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F841EF3-3D91-47B7-0186-091F2DF8D16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205914B-4918-AD52-52F7-667AEA97701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4E6743D-DC29-C4D0-273D-67753B323B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25B951A6-AA64-E5C2-0A88-32D493A12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929BEE2-BCD2-55CB-3324-DE2F407AC4DF}"/>
              </a:ext>
            </a:extLst>
          </p:cNvPr>
          <p:cNvSpPr txBox="1"/>
          <p:nvPr/>
        </p:nvSpPr>
        <p:spPr>
          <a:xfrm>
            <a:off x="0" y="1755058"/>
            <a:ext cx="9144000" cy="2610843"/>
          </a:xfrm>
          <a:prstGeom prst="rect">
            <a:avLst/>
          </a:prstGeom>
          <a:noFill/>
        </p:spPr>
        <p:txBody>
          <a:bodyPr wrap="square">
            <a:spAutoFit/>
          </a:bodyPr>
          <a:lstStyle/>
          <a:p>
            <a:pPr>
              <a:lnSpc>
                <a:spcPct val="150000"/>
              </a:lnSpc>
            </a:pPr>
            <a:r>
              <a:rPr lang="en-US" sz="2800" b="1" dirty="0">
                <a:latin typeface="+mn-lt"/>
              </a:rPr>
              <a:t>3. Evaluation helps us learn</a:t>
            </a:r>
          </a:p>
          <a:p>
            <a:pPr>
              <a:lnSpc>
                <a:spcPct val="150000"/>
              </a:lnSpc>
            </a:pPr>
            <a:r>
              <a:rPr lang="en-US" sz="2800" dirty="0">
                <a:latin typeface="+mn-lt"/>
              </a:rPr>
              <a:t>The main purpose of evaluation is not only to judge success or failure. It helps the team learn what went well and what needs improvement.</a:t>
            </a:r>
          </a:p>
        </p:txBody>
      </p:sp>
    </p:spTree>
    <p:extLst>
      <p:ext uri="{BB962C8B-B14F-4D97-AF65-F5344CB8AC3E}">
        <p14:creationId xmlns:p14="http://schemas.microsoft.com/office/powerpoint/2010/main" val="2133009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F577-94B0-7C09-B696-13DBC7C5628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7CD200D-F94D-CACC-0C43-448D25CAADD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6E0633D-02D8-E4A6-538B-7A02FE1B31E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E531852-0724-C7BF-09A9-02DFB89DA68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E8024765-BC2C-0F3C-979E-6CDF4B734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663EDF9-54F5-FCA2-D24F-13B1A7765507}"/>
              </a:ext>
            </a:extLst>
          </p:cNvPr>
          <p:cNvSpPr txBox="1"/>
          <p:nvPr/>
        </p:nvSpPr>
        <p:spPr>
          <a:xfrm>
            <a:off x="0" y="1755058"/>
            <a:ext cx="9144000" cy="2610843"/>
          </a:xfrm>
          <a:prstGeom prst="rect">
            <a:avLst/>
          </a:prstGeom>
          <a:noFill/>
        </p:spPr>
        <p:txBody>
          <a:bodyPr wrap="square">
            <a:spAutoFit/>
          </a:bodyPr>
          <a:lstStyle/>
          <a:p>
            <a:pPr>
              <a:lnSpc>
                <a:spcPct val="150000"/>
              </a:lnSpc>
            </a:pPr>
            <a:r>
              <a:rPr lang="en-US" sz="2800" b="1" dirty="0">
                <a:latin typeface="+mn-lt"/>
              </a:rPr>
              <a:t>4. Projects can create positive or negative change</a:t>
            </a:r>
          </a:p>
          <a:p>
            <a:pPr>
              <a:lnSpc>
                <a:spcPct val="150000"/>
              </a:lnSpc>
            </a:pPr>
            <a:r>
              <a:rPr lang="en-US" sz="2800" dirty="0">
                <a:latin typeface="+mn-lt"/>
              </a:rPr>
              <a:t>A project may improve a situation, but it may also create new problems. Evaluation helps identify both good and bad results.</a:t>
            </a:r>
          </a:p>
        </p:txBody>
      </p:sp>
    </p:spTree>
    <p:extLst>
      <p:ext uri="{BB962C8B-B14F-4D97-AF65-F5344CB8AC3E}">
        <p14:creationId xmlns:p14="http://schemas.microsoft.com/office/powerpoint/2010/main" val="2223846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FDFE2-FFD7-1A5F-C4C2-3650570CC25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5F9BA9A-AC02-AD48-DA57-554150F05C8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A0A6DD4-95C5-51B5-58C0-D6DD62759D0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9C50C12-9C3E-9308-800F-90DD439E44B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37A06310-722E-05DD-B3E1-EDCFF7BFE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DC7DBD5-A249-B156-FF14-7D9607365E4B}"/>
              </a:ext>
            </a:extLst>
          </p:cNvPr>
          <p:cNvSpPr txBox="1"/>
          <p:nvPr/>
        </p:nvSpPr>
        <p:spPr>
          <a:xfrm>
            <a:off x="0" y="1755058"/>
            <a:ext cx="9144000" cy="671851"/>
          </a:xfrm>
          <a:prstGeom prst="rect">
            <a:avLst/>
          </a:prstGeom>
          <a:noFill/>
        </p:spPr>
        <p:txBody>
          <a:bodyPr wrap="square">
            <a:spAutoFit/>
          </a:bodyPr>
          <a:lstStyle/>
          <a:p>
            <a:pPr>
              <a:lnSpc>
                <a:spcPct val="150000"/>
              </a:lnSpc>
            </a:pPr>
            <a:r>
              <a:rPr lang="en-US" sz="2800" b="1" dirty="0">
                <a:latin typeface="+mn-lt"/>
              </a:rPr>
              <a:t>5. Monitoring and evaluation are different</a:t>
            </a:r>
          </a:p>
        </p:txBody>
      </p:sp>
      <p:graphicFrame>
        <p:nvGraphicFramePr>
          <p:cNvPr id="3" name="Table 2">
            <a:extLst>
              <a:ext uri="{FF2B5EF4-FFF2-40B4-BE49-F238E27FC236}">
                <a16:creationId xmlns:a16="http://schemas.microsoft.com/office/drawing/2014/main" id="{B1E42D11-A5CA-8119-8D9B-94BA9582BF29}"/>
              </a:ext>
            </a:extLst>
          </p:cNvPr>
          <p:cNvGraphicFramePr>
            <a:graphicFrameLocks noGrp="1"/>
          </p:cNvGraphicFramePr>
          <p:nvPr>
            <p:extLst>
              <p:ext uri="{D42A27DB-BD31-4B8C-83A1-F6EECF244321}">
                <p14:modId xmlns:p14="http://schemas.microsoft.com/office/powerpoint/2010/main" val="2570124040"/>
              </p:ext>
            </p:extLst>
          </p:nvPr>
        </p:nvGraphicFramePr>
        <p:xfrm>
          <a:off x="324465" y="2705592"/>
          <a:ext cx="8642554" cy="3444240"/>
        </p:xfrm>
        <a:graphic>
          <a:graphicData uri="http://schemas.openxmlformats.org/drawingml/2006/table">
            <a:tbl>
              <a:tblPr>
                <a:tableStyleId>{5DA37D80-6434-44D0-A028-1B22A696006F}</a:tableStyleId>
              </a:tblPr>
              <a:tblGrid>
                <a:gridCol w="4269760">
                  <a:extLst>
                    <a:ext uri="{9D8B030D-6E8A-4147-A177-3AD203B41FA5}">
                      <a16:colId xmlns:a16="http://schemas.microsoft.com/office/drawing/2014/main" val="1300995444"/>
                    </a:ext>
                  </a:extLst>
                </a:gridCol>
                <a:gridCol w="4372794">
                  <a:extLst>
                    <a:ext uri="{9D8B030D-6E8A-4147-A177-3AD203B41FA5}">
                      <a16:colId xmlns:a16="http://schemas.microsoft.com/office/drawing/2014/main" val="3072300614"/>
                    </a:ext>
                  </a:extLst>
                </a:gridCol>
              </a:tblGrid>
              <a:tr h="0">
                <a:tc>
                  <a:txBody>
                    <a:bodyPr/>
                    <a:lstStyle/>
                    <a:p>
                      <a:pPr>
                        <a:buNone/>
                      </a:pPr>
                      <a:r>
                        <a:rPr lang="en-US" sz="2800" dirty="0"/>
                        <a:t>Monitoring</a:t>
                      </a:r>
                    </a:p>
                  </a:txBody>
                  <a:tcPr anchor="ctr">
                    <a:solidFill>
                      <a:schemeClr val="accent2">
                        <a:lumMod val="20000"/>
                        <a:lumOff val="80000"/>
                      </a:schemeClr>
                    </a:solidFill>
                  </a:tcPr>
                </a:tc>
                <a:tc>
                  <a:txBody>
                    <a:bodyPr/>
                    <a:lstStyle/>
                    <a:p>
                      <a:pPr>
                        <a:buNone/>
                      </a:pPr>
                      <a:r>
                        <a:rPr lang="en-US" sz="2800" dirty="0"/>
                        <a:t>Evaluation</a:t>
                      </a:r>
                    </a:p>
                  </a:txBody>
                  <a:tcPr anchor="ctr">
                    <a:solidFill>
                      <a:schemeClr val="accent2">
                        <a:lumMod val="20000"/>
                        <a:lumOff val="80000"/>
                      </a:schemeClr>
                    </a:solidFill>
                  </a:tcPr>
                </a:tc>
                <a:extLst>
                  <a:ext uri="{0D108BD9-81ED-4DB2-BD59-A6C34878D82A}">
                    <a16:rowId xmlns:a16="http://schemas.microsoft.com/office/drawing/2014/main" val="1857874766"/>
                  </a:ext>
                </a:extLst>
              </a:tr>
              <a:tr h="0">
                <a:tc>
                  <a:txBody>
                    <a:bodyPr/>
                    <a:lstStyle/>
                    <a:p>
                      <a:pPr>
                        <a:buNone/>
                      </a:pPr>
                      <a:r>
                        <a:rPr lang="en-US" sz="2800"/>
                        <a:t>Tracks progress</a:t>
                      </a:r>
                    </a:p>
                  </a:txBody>
                  <a:tcPr anchor="ctr"/>
                </a:tc>
                <a:tc>
                  <a:txBody>
                    <a:bodyPr/>
                    <a:lstStyle/>
                    <a:p>
                      <a:pPr>
                        <a:buNone/>
                      </a:pPr>
                      <a:r>
                        <a:rPr lang="en-US" sz="2800"/>
                        <a:t>Judges success</a:t>
                      </a:r>
                    </a:p>
                  </a:txBody>
                  <a:tcPr anchor="ctr"/>
                </a:tc>
                <a:extLst>
                  <a:ext uri="{0D108BD9-81ED-4DB2-BD59-A6C34878D82A}">
                    <a16:rowId xmlns:a16="http://schemas.microsoft.com/office/drawing/2014/main" val="8357432"/>
                  </a:ext>
                </a:extLst>
              </a:tr>
              <a:tr h="0">
                <a:tc>
                  <a:txBody>
                    <a:bodyPr/>
                    <a:lstStyle/>
                    <a:p>
                      <a:pPr>
                        <a:buNone/>
                      </a:pPr>
                      <a:r>
                        <a:rPr lang="en-US" sz="2800"/>
                        <a:t>Happens regularly</a:t>
                      </a:r>
                    </a:p>
                  </a:txBody>
                  <a:tcPr anchor="ctr"/>
                </a:tc>
                <a:tc>
                  <a:txBody>
                    <a:bodyPr/>
                    <a:lstStyle/>
                    <a:p>
                      <a:pPr>
                        <a:buNone/>
                      </a:pPr>
                      <a:r>
                        <a:rPr lang="en-US" sz="2800"/>
                        <a:t>Happens at important stages or end</a:t>
                      </a:r>
                    </a:p>
                  </a:txBody>
                  <a:tcPr anchor="ctr"/>
                </a:tc>
                <a:extLst>
                  <a:ext uri="{0D108BD9-81ED-4DB2-BD59-A6C34878D82A}">
                    <a16:rowId xmlns:a16="http://schemas.microsoft.com/office/drawing/2014/main" val="2285992768"/>
                  </a:ext>
                </a:extLst>
              </a:tr>
              <a:tr h="0">
                <a:tc>
                  <a:txBody>
                    <a:bodyPr/>
                    <a:lstStyle/>
                    <a:p>
                      <a:pPr>
                        <a:buNone/>
                      </a:pPr>
                      <a:r>
                        <a:rPr lang="en-US" sz="2800"/>
                        <a:t>Focuses on activities</a:t>
                      </a:r>
                    </a:p>
                  </a:txBody>
                  <a:tcPr anchor="ctr"/>
                </a:tc>
                <a:tc>
                  <a:txBody>
                    <a:bodyPr/>
                    <a:lstStyle/>
                    <a:p>
                      <a:pPr>
                        <a:buNone/>
                      </a:pPr>
                      <a:r>
                        <a:rPr lang="en-US" sz="2800"/>
                        <a:t>Focuses on outcomes and impact</a:t>
                      </a:r>
                    </a:p>
                  </a:txBody>
                  <a:tcPr anchor="ctr"/>
                </a:tc>
                <a:extLst>
                  <a:ext uri="{0D108BD9-81ED-4DB2-BD59-A6C34878D82A}">
                    <a16:rowId xmlns:a16="http://schemas.microsoft.com/office/drawing/2014/main" val="2844504706"/>
                  </a:ext>
                </a:extLst>
              </a:tr>
              <a:tr h="0">
                <a:tc>
                  <a:txBody>
                    <a:bodyPr/>
                    <a:lstStyle/>
                    <a:p>
                      <a:pPr>
                        <a:buNone/>
                      </a:pPr>
                      <a:r>
                        <a:rPr lang="en-US" sz="2800"/>
                        <a:t>Asks “what is happening?”</a:t>
                      </a:r>
                    </a:p>
                  </a:txBody>
                  <a:tcPr anchor="ctr"/>
                </a:tc>
                <a:tc>
                  <a:txBody>
                    <a:bodyPr/>
                    <a:lstStyle/>
                    <a:p>
                      <a:pPr>
                        <a:buNone/>
                      </a:pPr>
                      <a:r>
                        <a:rPr lang="en-US" sz="2800" dirty="0"/>
                        <a:t>Asks “why did it happen?”</a:t>
                      </a:r>
                    </a:p>
                  </a:txBody>
                  <a:tcPr anchor="ctr"/>
                </a:tc>
                <a:extLst>
                  <a:ext uri="{0D108BD9-81ED-4DB2-BD59-A6C34878D82A}">
                    <a16:rowId xmlns:a16="http://schemas.microsoft.com/office/drawing/2014/main" val="4164819116"/>
                  </a:ext>
                </a:extLst>
              </a:tr>
            </a:tbl>
          </a:graphicData>
        </a:graphic>
      </p:graphicFrame>
    </p:spTree>
    <p:extLst>
      <p:ext uri="{BB962C8B-B14F-4D97-AF65-F5344CB8AC3E}">
        <p14:creationId xmlns:p14="http://schemas.microsoft.com/office/powerpoint/2010/main" val="2312827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3967-6D51-87C2-210D-8322E5C0E70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6CE65F8-59D5-2921-90AE-5F1BB5C01CE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BA1FA9D-A913-298D-1087-3D4F6016D00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04E7FEB-E270-2FF3-7CDA-A7FC1F9D02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AF892355-45D8-4D49-EA52-1620B63F46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CF48939-A65B-332A-2F84-8AAC8F1356EE}"/>
              </a:ext>
            </a:extLst>
          </p:cNvPr>
          <p:cNvSpPr txBox="1"/>
          <p:nvPr/>
        </p:nvSpPr>
        <p:spPr>
          <a:xfrm>
            <a:off x="0" y="1666569"/>
            <a:ext cx="9144000" cy="4549835"/>
          </a:xfrm>
          <a:prstGeom prst="rect">
            <a:avLst/>
          </a:prstGeom>
          <a:noFill/>
        </p:spPr>
        <p:txBody>
          <a:bodyPr wrap="square">
            <a:spAutoFit/>
          </a:bodyPr>
          <a:lstStyle/>
          <a:p>
            <a:pPr>
              <a:lnSpc>
                <a:spcPct val="150000"/>
              </a:lnSpc>
            </a:pPr>
            <a:r>
              <a:rPr lang="en-US" sz="2800" b="1" dirty="0">
                <a:latin typeface="+mn-lt"/>
              </a:rPr>
              <a:t>6. Evaluation checks important areas</a:t>
            </a:r>
          </a:p>
          <a:p>
            <a:pPr>
              <a:lnSpc>
                <a:spcPct val="150000"/>
              </a:lnSpc>
            </a:pPr>
            <a:r>
              <a:rPr lang="en-US" sz="2800" dirty="0">
                <a:latin typeface="+mn-lt"/>
              </a:rPr>
              <a:t>Evaluation may measure:</a:t>
            </a:r>
          </a:p>
          <a:p>
            <a:pPr>
              <a:lnSpc>
                <a:spcPct val="150000"/>
              </a:lnSpc>
            </a:pPr>
            <a:r>
              <a:rPr lang="en-US" sz="2800" dirty="0">
                <a:latin typeface="+mn-lt"/>
              </a:rPr>
              <a:t>- effectiveness → did the project achieve its goals? </a:t>
            </a:r>
          </a:p>
          <a:p>
            <a:pPr>
              <a:lnSpc>
                <a:spcPct val="150000"/>
              </a:lnSpc>
            </a:pPr>
            <a:r>
              <a:rPr lang="en-US" sz="2800" dirty="0">
                <a:latin typeface="+mn-lt"/>
              </a:rPr>
              <a:t>- efficiency → were resources used well? </a:t>
            </a:r>
          </a:p>
          <a:p>
            <a:pPr>
              <a:lnSpc>
                <a:spcPct val="150000"/>
              </a:lnSpc>
            </a:pPr>
            <a:r>
              <a:rPr lang="en-US" sz="2800" dirty="0">
                <a:latin typeface="+mn-lt"/>
              </a:rPr>
              <a:t>- sustainability → can the results continue in future? </a:t>
            </a:r>
          </a:p>
          <a:p>
            <a:pPr>
              <a:lnSpc>
                <a:spcPct val="150000"/>
              </a:lnSpc>
            </a:pPr>
            <a:r>
              <a:rPr lang="en-US" sz="2800" dirty="0">
                <a:latin typeface="+mn-lt"/>
              </a:rPr>
              <a:t>- impact → what changed because of the project? </a:t>
            </a:r>
          </a:p>
          <a:p>
            <a:pPr>
              <a:lnSpc>
                <a:spcPct val="150000"/>
              </a:lnSpc>
            </a:pPr>
            <a:r>
              <a:rPr lang="en-US" sz="2800" dirty="0">
                <a:latin typeface="+mn-lt"/>
              </a:rPr>
              <a:t>- value for money → was the project worth the cost?</a:t>
            </a:r>
          </a:p>
        </p:txBody>
      </p:sp>
    </p:spTree>
    <p:extLst>
      <p:ext uri="{BB962C8B-B14F-4D97-AF65-F5344CB8AC3E}">
        <p14:creationId xmlns:p14="http://schemas.microsoft.com/office/powerpoint/2010/main" val="1978480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CDB9-B223-4C71-C16B-FFF17AC0861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5102113-3538-E8DD-874B-598C983F56C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D51815E-68B8-F446-C236-E1F62A734E5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AAA4F16-D175-28D4-8F35-CD23E12DAF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pic>
        <p:nvPicPr>
          <p:cNvPr id="22534" name="Picture 5">
            <a:extLst>
              <a:ext uri="{FF2B5EF4-FFF2-40B4-BE49-F238E27FC236}">
                <a16:creationId xmlns:a16="http://schemas.microsoft.com/office/drawing/2014/main" id="{0B457E73-A2CE-6977-7174-F35E49A8D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9857ADE-01B8-7D2E-6F66-1095E7924A85}"/>
              </a:ext>
            </a:extLst>
          </p:cNvPr>
          <p:cNvSpPr txBox="1"/>
          <p:nvPr/>
        </p:nvSpPr>
        <p:spPr>
          <a:xfrm>
            <a:off x="0" y="1666569"/>
            <a:ext cx="9144000" cy="1964512"/>
          </a:xfrm>
          <a:prstGeom prst="rect">
            <a:avLst/>
          </a:prstGeom>
          <a:noFill/>
        </p:spPr>
        <p:txBody>
          <a:bodyPr wrap="square">
            <a:spAutoFit/>
          </a:bodyPr>
          <a:lstStyle/>
          <a:p>
            <a:pPr>
              <a:lnSpc>
                <a:spcPct val="150000"/>
              </a:lnSpc>
            </a:pPr>
            <a:r>
              <a:rPr lang="en-US" sz="2800" b="1" dirty="0">
                <a:latin typeface="+mn-lt"/>
              </a:rPr>
              <a:t>7. Evaluation improves future projects</a:t>
            </a:r>
          </a:p>
          <a:p>
            <a:pPr>
              <a:lnSpc>
                <a:spcPct val="150000"/>
              </a:lnSpc>
            </a:pPr>
            <a:r>
              <a:rPr lang="en-US" sz="2800" dirty="0">
                <a:latin typeface="+mn-lt"/>
              </a:rPr>
              <a:t>Teams can learn from mistakes and improve future projects by using lessons learned from evaluation.</a:t>
            </a:r>
          </a:p>
        </p:txBody>
      </p:sp>
    </p:spTree>
    <p:extLst>
      <p:ext uri="{BB962C8B-B14F-4D97-AF65-F5344CB8AC3E}">
        <p14:creationId xmlns:p14="http://schemas.microsoft.com/office/powerpoint/2010/main" val="189407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EF43-95D5-611C-3487-4985623A40F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F4D298F-7018-9F24-EB39-1E2E279213D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3B45203-7F53-D9FB-A63B-D77E5B80EBC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6379BEE-58AF-DCF4-591C-50E2267B1C4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pic>
        <p:nvPicPr>
          <p:cNvPr id="22534" name="Picture 5">
            <a:extLst>
              <a:ext uri="{FF2B5EF4-FFF2-40B4-BE49-F238E27FC236}">
                <a16:creationId xmlns:a16="http://schemas.microsoft.com/office/drawing/2014/main" id="{AA9092A3-6D79-26FB-F8C3-CDD8303540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DACFFA6-0F1A-F12F-173C-277344D17B2E}"/>
              </a:ext>
            </a:extLst>
          </p:cNvPr>
          <p:cNvSpPr txBox="1"/>
          <p:nvPr/>
        </p:nvSpPr>
        <p:spPr>
          <a:xfrm>
            <a:off x="0" y="1628497"/>
            <a:ext cx="9144000" cy="5196166"/>
          </a:xfrm>
          <a:prstGeom prst="rect">
            <a:avLst/>
          </a:prstGeom>
          <a:solidFill>
            <a:schemeClr val="bg1"/>
          </a:solidFill>
        </p:spPr>
        <p:txBody>
          <a:bodyPr wrap="square">
            <a:spAutoFit/>
          </a:bodyPr>
          <a:lstStyle/>
          <a:p>
            <a:pPr>
              <a:lnSpc>
                <a:spcPct val="150000"/>
              </a:lnSpc>
            </a:pPr>
            <a:r>
              <a:rPr lang="en-US" sz="2800" b="1" dirty="0">
                <a:latin typeface="+mn-lt"/>
              </a:rPr>
              <a:t>8. Different evaluation methods exist</a:t>
            </a:r>
          </a:p>
          <a:p>
            <a:pPr>
              <a:lnSpc>
                <a:spcPct val="150000"/>
              </a:lnSpc>
            </a:pPr>
            <a:r>
              <a:rPr lang="en-US" sz="2800" dirty="0">
                <a:latin typeface="+mn-lt"/>
              </a:rPr>
              <a:t>The video introduces several methods such as:</a:t>
            </a:r>
          </a:p>
          <a:p>
            <a:pPr>
              <a:lnSpc>
                <a:spcPct val="150000"/>
              </a:lnSpc>
            </a:pPr>
            <a:r>
              <a:rPr lang="en-US" sz="2800" dirty="0">
                <a:latin typeface="+mn-lt"/>
              </a:rPr>
              <a:t>- process evaluation </a:t>
            </a:r>
          </a:p>
          <a:p>
            <a:pPr>
              <a:lnSpc>
                <a:spcPct val="150000"/>
              </a:lnSpc>
            </a:pPr>
            <a:r>
              <a:rPr lang="en-US" sz="2800" dirty="0">
                <a:latin typeface="+mn-lt"/>
              </a:rPr>
              <a:t>- impact evaluation </a:t>
            </a:r>
          </a:p>
          <a:p>
            <a:pPr>
              <a:lnSpc>
                <a:spcPct val="150000"/>
              </a:lnSpc>
            </a:pPr>
            <a:r>
              <a:rPr lang="en-US" sz="2800" dirty="0">
                <a:latin typeface="+mn-lt"/>
              </a:rPr>
              <a:t>- case study </a:t>
            </a:r>
          </a:p>
          <a:p>
            <a:pPr>
              <a:lnSpc>
                <a:spcPct val="150000"/>
              </a:lnSpc>
            </a:pPr>
            <a:r>
              <a:rPr lang="en-US" sz="2800" dirty="0">
                <a:latin typeface="+mn-lt"/>
              </a:rPr>
              <a:t>- rapid appraisal </a:t>
            </a:r>
          </a:p>
          <a:p>
            <a:pPr>
              <a:lnSpc>
                <a:spcPct val="150000"/>
              </a:lnSpc>
            </a:pPr>
            <a:r>
              <a:rPr lang="en-US" sz="2800" dirty="0">
                <a:latin typeface="+mn-lt"/>
              </a:rPr>
              <a:t>- pre-implementation assessment </a:t>
            </a:r>
          </a:p>
          <a:p>
            <a:pPr>
              <a:lnSpc>
                <a:spcPct val="150000"/>
              </a:lnSpc>
            </a:pPr>
            <a:r>
              <a:rPr lang="en-US" sz="2800" dirty="0">
                <a:latin typeface="+mn-lt"/>
              </a:rPr>
              <a:t>Different projects may use different evaluation methods.</a:t>
            </a:r>
          </a:p>
        </p:txBody>
      </p:sp>
    </p:spTree>
    <p:extLst>
      <p:ext uri="{BB962C8B-B14F-4D97-AF65-F5344CB8AC3E}">
        <p14:creationId xmlns:p14="http://schemas.microsoft.com/office/powerpoint/2010/main" val="3482759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0433-67AD-91EE-6F58-D65B1DC53F9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415232F-9659-38BC-B65B-A0D93D4D6C0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9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0DC97C7-690C-BE7E-9AEF-748A563160B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773BF7D-83AE-97D8-6A63-446B19ADEE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DF140CDF-E518-F1B2-6B1B-0A293FD1E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14008E0-A06B-AEA7-B811-DD9F88EB1C1A}"/>
              </a:ext>
            </a:extLst>
          </p:cNvPr>
          <p:cNvSpPr txBox="1"/>
          <p:nvPr/>
        </p:nvSpPr>
        <p:spPr>
          <a:xfrm>
            <a:off x="0" y="1628497"/>
            <a:ext cx="9144000" cy="5196166"/>
          </a:xfrm>
          <a:prstGeom prst="rect">
            <a:avLst/>
          </a:prstGeom>
          <a:solidFill>
            <a:schemeClr val="bg1"/>
          </a:solidFill>
        </p:spPr>
        <p:txBody>
          <a:bodyPr wrap="square">
            <a:spAutoFit/>
          </a:bodyPr>
          <a:lstStyle/>
          <a:p>
            <a:pPr>
              <a:lnSpc>
                <a:spcPct val="150000"/>
              </a:lnSpc>
            </a:pPr>
            <a:r>
              <a:rPr lang="en-US" sz="2800" b="1" dirty="0">
                <a:latin typeface="+mn-lt"/>
              </a:rPr>
              <a:t>9. Important lesson for IT students</a:t>
            </a:r>
          </a:p>
          <a:p>
            <a:pPr>
              <a:lnSpc>
                <a:spcPct val="150000"/>
              </a:lnSpc>
            </a:pPr>
            <a:r>
              <a:rPr lang="en-US" sz="2800" dirty="0">
                <a:latin typeface="+mn-lt"/>
              </a:rPr>
              <a:t>In IT projects, success is not only:</a:t>
            </a:r>
          </a:p>
          <a:p>
            <a:pPr>
              <a:lnSpc>
                <a:spcPct val="150000"/>
              </a:lnSpc>
            </a:pPr>
            <a:r>
              <a:rPr lang="en-US" sz="2800" dirty="0">
                <a:latin typeface="+mn-lt"/>
              </a:rPr>
              <a:t>“The system works.”</a:t>
            </a:r>
          </a:p>
          <a:p>
            <a:pPr>
              <a:lnSpc>
                <a:spcPct val="150000"/>
              </a:lnSpc>
            </a:pPr>
            <a:r>
              <a:rPr lang="en-US" sz="2800" dirty="0">
                <a:latin typeface="+mn-lt"/>
              </a:rPr>
              <a:t>Real success means:</a:t>
            </a:r>
          </a:p>
          <a:p>
            <a:pPr>
              <a:lnSpc>
                <a:spcPct val="150000"/>
              </a:lnSpc>
            </a:pPr>
            <a:r>
              <a:rPr lang="en-US" sz="2800" dirty="0">
                <a:latin typeface="+mn-lt"/>
              </a:rPr>
              <a:t>- users are satisfied, </a:t>
            </a:r>
          </a:p>
          <a:p>
            <a:pPr>
              <a:lnSpc>
                <a:spcPct val="150000"/>
              </a:lnSpc>
            </a:pPr>
            <a:r>
              <a:rPr lang="en-US" sz="2800" dirty="0">
                <a:latin typeface="+mn-lt"/>
              </a:rPr>
              <a:t>- business problems are solved, </a:t>
            </a:r>
          </a:p>
          <a:p>
            <a:pPr>
              <a:lnSpc>
                <a:spcPct val="150000"/>
              </a:lnSpc>
            </a:pPr>
            <a:r>
              <a:rPr lang="en-US" sz="2800" dirty="0">
                <a:latin typeface="+mn-lt"/>
              </a:rPr>
              <a:t>- systems improve efficiency, </a:t>
            </a:r>
          </a:p>
          <a:p>
            <a:pPr>
              <a:lnSpc>
                <a:spcPct val="150000"/>
              </a:lnSpc>
            </a:pPr>
            <a:r>
              <a:rPr lang="en-US" sz="2800" dirty="0">
                <a:latin typeface="+mn-lt"/>
              </a:rPr>
              <a:t>- and the </a:t>
            </a:r>
            <a:r>
              <a:rPr lang="en-US" sz="2800" dirty="0" err="1">
                <a:latin typeface="+mn-lt"/>
              </a:rPr>
              <a:t>organisation</a:t>
            </a:r>
            <a:r>
              <a:rPr lang="en-US" sz="2800" dirty="0">
                <a:latin typeface="+mn-lt"/>
              </a:rPr>
              <a:t> benefits.</a:t>
            </a:r>
          </a:p>
        </p:txBody>
      </p:sp>
    </p:spTree>
    <p:extLst>
      <p:ext uri="{BB962C8B-B14F-4D97-AF65-F5344CB8AC3E}">
        <p14:creationId xmlns:p14="http://schemas.microsoft.com/office/powerpoint/2010/main" val="392829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D18ED-E53E-40F6-0B6E-613AD0672F2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913875-709D-0D8B-F801-FF04B341FE6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28E4D3A-FE8A-544C-0D63-EE9CA22347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05B9041A-9AAC-403C-3CD9-EB8CDAACF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0F383BD-8E64-5EA3-C39B-131E0180EEAA}"/>
              </a:ext>
            </a:extLst>
          </p:cNvPr>
          <p:cNvSpPr txBox="1"/>
          <p:nvPr/>
        </p:nvSpPr>
        <p:spPr>
          <a:xfrm>
            <a:off x="0" y="1628497"/>
            <a:ext cx="9144000" cy="1964512"/>
          </a:xfrm>
          <a:prstGeom prst="rect">
            <a:avLst/>
          </a:prstGeom>
          <a:solidFill>
            <a:schemeClr val="bg1"/>
          </a:solidFill>
        </p:spPr>
        <p:txBody>
          <a:bodyPr wrap="square">
            <a:spAutoFit/>
          </a:bodyPr>
          <a:lstStyle/>
          <a:p>
            <a:pPr marL="514350" indent="-514350">
              <a:lnSpc>
                <a:spcPct val="150000"/>
              </a:lnSpc>
              <a:buAutoNum type="arabicPeriod"/>
            </a:pPr>
            <a:r>
              <a:rPr lang="en-US" sz="2800" b="1" dirty="0">
                <a:latin typeface="+mn-lt"/>
              </a:rPr>
              <a:t>Why is project evaluation important?</a:t>
            </a:r>
          </a:p>
          <a:p>
            <a:pPr>
              <a:lnSpc>
                <a:spcPct val="150000"/>
              </a:lnSpc>
            </a:pPr>
            <a:r>
              <a:rPr lang="en-US" sz="2800" dirty="0">
                <a:latin typeface="+mn-lt"/>
              </a:rPr>
              <a:t>Project evaluation helps us understand whether the project achieved its goals and solved the intended problem.</a:t>
            </a:r>
          </a:p>
        </p:txBody>
      </p:sp>
      <p:sp>
        <p:nvSpPr>
          <p:cNvPr id="6" name="Title 1">
            <a:extLst>
              <a:ext uri="{FF2B5EF4-FFF2-40B4-BE49-F238E27FC236}">
                <a16:creationId xmlns:a16="http://schemas.microsoft.com/office/drawing/2014/main" id="{5AC62A56-AC7A-C9EA-31C0-365B9F44E69D}"/>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141948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6F66D-BDE5-DA70-59BA-5B0D18FBC5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03DF5F-40A0-11A9-73E2-9DADA224B34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167824E-A67C-A7DA-213A-4FE66F0500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B0A61F37-61EE-3FE8-FD7C-7D334993E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3B7D528-0C5C-1277-68DF-C48FC7361401}"/>
              </a:ext>
            </a:extLst>
          </p:cNvPr>
          <p:cNvSpPr txBox="1"/>
          <p:nvPr/>
        </p:nvSpPr>
        <p:spPr>
          <a:xfrm>
            <a:off x="0" y="1628497"/>
            <a:ext cx="9144000" cy="2610843"/>
          </a:xfrm>
          <a:prstGeom prst="rect">
            <a:avLst/>
          </a:prstGeom>
          <a:solidFill>
            <a:schemeClr val="bg1"/>
          </a:solidFill>
        </p:spPr>
        <p:txBody>
          <a:bodyPr wrap="square">
            <a:spAutoFit/>
          </a:bodyPr>
          <a:lstStyle/>
          <a:p>
            <a:pPr>
              <a:lnSpc>
                <a:spcPct val="150000"/>
              </a:lnSpc>
            </a:pPr>
            <a:r>
              <a:rPr lang="en-US" sz="2800" b="1" dirty="0">
                <a:latin typeface="+mn-lt"/>
              </a:rPr>
              <a:t>2. What is the difference between monitoring and evaluation?</a:t>
            </a:r>
          </a:p>
          <a:p>
            <a:pPr>
              <a:lnSpc>
                <a:spcPct val="150000"/>
              </a:lnSpc>
            </a:pPr>
            <a:r>
              <a:rPr lang="en-US" sz="2800" dirty="0">
                <a:latin typeface="+mn-lt"/>
              </a:rPr>
              <a:t>Monitoring tracks project progress regularly, while evaluation checks the final results and overall success of the project.</a:t>
            </a:r>
          </a:p>
        </p:txBody>
      </p:sp>
      <p:sp>
        <p:nvSpPr>
          <p:cNvPr id="6" name="Title 1">
            <a:extLst>
              <a:ext uri="{FF2B5EF4-FFF2-40B4-BE49-F238E27FC236}">
                <a16:creationId xmlns:a16="http://schemas.microsoft.com/office/drawing/2014/main" id="{4592670C-1068-99B6-166B-FE69CD6D77F2}"/>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203117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CEF0-4CCC-35A1-86ED-0F9F935EE18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22C36C-D917-26B8-84D5-F22A74D937E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38C0DD9-6AC3-54F9-1570-5C9E061753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523D72E6-F991-3D1E-19E5-B94383C0F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D99FCAD-51F4-0DC5-5A06-59255E09C912}"/>
              </a:ext>
            </a:extLst>
          </p:cNvPr>
          <p:cNvSpPr txBox="1"/>
          <p:nvPr/>
        </p:nvSpPr>
        <p:spPr>
          <a:xfrm>
            <a:off x="0" y="1628497"/>
            <a:ext cx="9144000" cy="1964512"/>
          </a:xfrm>
          <a:prstGeom prst="rect">
            <a:avLst/>
          </a:prstGeom>
          <a:solidFill>
            <a:schemeClr val="bg1"/>
          </a:solidFill>
        </p:spPr>
        <p:txBody>
          <a:bodyPr wrap="square">
            <a:spAutoFit/>
          </a:bodyPr>
          <a:lstStyle/>
          <a:p>
            <a:pPr>
              <a:lnSpc>
                <a:spcPct val="150000"/>
              </a:lnSpc>
            </a:pPr>
            <a:r>
              <a:rPr lang="en-US" sz="2800" b="1" dirty="0">
                <a:latin typeface="+mn-lt"/>
              </a:rPr>
              <a:t>3. What are some things evaluation can measure?</a:t>
            </a:r>
          </a:p>
          <a:p>
            <a:pPr>
              <a:lnSpc>
                <a:spcPct val="150000"/>
              </a:lnSpc>
            </a:pPr>
            <a:r>
              <a:rPr lang="en-US" sz="2800" dirty="0">
                <a:latin typeface="+mn-lt"/>
              </a:rPr>
              <a:t>Evaluation can measure effectiveness, efficiency, impact, sustainability, and value for money.</a:t>
            </a:r>
          </a:p>
        </p:txBody>
      </p:sp>
      <p:sp>
        <p:nvSpPr>
          <p:cNvPr id="6" name="Title 1">
            <a:extLst>
              <a:ext uri="{FF2B5EF4-FFF2-40B4-BE49-F238E27FC236}">
                <a16:creationId xmlns:a16="http://schemas.microsoft.com/office/drawing/2014/main" id="{E6B66F30-AABA-2CE2-9AF6-9A4FD9DC90C6}"/>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993944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3336B-7AFF-FEE3-8F63-D19134872B9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B1096B-B0DA-E4FB-5F47-C017D1EC48F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D54064E-6D29-605F-572E-920BDDB3FD6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pic>
        <p:nvPicPr>
          <p:cNvPr id="22534" name="Picture 5">
            <a:extLst>
              <a:ext uri="{FF2B5EF4-FFF2-40B4-BE49-F238E27FC236}">
                <a16:creationId xmlns:a16="http://schemas.microsoft.com/office/drawing/2014/main" id="{3DA88B4A-EB92-7B5E-C14A-3FB9F0673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BF8F363-BB10-ED74-FCC2-A0426546C3B6}"/>
              </a:ext>
            </a:extLst>
          </p:cNvPr>
          <p:cNvSpPr txBox="1"/>
          <p:nvPr/>
        </p:nvSpPr>
        <p:spPr>
          <a:xfrm>
            <a:off x="0" y="1628497"/>
            <a:ext cx="9144000" cy="1964512"/>
          </a:xfrm>
          <a:prstGeom prst="rect">
            <a:avLst/>
          </a:prstGeom>
          <a:solidFill>
            <a:schemeClr val="bg1"/>
          </a:solidFill>
        </p:spPr>
        <p:txBody>
          <a:bodyPr wrap="square">
            <a:spAutoFit/>
          </a:bodyPr>
          <a:lstStyle/>
          <a:p>
            <a:pPr>
              <a:lnSpc>
                <a:spcPct val="150000"/>
              </a:lnSpc>
            </a:pPr>
            <a:r>
              <a:rPr lang="en-US" sz="2800" b="1" dirty="0">
                <a:latin typeface="+mn-lt"/>
              </a:rPr>
              <a:t>4. Why is learning from mistakes important in projects?</a:t>
            </a:r>
          </a:p>
          <a:p>
            <a:pPr>
              <a:lnSpc>
                <a:spcPct val="150000"/>
              </a:lnSpc>
            </a:pPr>
            <a:r>
              <a:rPr lang="en-US" sz="2800" dirty="0">
                <a:latin typeface="+mn-lt"/>
              </a:rPr>
              <a:t>Learning from mistakes helps teams improve future projects and avoid repeating the same problems.</a:t>
            </a:r>
          </a:p>
        </p:txBody>
      </p:sp>
      <p:sp>
        <p:nvSpPr>
          <p:cNvPr id="6" name="Title 1">
            <a:extLst>
              <a:ext uri="{FF2B5EF4-FFF2-40B4-BE49-F238E27FC236}">
                <a16:creationId xmlns:a16="http://schemas.microsoft.com/office/drawing/2014/main" id="{05DA26EE-CD12-B149-EDA4-493A3C6264EB}"/>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364885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7EB33-F80D-69A2-5FC3-48A1A3DC887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C95B25-1BC2-B9EF-0BD9-C332A725EC1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5979EA4-44E4-6C19-9086-288FABDE08E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1B45FA95-BCA6-07FB-7722-0B2A1ED39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1A49781-3783-CD30-4015-7376A94737F4}"/>
              </a:ext>
            </a:extLst>
          </p:cNvPr>
          <p:cNvSpPr txBox="1"/>
          <p:nvPr/>
        </p:nvSpPr>
        <p:spPr>
          <a:xfrm>
            <a:off x="0" y="1628497"/>
            <a:ext cx="9144000" cy="2610843"/>
          </a:xfrm>
          <a:prstGeom prst="rect">
            <a:avLst/>
          </a:prstGeom>
          <a:solidFill>
            <a:schemeClr val="bg1"/>
          </a:solidFill>
        </p:spPr>
        <p:txBody>
          <a:bodyPr wrap="square">
            <a:spAutoFit/>
          </a:bodyPr>
          <a:lstStyle/>
          <a:p>
            <a:pPr>
              <a:lnSpc>
                <a:spcPct val="150000"/>
              </a:lnSpc>
            </a:pPr>
            <a:r>
              <a:rPr lang="en-US" sz="2800" b="1" dirty="0">
                <a:latin typeface="+mn-lt"/>
              </a:rPr>
              <a:t>5. Can a project have negative impacts?</a:t>
            </a:r>
          </a:p>
          <a:p>
            <a:pPr>
              <a:lnSpc>
                <a:spcPct val="150000"/>
              </a:lnSpc>
            </a:pPr>
            <a:r>
              <a:rPr lang="en-US" sz="2800" dirty="0">
                <a:latin typeface="+mn-lt"/>
              </a:rPr>
              <a:t>Yes. Some projects may create unexpected problems or challenges, so evaluation helps identify both positive and negative effects.</a:t>
            </a:r>
          </a:p>
        </p:txBody>
      </p:sp>
      <p:sp>
        <p:nvSpPr>
          <p:cNvPr id="6" name="Title 1">
            <a:extLst>
              <a:ext uri="{FF2B5EF4-FFF2-40B4-BE49-F238E27FC236}">
                <a16:creationId xmlns:a16="http://schemas.microsoft.com/office/drawing/2014/main" id="{24B85877-2385-FF4B-9D6A-B1A60A5A4D42}"/>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228272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59EA-8607-4B4A-C843-86C00EFD0D4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C94378-71C6-BDBD-90C8-423FC52ED7A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E0D0DF1-0415-BA16-5F5A-ED9C7504672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pic>
        <p:nvPicPr>
          <p:cNvPr id="22534" name="Picture 5">
            <a:extLst>
              <a:ext uri="{FF2B5EF4-FFF2-40B4-BE49-F238E27FC236}">
                <a16:creationId xmlns:a16="http://schemas.microsoft.com/office/drawing/2014/main" id="{89988CBE-73EF-A189-BD6D-5E3D71746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8AB98C3-9C57-6444-75EB-5F4F397681CA}"/>
              </a:ext>
            </a:extLst>
          </p:cNvPr>
          <p:cNvSpPr txBox="1"/>
          <p:nvPr/>
        </p:nvSpPr>
        <p:spPr>
          <a:xfrm>
            <a:off x="0" y="1628497"/>
            <a:ext cx="9144000" cy="2610843"/>
          </a:xfrm>
          <a:prstGeom prst="rect">
            <a:avLst/>
          </a:prstGeom>
          <a:solidFill>
            <a:schemeClr val="bg1"/>
          </a:solidFill>
        </p:spPr>
        <p:txBody>
          <a:bodyPr wrap="square">
            <a:spAutoFit/>
          </a:bodyPr>
          <a:lstStyle/>
          <a:p>
            <a:pPr>
              <a:lnSpc>
                <a:spcPct val="150000"/>
              </a:lnSpc>
            </a:pPr>
            <a:r>
              <a:rPr lang="en-US" sz="2800" b="1" dirty="0">
                <a:latin typeface="+mn-lt"/>
              </a:rPr>
              <a:t>6. How can evaluation help NSW IT Support?</a:t>
            </a:r>
          </a:p>
          <a:p>
            <a:pPr>
              <a:lnSpc>
                <a:spcPct val="150000"/>
              </a:lnSpc>
            </a:pPr>
            <a:r>
              <a:rPr lang="en-US" sz="2800" dirty="0">
                <a:latin typeface="+mn-lt"/>
              </a:rPr>
              <a:t>Evaluation can help NSW IT Support understand if their IT solutions improve customer service, reduce delays, and solve client problems effectively.</a:t>
            </a:r>
          </a:p>
        </p:txBody>
      </p:sp>
      <p:sp>
        <p:nvSpPr>
          <p:cNvPr id="6" name="Title 1">
            <a:extLst>
              <a:ext uri="{FF2B5EF4-FFF2-40B4-BE49-F238E27FC236}">
                <a16:creationId xmlns:a16="http://schemas.microsoft.com/office/drawing/2014/main" id="{200D32E4-B09C-B4B6-C603-2ACA314A72FD}"/>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315331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Vertic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FAD64-FB20-3C6A-FC2C-5982D19176F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F4C9E22-FB8F-0107-2F05-0CACEB98DCE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283FA8C-4321-33EF-F69D-372F03FECB5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47</a:t>
            </a:fld>
            <a:endParaRPr lang="en-US" altLang="en-US" sz="900">
              <a:solidFill>
                <a:srgbClr val="FFFFFF"/>
              </a:solidFill>
            </a:endParaRPr>
          </a:p>
        </p:txBody>
      </p:sp>
      <p:pic>
        <p:nvPicPr>
          <p:cNvPr id="22534" name="Picture 5">
            <a:extLst>
              <a:ext uri="{FF2B5EF4-FFF2-40B4-BE49-F238E27FC236}">
                <a16:creationId xmlns:a16="http://schemas.microsoft.com/office/drawing/2014/main" id="{DBB098E2-87E0-DC79-7132-7C8088B409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D4784F9-69DB-A491-DF68-030EF629B014}"/>
              </a:ext>
            </a:extLst>
          </p:cNvPr>
          <p:cNvSpPr txBox="1"/>
          <p:nvPr/>
        </p:nvSpPr>
        <p:spPr>
          <a:xfrm>
            <a:off x="0" y="1628497"/>
            <a:ext cx="9144000" cy="2610843"/>
          </a:xfrm>
          <a:prstGeom prst="rect">
            <a:avLst/>
          </a:prstGeom>
          <a:solidFill>
            <a:schemeClr val="bg1"/>
          </a:solidFill>
        </p:spPr>
        <p:txBody>
          <a:bodyPr wrap="square">
            <a:spAutoFit/>
          </a:bodyPr>
          <a:lstStyle/>
          <a:p>
            <a:pPr>
              <a:lnSpc>
                <a:spcPct val="150000"/>
              </a:lnSpc>
            </a:pPr>
            <a:r>
              <a:rPr lang="en-US" sz="2800" b="1" dirty="0">
                <a:latin typeface="+mn-lt"/>
              </a:rPr>
              <a:t>7. In an IT project, is a working system enough to call the project successful? Why or why not?</a:t>
            </a:r>
          </a:p>
          <a:p>
            <a:pPr>
              <a:lnSpc>
                <a:spcPct val="150000"/>
              </a:lnSpc>
            </a:pPr>
            <a:r>
              <a:rPr lang="en-US" sz="2800" dirty="0">
                <a:latin typeface="+mn-lt"/>
              </a:rPr>
              <a:t>No. A project is successful only if it also improves business performance, satisfies users, and solves real problems.</a:t>
            </a:r>
          </a:p>
        </p:txBody>
      </p:sp>
      <p:sp>
        <p:nvSpPr>
          <p:cNvPr id="6" name="Title 1">
            <a:extLst>
              <a:ext uri="{FF2B5EF4-FFF2-40B4-BE49-F238E27FC236}">
                <a16:creationId xmlns:a16="http://schemas.microsoft.com/office/drawing/2014/main" id="{BDA3B11C-A4BF-17E9-C107-86A8786DDC0D}"/>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b="1" dirty="0">
                <a:solidFill>
                  <a:srgbClr val="00B0F0"/>
                </a:solidFill>
              </a:rPr>
              <a:t>Discussion Questions for Students</a:t>
            </a:r>
            <a:endParaRPr lang="en-AU" altLang="en-US" b="1" dirty="0">
              <a:solidFill>
                <a:srgbClr val="00B0F0"/>
              </a:solidFill>
            </a:endParaRPr>
          </a:p>
        </p:txBody>
      </p:sp>
    </p:spTree>
    <p:extLst>
      <p:ext uri="{BB962C8B-B14F-4D97-AF65-F5344CB8AC3E}">
        <p14:creationId xmlns:p14="http://schemas.microsoft.com/office/powerpoint/2010/main" val="161595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9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2074480"/>
            <a:ext cx="8027988" cy="3776662"/>
          </a:xfrm>
        </p:spPr>
        <p:txBody>
          <a:bodyPr/>
          <a:lstStyle/>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Methods of Project Evaluation</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Critical Reflection on Project Performance</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Integration of Evaluation into Project Management</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Impact Assessment and Stakeholder Feedback</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Incorporating Lessons Learned into Future Projects</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48</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5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a:t>
            </a:r>
          </a:p>
          <a:p>
            <a:endParaRPr lang="en-AU" sz="2400" b="0" i="0" u="none" strike="noStrike" baseline="0" dirty="0">
              <a:solidFill>
                <a:srgbClr val="4B1858"/>
              </a:solidFill>
              <a:highlight>
                <a:srgbClr val="FFFF00"/>
              </a:highlight>
              <a:latin typeface="Arial" panose="020B0604020202020204" pitchFamily="34" charset="0"/>
            </a:endParaRPr>
          </a:p>
          <a:p>
            <a:r>
              <a:rPr lang="en-AU" sz="2400" dirty="0">
                <a:solidFill>
                  <a:srgbClr val="4B1858"/>
                </a:solidFill>
                <a:latin typeface="Arial" panose="020B0604020202020204" pitchFamily="34" charset="0"/>
              </a:rPr>
              <a:t>Watch the Video in 10 minutes - What is Evaluation? Understanding the Project Evaluation Methods</a:t>
            </a:r>
          </a:p>
          <a:p>
            <a:pPr algn="l"/>
            <a:r>
              <a:rPr lang="en-AU" sz="2400" dirty="0">
                <a:solidFill>
                  <a:srgbClr val="4B1858"/>
                </a:solidFill>
                <a:latin typeface="Arial" panose="020B0604020202020204" pitchFamily="34" charset="0"/>
                <a:hlinkClick r:id="rId2"/>
              </a:rPr>
              <a:t>https://www.youtube.com/watch?v=uCUsj7_vAcI</a:t>
            </a:r>
            <a:endParaRPr lang="en-AU" sz="2400" dirty="0">
              <a:solidFill>
                <a:srgbClr val="4B1858"/>
              </a:solidFill>
              <a:latin typeface="Arial" panose="020B0604020202020204" pitchFamily="34" charset="0"/>
            </a:endParaRPr>
          </a:p>
          <a:p>
            <a:pPr algn="l"/>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49</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2822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8EA9-D1FD-1E48-80BE-572551621E0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02C84E2-4BE4-645F-BFF7-51FFB4A580A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449907E-3F3A-C2C6-34F6-E0328C54C22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3C38EB9-152C-4D99-8FCA-16C2708F15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50</a:t>
            </a:fld>
            <a:endParaRPr lang="en-US" altLang="en-US" sz="900">
              <a:solidFill>
                <a:srgbClr val="FFFFFF"/>
              </a:solidFill>
            </a:endParaRPr>
          </a:p>
        </p:txBody>
      </p:sp>
      <p:pic>
        <p:nvPicPr>
          <p:cNvPr id="22534" name="Picture 5">
            <a:extLst>
              <a:ext uri="{FF2B5EF4-FFF2-40B4-BE49-F238E27FC236}">
                <a16:creationId xmlns:a16="http://schemas.microsoft.com/office/drawing/2014/main" id="{3B9FD52C-4687-7F04-9391-1BBE5814F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9F5D068-8280-A710-E58C-8497FB348686}"/>
              </a:ext>
            </a:extLst>
          </p:cNvPr>
          <p:cNvSpPr txBox="1"/>
          <p:nvPr/>
        </p:nvSpPr>
        <p:spPr>
          <a:xfrm>
            <a:off x="0" y="1687159"/>
            <a:ext cx="9144000" cy="4549835"/>
          </a:xfrm>
          <a:prstGeom prst="rect">
            <a:avLst/>
          </a:prstGeom>
          <a:noFill/>
        </p:spPr>
        <p:txBody>
          <a:bodyPr wrap="square">
            <a:spAutoFit/>
          </a:bodyPr>
          <a:lstStyle/>
          <a:p>
            <a:pPr>
              <a:lnSpc>
                <a:spcPct val="150000"/>
              </a:lnSpc>
              <a:buNone/>
            </a:pPr>
            <a:r>
              <a:rPr lang="en-US" sz="2800" b="1" dirty="0">
                <a:latin typeface="+mn-lt"/>
              </a:rPr>
              <a:t>1. Evaluation is important in every project</a:t>
            </a:r>
          </a:p>
          <a:p>
            <a:pPr>
              <a:lnSpc>
                <a:spcPct val="150000"/>
              </a:lnSpc>
              <a:buNone/>
            </a:pPr>
            <a:r>
              <a:rPr lang="en-US" sz="2800" dirty="0">
                <a:latin typeface="+mn-lt"/>
              </a:rPr>
              <a:t>Every project should be evaluated to understand:</a:t>
            </a:r>
          </a:p>
          <a:p>
            <a:pPr>
              <a:lnSpc>
                <a:spcPct val="150000"/>
              </a:lnSpc>
            </a:pPr>
            <a:r>
              <a:rPr lang="en-US" sz="2800" dirty="0">
                <a:latin typeface="+mn-lt"/>
              </a:rPr>
              <a:t>- what worked well, </a:t>
            </a:r>
          </a:p>
          <a:p>
            <a:pPr>
              <a:lnSpc>
                <a:spcPct val="150000"/>
              </a:lnSpc>
            </a:pPr>
            <a:r>
              <a:rPr lang="en-US" sz="2800" dirty="0">
                <a:latin typeface="+mn-lt"/>
              </a:rPr>
              <a:t>- what problems happened, </a:t>
            </a:r>
          </a:p>
          <a:p>
            <a:pPr>
              <a:lnSpc>
                <a:spcPct val="150000"/>
              </a:lnSpc>
            </a:pPr>
            <a:r>
              <a:rPr lang="en-US" sz="2800" dirty="0">
                <a:latin typeface="+mn-lt"/>
              </a:rPr>
              <a:t>- and how future projects can improve. </a:t>
            </a:r>
          </a:p>
          <a:p>
            <a:pPr>
              <a:lnSpc>
                <a:spcPct val="150000"/>
              </a:lnSpc>
              <a:buNone/>
            </a:pPr>
            <a:r>
              <a:rPr lang="en-US" sz="2800" dirty="0">
                <a:latin typeface="+mn-lt"/>
              </a:rPr>
              <a:t>Evaluation is not something to fear. It is a way to learn and improve.</a:t>
            </a:r>
          </a:p>
        </p:txBody>
      </p:sp>
    </p:spTree>
    <p:extLst>
      <p:ext uri="{BB962C8B-B14F-4D97-AF65-F5344CB8AC3E}">
        <p14:creationId xmlns:p14="http://schemas.microsoft.com/office/powerpoint/2010/main" val="4130416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895D-AF7A-F1C6-3972-23819BAF882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CCC7895-EC76-B613-6313-2C4B5C6EF5A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F24899F-B911-EAF0-2C20-F7D4DF7F62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20AA279-0060-EE76-D1E4-04776DB5C90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51</a:t>
            </a:fld>
            <a:endParaRPr lang="en-US" altLang="en-US" sz="900">
              <a:solidFill>
                <a:srgbClr val="FFFFFF"/>
              </a:solidFill>
            </a:endParaRPr>
          </a:p>
        </p:txBody>
      </p:sp>
      <p:pic>
        <p:nvPicPr>
          <p:cNvPr id="22534" name="Picture 5">
            <a:extLst>
              <a:ext uri="{FF2B5EF4-FFF2-40B4-BE49-F238E27FC236}">
                <a16:creationId xmlns:a16="http://schemas.microsoft.com/office/drawing/2014/main" id="{71684C5B-3096-77EB-3270-BF1E7E321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BC298BD-9A91-5F53-9251-1491A94ED79D}"/>
              </a:ext>
            </a:extLst>
          </p:cNvPr>
          <p:cNvSpPr txBox="1"/>
          <p:nvPr/>
        </p:nvSpPr>
        <p:spPr>
          <a:xfrm>
            <a:off x="0" y="1687159"/>
            <a:ext cx="9144000" cy="3903504"/>
          </a:xfrm>
          <a:prstGeom prst="rect">
            <a:avLst/>
          </a:prstGeom>
          <a:noFill/>
        </p:spPr>
        <p:txBody>
          <a:bodyPr wrap="square">
            <a:spAutoFit/>
          </a:bodyPr>
          <a:lstStyle/>
          <a:p>
            <a:pPr>
              <a:lnSpc>
                <a:spcPct val="150000"/>
              </a:lnSpc>
            </a:pPr>
            <a:r>
              <a:rPr lang="en-US" sz="2800" b="1" dirty="0">
                <a:latin typeface="+mn-lt"/>
              </a:rPr>
              <a:t>2. Evaluation helps </a:t>
            </a:r>
            <a:r>
              <a:rPr lang="en-US" sz="2800" b="1" dirty="0" err="1">
                <a:latin typeface="+mn-lt"/>
              </a:rPr>
              <a:t>organisations</a:t>
            </a:r>
            <a:r>
              <a:rPr lang="en-US" sz="2800" b="1" dirty="0">
                <a:latin typeface="+mn-lt"/>
              </a:rPr>
              <a:t> improve</a:t>
            </a:r>
          </a:p>
          <a:p>
            <a:pPr>
              <a:lnSpc>
                <a:spcPct val="150000"/>
              </a:lnSpc>
            </a:pPr>
            <a:r>
              <a:rPr lang="en-US" sz="2800" dirty="0">
                <a:latin typeface="+mn-lt"/>
              </a:rPr>
              <a:t>Companies and project teams use evaluation to:</a:t>
            </a:r>
          </a:p>
          <a:p>
            <a:pPr>
              <a:lnSpc>
                <a:spcPct val="150000"/>
              </a:lnSpc>
            </a:pPr>
            <a:r>
              <a:rPr lang="en-US" sz="2800" dirty="0">
                <a:latin typeface="+mn-lt"/>
              </a:rPr>
              <a:t>- identify challenges, </a:t>
            </a:r>
          </a:p>
          <a:p>
            <a:pPr>
              <a:lnSpc>
                <a:spcPct val="150000"/>
              </a:lnSpc>
            </a:pPr>
            <a:r>
              <a:rPr lang="en-US" sz="2800" dirty="0">
                <a:latin typeface="+mn-lt"/>
              </a:rPr>
              <a:t>- improve project quality, </a:t>
            </a:r>
          </a:p>
          <a:p>
            <a:pPr>
              <a:lnSpc>
                <a:spcPct val="150000"/>
              </a:lnSpc>
            </a:pPr>
            <a:r>
              <a:rPr lang="en-US" sz="2800" dirty="0">
                <a:latin typeface="+mn-lt"/>
              </a:rPr>
              <a:t>- make better decisions, </a:t>
            </a:r>
          </a:p>
          <a:p>
            <a:pPr>
              <a:lnSpc>
                <a:spcPct val="150000"/>
              </a:lnSpc>
            </a:pPr>
            <a:r>
              <a:rPr lang="en-US" sz="2800" dirty="0">
                <a:latin typeface="+mn-lt"/>
              </a:rPr>
              <a:t>- and increase project success in future.</a:t>
            </a:r>
          </a:p>
        </p:txBody>
      </p:sp>
    </p:spTree>
    <p:extLst>
      <p:ext uri="{BB962C8B-B14F-4D97-AF65-F5344CB8AC3E}">
        <p14:creationId xmlns:p14="http://schemas.microsoft.com/office/powerpoint/2010/main" val="3066816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41E0-1794-15B3-1AC7-587B9DD7DB9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8882D14-4D8D-830D-A4F2-2E03C0C7CAB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2EF7C2A-50EE-2510-1C59-5CA519AFA8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D3BE553-AEA1-6BF2-6F51-65206B7746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52</a:t>
            </a:fld>
            <a:endParaRPr lang="en-US" altLang="en-US" sz="900">
              <a:solidFill>
                <a:srgbClr val="FFFFFF"/>
              </a:solidFill>
            </a:endParaRPr>
          </a:p>
        </p:txBody>
      </p:sp>
      <p:pic>
        <p:nvPicPr>
          <p:cNvPr id="22534" name="Picture 5">
            <a:extLst>
              <a:ext uri="{FF2B5EF4-FFF2-40B4-BE49-F238E27FC236}">
                <a16:creationId xmlns:a16="http://schemas.microsoft.com/office/drawing/2014/main" id="{E63B2CA8-3C82-9B76-41E6-32984E18A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060D9EC-A6A9-4356-7BDD-9DB03384951C}"/>
              </a:ext>
            </a:extLst>
          </p:cNvPr>
          <p:cNvSpPr txBox="1"/>
          <p:nvPr/>
        </p:nvSpPr>
        <p:spPr>
          <a:xfrm>
            <a:off x="0" y="1687159"/>
            <a:ext cx="9144000" cy="3903504"/>
          </a:xfrm>
          <a:prstGeom prst="rect">
            <a:avLst/>
          </a:prstGeom>
          <a:noFill/>
        </p:spPr>
        <p:txBody>
          <a:bodyPr wrap="square">
            <a:spAutoFit/>
          </a:bodyPr>
          <a:lstStyle/>
          <a:p>
            <a:pPr>
              <a:lnSpc>
                <a:spcPct val="150000"/>
              </a:lnSpc>
            </a:pPr>
            <a:r>
              <a:rPr lang="en-US" sz="2800" b="1" dirty="0">
                <a:latin typeface="+mn-lt"/>
              </a:rPr>
              <a:t>3. There are different types of project evaluation</a:t>
            </a:r>
          </a:p>
          <a:p>
            <a:pPr>
              <a:lnSpc>
                <a:spcPct val="150000"/>
              </a:lnSpc>
            </a:pPr>
            <a:r>
              <a:rPr lang="en-US" sz="2800" dirty="0">
                <a:latin typeface="+mn-lt"/>
              </a:rPr>
              <a:t>The video explains three important evaluation methods:</a:t>
            </a:r>
          </a:p>
          <a:p>
            <a:pPr>
              <a:lnSpc>
                <a:spcPct val="150000"/>
              </a:lnSpc>
            </a:pPr>
            <a:r>
              <a:rPr lang="en-US" sz="2800" b="1" dirty="0">
                <a:latin typeface="+mn-lt"/>
              </a:rPr>
              <a:t>Process Evaluation</a:t>
            </a:r>
          </a:p>
          <a:p>
            <a:pPr>
              <a:lnSpc>
                <a:spcPct val="150000"/>
              </a:lnSpc>
            </a:pPr>
            <a:r>
              <a:rPr lang="en-US" sz="2800" b="1" dirty="0">
                <a:latin typeface="+mn-lt"/>
              </a:rPr>
              <a:t>Outcome Evaluation</a:t>
            </a:r>
          </a:p>
          <a:p>
            <a:pPr>
              <a:lnSpc>
                <a:spcPct val="150000"/>
              </a:lnSpc>
            </a:pPr>
            <a:r>
              <a:rPr lang="en-US" sz="2800" b="1" dirty="0">
                <a:latin typeface="+mn-lt"/>
              </a:rPr>
              <a:t>Impact Evaluation</a:t>
            </a:r>
          </a:p>
          <a:p>
            <a:pPr>
              <a:lnSpc>
                <a:spcPct val="150000"/>
              </a:lnSpc>
            </a:pPr>
            <a:r>
              <a:rPr lang="en-US" sz="2800" dirty="0">
                <a:latin typeface="+mn-lt"/>
              </a:rPr>
              <a:t>Each one focuses on a different part of the project.</a:t>
            </a:r>
          </a:p>
        </p:txBody>
      </p:sp>
    </p:spTree>
    <p:extLst>
      <p:ext uri="{BB962C8B-B14F-4D97-AF65-F5344CB8AC3E}">
        <p14:creationId xmlns:p14="http://schemas.microsoft.com/office/powerpoint/2010/main" val="2648881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66B1-F200-C511-1CA1-50B78E2F94C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42854A7-8F7F-2597-B42E-58E87D9887B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4FDBF49-9659-8B39-6004-F184FBBC3AD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4221D1E-0C41-583B-FAB4-71B55AA138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53</a:t>
            </a:fld>
            <a:endParaRPr lang="en-US" altLang="en-US" sz="900">
              <a:solidFill>
                <a:srgbClr val="FFFFFF"/>
              </a:solidFill>
            </a:endParaRPr>
          </a:p>
        </p:txBody>
      </p:sp>
      <p:pic>
        <p:nvPicPr>
          <p:cNvPr id="22534" name="Picture 5">
            <a:extLst>
              <a:ext uri="{FF2B5EF4-FFF2-40B4-BE49-F238E27FC236}">
                <a16:creationId xmlns:a16="http://schemas.microsoft.com/office/drawing/2014/main" id="{951A1C80-117A-E039-2F14-1BAD07747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1DDCAC1-077F-E850-987A-E02B80905C07}"/>
              </a:ext>
            </a:extLst>
          </p:cNvPr>
          <p:cNvSpPr txBox="1"/>
          <p:nvPr/>
        </p:nvSpPr>
        <p:spPr>
          <a:xfrm>
            <a:off x="0" y="1687159"/>
            <a:ext cx="9144000" cy="3903504"/>
          </a:xfrm>
          <a:prstGeom prst="rect">
            <a:avLst/>
          </a:prstGeom>
          <a:noFill/>
        </p:spPr>
        <p:txBody>
          <a:bodyPr wrap="square">
            <a:spAutoFit/>
          </a:bodyPr>
          <a:lstStyle/>
          <a:p>
            <a:pPr>
              <a:lnSpc>
                <a:spcPct val="150000"/>
              </a:lnSpc>
            </a:pPr>
            <a:r>
              <a:rPr lang="en-US" sz="2800" b="1" dirty="0">
                <a:latin typeface="+mn-lt"/>
              </a:rPr>
              <a:t>Process Evaluation</a:t>
            </a:r>
          </a:p>
          <a:p>
            <a:pPr>
              <a:lnSpc>
                <a:spcPct val="150000"/>
              </a:lnSpc>
            </a:pPr>
            <a:r>
              <a:rPr lang="en-US" sz="2800" b="1" dirty="0">
                <a:latin typeface="+mn-lt"/>
              </a:rPr>
              <a:t>What is it?</a:t>
            </a:r>
          </a:p>
          <a:p>
            <a:pPr>
              <a:lnSpc>
                <a:spcPct val="150000"/>
              </a:lnSpc>
            </a:pPr>
            <a:r>
              <a:rPr lang="en-US" sz="2800" dirty="0">
                <a:latin typeface="+mn-lt"/>
              </a:rPr>
              <a:t>Process evaluation checks:</a:t>
            </a:r>
          </a:p>
          <a:p>
            <a:pPr>
              <a:lnSpc>
                <a:spcPct val="150000"/>
              </a:lnSpc>
            </a:pPr>
            <a:r>
              <a:rPr lang="en-US" sz="2800" dirty="0">
                <a:latin typeface="+mn-lt"/>
              </a:rPr>
              <a:t>- whether project activities are done correctly, </a:t>
            </a:r>
          </a:p>
          <a:p>
            <a:pPr>
              <a:lnSpc>
                <a:spcPct val="150000"/>
              </a:lnSpc>
            </a:pPr>
            <a:r>
              <a:rPr lang="en-US" sz="2800" dirty="0">
                <a:latin typeface="+mn-lt"/>
              </a:rPr>
              <a:t>- whether tasks follow the right procedures, </a:t>
            </a:r>
          </a:p>
          <a:p>
            <a:pPr>
              <a:lnSpc>
                <a:spcPct val="150000"/>
              </a:lnSpc>
            </a:pPr>
            <a:r>
              <a:rPr lang="en-US" sz="2800" dirty="0">
                <a:latin typeface="+mn-lt"/>
              </a:rPr>
              <a:t>- and whether work is completed on time. </a:t>
            </a:r>
          </a:p>
        </p:txBody>
      </p:sp>
    </p:spTree>
    <p:extLst>
      <p:ext uri="{BB962C8B-B14F-4D97-AF65-F5344CB8AC3E}">
        <p14:creationId xmlns:p14="http://schemas.microsoft.com/office/powerpoint/2010/main" val="2070965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0EA5-084D-7B52-278F-93C338B7F1E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0B3E7BD-18BD-AF49-591E-C8C09FED625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A44F6DF-5A6D-1D30-ABB7-C2B3D5CA460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99512DB-D971-BDCA-D72E-DA1FD6A003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54</a:t>
            </a:fld>
            <a:endParaRPr lang="en-US" altLang="en-US" sz="900">
              <a:solidFill>
                <a:srgbClr val="FFFFFF"/>
              </a:solidFill>
            </a:endParaRPr>
          </a:p>
        </p:txBody>
      </p:sp>
      <p:pic>
        <p:nvPicPr>
          <p:cNvPr id="22534" name="Picture 5">
            <a:extLst>
              <a:ext uri="{FF2B5EF4-FFF2-40B4-BE49-F238E27FC236}">
                <a16:creationId xmlns:a16="http://schemas.microsoft.com/office/drawing/2014/main" id="{D5F87E3B-7A6D-2243-8B82-7D5E73551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B62B6E6-60D2-0CF5-7BF6-D14E85E38205}"/>
              </a:ext>
            </a:extLst>
          </p:cNvPr>
          <p:cNvSpPr txBox="1"/>
          <p:nvPr/>
        </p:nvSpPr>
        <p:spPr>
          <a:xfrm>
            <a:off x="0" y="1687159"/>
            <a:ext cx="9144000" cy="3903504"/>
          </a:xfrm>
          <a:prstGeom prst="rect">
            <a:avLst/>
          </a:prstGeom>
          <a:noFill/>
        </p:spPr>
        <p:txBody>
          <a:bodyPr wrap="square">
            <a:spAutoFit/>
          </a:bodyPr>
          <a:lstStyle/>
          <a:p>
            <a:pPr>
              <a:lnSpc>
                <a:spcPct val="150000"/>
              </a:lnSpc>
            </a:pPr>
            <a:r>
              <a:rPr lang="en-US" sz="2800" b="1" dirty="0">
                <a:latin typeface="+mn-lt"/>
              </a:rPr>
              <a:t>Simple Example</a:t>
            </a:r>
          </a:p>
          <a:p>
            <a:pPr>
              <a:lnSpc>
                <a:spcPct val="150000"/>
              </a:lnSpc>
            </a:pPr>
            <a:r>
              <a:rPr lang="en-US" sz="2800" dirty="0">
                <a:latin typeface="+mn-lt"/>
              </a:rPr>
              <a:t>Building a house:</a:t>
            </a:r>
          </a:p>
          <a:p>
            <a:pPr>
              <a:lnSpc>
                <a:spcPct val="150000"/>
              </a:lnSpc>
            </a:pPr>
            <a:r>
              <a:rPr lang="en-US" sz="2800" dirty="0">
                <a:latin typeface="+mn-lt"/>
              </a:rPr>
              <a:t>- buying materials, </a:t>
            </a:r>
          </a:p>
          <a:p>
            <a:pPr>
              <a:lnSpc>
                <a:spcPct val="150000"/>
              </a:lnSpc>
            </a:pPr>
            <a:r>
              <a:rPr lang="en-US" sz="2800" dirty="0">
                <a:latin typeface="+mn-lt"/>
              </a:rPr>
              <a:t>- hiring workers, </a:t>
            </a:r>
          </a:p>
          <a:p>
            <a:pPr>
              <a:lnSpc>
                <a:spcPct val="150000"/>
              </a:lnSpc>
            </a:pPr>
            <a:r>
              <a:rPr lang="en-US" sz="2800" dirty="0">
                <a:latin typeface="+mn-lt"/>
              </a:rPr>
              <a:t>- managing construction, </a:t>
            </a:r>
          </a:p>
          <a:p>
            <a:pPr>
              <a:lnSpc>
                <a:spcPct val="150000"/>
              </a:lnSpc>
            </a:pPr>
            <a:r>
              <a:rPr lang="en-US" sz="2800" dirty="0">
                <a:latin typeface="+mn-lt"/>
              </a:rPr>
              <a:t>- following quality standards.</a:t>
            </a:r>
          </a:p>
        </p:txBody>
      </p:sp>
    </p:spTree>
    <p:extLst>
      <p:ext uri="{BB962C8B-B14F-4D97-AF65-F5344CB8AC3E}">
        <p14:creationId xmlns:p14="http://schemas.microsoft.com/office/powerpoint/2010/main" val="29151667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A732-58A4-EB77-34A4-F79D4C6F021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2F8CEBF-3188-0BE3-AA09-84C8974F4C4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A4A8C8B-9E97-92ED-0E9B-CE31359D2F2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6755B8B-F44C-500C-0AB5-5FB323F93C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55</a:t>
            </a:fld>
            <a:endParaRPr lang="en-US" altLang="en-US" sz="900">
              <a:solidFill>
                <a:srgbClr val="FFFFFF"/>
              </a:solidFill>
            </a:endParaRPr>
          </a:p>
        </p:txBody>
      </p:sp>
      <p:pic>
        <p:nvPicPr>
          <p:cNvPr id="22534" name="Picture 5">
            <a:extLst>
              <a:ext uri="{FF2B5EF4-FFF2-40B4-BE49-F238E27FC236}">
                <a16:creationId xmlns:a16="http://schemas.microsoft.com/office/drawing/2014/main" id="{36AF3257-86D9-95B1-653B-A5979CB74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F409690-A98E-E106-B7F8-ACF89950D764}"/>
              </a:ext>
            </a:extLst>
          </p:cNvPr>
          <p:cNvSpPr txBox="1"/>
          <p:nvPr/>
        </p:nvSpPr>
        <p:spPr>
          <a:xfrm>
            <a:off x="0" y="1687159"/>
            <a:ext cx="9144000" cy="4546950"/>
          </a:xfrm>
          <a:prstGeom prst="rect">
            <a:avLst/>
          </a:prstGeom>
          <a:noFill/>
        </p:spPr>
        <p:txBody>
          <a:bodyPr wrap="square">
            <a:spAutoFit/>
          </a:bodyPr>
          <a:lstStyle/>
          <a:p>
            <a:pPr>
              <a:lnSpc>
                <a:spcPct val="150000"/>
              </a:lnSpc>
            </a:pPr>
            <a:r>
              <a:rPr lang="en-US" sz="2800" dirty="0">
                <a:latin typeface="+mn-lt"/>
              </a:rPr>
              <a:t>These are all processes.</a:t>
            </a:r>
          </a:p>
          <a:p>
            <a:pPr>
              <a:lnSpc>
                <a:spcPct val="150000"/>
              </a:lnSpc>
            </a:pPr>
            <a:r>
              <a:rPr lang="en-US" sz="2800" b="1" dirty="0">
                <a:latin typeface="+mn-lt"/>
              </a:rPr>
              <a:t>Main lesson:</a:t>
            </a:r>
          </a:p>
          <a:p>
            <a:pPr>
              <a:lnSpc>
                <a:spcPct val="150000"/>
              </a:lnSpc>
            </a:pPr>
            <a:r>
              <a:rPr lang="en-US" sz="2800" dirty="0">
                <a:latin typeface="+mn-lt"/>
              </a:rPr>
              <a:t>Process evaluation focuses on:</a:t>
            </a:r>
            <a:br>
              <a:rPr lang="en-US" sz="2800" dirty="0">
                <a:latin typeface="+mn-lt"/>
              </a:rPr>
            </a:br>
            <a:r>
              <a:rPr lang="en-US" sz="2800" dirty="0">
                <a:latin typeface="+mn-lt"/>
              </a:rPr>
              <a:t>- activities</a:t>
            </a:r>
            <a:br>
              <a:rPr lang="en-US" sz="2800" dirty="0">
                <a:latin typeface="+mn-lt"/>
              </a:rPr>
            </a:br>
            <a:r>
              <a:rPr lang="en-US" sz="2800" dirty="0">
                <a:latin typeface="+mn-lt"/>
              </a:rPr>
              <a:t>- procedures</a:t>
            </a:r>
            <a:br>
              <a:rPr lang="en-US" sz="2800" dirty="0">
                <a:latin typeface="+mn-lt"/>
              </a:rPr>
            </a:br>
            <a:r>
              <a:rPr lang="en-US" sz="2800" dirty="0">
                <a:latin typeface="+mn-lt"/>
              </a:rPr>
              <a:t>- quality</a:t>
            </a:r>
            <a:br>
              <a:rPr lang="en-US" sz="2800" dirty="0">
                <a:latin typeface="+mn-lt"/>
              </a:rPr>
            </a:br>
            <a:r>
              <a:rPr lang="en-US" sz="2800" dirty="0">
                <a:latin typeface="+mn-lt"/>
              </a:rPr>
              <a:t>- timelines</a:t>
            </a:r>
          </a:p>
        </p:txBody>
      </p:sp>
    </p:spTree>
    <p:extLst>
      <p:ext uri="{BB962C8B-B14F-4D97-AF65-F5344CB8AC3E}">
        <p14:creationId xmlns:p14="http://schemas.microsoft.com/office/powerpoint/2010/main" val="15220088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A04F-4006-66C2-21DE-E081EA58E28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45A6706-E9EB-8A5A-514A-53D33273965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8711CBE-2272-F4A2-8DD4-25CE64014AA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AC68A6F-9646-2E4A-1505-C8FA4429B2E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56</a:t>
            </a:fld>
            <a:endParaRPr lang="en-US" altLang="en-US" sz="900">
              <a:solidFill>
                <a:srgbClr val="FFFFFF"/>
              </a:solidFill>
            </a:endParaRPr>
          </a:p>
        </p:txBody>
      </p:sp>
      <p:pic>
        <p:nvPicPr>
          <p:cNvPr id="22534" name="Picture 5">
            <a:extLst>
              <a:ext uri="{FF2B5EF4-FFF2-40B4-BE49-F238E27FC236}">
                <a16:creationId xmlns:a16="http://schemas.microsoft.com/office/drawing/2014/main" id="{49E126C3-B8B3-2FC8-C504-80727C4030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2F20726-C3FF-D106-54A0-B053D0A45E8A}"/>
              </a:ext>
            </a:extLst>
          </p:cNvPr>
          <p:cNvSpPr txBox="1"/>
          <p:nvPr/>
        </p:nvSpPr>
        <p:spPr>
          <a:xfrm>
            <a:off x="0" y="1687159"/>
            <a:ext cx="9144000" cy="2610843"/>
          </a:xfrm>
          <a:prstGeom prst="rect">
            <a:avLst/>
          </a:prstGeom>
          <a:noFill/>
        </p:spPr>
        <p:txBody>
          <a:bodyPr wrap="square">
            <a:spAutoFit/>
          </a:bodyPr>
          <a:lstStyle/>
          <a:p>
            <a:pPr>
              <a:lnSpc>
                <a:spcPct val="150000"/>
              </a:lnSpc>
            </a:pPr>
            <a:r>
              <a:rPr lang="en-US" sz="2800" b="1" dirty="0">
                <a:latin typeface="+mn-lt"/>
              </a:rPr>
              <a:t>Outcome Evaluation</a:t>
            </a:r>
          </a:p>
          <a:p>
            <a:pPr>
              <a:lnSpc>
                <a:spcPct val="150000"/>
              </a:lnSpc>
            </a:pPr>
            <a:r>
              <a:rPr lang="en-US" sz="2800" b="1" dirty="0">
                <a:latin typeface="+mn-lt"/>
              </a:rPr>
              <a:t>What is it?</a:t>
            </a:r>
          </a:p>
          <a:p>
            <a:pPr>
              <a:lnSpc>
                <a:spcPct val="150000"/>
              </a:lnSpc>
            </a:pPr>
            <a:r>
              <a:rPr lang="en-US" sz="2800" dirty="0">
                <a:latin typeface="+mn-lt"/>
              </a:rPr>
              <a:t>Outcome evaluation measures the short- to medium-term results of a project.</a:t>
            </a:r>
          </a:p>
        </p:txBody>
      </p:sp>
    </p:spTree>
    <p:extLst>
      <p:ext uri="{BB962C8B-B14F-4D97-AF65-F5344CB8AC3E}">
        <p14:creationId xmlns:p14="http://schemas.microsoft.com/office/powerpoint/2010/main" val="1674812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F705-A844-A23B-6982-B88EBA30764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6664AEA-3F99-06C8-079D-707D0E85219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BB56202-29A9-4EC4-59F8-78DF1D30D14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A37E081-ACF0-EF1C-BF3D-9740180F3E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57</a:t>
            </a:fld>
            <a:endParaRPr lang="en-US" altLang="en-US" sz="900">
              <a:solidFill>
                <a:srgbClr val="FFFFFF"/>
              </a:solidFill>
            </a:endParaRPr>
          </a:p>
        </p:txBody>
      </p:sp>
      <p:pic>
        <p:nvPicPr>
          <p:cNvPr id="22534" name="Picture 5">
            <a:extLst>
              <a:ext uri="{FF2B5EF4-FFF2-40B4-BE49-F238E27FC236}">
                <a16:creationId xmlns:a16="http://schemas.microsoft.com/office/drawing/2014/main" id="{6C252A39-B27F-FE91-C7C0-E07EDBFB4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E8CB5DB-528B-27AD-5F98-4BD292C1F6E6}"/>
              </a:ext>
            </a:extLst>
          </p:cNvPr>
          <p:cNvSpPr txBox="1"/>
          <p:nvPr/>
        </p:nvSpPr>
        <p:spPr>
          <a:xfrm>
            <a:off x="0" y="1687159"/>
            <a:ext cx="9144000" cy="3903504"/>
          </a:xfrm>
          <a:prstGeom prst="rect">
            <a:avLst/>
          </a:prstGeom>
          <a:noFill/>
        </p:spPr>
        <p:txBody>
          <a:bodyPr wrap="square">
            <a:spAutoFit/>
          </a:bodyPr>
          <a:lstStyle/>
          <a:p>
            <a:pPr>
              <a:lnSpc>
                <a:spcPct val="150000"/>
              </a:lnSpc>
            </a:pPr>
            <a:r>
              <a:rPr lang="en-US" sz="2800" b="1" dirty="0">
                <a:latin typeface="+mn-lt"/>
              </a:rPr>
              <a:t>Simple Example</a:t>
            </a:r>
          </a:p>
          <a:p>
            <a:pPr>
              <a:lnSpc>
                <a:spcPct val="150000"/>
              </a:lnSpc>
            </a:pPr>
            <a:r>
              <a:rPr lang="en-US" sz="2800" dirty="0">
                <a:latin typeface="+mn-lt"/>
              </a:rPr>
              <a:t>If a person builds a rental house:</a:t>
            </a:r>
          </a:p>
          <a:p>
            <a:pPr>
              <a:lnSpc>
                <a:spcPct val="150000"/>
              </a:lnSpc>
            </a:pPr>
            <a:r>
              <a:rPr lang="en-US" sz="2800" dirty="0">
                <a:latin typeface="+mn-lt"/>
              </a:rPr>
              <a:t>- they may earn more income, </a:t>
            </a:r>
          </a:p>
          <a:p>
            <a:pPr>
              <a:lnSpc>
                <a:spcPct val="150000"/>
              </a:lnSpc>
            </a:pPr>
            <a:r>
              <a:rPr lang="en-US" sz="2800" dirty="0">
                <a:latin typeface="+mn-lt"/>
              </a:rPr>
              <a:t>- save money, </a:t>
            </a:r>
          </a:p>
          <a:p>
            <a:pPr>
              <a:lnSpc>
                <a:spcPct val="150000"/>
              </a:lnSpc>
            </a:pPr>
            <a:r>
              <a:rPr lang="en-US" sz="2800" dirty="0">
                <a:latin typeface="+mn-lt"/>
              </a:rPr>
              <a:t>- or improve financial stability. </a:t>
            </a:r>
          </a:p>
          <a:p>
            <a:pPr>
              <a:lnSpc>
                <a:spcPct val="150000"/>
              </a:lnSpc>
            </a:pPr>
            <a:r>
              <a:rPr lang="en-US" sz="2800" dirty="0">
                <a:latin typeface="+mn-lt"/>
              </a:rPr>
              <a:t>These are outcomes.</a:t>
            </a:r>
          </a:p>
        </p:txBody>
      </p:sp>
    </p:spTree>
    <p:extLst>
      <p:ext uri="{BB962C8B-B14F-4D97-AF65-F5344CB8AC3E}">
        <p14:creationId xmlns:p14="http://schemas.microsoft.com/office/powerpoint/2010/main" val="3757200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D88A2-4A3B-DCC3-90FE-52647AB44D3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59A6955-C1A6-6228-CA13-8E060BC62C0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03B837B-EBFC-1ECC-FB78-17B235F2276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A4FA112-9923-B45E-9362-D9C5A4FB2C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58</a:t>
            </a:fld>
            <a:endParaRPr lang="en-US" altLang="en-US" sz="900">
              <a:solidFill>
                <a:srgbClr val="FFFFFF"/>
              </a:solidFill>
            </a:endParaRPr>
          </a:p>
        </p:txBody>
      </p:sp>
      <p:pic>
        <p:nvPicPr>
          <p:cNvPr id="22534" name="Picture 5">
            <a:extLst>
              <a:ext uri="{FF2B5EF4-FFF2-40B4-BE49-F238E27FC236}">
                <a16:creationId xmlns:a16="http://schemas.microsoft.com/office/drawing/2014/main" id="{AEF4F709-4A35-22E1-4705-5A2AD31E7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97245C0-4577-4369-8442-B756F9A31D8E}"/>
              </a:ext>
            </a:extLst>
          </p:cNvPr>
          <p:cNvSpPr txBox="1"/>
          <p:nvPr/>
        </p:nvSpPr>
        <p:spPr>
          <a:xfrm>
            <a:off x="0" y="1687159"/>
            <a:ext cx="9144000" cy="3254289"/>
          </a:xfrm>
          <a:prstGeom prst="rect">
            <a:avLst/>
          </a:prstGeom>
          <a:noFill/>
        </p:spPr>
        <p:txBody>
          <a:bodyPr wrap="square">
            <a:spAutoFit/>
          </a:bodyPr>
          <a:lstStyle/>
          <a:p>
            <a:pPr>
              <a:lnSpc>
                <a:spcPct val="150000"/>
              </a:lnSpc>
            </a:pPr>
            <a:r>
              <a:rPr lang="en-US" sz="2800" b="1" dirty="0">
                <a:latin typeface="+mn-lt"/>
              </a:rPr>
              <a:t>Main lesson:</a:t>
            </a:r>
          </a:p>
          <a:p>
            <a:pPr>
              <a:lnSpc>
                <a:spcPct val="150000"/>
              </a:lnSpc>
            </a:pPr>
            <a:r>
              <a:rPr lang="en-US" sz="2800" dirty="0">
                <a:latin typeface="+mn-lt"/>
              </a:rPr>
              <a:t>Outcome evaluation focuses on:</a:t>
            </a:r>
            <a:br>
              <a:rPr lang="en-US" sz="2800" dirty="0">
                <a:latin typeface="+mn-lt"/>
              </a:rPr>
            </a:br>
            <a:r>
              <a:rPr lang="en-US" sz="2800" dirty="0">
                <a:latin typeface="+mn-lt"/>
              </a:rPr>
              <a:t>-  short-term changes</a:t>
            </a:r>
            <a:br>
              <a:rPr lang="en-US" sz="2800" dirty="0">
                <a:latin typeface="+mn-lt"/>
              </a:rPr>
            </a:br>
            <a:r>
              <a:rPr lang="en-US" sz="2800" dirty="0">
                <a:latin typeface="+mn-lt"/>
              </a:rPr>
              <a:t>-  benefits achieved</a:t>
            </a:r>
            <a:br>
              <a:rPr lang="en-US" sz="2800" dirty="0">
                <a:latin typeface="+mn-lt"/>
              </a:rPr>
            </a:br>
            <a:r>
              <a:rPr lang="en-US" sz="2800" dirty="0">
                <a:latin typeface="+mn-lt"/>
              </a:rPr>
              <a:t>-  project results</a:t>
            </a:r>
          </a:p>
        </p:txBody>
      </p:sp>
    </p:spTree>
    <p:extLst>
      <p:ext uri="{BB962C8B-B14F-4D97-AF65-F5344CB8AC3E}">
        <p14:creationId xmlns:p14="http://schemas.microsoft.com/office/powerpoint/2010/main" val="2285886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A4E1-BB94-E509-5514-116343F9CE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A4A48EF-B9FF-CC0F-CBC1-A2345257152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0EDAA3E-B2E7-4CE8-BB03-0A656187E1B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F63628C-7164-E58A-E985-F9023CCB307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59</a:t>
            </a:fld>
            <a:endParaRPr lang="en-US" altLang="en-US" sz="900">
              <a:solidFill>
                <a:srgbClr val="FFFFFF"/>
              </a:solidFill>
            </a:endParaRPr>
          </a:p>
        </p:txBody>
      </p:sp>
      <p:pic>
        <p:nvPicPr>
          <p:cNvPr id="22534" name="Picture 5">
            <a:extLst>
              <a:ext uri="{FF2B5EF4-FFF2-40B4-BE49-F238E27FC236}">
                <a16:creationId xmlns:a16="http://schemas.microsoft.com/office/drawing/2014/main" id="{2F93C52C-9E72-4FBF-7187-937E9BB65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7B43752-9B3E-FC03-3072-579DD2785CCD}"/>
              </a:ext>
            </a:extLst>
          </p:cNvPr>
          <p:cNvSpPr txBox="1"/>
          <p:nvPr/>
        </p:nvSpPr>
        <p:spPr>
          <a:xfrm>
            <a:off x="0" y="1687159"/>
            <a:ext cx="9144000" cy="2610843"/>
          </a:xfrm>
          <a:prstGeom prst="rect">
            <a:avLst/>
          </a:prstGeom>
          <a:noFill/>
        </p:spPr>
        <p:txBody>
          <a:bodyPr wrap="square">
            <a:spAutoFit/>
          </a:bodyPr>
          <a:lstStyle/>
          <a:p>
            <a:pPr>
              <a:lnSpc>
                <a:spcPct val="150000"/>
              </a:lnSpc>
            </a:pPr>
            <a:r>
              <a:rPr lang="en-US" sz="2800" b="1" dirty="0">
                <a:latin typeface="+mn-lt"/>
              </a:rPr>
              <a:t>Impact Evaluation</a:t>
            </a:r>
          </a:p>
          <a:p>
            <a:pPr>
              <a:lnSpc>
                <a:spcPct val="150000"/>
              </a:lnSpc>
            </a:pPr>
            <a:r>
              <a:rPr lang="en-US" sz="2800" b="1" dirty="0">
                <a:latin typeface="+mn-lt"/>
              </a:rPr>
              <a:t>What is it?</a:t>
            </a:r>
          </a:p>
          <a:p>
            <a:pPr>
              <a:lnSpc>
                <a:spcPct val="150000"/>
              </a:lnSpc>
            </a:pPr>
            <a:r>
              <a:rPr lang="en-US" sz="2800" dirty="0">
                <a:latin typeface="+mn-lt"/>
              </a:rPr>
              <a:t>Impact evaluation measures the long-term effects of a project.</a:t>
            </a:r>
          </a:p>
        </p:txBody>
      </p:sp>
    </p:spTree>
    <p:extLst>
      <p:ext uri="{BB962C8B-B14F-4D97-AF65-F5344CB8AC3E}">
        <p14:creationId xmlns:p14="http://schemas.microsoft.com/office/powerpoint/2010/main" val="14132424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FA8F4-C53D-5D24-0A4C-D4E994E1EB2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11D9CF2-0CBF-08C7-2547-219A7106214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94014D2-44FA-91DD-A5C7-7AECC1C4E52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6DB7A30-4D6A-73BC-17E3-19FF574B217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60</a:t>
            </a:fld>
            <a:endParaRPr lang="en-US" altLang="en-US" sz="900">
              <a:solidFill>
                <a:srgbClr val="FFFFFF"/>
              </a:solidFill>
            </a:endParaRPr>
          </a:p>
        </p:txBody>
      </p:sp>
      <p:pic>
        <p:nvPicPr>
          <p:cNvPr id="22534" name="Picture 5">
            <a:extLst>
              <a:ext uri="{FF2B5EF4-FFF2-40B4-BE49-F238E27FC236}">
                <a16:creationId xmlns:a16="http://schemas.microsoft.com/office/drawing/2014/main" id="{99C40E7A-2E0E-1CEF-1AD3-08439E462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A5662B0-502E-736C-A2AD-032F244875A6}"/>
              </a:ext>
            </a:extLst>
          </p:cNvPr>
          <p:cNvSpPr txBox="1"/>
          <p:nvPr/>
        </p:nvSpPr>
        <p:spPr>
          <a:xfrm>
            <a:off x="0" y="1687159"/>
            <a:ext cx="9144000" cy="5196166"/>
          </a:xfrm>
          <a:prstGeom prst="rect">
            <a:avLst/>
          </a:prstGeom>
          <a:solidFill>
            <a:schemeClr val="bg1"/>
          </a:solidFill>
        </p:spPr>
        <p:txBody>
          <a:bodyPr wrap="square">
            <a:spAutoFit/>
          </a:bodyPr>
          <a:lstStyle/>
          <a:p>
            <a:pPr>
              <a:lnSpc>
                <a:spcPct val="150000"/>
              </a:lnSpc>
            </a:pPr>
            <a:r>
              <a:rPr lang="en-US" sz="2800" b="1" dirty="0">
                <a:latin typeface="+mn-lt"/>
              </a:rPr>
              <a:t>Simple Example</a:t>
            </a:r>
          </a:p>
          <a:p>
            <a:pPr>
              <a:lnSpc>
                <a:spcPct val="150000"/>
              </a:lnSpc>
            </a:pPr>
            <a:r>
              <a:rPr lang="en-US" sz="2800" dirty="0">
                <a:latin typeface="+mn-lt"/>
              </a:rPr>
              <a:t>Over many years, the extra income from the rental house may improve:</a:t>
            </a:r>
          </a:p>
          <a:p>
            <a:pPr>
              <a:lnSpc>
                <a:spcPct val="150000"/>
              </a:lnSpc>
            </a:pPr>
            <a:r>
              <a:rPr lang="en-US" sz="2800" dirty="0">
                <a:latin typeface="+mn-lt"/>
              </a:rPr>
              <a:t>- health, </a:t>
            </a:r>
          </a:p>
          <a:p>
            <a:pPr>
              <a:lnSpc>
                <a:spcPct val="150000"/>
              </a:lnSpc>
            </a:pPr>
            <a:r>
              <a:rPr lang="en-US" sz="2800" dirty="0">
                <a:latin typeface="+mn-lt"/>
              </a:rPr>
              <a:t>- education, </a:t>
            </a:r>
          </a:p>
          <a:p>
            <a:pPr>
              <a:lnSpc>
                <a:spcPct val="150000"/>
              </a:lnSpc>
            </a:pPr>
            <a:r>
              <a:rPr lang="en-US" sz="2800" dirty="0">
                <a:latin typeface="+mn-lt"/>
              </a:rPr>
              <a:t>- nutrition, </a:t>
            </a:r>
          </a:p>
          <a:p>
            <a:pPr>
              <a:lnSpc>
                <a:spcPct val="150000"/>
              </a:lnSpc>
            </a:pPr>
            <a:r>
              <a:rPr lang="en-US" sz="2800" dirty="0">
                <a:latin typeface="+mn-lt"/>
              </a:rPr>
              <a:t>- family wellbeing, </a:t>
            </a:r>
          </a:p>
          <a:p>
            <a:pPr>
              <a:lnSpc>
                <a:spcPct val="150000"/>
              </a:lnSpc>
            </a:pPr>
            <a:r>
              <a:rPr lang="en-US" sz="2800" dirty="0">
                <a:latin typeface="+mn-lt"/>
              </a:rPr>
              <a:t>- and overall quality of life. </a:t>
            </a:r>
          </a:p>
        </p:txBody>
      </p:sp>
    </p:spTree>
    <p:extLst>
      <p:ext uri="{BB962C8B-B14F-4D97-AF65-F5344CB8AC3E}">
        <p14:creationId xmlns:p14="http://schemas.microsoft.com/office/powerpoint/2010/main" val="10153738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8E7D-BA94-E25F-EAB7-1167913F190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28D9DB5-160B-3DAB-3C43-69B7114A9EB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A27086A-43E9-1866-17DB-3AA908FF5B4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F1D5E8-3C84-9654-B17A-BB9BBBF613A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61</a:t>
            </a:fld>
            <a:endParaRPr lang="en-US" altLang="en-US" sz="900">
              <a:solidFill>
                <a:srgbClr val="FFFFFF"/>
              </a:solidFill>
            </a:endParaRPr>
          </a:p>
        </p:txBody>
      </p:sp>
      <p:pic>
        <p:nvPicPr>
          <p:cNvPr id="22534" name="Picture 5">
            <a:extLst>
              <a:ext uri="{FF2B5EF4-FFF2-40B4-BE49-F238E27FC236}">
                <a16:creationId xmlns:a16="http://schemas.microsoft.com/office/drawing/2014/main" id="{2E0B139E-5E34-240F-192C-D90B2E6E0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E1C4DA8-37BD-285B-BCE7-9785D1485944}"/>
              </a:ext>
            </a:extLst>
          </p:cNvPr>
          <p:cNvSpPr txBox="1"/>
          <p:nvPr/>
        </p:nvSpPr>
        <p:spPr>
          <a:xfrm>
            <a:off x="0" y="1687159"/>
            <a:ext cx="9144000" cy="3900620"/>
          </a:xfrm>
          <a:prstGeom prst="rect">
            <a:avLst/>
          </a:prstGeom>
          <a:solidFill>
            <a:schemeClr val="bg1"/>
          </a:solidFill>
        </p:spPr>
        <p:txBody>
          <a:bodyPr wrap="square">
            <a:spAutoFit/>
          </a:bodyPr>
          <a:lstStyle/>
          <a:p>
            <a:pPr>
              <a:lnSpc>
                <a:spcPct val="150000"/>
              </a:lnSpc>
            </a:pPr>
            <a:r>
              <a:rPr lang="en-US" sz="2800" dirty="0">
                <a:latin typeface="+mn-lt"/>
              </a:rPr>
              <a:t>These are long-term impacts.</a:t>
            </a:r>
          </a:p>
          <a:p>
            <a:pPr>
              <a:lnSpc>
                <a:spcPct val="150000"/>
              </a:lnSpc>
            </a:pPr>
            <a:r>
              <a:rPr lang="en-US" sz="2800" b="1" dirty="0">
                <a:latin typeface="+mn-lt"/>
              </a:rPr>
              <a:t>Main lesson:</a:t>
            </a:r>
          </a:p>
          <a:p>
            <a:pPr>
              <a:lnSpc>
                <a:spcPct val="150000"/>
              </a:lnSpc>
            </a:pPr>
            <a:r>
              <a:rPr lang="en-US" sz="2800" dirty="0">
                <a:latin typeface="+mn-lt"/>
              </a:rPr>
              <a:t>Impact evaluation focuses on:</a:t>
            </a:r>
            <a:br>
              <a:rPr lang="en-US" sz="2800" dirty="0">
                <a:latin typeface="+mn-lt"/>
              </a:rPr>
            </a:br>
            <a:r>
              <a:rPr lang="en-US" sz="2800" dirty="0">
                <a:latin typeface="+mn-lt"/>
              </a:rPr>
              <a:t>- long-term change</a:t>
            </a:r>
            <a:br>
              <a:rPr lang="en-US" sz="2800" dirty="0">
                <a:latin typeface="+mn-lt"/>
              </a:rPr>
            </a:br>
            <a:r>
              <a:rPr lang="en-US" sz="2800" dirty="0">
                <a:latin typeface="+mn-lt"/>
              </a:rPr>
              <a:t>- broader social/business impact</a:t>
            </a:r>
            <a:br>
              <a:rPr lang="en-US" sz="2800" dirty="0">
                <a:latin typeface="+mn-lt"/>
              </a:rPr>
            </a:br>
            <a:r>
              <a:rPr lang="en-US" sz="2800" dirty="0">
                <a:latin typeface="+mn-lt"/>
              </a:rPr>
              <a:t>- sustainable improvement</a:t>
            </a:r>
          </a:p>
        </p:txBody>
      </p:sp>
    </p:spTree>
    <p:extLst>
      <p:ext uri="{BB962C8B-B14F-4D97-AF65-F5344CB8AC3E}">
        <p14:creationId xmlns:p14="http://schemas.microsoft.com/office/powerpoint/2010/main" val="18882828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E6A3D-00DF-0A66-1F65-4BF6418414E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3CBF4BB-004A-EC0E-E4DE-77ED3D4F364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6AE4092-8A37-6438-413C-E450BA2CD12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C054738-48BF-28E3-047C-7D8B3D40AC8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62</a:t>
            </a:fld>
            <a:endParaRPr lang="en-US" altLang="en-US" sz="900">
              <a:solidFill>
                <a:srgbClr val="FFFFFF"/>
              </a:solidFill>
            </a:endParaRPr>
          </a:p>
        </p:txBody>
      </p:sp>
      <p:pic>
        <p:nvPicPr>
          <p:cNvPr id="22534" name="Picture 5">
            <a:extLst>
              <a:ext uri="{FF2B5EF4-FFF2-40B4-BE49-F238E27FC236}">
                <a16:creationId xmlns:a16="http://schemas.microsoft.com/office/drawing/2014/main" id="{2B259985-C8A5-55F1-6521-8F5D001C8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72A4FAC4-F7CB-F3D0-EF58-2EAE5582AE2E}"/>
              </a:ext>
            </a:extLst>
          </p:cNvPr>
          <p:cNvGraphicFramePr>
            <a:graphicFrameLocks noGrp="1"/>
          </p:cNvGraphicFramePr>
          <p:nvPr>
            <p:extLst>
              <p:ext uri="{D42A27DB-BD31-4B8C-83A1-F6EECF244321}">
                <p14:modId xmlns:p14="http://schemas.microsoft.com/office/powerpoint/2010/main" val="2495885608"/>
              </p:ext>
            </p:extLst>
          </p:nvPr>
        </p:nvGraphicFramePr>
        <p:xfrm>
          <a:off x="147484" y="2784396"/>
          <a:ext cx="8218641" cy="2661412"/>
        </p:xfrm>
        <a:graphic>
          <a:graphicData uri="http://schemas.openxmlformats.org/drawingml/2006/table">
            <a:tbl>
              <a:tblPr>
                <a:tableStyleId>{5DA37D80-6434-44D0-A028-1B22A696006F}</a:tableStyleId>
              </a:tblPr>
              <a:tblGrid>
                <a:gridCol w="3554361">
                  <a:extLst>
                    <a:ext uri="{9D8B030D-6E8A-4147-A177-3AD203B41FA5}">
                      <a16:colId xmlns:a16="http://schemas.microsoft.com/office/drawing/2014/main" val="1925931307"/>
                    </a:ext>
                  </a:extLst>
                </a:gridCol>
                <a:gridCol w="4664280">
                  <a:extLst>
                    <a:ext uri="{9D8B030D-6E8A-4147-A177-3AD203B41FA5}">
                      <a16:colId xmlns:a16="http://schemas.microsoft.com/office/drawing/2014/main" val="1496437912"/>
                    </a:ext>
                  </a:extLst>
                </a:gridCol>
              </a:tblGrid>
              <a:tr h="0">
                <a:tc>
                  <a:txBody>
                    <a:bodyPr/>
                    <a:lstStyle/>
                    <a:p>
                      <a:pPr>
                        <a:lnSpc>
                          <a:spcPct val="150000"/>
                        </a:lnSpc>
                        <a:buNone/>
                      </a:pPr>
                      <a:r>
                        <a:rPr lang="en-US" sz="2800"/>
                        <a:t>Evaluation Type</a:t>
                      </a:r>
                    </a:p>
                  </a:txBody>
                  <a:tcPr anchor="ctr">
                    <a:solidFill>
                      <a:schemeClr val="bg1"/>
                    </a:solidFill>
                  </a:tcPr>
                </a:tc>
                <a:tc>
                  <a:txBody>
                    <a:bodyPr/>
                    <a:lstStyle/>
                    <a:p>
                      <a:pPr>
                        <a:lnSpc>
                          <a:spcPct val="150000"/>
                        </a:lnSpc>
                        <a:buNone/>
                      </a:pPr>
                      <a:r>
                        <a:rPr lang="en-US" sz="2800"/>
                        <a:t>Focus</a:t>
                      </a:r>
                    </a:p>
                  </a:txBody>
                  <a:tcPr anchor="ctr">
                    <a:solidFill>
                      <a:schemeClr val="bg1"/>
                    </a:solidFill>
                  </a:tcPr>
                </a:tc>
                <a:extLst>
                  <a:ext uri="{0D108BD9-81ED-4DB2-BD59-A6C34878D82A}">
                    <a16:rowId xmlns:a16="http://schemas.microsoft.com/office/drawing/2014/main" val="2835544718"/>
                  </a:ext>
                </a:extLst>
              </a:tr>
              <a:tr h="0">
                <a:tc>
                  <a:txBody>
                    <a:bodyPr/>
                    <a:lstStyle/>
                    <a:p>
                      <a:pPr>
                        <a:lnSpc>
                          <a:spcPct val="150000"/>
                        </a:lnSpc>
                        <a:buNone/>
                      </a:pPr>
                      <a:r>
                        <a:rPr lang="en-US" sz="2800"/>
                        <a:t>Process</a:t>
                      </a:r>
                    </a:p>
                  </a:txBody>
                  <a:tcPr anchor="ctr">
                    <a:solidFill>
                      <a:schemeClr val="bg1"/>
                    </a:solidFill>
                  </a:tcPr>
                </a:tc>
                <a:tc>
                  <a:txBody>
                    <a:bodyPr/>
                    <a:lstStyle/>
                    <a:p>
                      <a:pPr>
                        <a:lnSpc>
                          <a:spcPct val="150000"/>
                        </a:lnSpc>
                        <a:buNone/>
                      </a:pPr>
                      <a:r>
                        <a:rPr lang="en-US" sz="2800"/>
                        <a:t>How the project was done</a:t>
                      </a:r>
                    </a:p>
                  </a:txBody>
                  <a:tcPr anchor="ctr">
                    <a:solidFill>
                      <a:schemeClr val="bg1"/>
                    </a:solidFill>
                  </a:tcPr>
                </a:tc>
                <a:extLst>
                  <a:ext uri="{0D108BD9-81ED-4DB2-BD59-A6C34878D82A}">
                    <a16:rowId xmlns:a16="http://schemas.microsoft.com/office/drawing/2014/main" val="3046459751"/>
                  </a:ext>
                </a:extLst>
              </a:tr>
              <a:tr h="0">
                <a:tc>
                  <a:txBody>
                    <a:bodyPr/>
                    <a:lstStyle/>
                    <a:p>
                      <a:pPr>
                        <a:lnSpc>
                          <a:spcPct val="150000"/>
                        </a:lnSpc>
                        <a:buNone/>
                      </a:pPr>
                      <a:r>
                        <a:rPr lang="en-US" sz="2800"/>
                        <a:t>Outcome</a:t>
                      </a:r>
                    </a:p>
                  </a:txBody>
                  <a:tcPr anchor="ctr">
                    <a:solidFill>
                      <a:schemeClr val="bg1"/>
                    </a:solidFill>
                  </a:tcPr>
                </a:tc>
                <a:tc>
                  <a:txBody>
                    <a:bodyPr/>
                    <a:lstStyle/>
                    <a:p>
                      <a:pPr>
                        <a:lnSpc>
                          <a:spcPct val="150000"/>
                        </a:lnSpc>
                        <a:buNone/>
                      </a:pPr>
                      <a:r>
                        <a:rPr lang="en-US" sz="2800"/>
                        <a:t>Short/medium-term results</a:t>
                      </a:r>
                    </a:p>
                  </a:txBody>
                  <a:tcPr anchor="ctr">
                    <a:solidFill>
                      <a:schemeClr val="bg1"/>
                    </a:solidFill>
                  </a:tcPr>
                </a:tc>
                <a:extLst>
                  <a:ext uri="{0D108BD9-81ED-4DB2-BD59-A6C34878D82A}">
                    <a16:rowId xmlns:a16="http://schemas.microsoft.com/office/drawing/2014/main" val="1123423745"/>
                  </a:ext>
                </a:extLst>
              </a:tr>
              <a:tr h="0">
                <a:tc>
                  <a:txBody>
                    <a:bodyPr/>
                    <a:lstStyle/>
                    <a:p>
                      <a:pPr>
                        <a:lnSpc>
                          <a:spcPct val="150000"/>
                        </a:lnSpc>
                        <a:buNone/>
                      </a:pPr>
                      <a:r>
                        <a:rPr lang="en-US" sz="2800"/>
                        <a:t>Impact</a:t>
                      </a:r>
                    </a:p>
                  </a:txBody>
                  <a:tcPr anchor="ctr">
                    <a:solidFill>
                      <a:schemeClr val="bg1"/>
                    </a:solidFill>
                  </a:tcPr>
                </a:tc>
                <a:tc>
                  <a:txBody>
                    <a:bodyPr/>
                    <a:lstStyle/>
                    <a:p>
                      <a:pPr>
                        <a:lnSpc>
                          <a:spcPct val="150000"/>
                        </a:lnSpc>
                        <a:buNone/>
                      </a:pPr>
                      <a:r>
                        <a:rPr lang="en-US" sz="2800" dirty="0"/>
                        <a:t>Long-term change</a:t>
                      </a:r>
                    </a:p>
                  </a:txBody>
                  <a:tcPr anchor="ctr">
                    <a:solidFill>
                      <a:schemeClr val="bg1"/>
                    </a:solidFill>
                  </a:tcPr>
                </a:tc>
                <a:extLst>
                  <a:ext uri="{0D108BD9-81ED-4DB2-BD59-A6C34878D82A}">
                    <a16:rowId xmlns:a16="http://schemas.microsoft.com/office/drawing/2014/main" val="293348154"/>
                  </a:ext>
                </a:extLst>
              </a:tr>
            </a:tbl>
          </a:graphicData>
        </a:graphic>
      </p:graphicFrame>
      <p:sp>
        <p:nvSpPr>
          <p:cNvPr id="6" name="TextBox 5">
            <a:extLst>
              <a:ext uri="{FF2B5EF4-FFF2-40B4-BE49-F238E27FC236}">
                <a16:creationId xmlns:a16="http://schemas.microsoft.com/office/drawing/2014/main" id="{88A76169-EA5F-5D13-35BE-8E33EBF41749}"/>
              </a:ext>
            </a:extLst>
          </p:cNvPr>
          <p:cNvSpPr txBox="1"/>
          <p:nvPr/>
        </p:nvSpPr>
        <p:spPr>
          <a:xfrm>
            <a:off x="-18256" y="1765240"/>
            <a:ext cx="9162256" cy="671851"/>
          </a:xfrm>
          <a:prstGeom prst="rect">
            <a:avLst/>
          </a:prstGeom>
          <a:noFill/>
        </p:spPr>
        <p:txBody>
          <a:bodyPr wrap="square">
            <a:spAutoFit/>
          </a:bodyPr>
          <a:lstStyle/>
          <a:p>
            <a:pPr>
              <a:lnSpc>
                <a:spcPct val="150000"/>
              </a:lnSpc>
              <a:buNone/>
            </a:pPr>
            <a:r>
              <a:rPr lang="en-US" sz="2800" b="1" dirty="0">
                <a:latin typeface="+mn-lt"/>
              </a:rPr>
              <a:t>4. Process, Outcome, and Impact are connected</a:t>
            </a:r>
          </a:p>
        </p:txBody>
      </p:sp>
    </p:spTree>
    <p:extLst>
      <p:ext uri="{BB962C8B-B14F-4D97-AF65-F5344CB8AC3E}">
        <p14:creationId xmlns:p14="http://schemas.microsoft.com/office/powerpoint/2010/main" val="444533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670C1-94F7-3B47-E3BD-A082287EB60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12705DE-BF3E-B8D5-44BA-A1CCF539818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A38D881-EE45-37B3-3E7A-F8B026DFA05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3F572EE-4CB3-AE59-AD35-E0143A2FCD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63</a:t>
            </a:fld>
            <a:endParaRPr lang="en-US" altLang="en-US" sz="900">
              <a:solidFill>
                <a:srgbClr val="FFFFFF"/>
              </a:solidFill>
            </a:endParaRPr>
          </a:p>
        </p:txBody>
      </p:sp>
      <p:pic>
        <p:nvPicPr>
          <p:cNvPr id="22534" name="Picture 5">
            <a:extLst>
              <a:ext uri="{FF2B5EF4-FFF2-40B4-BE49-F238E27FC236}">
                <a16:creationId xmlns:a16="http://schemas.microsoft.com/office/drawing/2014/main" id="{961C3432-8ED4-A0A8-AE2C-F640B7291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C9D83C5-A5B7-74D7-8558-52A1168694CE}"/>
              </a:ext>
            </a:extLst>
          </p:cNvPr>
          <p:cNvSpPr txBox="1"/>
          <p:nvPr/>
        </p:nvSpPr>
        <p:spPr>
          <a:xfrm>
            <a:off x="-18256" y="1765240"/>
            <a:ext cx="9162256" cy="3900620"/>
          </a:xfrm>
          <a:prstGeom prst="rect">
            <a:avLst/>
          </a:prstGeom>
          <a:noFill/>
        </p:spPr>
        <p:txBody>
          <a:bodyPr wrap="square">
            <a:spAutoFit/>
          </a:bodyPr>
          <a:lstStyle/>
          <a:p>
            <a:pPr>
              <a:lnSpc>
                <a:spcPct val="150000"/>
              </a:lnSpc>
            </a:pPr>
            <a:r>
              <a:rPr lang="en-US" sz="2800" b="1" dirty="0">
                <a:latin typeface="+mn-lt"/>
              </a:rPr>
              <a:t>5. Formative and Summative Evaluation</a:t>
            </a:r>
          </a:p>
          <a:p>
            <a:pPr>
              <a:lnSpc>
                <a:spcPct val="150000"/>
              </a:lnSpc>
            </a:pPr>
            <a:r>
              <a:rPr lang="en-US" sz="2800" b="1" dirty="0">
                <a:latin typeface="+mn-lt"/>
              </a:rPr>
              <a:t>Formative Evaluation</a:t>
            </a:r>
          </a:p>
          <a:p>
            <a:pPr>
              <a:lnSpc>
                <a:spcPct val="150000"/>
              </a:lnSpc>
            </a:pPr>
            <a:r>
              <a:rPr lang="en-US" sz="2800" dirty="0">
                <a:latin typeface="+mn-lt"/>
              </a:rPr>
              <a:t>- happens during the project, </a:t>
            </a:r>
          </a:p>
          <a:p>
            <a:pPr>
              <a:lnSpc>
                <a:spcPct val="150000"/>
              </a:lnSpc>
            </a:pPr>
            <a:r>
              <a:rPr lang="en-US" sz="2800" dirty="0">
                <a:latin typeface="+mn-lt"/>
              </a:rPr>
              <a:t>- focuses on improvement, </a:t>
            </a:r>
          </a:p>
          <a:p>
            <a:pPr>
              <a:lnSpc>
                <a:spcPct val="150000"/>
              </a:lnSpc>
            </a:pPr>
            <a:r>
              <a:rPr lang="en-US" sz="2800" dirty="0">
                <a:latin typeface="+mn-lt"/>
              </a:rPr>
              <a:t>- checks whether activities are going as planned. </a:t>
            </a:r>
          </a:p>
          <a:p>
            <a:pPr>
              <a:lnSpc>
                <a:spcPct val="150000"/>
              </a:lnSpc>
            </a:pPr>
            <a:r>
              <a:rPr lang="en-US" sz="2800" dirty="0">
                <a:latin typeface="+mn-lt"/>
              </a:rPr>
              <a:t>“Are we doing things correctly?”</a:t>
            </a:r>
          </a:p>
        </p:txBody>
      </p:sp>
    </p:spTree>
    <p:extLst>
      <p:ext uri="{BB962C8B-B14F-4D97-AF65-F5344CB8AC3E}">
        <p14:creationId xmlns:p14="http://schemas.microsoft.com/office/powerpoint/2010/main" val="6954141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92378-ACA8-DFFA-A3E9-624028489DD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7747700-52AF-3274-0AEB-56F4D7C68F2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73C6499-720F-251C-F6BA-6E29D163AEF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5195CEB-A418-879B-C43E-E95666A84C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64</a:t>
            </a:fld>
            <a:endParaRPr lang="en-US" altLang="en-US" sz="900">
              <a:solidFill>
                <a:srgbClr val="FFFFFF"/>
              </a:solidFill>
            </a:endParaRPr>
          </a:p>
        </p:txBody>
      </p:sp>
      <p:pic>
        <p:nvPicPr>
          <p:cNvPr id="22534" name="Picture 5">
            <a:extLst>
              <a:ext uri="{FF2B5EF4-FFF2-40B4-BE49-F238E27FC236}">
                <a16:creationId xmlns:a16="http://schemas.microsoft.com/office/drawing/2014/main" id="{2B257775-3694-B418-6AC0-103D799F9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8F0C246-EAA8-B87D-4BE8-332EF5E35589}"/>
              </a:ext>
            </a:extLst>
          </p:cNvPr>
          <p:cNvSpPr txBox="1"/>
          <p:nvPr/>
        </p:nvSpPr>
        <p:spPr>
          <a:xfrm>
            <a:off x="-18256" y="1765240"/>
            <a:ext cx="9162256" cy="3254289"/>
          </a:xfrm>
          <a:prstGeom prst="rect">
            <a:avLst/>
          </a:prstGeom>
          <a:noFill/>
        </p:spPr>
        <p:txBody>
          <a:bodyPr wrap="square">
            <a:spAutoFit/>
          </a:bodyPr>
          <a:lstStyle/>
          <a:p>
            <a:pPr>
              <a:lnSpc>
                <a:spcPct val="150000"/>
              </a:lnSpc>
            </a:pPr>
            <a:r>
              <a:rPr lang="en-US" sz="2800" b="1" dirty="0">
                <a:latin typeface="+mn-lt"/>
              </a:rPr>
              <a:t>Summative Evaluation</a:t>
            </a:r>
          </a:p>
          <a:p>
            <a:pPr>
              <a:lnSpc>
                <a:spcPct val="150000"/>
              </a:lnSpc>
            </a:pPr>
            <a:r>
              <a:rPr lang="en-US" sz="2800" dirty="0">
                <a:latin typeface="+mn-lt"/>
              </a:rPr>
              <a:t>- happens after the project, </a:t>
            </a:r>
          </a:p>
          <a:p>
            <a:pPr>
              <a:lnSpc>
                <a:spcPct val="150000"/>
              </a:lnSpc>
            </a:pPr>
            <a:r>
              <a:rPr lang="en-US" sz="2800" dirty="0">
                <a:latin typeface="+mn-lt"/>
              </a:rPr>
              <a:t>- focuses on final results, </a:t>
            </a:r>
          </a:p>
          <a:p>
            <a:pPr>
              <a:lnSpc>
                <a:spcPct val="150000"/>
              </a:lnSpc>
            </a:pPr>
            <a:r>
              <a:rPr lang="en-US" sz="2800" dirty="0">
                <a:latin typeface="+mn-lt"/>
              </a:rPr>
              <a:t>- measures what was achieved. </a:t>
            </a:r>
          </a:p>
          <a:p>
            <a:pPr>
              <a:lnSpc>
                <a:spcPct val="150000"/>
              </a:lnSpc>
            </a:pPr>
            <a:r>
              <a:rPr lang="en-US" sz="2800" dirty="0">
                <a:latin typeface="+mn-lt"/>
              </a:rPr>
              <a:t>“Did the project succeed?”</a:t>
            </a:r>
          </a:p>
        </p:txBody>
      </p:sp>
    </p:spTree>
    <p:extLst>
      <p:ext uri="{BB962C8B-B14F-4D97-AF65-F5344CB8AC3E}">
        <p14:creationId xmlns:p14="http://schemas.microsoft.com/office/powerpoint/2010/main" val="29215285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45A1B-E098-9F18-FC29-5CE02FD4A38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CAD6777-5853-2B63-9B07-6CC980FA731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537B0E1-3433-CC5E-20FD-9C437370C0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8BA5C0E-DDAD-0C45-3633-72839877CD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65</a:t>
            </a:fld>
            <a:endParaRPr lang="en-US" altLang="en-US" sz="900">
              <a:solidFill>
                <a:srgbClr val="FFFFFF"/>
              </a:solidFill>
            </a:endParaRPr>
          </a:p>
        </p:txBody>
      </p:sp>
      <p:pic>
        <p:nvPicPr>
          <p:cNvPr id="22534" name="Picture 5">
            <a:extLst>
              <a:ext uri="{FF2B5EF4-FFF2-40B4-BE49-F238E27FC236}">
                <a16:creationId xmlns:a16="http://schemas.microsoft.com/office/drawing/2014/main" id="{65D70533-6311-1B4D-41B8-A979B66CDD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5EF2780-2E43-D332-BAB3-D937098AC939}"/>
              </a:ext>
            </a:extLst>
          </p:cNvPr>
          <p:cNvSpPr txBox="1"/>
          <p:nvPr/>
        </p:nvSpPr>
        <p:spPr>
          <a:xfrm>
            <a:off x="-18256" y="1765240"/>
            <a:ext cx="9162256" cy="3257174"/>
          </a:xfrm>
          <a:prstGeom prst="rect">
            <a:avLst/>
          </a:prstGeom>
          <a:noFill/>
        </p:spPr>
        <p:txBody>
          <a:bodyPr wrap="square">
            <a:spAutoFit/>
          </a:bodyPr>
          <a:lstStyle/>
          <a:p>
            <a:pPr>
              <a:lnSpc>
                <a:spcPct val="150000"/>
              </a:lnSpc>
            </a:pPr>
            <a:r>
              <a:rPr lang="en-US" sz="2800" b="1" dirty="0">
                <a:latin typeface="+mn-lt"/>
              </a:rPr>
              <a:t>6. Evaluation supports learning</a:t>
            </a:r>
          </a:p>
          <a:p>
            <a:pPr>
              <a:lnSpc>
                <a:spcPct val="150000"/>
              </a:lnSpc>
            </a:pPr>
            <a:r>
              <a:rPr lang="en-US" sz="2800" dirty="0">
                <a:latin typeface="+mn-lt"/>
              </a:rPr>
              <a:t>The video explains that evaluation helps teams:</a:t>
            </a:r>
          </a:p>
          <a:p>
            <a:pPr>
              <a:lnSpc>
                <a:spcPct val="150000"/>
              </a:lnSpc>
            </a:pPr>
            <a:r>
              <a:rPr lang="en-US" sz="2800" dirty="0">
                <a:latin typeface="+mn-lt"/>
              </a:rPr>
              <a:t>- learn from mistakes, </a:t>
            </a:r>
          </a:p>
          <a:p>
            <a:pPr>
              <a:lnSpc>
                <a:spcPct val="150000"/>
              </a:lnSpc>
            </a:pPr>
            <a:r>
              <a:rPr lang="en-US" sz="2800" dirty="0">
                <a:latin typeface="+mn-lt"/>
              </a:rPr>
              <a:t>- improve future projects, </a:t>
            </a:r>
          </a:p>
          <a:p>
            <a:pPr>
              <a:lnSpc>
                <a:spcPct val="150000"/>
              </a:lnSpc>
            </a:pPr>
            <a:r>
              <a:rPr lang="en-US" sz="2800" dirty="0">
                <a:latin typeface="+mn-lt"/>
              </a:rPr>
              <a:t>- and make better project decisions.</a:t>
            </a:r>
          </a:p>
        </p:txBody>
      </p:sp>
    </p:spTree>
    <p:extLst>
      <p:ext uri="{BB962C8B-B14F-4D97-AF65-F5344CB8AC3E}">
        <p14:creationId xmlns:p14="http://schemas.microsoft.com/office/powerpoint/2010/main" val="25606435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2970F-ECF0-6805-9820-0B9F7D7D984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579477A-1346-76A2-7188-30CEF9EA216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D7810AF5-4FEA-4C7D-56C3-412DA1B87F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521B8A4-6242-F58B-494E-EA4E6194DEA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66</a:t>
            </a:fld>
            <a:endParaRPr lang="en-US" altLang="en-US" sz="900">
              <a:solidFill>
                <a:srgbClr val="FFFFFF"/>
              </a:solidFill>
            </a:endParaRPr>
          </a:p>
        </p:txBody>
      </p:sp>
      <p:pic>
        <p:nvPicPr>
          <p:cNvPr id="22534" name="Picture 5">
            <a:extLst>
              <a:ext uri="{FF2B5EF4-FFF2-40B4-BE49-F238E27FC236}">
                <a16:creationId xmlns:a16="http://schemas.microsoft.com/office/drawing/2014/main" id="{A2B7777E-68AA-DE65-CE50-6D1624B5B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A15CE2B-38EB-2AB1-1361-94BF8DCA81C3}"/>
              </a:ext>
            </a:extLst>
          </p:cNvPr>
          <p:cNvSpPr txBox="1"/>
          <p:nvPr/>
        </p:nvSpPr>
        <p:spPr>
          <a:xfrm>
            <a:off x="0" y="1662001"/>
            <a:ext cx="9162256" cy="5196166"/>
          </a:xfrm>
          <a:prstGeom prst="rect">
            <a:avLst/>
          </a:prstGeom>
          <a:solidFill>
            <a:schemeClr val="bg1"/>
          </a:solidFill>
        </p:spPr>
        <p:txBody>
          <a:bodyPr wrap="square">
            <a:spAutoFit/>
          </a:bodyPr>
          <a:lstStyle/>
          <a:p>
            <a:pPr>
              <a:lnSpc>
                <a:spcPct val="150000"/>
              </a:lnSpc>
            </a:pPr>
            <a:r>
              <a:rPr lang="en-US" sz="2800" b="1" dirty="0">
                <a:latin typeface="+mn-lt"/>
              </a:rPr>
              <a:t>7. Main lesson for IT students</a:t>
            </a:r>
          </a:p>
          <a:p>
            <a:pPr>
              <a:lnSpc>
                <a:spcPct val="150000"/>
              </a:lnSpc>
            </a:pPr>
            <a:r>
              <a:rPr lang="en-US" sz="2800" dirty="0">
                <a:latin typeface="+mn-lt"/>
              </a:rPr>
              <a:t>For Assessment 4, students should not only explain:</a:t>
            </a:r>
          </a:p>
          <a:p>
            <a:pPr>
              <a:lnSpc>
                <a:spcPct val="150000"/>
              </a:lnSpc>
            </a:pPr>
            <a:r>
              <a:rPr lang="en-US" sz="2800" dirty="0">
                <a:latin typeface="+mn-lt"/>
              </a:rPr>
              <a:t>“What system they built.”</a:t>
            </a:r>
          </a:p>
          <a:p>
            <a:pPr>
              <a:lnSpc>
                <a:spcPct val="150000"/>
              </a:lnSpc>
            </a:pPr>
            <a:r>
              <a:rPr lang="en-US" sz="2800" dirty="0">
                <a:latin typeface="+mn-lt"/>
              </a:rPr>
              <a:t>They should also explain:</a:t>
            </a:r>
          </a:p>
          <a:p>
            <a:pPr>
              <a:lnSpc>
                <a:spcPct val="150000"/>
              </a:lnSpc>
            </a:pPr>
            <a:r>
              <a:rPr lang="en-US" sz="2800" dirty="0">
                <a:latin typeface="+mn-lt"/>
              </a:rPr>
              <a:t>- how success will be measured, </a:t>
            </a:r>
          </a:p>
          <a:p>
            <a:pPr>
              <a:lnSpc>
                <a:spcPct val="150000"/>
              </a:lnSpc>
            </a:pPr>
            <a:r>
              <a:rPr lang="en-US" sz="2800" dirty="0">
                <a:latin typeface="+mn-lt"/>
              </a:rPr>
              <a:t>- what improvements the project creates, </a:t>
            </a:r>
          </a:p>
          <a:p>
            <a:pPr>
              <a:lnSpc>
                <a:spcPct val="150000"/>
              </a:lnSpc>
            </a:pPr>
            <a:r>
              <a:rPr lang="en-US" sz="2800" dirty="0">
                <a:latin typeface="+mn-lt"/>
              </a:rPr>
              <a:t>- what short-term and long-term benefits may happen, </a:t>
            </a:r>
          </a:p>
          <a:p>
            <a:pPr>
              <a:lnSpc>
                <a:spcPct val="150000"/>
              </a:lnSpc>
            </a:pPr>
            <a:r>
              <a:rPr lang="en-US" sz="2800" dirty="0">
                <a:latin typeface="+mn-lt"/>
              </a:rPr>
              <a:t>- and how the company can evaluate project performance.</a:t>
            </a:r>
          </a:p>
        </p:txBody>
      </p:sp>
    </p:spTree>
    <p:extLst>
      <p:ext uri="{BB962C8B-B14F-4D97-AF65-F5344CB8AC3E}">
        <p14:creationId xmlns:p14="http://schemas.microsoft.com/office/powerpoint/2010/main" val="18514112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8CF4E-263F-C8A6-4CEC-BEB9878D674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CF5E588-BC74-8B80-0C6D-B07D00BC106C}"/>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A5033D1-DD82-590E-8DB9-E5B9FFAA2B3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E178E1-0289-54EA-6F69-983A6CF519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67</a:t>
            </a:fld>
            <a:endParaRPr lang="en-US" altLang="en-US" sz="900">
              <a:solidFill>
                <a:srgbClr val="FFFFFF"/>
              </a:solidFill>
            </a:endParaRPr>
          </a:p>
        </p:txBody>
      </p:sp>
      <p:pic>
        <p:nvPicPr>
          <p:cNvPr id="22534" name="Picture 5">
            <a:extLst>
              <a:ext uri="{FF2B5EF4-FFF2-40B4-BE49-F238E27FC236}">
                <a16:creationId xmlns:a16="http://schemas.microsoft.com/office/drawing/2014/main" id="{917B2ED8-8B74-EF1F-7168-5FB72584A5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3AE37A9-B09D-0AE3-635F-7F728A80B64D}"/>
              </a:ext>
            </a:extLst>
          </p:cNvPr>
          <p:cNvSpPr txBox="1"/>
          <p:nvPr/>
        </p:nvSpPr>
        <p:spPr>
          <a:xfrm>
            <a:off x="0" y="1662001"/>
            <a:ext cx="9162256" cy="2610843"/>
          </a:xfrm>
          <a:prstGeom prst="rect">
            <a:avLst/>
          </a:prstGeom>
          <a:solidFill>
            <a:schemeClr val="bg1"/>
          </a:solidFill>
        </p:spPr>
        <p:txBody>
          <a:bodyPr wrap="square">
            <a:spAutoFit/>
          </a:bodyPr>
          <a:lstStyle/>
          <a:p>
            <a:pPr marL="514350" indent="-514350">
              <a:lnSpc>
                <a:spcPct val="150000"/>
              </a:lnSpc>
              <a:buAutoNum type="arabicPeriod"/>
            </a:pPr>
            <a:r>
              <a:rPr lang="en-US" sz="2800" b="1" dirty="0">
                <a:latin typeface="+mn-lt"/>
              </a:rPr>
              <a:t>Why is project evaluation important?</a:t>
            </a:r>
          </a:p>
          <a:p>
            <a:pPr>
              <a:lnSpc>
                <a:spcPct val="150000"/>
              </a:lnSpc>
            </a:pPr>
            <a:r>
              <a:rPr lang="en-US" sz="2800" dirty="0">
                <a:latin typeface="+mn-lt"/>
              </a:rPr>
              <a:t>Project evaluation helps </a:t>
            </a:r>
            <a:r>
              <a:rPr lang="en-US" sz="2800" dirty="0" err="1">
                <a:latin typeface="+mn-lt"/>
              </a:rPr>
              <a:t>organisations</a:t>
            </a:r>
            <a:r>
              <a:rPr lang="en-US" sz="2800" dirty="0">
                <a:latin typeface="+mn-lt"/>
              </a:rPr>
              <a:t> understand whether the project achieved its goals and what improvements are needed in future.</a:t>
            </a:r>
          </a:p>
        </p:txBody>
      </p:sp>
    </p:spTree>
    <p:extLst>
      <p:ext uri="{BB962C8B-B14F-4D97-AF65-F5344CB8AC3E}">
        <p14:creationId xmlns:p14="http://schemas.microsoft.com/office/powerpoint/2010/main" val="419737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58DD-F261-7417-74EE-112C40215E9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1E55454-2451-0C57-E74C-CC9649353230}"/>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3309E86-7942-26F6-9BE1-FB5F4F1C3CD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D02775A-5D20-0B2B-7E89-684EEEE05C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68</a:t>
            </a:fld>
            <a:endParaRPr lang="en-US" altLang="en-US" sz="900">
              <a:solidFill>
                <a:srgbClr val="FFFFFF"/>
              </a:solidFill>
            </a:endParaRPr>
          </a:p>
        </p:txBody>
      </p:sp>
      <p:pic>
        <p:nvPicPr>
          <p:cNvPr id="22534" name="Picture 5">
            <a:extLst>
              <a:ext uri="{FF2B5EF4-FFF2-40B4-BE49-F238E27FC236}">
                <a16:creationId xmlns:a16="http://schemas.microsoft.com/office/drawing/2014/main" id="{4E26E6F4-D779-2F35-9292-B6C63E91F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D920209E-1381-2BB9-1386-8340075424B1}"/>
              </a:ext>
            </a:extLst>
          </p:cNvPr>
          <p:cNvSpPr txBox="1"/>
          <p:nvPr/>
        </p:nvSpPr>
        <p:spPr>
          <a:xfrm>
            <a:off x="0" y="1662001"/>
            <a:ext cx="9162256" cy="2610843"/>
          </a:xfrm>
          <a:prstGeom prst="rect">
            <a:avLst/>
          </a:prstGeom>
          <a:solidFill>
            <a:schemeClr val="bg1"/>
          </a:solidFill>
        </p:spPr>
        <p:txBody>
          <a:bodyPr wrap="square">
            <a:spAutoFit/>
          </a:bodyPr>
          <a:lstStyle/>
          <a:p>
            <a:pPr>
              <a:lnSpc>
                <a:spcPct val="150000"/>
              </a:lnSpc>
            </a:pPr>
            <a:r>
              <a:rPr lang="en-US" sz="2800" b="1" dirty="0">
                <a:latin typeface="+mn-lt"/>
              </a:rPr>
              <a:t>2. What does process evaluation focus on?</a:t>
            </a:r>
          </a:p>
          <a:p>
            <a:pPr>
              <a:lnSpc>
                <a:spcPct val="150000"/>
              </a:lnSpc>
            </a:pPr>
            <a:r>
              <a:rPr lang="en-US" sz="2800" dirty="0">
                <a:latin typeface="+mn-lt"/>
              </a:rPr>
              <a:t>Process evaluation focuses on project activities, procedures, quality, and whether tasks are completed correctly and on time.</a:t>
            </a:r>
          </a:p>
        </p:txBody>
      </p:sp>
    </p:spTree>
    <p:extLst>
      <p:ext uri="{BB962C8B-B14F-4D97-AF65-F5344CB8AC3E}">
        <p14:creationId xmlns:p14="http://schemas.microsoft.com/office/powerpoint/2010/main" val="56087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charRg st="42" end="176"/>
                                            </p:txEl>
                                          </p:spTgt>
                                        </p:tgtEl>
                                        <p:attrNameLst>
                                          <p:attrName>style.visibility</p:attrName>
                                        </p:attrNameLst>
                                      </p:cBhvr>
                                      <p:to>
                                        <p:strVal val="visible"/>
                                      </p:to>
                                    </p:set>
                                    <p:animEffect transition="in" filter="fade">
                                      <p:cBhvr>
                                        <p:cTn id="7" dur="1000"/>
                                        <p:tgtEl>
                                          <p:spTgt spid="6">
                                            <p:txEl>
                                              <p:charRg st="42" end="176"/>
                                            </p:txEl>
                                          </p:spTgt>
                                        </p:tgtEl>
                                      </p:cBhvr>
                                    </p:animEffect>
                                    <p:anim calcmode="lin" valueType="num">
                                      <p:cBhvr>
                                        <p:cTn id="8" dur="1000" fill="hold"/>
                                        <p:tgtEl>
                                          <p:spTgt spid="6">
                                            <p:txEl>
                                              <p:charRg st="42" end="176"/>
                                            </p:txEl>
                                          </p:spTgt>
                                        </p:tgtEl>
                                        <p:attrNameLst>
                                          <p:attrName>ppt_x</p:attrName>
                                        </p:attrNameLst>
                                      </p:cBhvr>
                                      <p:tavLst>
                                        <p:tav tm="0">
                                          <p:val>
                                            <p:strVal val="#ppt_x"/>
                                          </p:val>
                                        </p:tav>
                                        <p:tav tm="100000">
                                          <p:val>
                                            <p:strVal val="#ppt_x"/>
                                          </p:val>
                                        </p:tav>
                                      </p:tavLst>
                                    </p:anim>
                                    <p:anim calcmode="lin" valueType="num">
                                      <p:cBhvr>
                                        <p:cTn id="9" dur="1000" fill="hold"/>
                                        <p:tgtEl>
                                          <p:spTgt spid="6">
                                            <p:txEl>
                                              <p:charRg st="42" end="17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95F83-94E6-23B4-4B7A-8F2ABC464AC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8DA3FCD-EE65-F660-E5CA-59BECDE247E4}"/>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460571A-8737-34C1-EC3A-88591ADA17B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4B9C827-D073-C2D7-EF75-34C99CE94E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69</a:t>
            </a:fld>
            <a:endParaRPr lang="en-US" altLang="en-US" sz="900">
              <a:solidFill>
                <a:srgbClr val="FFFFFF"/>
              </a:solidFill>
            </a:endParaRPr>
          </a:p>
        </p:txBody>
      </p:sp>
      <p:pic>
        <p:nvPicPr>
          <p:cNvPr id="22534" name="Picture 5">
            <a:extLst>
              <a:ext uri="{FF2B5EF4-FFF2-40B4-BE49-F238E27FC236}">
                <a16:creationId xmlns:a16="http://schemas.microsoft.com/office/drawing/2014/main" id="{C67E93F9-A5E6-AF0B-0AB8-00D97E7B9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C50406E-3221-FD04-48FC-3025C7D5A195}"/>
              </a:ext>
            </a:extLst>
          </p:cNvPr>
          <p:cNvSpPr txBox="1"/>
          <p:nvPr/>
        </p:nvSpPr>
        <p:spPr>
          <a:xfrm>
            <a:off x="0" y="1662001"/>
            <a:ext cx="9162256" cy="2610843"/>
          </a:xfrm>
          <a:prstGeom prst="rect">
            <a:avLst/>
          </a:prstGeom>
          <a:solidFill>
            <a:schemeClr val="bg1"/>
          </a:solidFill>
        </p:spPr>
        <p:txBody>
          <a:bodyPr wrap="square">
            <a:spAutoFit/>
          </a:bodyPr>
          <a:lstStyle/>
          <a:p>
            <a:pPr>
              <a:lnSpc>
                <a:spcPct val="150000"/>
              </a:lnSpc>
            </a:pPr>
            <a:r>
              <a:rPr lang="en-US" sz="2800" b="1" dirty="0">
                <a:latin typeface="+mn-lt"/>
              </a:rPr>
              <a:t>3. What is the difference between outcome and impact evaluation?</a:t>
            </a:r>
          </a:p>
          <a:p>
            <a:pPr>
              <a:lnSpc>
                <a:spcPct val="150000"/>
              </a:lnSpc>
            </a:pPr>
            <a:r>
              <a:rPr lang="en-US" sz="2800" dirty="0">
                <a:latin typeface="+mn-lt"/>
              </a:rPr>
              <a:t>Outcome evaluation measures short-term results, while impact evaluation measures long-term changes and effects.</a:t>
            </a:r>
          </a:p>
        </p:txBody>
      </p:sp>
    </p:spTree>
    <p:extLst>
      <p:ext uri="{BB962C8B-B14F-4D97-AF65-F5344CB8AC3E}">
        <p14:creationId xmlns:p14="http://schemas.microsoft.com/office/powerpoint/2010/main" val="309359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DC90-1E9A-BCDB-1F32-2F613FEEB75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AA7E5AD-4E8F-4068-B840-256855013143}"/>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A671035-4A65-6743-979C-9587FD8902E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AECF748-8F36-A987-1C61-87B895FFF96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70</a:t>
            </a:fld>
            <a:endParaRPr lang="en-US" altLang="en-US" sz="900">
              <a:solidFill>
                <a:srgbClr val="FFFFFF"/>
              </a:solidFill>
            </a:endParaRPr>
          </a:p>
        </p:txBody>
      </p:sp>
      <p:pic>
        <p:nvPicPr>
          <p:cNvPr id="22534" name="Picture 5">
            <a:extLst>
              <a:ext uri="{FF2B5EF4-FFF2-40B4-BE49-F238E27FC236}">
                <a16:creationId xmlns:a16="http://schemas.microsoft.com/office/drawing/2014/main" id="{89157A84-1080-615A-3167-AA589C1C98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B44BA875-6955-EBC1-7900-459A03D69ACE}"/>
              </a:ext>
            </a:extLst>
          </p:cNvPr>
          <p:cNvSpPr txBox="1"/>
          <p:nvPr/>
        </p:nvSpPr>
        <p:spPr>
          <a:xfrm>
            <a:off x="0" y="1662001"/>
            <a:ext cx="9162256" cy="1964512"/>
          </a:xfrm>
          <a:prstGeom prst="rect">
            <a:avLst/>
          </a:prstGeom>
          <a:solidFill>
            <a:schemeClr val="bg1"/>
          </a:solidFill>
        </p:spPr>
        <p:txBody>
          <a:bodyPr wrap="square">
            <a:spAutoFit/>
          </a:bodyPr>
          <a:lstStyle/>
          <a:p>
            <a:pPr>
              <a:lnSpc>
                <a:spcPct val="150000"/>
              </a:lnSpc>
            </a:pPr>
            <a:r>
              <a:rPr lang="en-US" sz="2800" b="1" dirty="0">
                <a:latin typeface="+mn-lt"/>
              </a:rPr>
              <a:t>4. Give an example of an outcome from an IT project.</a:t>
            </a:r>
          </a:p>
          <a:p>
            <a:pPr>
              <a:lnSpc>
                <a:spcPct val="150000"/>
              </a:lnSpc>
            </a:pPr>
            <a:r>
              <a:rPr lang="en-US" sz="2800" dirty="0">
                <a:latin typeface="+mn-lt"/>
              </a:rPr>
              <a:t>An example could be faster customer support response time after introducing a new ticketing system.</a:t>
            </a:r>
          </a:p>
        </p:txBody>
      </p:sp>
    </p:spTree>
    <p:extLst>
      <p:ext uri="{BB962C8B-B14F-4D97-AF65-F5344CB8AC3E}">
        <p14:creationId xmlns:p14="http://schemas.microsoft.com/office/powerpoint/2010/main" val="15215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059F-A543-D2FF-F650-45659974E5E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5E34B58-5FED-AA51-A346-6AFAC9EE55EE}"/>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C9DEB79-44DD-5C25-84E7-AA3A24D16CA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AE50C54-7DDB-1EAC-0579-33A9399BA98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71</a:t>
            </a:fld>
            <a:endParaRPr lang="en-US" altLang="en-US" sz="900">
              <a:solidFill>
                <a:srgbClr val="FFFFFF"/>
              </a:solidFill>
            </a:endParaRPr>
          </a:p>
        </p:txBody>
      </p:sp>
      <p:pic>
        <p:nvPicPr>
          <p:cNvPr id="22534" name="Picture 5">
            <a:extLst>
              <a:ext uri="{FF2B5EF4-FFF2-40B4-BE49-F238E27FC236}">
                <a16:creationId xmlns:a16="http://schemas.microsoft.com/office/drawing/2014/main" id="{98D30087-F737-8DD4-C205-1C232D129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F76E998-C0B6-2363-1AB7-56128FEE988F}"/>
              </a:ext>
            </a:extLst>
          </p:cNvPr>
          <p:cNvSpPr txBox="1"/>
          <p:nvPr/>
        </p:nvSpPr>
        <p:spPr>
          <a:xfrm>
            <a:off x="0" y="1662001"/>
            <a:ext cx="9162256" cy="1964512"/>
          </a:xfrm>
          <a:prstGeom prst="rect">
            <a:avLst/>
          </a:prstGeom>
          <a:solidFill>
            <a:schemeClr val="bg1"/>
          </a:solidFill>
        </p:spPr>
        <p:txBody>
          <a:bodyPr wrap="square">
            <a:spAutoFit/>
          </a:bodyPr>
          <a:lstStyle/>
          <a:p>
            <a:pPr>
              <a:lnSpc>
                <a:spcPct val="150000"/>
              </a:lnSpc>
            </a:pPr>
            <a:r>
              <a:rPr lang="en-US" sz="2800" b="1" dirty="0">
                <a:latin typeface="+mn-lt"/>
              </a:rPr>
              <a:t>5. Give an example of an impact from an IT project.</a:t>
            </a:r>
          </a:p>
          <a:p>
            <a:pPr>
              <a:lnSpc>
                <a:spcPct val="150000"/>
              </a:lnSpc>
            </a:pPr>
            <a:r>
              <a:rPr lang="en-US" sz="2800" dirty="0">
                <a:latin typeface="+mn-lt"/>
              </a:rPr>
              <a:t>A long-term impact could be improved customer satisfaction and business growth over several years.</a:t>
            </a:r>
          </a:p>
        </p:txBody>
      </p:sp>
    </p:spTree>
    <p:extLst>
      <p:ext uri="{BB962C8B-B14F-4D97-AF65-F5344CB8AC3E}">
        <p14:creationId xmlns:p14="http://schemas.microsoft.com/office/powerpoint/2010/main" val="386744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D05F-10AF-4822-FCDD-55C638BE6BA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753965E-60C7-FE62-0546-6A92D03835BC}"/>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7D4EBE9-D392-BBA9-CF3D-0281DA43AEA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591B5B1-F7CB-B07F-351D-7EDC0385DC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72</a:t>
            </a:fld>
            <a:endParaRPr lang="en-US" altLang="en-US" sz="900">
              <a:solidFill>
                <a:srgbClr val="FFFFFF"/>
              </a:solidFill>
            </a:endParaRPr>
          </a:p>
        </p:txBody>
      </p:sp>
      <p:pic>
        <p:nvPicPr>
          <p:cNvPr id="22534" name="Picture 5">
            <a:extLst>
              <a:ext uri="{FF2B5EF4-FFF2-40B4-BE49-F238E27FC236}">
                <a16:creationId xmlns:a16="http://schemas.microsoft.com/office/drawing/2014/main" id="{986B314C-EF50-EEBD-D63D-C5D9EC36A0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120C5CF-3614-EA99-5A5D-98E531CF9705}"/>
              </a:ext>
            </a:extLst>
          </p:cNvPr>
          <p:cNvSpPr txBox="1"/>
          <p:nvPr/>
        </p:nvSpPr>
        <p:spPr>
          <a:xfrm>
            <a:off x="0" y="1662001"/>
            <a:ext cx="9162256" cy="1964512"/>
          </a:xfrm>
          <a:prstGeom prst="rect">
            <a:avLst/>
          </a:prstGeom>
          <a:solidFill>
            <a:schemeClr val="bg1"/>
          </a:solidFill>
        </p:spPr>
        <p:txBody>
          <a:bodyPr wrap="square">
            <a:spAutoFit/>
          </a:bodyPr>
          <a:lstStyle/>
          <a:p>
            <a:pPr>
              <a:lnSpc>
                <a:spcPct val="150000"/>
              </a:lnSpc>
            </a:pPr>
            <a:r>
              <a:rPr lang="en-US" sz="2800" b="1" dirty="0">
                <a:latin typeface="+mn-lt"/>
              </a:rPr>
              <a:t>6. What is formative evaluation?</a:t>
            </a:r>
          </a:p>
          <a:p>
            <a:pPr>
              <a:lnSpc>
                <a:spcPct val="150000"/>
              </a:lnSpc>
            </a:pPr>
            <a:r>
              <a:rPr lang="en-US" sz="2800" dirty="0">
                <a:latin typeface="+mn-lt"/>
              </a:rPr>
              <a:t>Formative evaluation happens during the project and helps teams improve while the project is still running.</a:t>
            </a:r>
          </a:p>
        </p:txBody>
      </p:sp>
    </p:spTree>
    <p:extLst>
      <p:ext uri="{BB962C8B-B14F-4D97-AF65-F5344CB8AC3E}">
        <p14:creationId xmlns:p14="http://schemas.microsoft.com/office/powerpoint/2010/main" val="291871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9A894-2933-7C11-0B7A-4496C0C7B49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B9699C7-7269-761C-E23B-74DB0AB0E68C}"/>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C7CC8D8-8311-69A5-40BA-9479772D4AA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5A681DC-921B-5D36-C65E-5DAE0374EA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73</a:t>
            </a:fld>
            <a:endParaRPr lang="en-US" altLang="en-US" sz="900">
              <a:solidFill>
                <a:srgbClr val="FFFFFF"/>
              </a:solidFill>
            </a:endParaRPr>
          </a:p>
        </p:txBody>
      </p:sp>
      <p:pic>
        <p:nvPicPr>
          <p:cNvPr id="22534" name="Picture 5">
            <a:extLst>
              <a:ext uri="{FF2B5EF4-FFF2-40B4-BE49-F238E27FC236}">
                <a16:creationId xmlns:a16="http://schemas.microsoft.com/office/drawing/2014/main" id="{43CC6EA6-9B24-96F0-FD21-D88B6899D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5F4D4AC-E3CC-CDE7-0715-FD5AA94B025A}"/>
              </a:ext>
            </a:extLst>
          </p:cNvPr>
          <p:cNvSpPr txBox="1"/>
          <p:nvPr/>
        </p:nvSpPr>
        <p:spPr>
          <a:xfrm>
            <a:off x="0" y="1662001"/>
            <a:ext cx="9162256" cy="1964512"/>
          </a:xfrm>
          <a:prstGeom prst="rect">
            <a:avLst/>
          </a:prstGeom>
          <a:solidFill>
            <a:schemeClr val="bg1"/>
          </a:solidFill>
        </p:spPr>
        <p:txBody>
          <a:bodyPr wrap="square">
            <a:spAutoFit/>
          </a:bodyPr>
          <a:lstStyle/>
          <a:p>
            <a:pPr>
              <a:lnSpc>
                <a:spcPct val="150000"/>
              </a:lnSpc>
            </a:pPr>
            <a:r>
              <a:rPr lang="en-US" sz="2800" b="1" dirty="0">
                <a:latin typeface="+mn-lt"/>
              </a:rPr>
              <a:t>7. What is summative evaluation?</a:t>
            </a:r>
          </a:p>
          <a:p>
            <a:pPr>
              <a:lnSpc>
                <a:spcPct val="150000"/>
              </a:lnSpc>
            </a:pPr>
            <a:r>
              <a:rPr lang="en-US" sz="2800" dirty="0">
                <a:latin typeface="+mn-lt"/>
              </a:rPr>
              <a:t>Summative evaluation happens after the project and measures the final success and results.</a:t>
            </a:r>
          </a:p>
        </p:txBody>
      </p:sp>
    </p:spTree>
    <p:extLst>
      <p:ext uri="{BB962C8B-B14F-4D97-AF65-F5344CB8AC3E}">
        <p14:creationId xmlns:p14="http://schemas.microsoft.com/office/powerpoint/2010/main" val="421464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74377-682C-8296-2C43-5EA1F28B4BF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398BA34-9F15-B2F8-7359-89BD8BCB07F7}"/>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AU" sz="4800" b="1" dirty="0">
                <a:solidFill>
                  <a:srgbClr val="00B0F0"/>
                </a:solidFill>
              </a:rPr>
              <a:t>Discussion Questions for Students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0325104-4C8C-2FF4-7EB0-522B301948E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317EA23-6E2B-D2C4-EA6D-FCEC90A4E4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74</a:t>
            </a:fld>
            <a:endParaRPr lang="en-US" altLang="en-US" sz="900">
              <a:solidFill>
                <a:srgbClr val="FFFFFF"/>
              </a:solidFill>
            </a:endParaRPr>
          </a:p>
        </p:txBody>
      </p:sp>
      <p:pic>
        <p:nvPicPr>
          <p:cNvPr id="22534" name="Picture 5">
            <a:extLst>
              <a:ext uri="{FF2B5EF4-FFF2-40B4-BE49-F238E27FC236}">
                <a16:creationId xmlns:a16="http://schemas.microsoft.com/office/drawing/2014/main" id="{CBE84C3D-E381-09B7-764E-F18BED9B4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41A7A96-A38B-81ED-A3E1-E2E3A61F2A6C}"/>
              </a:ext>
            </a:extLst>
          </p:cNvPr>
          <p:cNvSpPr txBox="1"/>
          <p:nvPr/>
        </p:nvSpPr>
        <p:spPr>
          <a:xfrm>
            <a:off x="0" y="1662001"/>
            <a:ext cx="9162256" cy="2610843"/>
          </a:xfrm>
          <a:prstGeom prst="rect">
            <a:avLst/>
          </a:prstGeom>
          <a:solidFill>
            <a:schemeClr val="bg1"/>
          </a:solidFill>
        </p:spPr>
        <p:txBody>
          <a:bodyPr wrap="square">
            <a:spAutoFit/>
          </a:bodyPr>
          <a:lstStyle/>
          <a:p>
            <a:pPr>
              <a:lnSpc>
                <a:spcPct val="150000"/>
              </a:lnSpc>
            </a:pPr>
            <a:r>
              <a:rPr lang="en-US" sz="2800" b="1" dirty="0">
                <a:latin typeface="+mn-lt"/>
              </a:rPr>
              <a:t>8. How can NSW IT Support use project evaluation?</a:t>
            </a:r>
          </a:p>
          <a:p>
            <a:pPr>
              <a:lnSpc>
                <a:spcPct val="150000"/>
              </a:lnSpc>
            </a:pPr>
            <a:r>
              <a:rPr lang="en-US" sz="2800" dirty="0">
                <a:latin typeface="+mn-lt"/>
              </a:rPr>
              <a:t>NSW IT Support can use evaluation to check whether their IT solutions improve customer service, reduce delays, improve cybersecurity, and increase client satisfaction.</a:t>
            </a:r>
          </a:p>
        </p:txBody>
      </p:sp>
    </p:spTree>
    <p:extLst>
      <p:ext uri="{BB962C8B-B14F-4D97-AF65-F5344CB8AC3E}">
        <p14:creationId xmlns:p14="http://schemas.microsoft.com/office/powerpoint/2010/main" val="2664689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Methods of IT Project Evaluation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a:extLst>
              <a:ext uri="{FF2B5EF4-FFF2-40B4-BE49-F238E27FC236}">
                <a16:creationId xmlns:a16="http://schemas.microsoft.com/office/drawing/2014/main" id="{92167231-57CC-79C7-3D8A-0413BD702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07" y="2030989"/>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3515709" y="2026648"/>
            <a:ext cx="5344511" cy="2778196"/>
          </a:xfrm>
          <a:prstGeom prst="rect">
            <a:avLst/>
          </a:prstGeom>
          <a:noFill/>
        </p:spPr>
        <p:txBody>
          <a:bodyPr wrap="square">
            <a:spAutoFit/>
          </a:bodyPr>
          <a:lstStyle/>
          <a:p>
            <a:pPr marL="342900"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Overview of Project Evaluation in IT:</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Project evaluation in IT focuses on assessing the effectiveness, efficiency, and success of IT initiatives, such as software development, system upgrades, or infrastructure enhancements.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Importance of evaluating IT projects to ensure alignment with organisational goals, budget adherence, and stakeholder satisfaction</a:t>
            </a:r>
            <a:r>
              <a:rPr lang="en-AU" sz="1600" dirty="0">
                <a:solidFill>
                  <a:srgbClr val="404040"/>
                </a:solidFill>
                <a:latin typeface="Times New Roman" panose="02020603050405020304" pitchFamily="18" charset="0"/>
                <a:cs typeface="+mn-cs"/>
              </a:rPr>
              <a:t>.</a:t>
            </a:r>
          </a:p>
        </p:txBody>
      </p:sp>
    </p:spTree>
    <p:extLst>
      <p:ext uri="{BB962C8B-B14F-4D97-AF65-F5344CB8AC3E}">
        <p14:creationId xmlns:p14="http://schemas.microsoft.com/office/powerpoint/2010/main" val="21755072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Methods of IT Project Evaluation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 name="Picture 2" descr="Qualitative and Quantitative Data Collection Methodologies in ...">
            <a:extLst>
              <a:ext uri="{FF2B5EF4-FFF2-40B4-BE49-F238E27FC236}">
                <a16:creationId xmlns:a16="http://schemas.microsoft.com/office/drawing/2014/main" id="{BF260B94-E2B5-CD17-7499-6A35019E1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143" y="1831111"/>
            <a:ext cx="7156442" cy="422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0698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Methods of IT Project Evaluation: </a:t>
            </a:r>
            <a:br>
              <a:rPr lang="en-AU" sz="3600" b="1" dirty="0">
                <a:solidFill>
                  <a:srgbClr val="00B0F0"/>
                </a:solidFill>
              </a:rPr>
            </a:br>
            <a:r>
              <a:rPr lang="en-AU" sz="3600" b="1" dirty="0">
                <a:solidFill>
                  <a:schemeClr val="accent2">
                    <a:lumMod val="75000"/>
                  </a:schemeClr>
                </a:solidFill>
              </a:rPr>
              <a:t>Quantitative Methods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0" y="1994191"/>
            <a:ext cx="9242870" cy="3026470"/>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Quantitative Methods:</a:t>
            </a:r>
          </a:p>
          <a:p>
            <a:pPr marL="485775" lvl="1" indent="-285750">
              <a:lnSpc>
                <a:spcPct val="90000"/>
              </a:lnSpc>
              <a:buClr>
                <a:schemeClr val="accent1"/>
              </a:buClr>
              <a:buFont typeface="Arial" panose="020B0604020202020204" pitchFamily="34" charset="0"/>
              <a:buChar char="•"/>
            </a:pPr>
            <a:endParaRPr lang="en-AU" sz="2200"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400" b="1" u="sng" dirty="0">
                <a:solidFill>
                  <a:schemeClr val="tx1">
                    <a:lumMod val="75000"/>
                    <a:lumOff val="25000"/>
                  </a:schemeClr>
                </a:solidFill>
                <a:highlight>
                  <a:srgbClr val="FFFFFF"/>
                </a:highlight>
                <a:latin typeface="+mn-lt"/>
                <a:cs typeface="+mn-cs"/>
              </a:rPr>
              <a:t>1) ROI (Return on Investment): </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Measures the financial return generated relative to the investment made in the IT project.</a:t>
            </a: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Example: Calculating ROI for a cloud migration project by comparing cost savings and operational efficiencies achieved.</a:t>
            </a:r>
          </a:p>
          <a:p>
            <a:pPr marL="657225" lvl="2">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p:txBody>
      </p:sp>
      <p:pic>
        <p:nvPicPr>
          <p:cNvPr id="5" name="Picture 4">
            <a:extLst>
              <a:ext uri="{FF2B5EF4-FFF2-40B4-BE49-F238E27FC236}">
                <a16:creationId xmlns:a16="http://schemas.microsoft.com/office/drawing/2014/main" id="{6BD7C826-C888-CF25-F30A-3A8C33156432}"/>
              </a:ext>
            </a:extLst>
          </p:cNvPr>
          <p:cNvPicPr>
            <a:picLocks noChangeAspect="1"/>
          </p:cNvPicPr>
          <p:nvPr/>
        </p:nvPicPr>
        <p:blipFill>
          <a:blip r:embed="rId3"/>
          <a:stretch>
            <a:fillRect/>
          </a:stretch>
        </p:blipFill>
        <p:spPr>
          <a:xfrm>
            <a:off x="1144752" y="4651158"/>
            <a:ext cx="7872248" cy="1293225"/>
          </a:xfrm>
          <a:prstGeom prst="rect">
            <a:avLst/>
          </a:prstGeom>
        </p:spPr>
      </p:pic>
    </p:spTree>
    <p:extLst>
      <p:ext uri="{BB962C8B-B14F-4D97-AF65-F5344CB8AC3E}">
        <p14:creationId xmlns:p14="http://schemas.microsoft.com/office/powerpoint/2010/main" val="12667376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Methods of IT Project Evaluation: </a:t>
            </a:r>
            <a:br>
              <a:rPr lang="en-AU" sz="3600" b="1" dirty="0">
                <a:solidFill>
                  <a:srgbClr val="00B0F0"/>
                </a:solidFill>
              </a:rPr>
            </a:br>
            <a:r>
              <a:rPr lang="en-AU" sz="3600" b="1" dirty="0">
                <a:solidFill>
                  <a:schemeClr val="accent2">
                    <a:lumMod val="75000"/>
                  </a:schemeClr>
                </a:solidFill>
              </a:rPr>
              <a:t>Quantitative Methods(cont.)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394036" y="1828337"/>
            <a:ext cx="9242870" cy="4038029"/>
          </a:xfrm>
          <a:prstGeom prst="rect">
            <a:avLst/>
          </a:prstGeom>
          <a:noFill/>
        </p:spPr>
        <p:txBody>
          <a:bodyPr wrap="square">
            <a:spAutoFit/>
          </a:bodyPr>
          <a:lstStyle/>
          <a:p>
            <a:pPr marL="657225" lvl="2">
              <a:lnSpc>
                <a:spcPct val="90000"/>
              </a:lnSpc>
              <a:spcBef>
                <a:spcPts val="200"/>
              </a:spcBef>
              <a:spcAft>
                <a:spcPts val="400"/>
              </a:spcAft>
              <a:buClr>
                <a:schemeClr val="accent1"/>
              </a:buClr>
            </a:pPr>
            <a:endParaRPr lang="en-AU" sz="2200" b="1"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u="sng" dirty="0">
                <a:solidFill>
                  <a:schemeClr val="tx1">
                    <a:lumMod val="75000"/>
                    <a:lumOff val="25000"/>
                  </a:schemeClr>
                </a:solidFill>
                <a:highlight>
                  <a:srgbClr val="FFFFFF"/>
                </a:highlight>
                <a:latin typeface="+mn-lt"/>
                <a:cs typeface="+mn-cs"/>
              </a:rPr>
              <a:t>2) Cost-Benefit Analysis: </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Evaluates the financial viability of the IT project by comparing costs with expected benefits.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Steps in conducting cost-benefit analysis for IT projects: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Identifying and estimating all costs associated with the project (development, implementation, maintenance).</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Quantifying and valuing the benefits expected from the project (reduced operational costs, increased productivity).</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Comparing costs and benefits to determine the financial feasibility and expected return on investment.</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27280804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Methods of IT Project Evaluation: </a:t>
            </a:r>
            <a:br>
              <a:rPr lang="en-AU" sz="3600" b="1" dirty="0">
                <a:solidFill>
                  <a:srgbClr val="00B0F0"/>
                </a:solidFill>
              </a:rPr>
            </a:br>
            <a:r>
              <a:rPr lang="en-AU" sz="3600" b="1" dirty="0">
                <a:solidFill>
                  <a:schemeClr val="accent2">
                    <a:lumMod val="75000"/>
                  </a:schemeClr>
                </a:solidFill>
              </a:rPr>
              <a:t>Qualitative Evaluation Methods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0" y="1831112"/>
            <a:ext cx="9242870" cy="3717941"/>
          </a:xfrm>
          <a:prstGeom prst="rect">
            <a:avLst/>
          </a:prstGeom>
          <a:noFill/>
        </p:spPr>
        <p:txBody>
          <a:bodyPr wrap="square">
            <a:spAutoFit/>
          </a:bodyPr>
          <a:lstStyle/>
          <a:p>
            <a:pPr marL="657225" lvl="2">
              <a:lnSpc>
                <a:spcPct val="90000"/>
              </a:lnSpc>
              <a:spcBef>
                <a:spcPts val="200"/>
              </a:spcBef>
              <a:spcAft>
                <a:spcPts val="400"/>
              </a:spcAft>
              <a:buClr>
                <a:schemeClr val="accent1"/>
              </a:buClr>
            </a:pPr>
            <a:endParaRPr lang="en-AU" sz="2200" b="1" dirty="0">
              <a:solidFill>
                <a:schemeClr val="tx1">
                  <a:lumMod val="75000"/>
                  <a:lumOff val="25000"/>
                </a:schemeClr>
              </a:solidFill>
              <a:highlight>
                <a:srgbClr val="FFFFFF"/>
              </a:highlight>
              <a:latin typeface="+mn-lt"/>
              <a:cs typeface="+mn-cs"/>
            </a:endParaRPr>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Qualitative Data Collection</a:t>
            </a:r>
          </a:p>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u="sng" dirty="0">
                <a:solidFill>
                  <a:schemeClr val="tx1">
                    <a:lumMod val="75000"/>
                    <a:lumOff val="25000"/>
                  </a:schemeClr>
                </a:solidFill>
                <a:highlight>
                  <a:srgbClr val="FFFFFF"/>
                </a:highlight>
                <a:latin typeface="+mn-lt"/>
                <a:cs typeface="+mn-cs"/>
              </a:rPr>
              <a:t>1) Interviews: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Purpose: </a:t>
            </a:r>
            <a:r>
              <a:rPr lang="en-AU" sz="2000" dirty="0">
                <a:solidFill>
                  <a:schemeClr val="tx1">
                    <a:lumMod val="75000"/>
                    <a:lumOff val="25000"/>
                  </a:schemeClr>
                </a:solidFill>
                <a:highlight>
                  <a:srgbClr val="FFFFFF"/>
                </a:highlight>
                <a:latin typeface="+mn-lt"/>
                <a:cs typeface="+mn-cs"/>
              </a:rPr>
              <a:t>To gather in-depth insights and detailed feedback from individual stakeholders regarding their experiences and perceptions of the IT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Types of Interviews: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Structured Interviews: </a:t>
            </a:r>
            <a:r>
              <a:rPr lang="en-AU" sz="2000" dirty="0">
                <a:solidFill>
                  <a:schemeClr val="tx1">
                    <a:lumMod val="75000"/>
                    <a:lumOff val="25000"/>
                  </a:schemeClr>
                </a:solidFill>
                <a:highlight>
                  <a:srgbClr val="FFFFFF"/>
                </a:highlight>
                <a:latin typeface="+mn-lt"/>
                <a:cs typeface="+mn-cs"/>
              </a:rPr>
              <a:t>Using a fixed set of questions to ensure consistency across different interviewees.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Semi-Structured Interviews: </a:t>
            </a:r>
            <a:r>
              <a:rPr lang="en-AU" sz="2000" dirty="0">
                <a:solidFill>
                  <a:schemeClr val="tx1">
                    <a:lumMod val="75000"/>
                    <a:lumOff val="25000"/>
                  </a:schemeClr>
                </a:solidFill>
                <a:highlight>
                  <a:srgbClr val="FFFFFF"/>
                </a:highlight>
                <a:latin typeface="+mn-lt"/>
                <a:cs typeface="+mn-cs"/>
              </a:rPr>
              <a:t>Allowing flexibility in questions to explore specific issues in more depth.</a:t>
            </a:r>
          </a:p>
        </p:txBody>
      </p:sp>
    </p:spTree>
    <p:extLst>
      <p:ext uri="{BB962C8B-B14F-4D97-AF65-F5344CB8AC3E}">
        <p14:creationId xmlns:p14="http://schemas.microsoft.com/office/powerpoint/2010/main" val="20787580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Methods o f IT Project Evaluation: </a:t>
            </a:r>
            <a:br>
              <a:rPr lang="en-AU" sz="3600" b="1" dirty="0">
                <a:solidFill>
                  <a:srgbClr val="00B0F0"/>
                </a:solidFill>
              </a:rPr>
            </a:br>
            <a:r>
              <a:rPr lang="en-AU" sz="3600" b="1" dirty="0">
                <a:solidFill>
                  <a:schemeClr val="accent2">
                    <a:lumMod val="75000"/>
                  </a:schemeClr>
                </a:solidFill>
              </a:rPr>
              <a:t>Qualitative Evaluation Methods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0" y="1831112"/>
            <a:ext cx="8782848" cy="3383490"/>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u="sng" dirty="0">
                <a:solidFill>
                  <a:schemeClr val="tx1">
                    <a:lumMod val="75000"/>
                    <a:lumOff val="25000"/>
                  </a:schemeClr>
                </a:solidFill>
                <a:highlight>
                  <a:srgbClr val="FFFFFF"/>
                </a:highlight>
                <a:latin typeface="+mn-lt"/>
                <a:cs typeface="+mn-cs"/>
              </a:rPr>
              <a:t>2) Surveys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Purpose: </a:t>
            </a:r>
            <a:r>
              <a:rPr lang="en-AU" sz="2000" dirty="0">
                <a:solidFill>
                  <a:schemeClr val="tx1">
                    <a:lumMod val="75000"/>
                    <a:lumOff val="25000"/>
                  </a:schemeClr>
                </a:solidFill>
                <a:highlight>
                  <a:srgbClr val="FFFFFF"/>
                </a:highlight>
                <a:latin typeface="+mn-lt"/>
                <a:cs typeface="+mn-cs"/>
              </a:rPr>
              <a:t>To collect quantifiable data from a larger group of stakeholders to assess overall satisfaction and identify common issues.</a:t>
            </a:r>
          </a:p>
          <a:p>
            <a:pPr marL="1114425" lvl="3">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Types of Surveys: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Online Surveys: </a:t>
            </a:r>
            <a:r>
              <a:rPr lang="en-AU" sz="2000" dirty="0">
                <a:solidFill>
                  <a:schemeClr val="tx1">
                    <a:lumMod val="75000"/>
                    <a:lumOff val="25000"/>
                  </a:schemeClr>
                </a:solidFill>
                <a:highlight>
                  <a:srgbClr val="FFFFFF"/>
                </a:highlight>
                <a:latin typeface="+mn-lt"/>
                <a:cs typeface="+mn-cs"/>
              </a:rPr>
              <a:t>Distributed via email or web platforms for convenience and broad reach.</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Paper Surveys</a:t>
            </a:r>
            <a:r>
              <a:rPr lang="en-AU" sz="2000" dirty="0">
                <a:solidFill>
                  <a:schemeClr val="tx1">
                    <a:lumMod val="75000"/>
                    <a:lumOff val="25000"/>
                  </a:schemeClr>
                </a:solidFill>
                <a:highlight>
                  <a:srgbClr val="FFFFFF"/>
                </a:highlight>
                <a:latin typeface="+mn-lt"/>
                <a:cs typeface="+mn-cs"/>
              </a:rPr>
              <a:t>: Used in environments where digital access is limited.</a:t>
            </a:r>
          </a:p>
        </p:txBody>
      </p:sp>
    </p:spTree>
    <p:extLst>
      <p:ext uri="{BB962C8B-B14F-4D97-AF65-F5344CB8AC3E}">
        <p14:creationId xmlns:p14="http://schemas.microsoft.com/office/powerpoint/2010/main" val="24864247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Methods o f IT Project Evaluation: </a:t>
            </a:r>
            <a:br>
              <a:rPr lang="en-AU" sz="3600" b="1" dirty="0">
                <a:solidFill>
                  <a:srgbClr val="00B0F0"/>
                </a:solidFill>
              </a:rPr>
            </a:br>
            <a:r>
              <a:rPr lang="en-AU" sz="3600" b="1" dirty="0">
                <a:solidFill>
                  <a:schemeClr val="accent2">
                    <a:lumMod val="75000"/>
                  </a:schemeClr>
                </a:solidFill>
              </a:rPr>
              <a:t>Qualitative Evaluation Methods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0" y="1831112"/>
            <a:ext cx="8760270" cy="3660489"/>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u="sng" dirty="0">
                <a:solidFill>
                  <a:schemeClr val="tx1">
                    <a:lumMod val="75000"/>
                    <a:lumOff val="25000"/>
                  </a:schemeClr>
                </a:solidFill>
                <a:highlight>
                  <a:srgbClr val="FFFFFF"/>
                </a:highlight>
                <a:latin typeface="+mn-lt"/>
                <a:cs typeface="+mn-cs"/>
              </a:rPr>
              <a:t>3) Focus Groups: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Purpose: </a:t>
            </a:r>
            <a:r>
              <a:rPr lang="en-AU" sz="2000" dirty="0">
                <a:solidFill>
                  <a:schemeClr val="tx1">
                    <a:lumMod val="75000"/>
                    <a:lumOff val="25000"/>
                  </a:schemeClr>
                </a:solidFill>
                <a:highlight>
                  <a:srgbClr val="FFFFFF"/>
                </a:highlight>
                <a:latin typeface="+mn-lt"/>
                <a:cs typeface="+mn-cs"/>
              </a:rPr>
              <a:t>To facilitate group discussions that provide diverse perspectives and encourage interactive dialogue among participants.</a:t>
            </a:r>
          </a:p>
          <a:p>
            <a:pPr marL="1114425" lvl="3">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Types of Focus Groups: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User Focus Groups: </a:t>
            </a:r>
            <a:r>
              <a:rPr lang="en-AU" sz="2000" dirty="0">
                <a:solidFill>
                  <a:schemeClr val="tx1">
                    <a:lumMod val="75000"/>
                    <a:lumOff val="25000"/>
                  </a:schemeClr>
                </a:solidFill>
                <a:highlight>
                  <a:srgbClr val="FFFFFF"/>
                </a:highlight>
                <a:latin typeface="+mn-lt"/>
                <a:cs typeface="+mn-cs"/>
              </a:rPr>
              <a:t>Engaging users from different departments to discuss their experiences with a new IT system.</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i="1" dirty="0">
                <a:solidFill>
                  <a:schemeClr val="tx1">
                    <a:lumMod val="75000"/>
                    <a:lumOff val="25000"/>
                  </a:schemeClr>
                </a:solidFill>
                <a:highlight>
                  <a:srgbClr val="FFFFFF"/>
                </a:highlight>
                <a:latin typeface="+mn-lt"/>
                <a:cs typeface="+mn-cs"/>
              </a:rPr>
              <a:t>Expert Focus Groups: </a:t>
            </a:r>
            <a:r>
              <a:rPr lang="en-AU" sz="2000" dirty="0">
                <a:solidFill>
                  <a:schemeClr val="tx1">
                    <a:lumMod val="75000"/>
                    <a:lumOff val="25000"/>
                  </a:schemeClr>
                </a:solidFill>
                <a:highlight>
                  <a:srgbClr val="FFFFFF"/>
                </a:highlight>
                <a:latin typeface="+mn-lt"/>
                <a:cs typeface="+mn-cs"/>
              </a:rPr>
              <a:t>Gathering IT experts to evaluate the technical aspects and potential improvements for an ongoing IT project.</a:t>
            </a:r>
          </a:p>
        </p:txBody>
      </p:sp>
    </p:spTree>
    <p:extLst>
      <p:ext uri="{BB962C8B-B14F-4D97-AF65-F5344CB8AC3E}">
        <p14:creationId xmlns:p14="http://schemas.microsoft.com/office/powerpoint/2010/main" val="15808700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 name="Picture 2">
            <a:extLst>
              <a:ext uri="{FF2B5EF4-FFF2-40B4-BE49-F238E27FC236}">
                <a16:creationId xmlns:a16="http://schemas.microsoft.com/office/drawing/2014/main" id="{28F36AF0-7EC8-6130-B594-2499C388F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81" y="2179813"/>
            <a:ext cx="7859638" cy="366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7544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r>
              <a:rPr lang="zh-CN" altLang="en-US" sz="3600" b="1" dirty="0">
                <a:solidFill>
                  <a:srgbClr val="00B0F0"/>
                </a:solidFill>
              </a:rPr>
              <a:t>：</a:t>
            </a:r>
            <a:br>
              <a:rPr lang="en-AU" altLang="zh-CN" sz="3600" b="1" dirty="0">
                <a:solidFill>
                  <a:srgbClr val="00B0F0"/>
                </a:solidFill>
              </a:rPr>
            </a:br>
            <a:r>
              <a:rPr lang="en-AU" sz="3600" b="1" dirty="0">
                <a:solidFill>
                  <a:schemeClr val="accent2">
                    <a:lumMod val="75000"/>
                  </a:schemeClr>
                </a:solidFill>
              </a:rPr>
              <a:t>Introduction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1" y="1831112"/>
            <a:ext cx="9098937" cy="3839000"/>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Introduction to Critical Reflection in IT Projects</a:t>
            </a:r>
          </a:p>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Definition and Importance:</a:t>
            </a: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Critical Reflection: </a:t>
            </a:r>
            <a:r>
              <a:rPr lang="en-AU" sz="2000" dirty="0">
                <a:solidFill>
                  <a:schemeClr val="tx1">
                    <a:lumMod val="75000"/>
                    <a:lumOff val="25000"/>
                  </a:schemeClr>
                </a:solidFill>
                <a:highlight>
                  <a:srgbClr val="FFFFFF"/>
                </a:highlight>
                <a:latin typeface="+mn-lt"/>
                <a:cs typeface="+mn-cs"/>
              </a:rPr>
              <a:t>The process of thoughtfully considering and analysing an IT project’s performance to identify strengths, weaknesses, and areas for improvement.</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Purpose</a:t>
            </a:r>
            <a:r>
              <a:rPr lang="en-AU" sz="2000" dirty="0">
                <a:solidFill>
                  <a:schemeClr val="tx1">
                    <a:lumMod val="75000"/>
                    <a:lumOff val="25000"/>
                  </a:schemeClr>
                </a:solidFill>
                <a:highlight>
                  <a:srgbClr val="FFFFFF"/>
                </a:highlight>
                <a:latin typeface="+mn-lt"/>
                <a:cs typeface="+mn-cs"/>
              </a:rPr>
              <a:t>: To enhance learning and growth by examining what worked well and what didn’t, leading to better future project outcomes.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Importance in IT Projects</a:t>
            </a:r>
            <a:r>
              <a:rPr lang="en-AU" sz="2000" dirty="0">
                <a:solidFill>
                  <a:schemeClr val="tx1">
                    <a:lumMod val="75000"/>
                    <a:lumOff val="25000"/>
                  </a:schemeClr>
                </a:solidFill>
                <a:highlight>
                  <a:srgbClr val="FFFFFF"/>
                </a:highlight>
                <a:latin typeface="+mn-lt"/>
                <a:cs typeface="+mn-cs"/>
              </a:rPr>
              <a:t>: Given the complexity and dynamic nature of IT projects, critical reflection helps in adapting to technological changes, improving methodologies, and increasing overall project success.</a:t>
            </a:r>
          </a:p>
        </p:txBody>
      </p:sp>
    </p:spTree>
    <p:extLst>
      <p:ext uri="{BB962C8B-B14F-4D97-AF65-F5344CB8AC3E}">
        <p14:creationId xmlns:p14="http://schemas.microsoft.com/office/powerpoint/2010/main" val="32780878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Benefits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1" y="1831112"/>
            <a:ext cx="9098937" cy="3451201"/>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Benefits of Critical Reflection:</a:t>
            </a:r>
          </a:p>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Improved Decision-Making: </a:t>
            </a:r>
            <a:r>
              <a:rPr lang="en-AU" sz="2000" dirty="0">
                <a:solidFill>
                  <a:schemeClr val="tx1">
                    <a:lumMod val="75000"/>
                    <a:lumOff val="25000"/>
                  </a:schemeClr>
                </a:solidFill>
                <a:highlight>
                  <a:srgbClr val="FFFFFF"/>
                </a:highlight>
                <a:latin typeface="+mn-lt"/>
                <a:cs typeface="+mn-cs"/>
              </a:rPr>
              <a:t>Helps in making informed decisions based on past experiences and lessons learned.</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Enhanced Team Collaboration: </a:t>
            </a:r>
            <a:r>
              <a:rPr lang="en-AU" sz="2000" dirty="0">
                <a:solidFill>
                  <a:schemeClr val="tx1">
                    <a:lumMod val="75000"/>
                    <a:lumOff val="25000"/>
                  </a:schemeClr>
                </a:solidFill>
                <a:highlight>
                  <a:srgbClr val="FFFFFF"/>
                </a:highlight>
                <a:latin typeface="+mn-lt"/>
                <a:cs typeface="+mn-cs"/>
              </a:rPr>
              <a:t>Fosters an environment of continuous learning and open communication among team members.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Identification of Best Practices: </a:t>
            </a:r>
            <a:r>
              <a:rPr lang="en-AU" sz="2000" dirty="0">
                <a:solidFill>
                  <a:schemeClr val="tx1">
                    <a:lumMod val="75000"/>
                    <a:lumOff val="25000"/>
                  </a:schemeClr>
                </a:solidFill>
                <a:highlight>
                  <a:srgbClr val="FFFFFF"/>
                </a:highlight>
                <a:latin typeface="+mn-lt"/>
                <a:cs typeface="+mn-cs"/>
              </a:rPr>
              <a:t>Allows the organisation to document and replicate successful strategies in future projects.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Risk Management: </a:t>
            </a:r>
            <a:r>
              <a:rPr lang="en-AU" sz="2000" dirty="0">
                <a:solidFill>
                  <a:schemeClr val="tx1">
                    <a:lumMod val="75000"/>
                    <a:lumOff val="25000"/>
                  </a:schemeClr>
                </a:solidFill>
                <a:highlight>
                  <a:srgbClr val="FFFFFF"/>
                </a:highlight>
                <a:latin typeface="+mn-lt"/>
                <a:cs typeface="+mn-cs"/>
              </a:rPr>
              <a:t>Aids in identifying potential risks early and developing mitigation strategies.</a:t>
            </a:r>
          </a:p>
        </p:txBody>
      </p:sp>
    </p:spTree>
    <p:extLst>
      <p:ext uri="{BB962C8B-B14F-4D97-AF65-F5344CB8AC3E}">
        <p14:creationId xmlns:p14="http://schemas.microsoft.com/office/powerpoint/2010/main" val="3008923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Methods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1" y="1831112"/>
            <a:ext cx="9098937" cy="3294235"/>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1) After-Action Review (AAR):</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Process:</a:t>
            </a:r>
            <a:r>
              <a:rPr lang="en-AU" sz="2000" dirty="0">
                <a:solidFill>
                  <a:schemeClr val="tx1">
                    <a:lumMod val="75000"/>
                    <a:lumOff val="25000"/>
                  </a:schemeClr>
                </a:solidFill>
                <a:highlight>
                  <a:srgbClr val="FFFFFF"/>
                </a:highlight>
                <a:latin typeface="+mn-lt"/>
                <a:cs typeface="+mn-cs"/>
              </a:rPr>
              <a:t> A structured review or debrief process for analysing what happened, why it happened, and how it can be done better.</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Steps: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What was expected to happen?</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What actually happened?</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Why was there a difference?</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What can we learn from this?</a:t>
            </a:r>
          </a:p>
        </p:txBody>
      </p:sp>
    </p:spTree>
    <p:extLst>
      <p:ext uri="{BB962C8B-B14F-4D97-AF65-F5344CB8AC3E}">
        <p14:creationId xmlns:p14="http://schemas.microsoft.com/office/powerpoint/2010/main" val="32817723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After action reviews - and how they can be linked with ToCs to ...">
            <a:extLst>
              <a:ext uri="{FF2B5EF4-FFF2-40B4-BE49-F238E27FC236}">
                <a16:creationId xmlns:a16="http://schemas.microsoft.com/office/drawing/2014/main" id="{2E491EE9-DF62-5DF1-E1E8-439225BA56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508" y="1823030"/>
            <a:ext cx="5030799" cy="4475158"/>
          </a:xfrm>
          <a:prstGeom prst="rect">
            <a:avLst/>
          </a:prstGeom>
          <a:noFill/>
          <a:extLst>
            <a:ext uri="{909E8E84-426E-40DD-AFC4-6F175D3DCCD1}">
              <a14:hiddenFill xmlns:a14="http://schemas.microsoft.com/office/drawing/2010/main">
                <a:solidFill>
                  <a:srgbClr val="FFFFFF"/>
                </a:solidFill>
              </a14:hiddenFill>
            </a:ext>
          </a:extLst>
        </p:spPr>
      </p:pic>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Methods (cont.)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392947" y="1542819"/>
            <a:ext cx="6227010" cy="1358321"/>
          </a:xfrm>
          <a:prstGeom prst="rect">
            <a:avLst/>
          </a:prstGeom>
          <a:noFill/>
        </p:spPr>
        <p:txBody>
          <a:bodyPr wrap="square">
            <a:spAutoFit/>
          </a:bodyPr>
          <a:lstStyle/>
          <a:p>
            <a:pPr marL="200025" lvl="1">
              <a:lnSpc>
                <a:spcPct val="90000"/>
              </a:lnSpc>
              <a:buClr>
                <a:schemeClr val="accent1"/>
              </a:buClr>
            </a:pPr>
            <a:endParaRPr lang="en-AU" sz="28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800" b="1" dirty="0">
                <a:solidFill>
                  <a:schemeClr val="tx1">
                    <a:lumMod val="75000"/>
                    <a:lumOff val="25000"/>
                  </a:schemeClr>
                </a:solidFill>
                <a:highlight>
                  <a:srgbClr val="FFFFFF"/>
                </a:highlight>
                <a:latin typeface="+mn-lt"/>
                <a:cs typeface="+mn-cs"/>
              </a:rPr>
              <a:t>After-Action Review (AAR):</a:t>
            </a:r>
          </a:p>
          <a:p>
            <a:pPr marL="839788" lvl="2" indent="-182563">
              <a:lnSpc>
                <a:spcPct val="90000"/>
              </a:lnSpc>
              <a:spcBef>
                <a:spcPts val="200"/>
              </a:spcBef>
              <a:spcAft>
                <a:spcPts val="400"/>
              </a:spcAft>
              <a:buClr>
                <a:schemeClr val="accent1"/>
              </a:buClr>
              <a:buFont typeface="Arial" panose="020B0604020202020204" pitchFamily="34" charset="0"/>
              <a:buChar char="•"/>
            </a:pPr>
            <a:endParaRPr lang="en-AU" sz="2800" b="1"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40521876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Methods (cont.)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451555" y="1831112"/>
            <a:ext cx="9279466" cy="4457631"/>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2) SWOT Analysis: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Purpose: </a:t>
            </a:r>
            <a:r>
              <a:rPr lang="en-AU" sz="2400" dirty="0">
                <a:solidFill>
                  <a:schemeClr val="tx1">
                    <a:lumMod val="75000"/>
                    <a:lumOff val="25000"/>
                  </a:schemeClr>
                </a:solidFill>
                <a:highlight>
                  <a:srgbClr val="FFFFFF"/>
                </a:highlight>
                <a:latin typeface="+mn-lt"/>
                <a:cs typeface="+mn-cs"/>
              </a:rPr>
              <a:t>Identifies the Strengths, Weaknesses, Opportunities, and Threats related to the IT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Steps:</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Strengths: What did the team do well? What resources and capabilities were effectively utilised?</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Weaknesses: What could have been improved? What obstacles were encountered?</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Opportunities: What opportunities were identified during the project? How can they be leveraged in the future?</a:t>
            </a:r>
          </a:p>
          <a:p>
            <a:pPr marL="1754188" lvl="4"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Threats: What risks emerged? How can they be mitigated in future projects?</a:t>
            </a:r>
          </a:p>
        </p:txBody>
      </p:sp>
    </p:spTree>
    <p:extLst>
      <p:ext uri="{BB962C8B-B14F-4D97-AF65-F5344CB8AC3E}">
        <p14:creationId xmlns:p14="http://schemas.microsoft.com/office/powerpoint/2010/main" val="15641997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Methods (cont.)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4D31BFD0-48DC-2649-E913-8362780E4204}"/>
              </a:ext>
            </a:extLst>
          </p:cNvPr>
          <p:cNvPicPr>
            <a:picLocks noChangeAspect="1"/>
          </p:cNvPicPr>
          <p:nvPr/>
        </p:nvPicPr>
        <p:blipFill>
          <a:blip r:embed="rId3"/>
          <a:stretch>
            <a:fillRect/>
          </a:stretch>
        </p:blipFill>
        <p:spPr>
          <a:xfrm>
            <a:off x="474839" y="1831112"/>
            <a:ext cx="8194322" cy="4412327"/>
          </a:xfrm>
          <a:prstGeom prst="rect">
            <a:avLst/>
          </a:prstGeom>
        </p:spPr>
      </p:pic>
    </p:spTree>
    <p:extLst>
      <p:ext uri="{BB962C8B-B14F-4D97-AF65-F5344CB8AC3E}">
        <p14:creationId xmlns:p14="http://schemas.microsoft.com/office/powerpoint/2010/main" val="3017287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Implementing</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831112"/>
            <a:ext cx="9016998" cy="4136517"/>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Creating a Reflective Culture:</a:t>
            </a:r>
          </a:p>
          <a:p>
            <a:pPr marL="485775" lvl="1" indent="-285750">
              <a:lnSpc>
                <a:spcPct val="90000"/>
              </a:lnSpc>
              <a:buClr>
                <a:schemeClr val="accent1"/>
              </a:buClr>
              <a:buFont typeface="Arial" panose="020B0604020202020204" pitchFamily="34" charset="0"/>
              <a:buChar char="•"/>
            </a:pPr>
            <a:endParaRPr lang="en-AU" sz="2400"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Encouraging Open Communication: </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Promote a culture where team members feel comfortable sharing their thoughts and feedback.</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Regular team meetings and open forums for discussing project progress and challenges.</a:t>
            </a:r>
          </a:p>
          <a:p>
            <a:pPr marL="1114425" lvl="3">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Documentation and Knowledge Sharing:</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Maintain detailed records of reflections, lessons learned, and best practices.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Use knowledge management systems to store and share these documents across the organisation.</a:t>
            </a:r>
          </a:p>
        </p:txBody>
      </p:sp>
    </p:spTree>
    <p:extLst>
      <p:ext uri="{BB962C8B-B14F-4D97-AF65-F5344CB8AC3E}">
        <p14:creationId xmlns:p14="http://schemas.microsoft.com/office/powerpoint/2010/main" val="21853765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Critical Reflection on Project Performance:</a:t>
            </a:r>
            <a:br>
              <a:rPr lang="en-AU" sz="3600" b="1" dirty="0">
                <a:solidFill>
                  <a:srgbClr val="00B0F0"/>
                </a:solidFill>
              </a:rPr>
            </a:br>
            <a:r>
              <a:rPr lang="en-AU" sz="3600" b="1" dirty="0">
                <a:solidFill>
                  <a:schemeClr val="accent2">
                    <a:lumMod val="75000"/>
                  </a:schemeClr>
                </a:solidFill>
              </a:rPr>
              <a:t>Implementing</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831112"/>
            <a:ext cx="9016998" cy="4385816"/>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Practical Steps for Integrating Reflection:</a:t>
            </a:r>
          </a:p>
          <a:p>
            <a:pPr marL="485775" lvl="1" indent="-285750">
              <a:lnSpc>
                <a:spcPct val="90000"/>
              </a:lnSpc>
              <a:buClr>
                <a:schemeClr val="accent1"/>
              </a:buClr>
              <a:buFont typeface="Arial" panose="020B0604020202020204" pitchFamily="34" charset="0"/>
              <a:buChar char="•"/>
            </a:pPr>
            <a:endParaRPr lang="en-AU" sz="2400"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Scheduled Reflection Sessions: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Plan regular reflection sessions at key project milestones (e.g., post-planning, mid-project, post-implementation).</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Feedback Mechanisms: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Implement anonymous surveys and feedback forms to gather honest input from team members.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 project management tools to track feedback and action items.</a:t>
            </a: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Action Plans: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Develop action plans based on reflection outcomes to address identified issues and leverage strengths.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Assign responsibilities and timelines to ensure that reflective insights lead to concrete improvements.</a:t>
            </a:r>
          </a:p>
        </p:txBody>
      </p:sp>
    </p:spTree>
    <p:extLst>
      <p:ext uri="{BB962C8B-B14F-4D97-AF65-F5344CB8AC3E}">
        <p14:creationId xmlns:p14="http://schemas.microsoft.com/office/powerpoint/2010/main" val="38621058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Integration of Evaluation into Project Management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810573"/>
            <a:ext cx="9016998" cy="4371966"/>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Incorporating Evaluation into the Project Lifecycle</a:t>
            </a:r>
          </a:p>
          <a:p>
            <a:pPr marL="657225" lvl="2">
              <a:lnSpc>
                <a:spcPct val="90000"/>
              </a:lnSpc>
              <a:buClr>
                <a:schemeClr val="accent1"/>
              </a:buClr>
            </a:pPr>
            <a:endParaRPr lang="en-AU"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Definition: </a:t>
            </a:r>
            <a:r>
              <a:rPr lang="en-AU" sz="2000" dirty="0">
                <a:solidFill>
                  <a:schemeClr val="tx1">
                    <a:lumMod val="75000"/>
                    <a:lumOff val="25000"/>
                  </a:schemeClr>
                </a:solidFill>
                <a:highlight>
                  <a:srgbClr val="FFFFFF"/>
                </a:highlight>
                <a:latin typeface="+mn-lt"/>
                <a:cs typeface="+mn-cs"/>
              </a:rPr>
              <a:t>Embedding systematic assessments throughout the project lifecycle.</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Purpose: </a:t>
            </a:r>
            <a:r>
              <a:rPr lang="en-AU" sz="2000" dirty="0">
                <a:solidFill>
                  <a:schemeClr val="tx1">
                    <a:lumMod val="75000"/>
                    <a:lumOff val="25000"/>
                  </a:schemeClr>
                </a:solidFill>
                <a:highlight>
                  <a:srgbClr val="FFFFFF"/>
                </a:highlight>
                <a:latin typeface="+mn-lt"/>
                <a:cs typeface="+mn-cs"/>
              </a:rPr>
              <a:t>Align activities with objectives, use resources efficiently, and meet stakeholder expectations.</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Evaluation Phases:</a:t>
            </a:r>
          </a:p>
          <a:p>
            <a:pPr marL="1400175" lvl="3" indent="-285750">
              <a:lnSpc>
                <a:spcPct val="90000"/>
              </a:lnSpc>
              <a:buClr>
                <a:schemeClr val="accent1"/>
              </a:buClr>
              <a:buFont typeface="Arial" panose="020B0604020202020204" pitchFamily="34" charset="0"/>
              <a:buChar char="•"/>
            </a:pPr>
            <a:r>
              <a:rPr lang="en-AU" sz="1900" u="sng" dirty="0">
                <a:solidFill>
                  <a:schemeClr val="tx1">
                    <a:lumMod val="75000"/>
                    <a:lumOff val="25000"/>
                  </a:schemeClr>
                </a:solidFill>
                <a:highlight>
                  <a:srgbClr val="FFFFFF"/>
                </a:highlight>
                <a:latin typeface="+mn-lt"/>
                <a:cs typeface="+mn-cs"/>
              </a:rPr>
              <a:t>Initiation Phase:</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Feasibility Studies: Assess project viability, risks, and benefits.</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Stakeholder Analysis: Evaluate stakeholder needs and impacts.</a:t>
            </a:r>
          </a:p>
          <a:p>
            <a:pPr marL="1400175" lvl="3" indent="-285750">
              <a:lnSpc>
                <a:spcPct val="90000"/>
              </a:lnSpc>
              <a:buClr>
                <a:schemeClr val="accent1"/>
              </a:buClr>
              <a:buFont typeface="Arial" panose="020B0604020202020204" pitchFamily="34" charset="0"/>
              <a:buChar char="•"/>
            </a:pPr>
            <a:r>
              <a:rPr lang="en-AU" sz="1900" u="sng" dirty="0">
                <a:solidFill>
                  <a:schemeClr val="tx1">
                    <a:lumMod val="75000"/>
                    <a:lumOff val="25000"/>
                  </a:schemeClr>
                </a:solidFill>
                <a:highlight>
                  <a:srgbClr val="FFFFFF"/>
                </a:highlight>
                <a:latin typeface="+mn-lt"/>
                <a:cs typeface="+mn-cs"/>
              </a:rPr>
              <a:t>Planning Phase:</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Defining Metrics: Establish criteria for project success.</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Baseline Assessments: Capture initial conditions and set benchmarks.</a:t>
            </a:r>
          </a:p>
          <a:p>
            <a:pPr marL="1400175" lvl="3" indent="-285750">
              <a:lnSpc>
                <a:spcPct val="90000"/>
              </a:lnSpc>
              <a:buClr>
                <a:schemeClr val="accent1"/>
              </a:buClr>
              <a:buFont typeface="Arial" panose="020B0604020202020204" pitchFamily="34" charset="0"/>
              <a:buChar char="•"/>
            </a:pPr>
            <a:r>
              <a:rPr lang="en-AU" sz="1900" u="sng" dirty="0">
                <a:solidFill>
                  <a:schemeClr val="tx1">
                    <a:lumMod val="75000"/>
                    <a:lumOff val="25000"/>
                  </a:schemeClr>
                </a:solidFill>
                <a:highlight>
                  <a:srgbClr val="FFFFFF"/>
                </a:highlight>
                <a:latin typeface="+mn-lt"/>
                <a:cs typeface="+mn-cs"/>
              </a:rPr>
              <a:t>Execution Phase:</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Continuous Monitoring: Track progress against plans.</a:t>
            </a:r>
          </a:p>
          <a:p>
            <a:pPr marL="1857375" lvl="4" indent="-285750">
              <a:lnSpc>
                <a:spcPct val="90000"/>
              </a:lnSpc>
              <a:buClr>
                <a:schemeClr val="accent1"/>
              </a:buClr>
              <a:buFont typeface="Arial" panose="020B0604020202020204" pitchFamily="34" charset="0"/>
              <a:buChar char="•"/>
            </a:pPr>
            <a:r>
              <a:rPr lang="en-AU" sz="1900" dirty="0">
                <a:solidFill>
                  <a:schemeClr val="tx1">
                    <a:lumMod val="75000"/>
                    <a:lumOff val="25000"/>
                  </a:schemeClr>
                </a:solidFill>
                <a:highlight>
                  <a:srgbClr val="FFFFFF"/>
                </a:highlight>
                <a:latin typeface="+mn-lt"/>
                <a:cs typeface="+mn-cs"/>
              </a:rPr>
              <a:t>Mid-Project Reviews: Conduct reviews at key milestones.</a:t>
            </a:r>
          </a:p>
        </p:txBody>
      </p:sp>
    </p:spTree>
    <p:extLst>
      <p:ext uri="{BB962C8B-B14F-4D97-AF65-F5344CB8AC3E}">
        <p14:creationId xmlns:p14="http://schemas.microsoft.com/office/powerpoint/2010/main" val="31419244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Impact Assessment and Stakeholder Feedback</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2" name="Picture 2" descr="Organizational project management's strategy execution framework">
            <a:extLst>
              <a:ext uri="{FF2B5EF4-FFF2-40B4-BE49-F238E27FC236}">
                <a16:creationId xmlns:a16="http://schemas.microsoft.com/office/drawing/2014/main" id="{9A9188AF-DE2B-929A-1F30-0774A7A67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188" y="1831112"/>
            <a:ext cx="6305550"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8056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Impact Assessment and Stakeholder Feedback</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810573"/>
            <a:ext cx="9016998" cy="3388620"/>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Importance of Impact Assessment:</a:t>
            </a:r>
          </a:p>
          <a:p>
            <a:pPr marL="657225" lvl="2">
              <a:lnSpc>
                <a:spcPct val="90000"/>
              </a:lnSpc>
              <a:buClr>
                <a:schemeClr val="accent1"/>
              </a:buClr>
            </a:pPr>
            <a:endParaRPr lang="en-AU"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Definition</a:t>
            </a:r>
            <a:r>
              <a:rPr lang="en-AU" sz="2000" dirty="0">
                <a:solidFill>
                  <a:schemeClr val="tx1">
                    <a:lumMod val="75000"/>
                    <a:lumOff val="25000"/>
                  </a:schemeClr>
                </a:solidFill>
                <a:highlight>
                  <a:srgbClr val="FFFFFF"/>
                </a:highlight>
                <a:latin typeface="+mn-lt"/>
                <a:cs typeface="+mn-cs"/>
              </a:rPr>
              <a:t>: Impact assessment involves evaluating the effects of an IT project on various aspects such as business processes, user experience, and organisational goals.</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Purpose</a:t>
            </a:r>
            <a:r>
              <a:rPr lang="en-AU" sz="2000" dirty="0">
                <a:solidFill>
                  <a:schemeClr val="tx1">
                    <a:lumMod val="75000"/>
                    <a:lumOff val="25000"/>
                  </a:schemeClr>
                </a:solidFill>
                <a:highlight>
                  <a:srgbClr val="FFFFFF"/>
                </a:highlight>
                <a:latin typeface="+mn-lt"/>
                <a:cs typeface="+mn-cs"/>
              </a:rPr>
              <a:t>: Helps identify positive outcomes and potential drawbacks of the project.</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Benefits: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Informs decision-making for future projects.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Provides insights into project success and areas for improvement.</a:t>
            </a:r>
          </a:p>
        </p:txBody>
      </p:sp>
    </p:spTree>
    <p:extLst>
      <p:ext uri="{BB962C8B-B14F-4D97-AF65-F5344CB8AC3E}">
        <p14:creationId xmlns:p14="http://schemas.microsoft.com/office/powerpoint/2010/main" val="10890518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Impact Assessment and Stakeholder Feedback (cont.)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810573"/>
            <a:ext cx="9016998" cy="3665619"/>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Conducting an Impact Assessment:</a:t>
            </a:r>
          </a:p>
          <a:p>
            <a:pPr marL="657225" lvl="2">
              <a:lnSpc>
                <a:spcPct val="90000"/>
              </a:lnSpc>
              <a:buClr>
                <a:schemeClr val="accent1"/>
              </a:buClr>
            </a:pPr>
            <a:endParaRPr lang="en-AU" b="1"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Key Steps: </a:t>
            </a:r>
            <a:r>
              <a:rPr lang="en-AU" sz="2000" dirty="0">
                <a:solidFill>
                  <a:schemeClr val="tx1">
                    <a:lumMod val="75000"/>
                    <a:lumOff val="25000"/>
                  </a:schemeClr>
                </a:solidFill>
                <a:highlight>
                  <a:srgbClr val="FFFFFF"/>
                </a:highlight>
                <a:latin typeface="+mn-lt"/>
                <a:cs typeface="+mn-cs"/>
              </a:rPr>
              <a:t>Define Metrics: Establish criteria for measuring project impact (e.g., efficiency gains, user satisfaction, cost savings).</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Collect Data: </a:t>
            </a:r>
            <a:r>
              <a:rPr lang="en-AU" sz="2000" dirty="0">
                <a:solidFill>
                  <a:schemeClr val="tx1">
                    <a:lumMod val="75000"/>
                    <a:lumOff val="25000"/>
                  </a:schemeClr>
                </a:solidFill>
                <a:highlight>
                  <a:srgbClr val="FFFFFF"/>
                </a:highlight>
                <a:latin typeface="+mn-lt"/>
                <a:cs typeface="+mn-cs"/>
              </a:rPr>
              <a:t>Gather quantitative and qualitative data through surveys, interviews, and performance analytics.</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Analyse Results: </a:t>
            </a:r>
            <a:r>
              <a:rPr lang="en-AU" sz="2000" dirty="0">
                <a:solidFill>
                  <a:schemeClr val="tx1">
                    <a:lumMod val="75000"/>
                    <a:lumOff val="25000"/>
                  </a:schemeClr>
                </a:solidFill>
                <a:highlight>
                  <a:srgbClr val="FFFFFF"/>
                </a:highlight>
                <a:latin typeface="+mn-lt"/>
                <a:cs typeface="+mn-cs"/>
              </a:rPr>
              <a:t>Compare pre- and post-implementation data to assess changes and impacts.</a:t>
            </a:r>
          </a:p>
          <a:p>
            <a:pPr marL="657225" lvl="2">
              <a:lnSpc>
                <a:spcPct val="90000"/>
              </a:lnSpc>
              <a:buClr>
                <a:schemeClr val="accent1"/>
              </a:buCl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Report Findings: </a:t>
            </a:r>
            <a:r>
              <a:rPr lang="en-AU" sz="2000" dirty="0">
                <a:solidFill>
                  <a:schemeClr val="tx1">
                    <a:lumMod val="75000"/>
                    <a:lumOff val="25000"/>
                  </a:schemeClr>
                </a:solidFill>
                <a:highlight>
                  <a:srgbClr val="FFFFFF"/>
                </a:highlight>
                <a:latin typeface="+mn-lt"/>
                <a:cs typeface="+mn-cs"/>
              </a:rPr>
              <a:t>Summarise the assessment in a clear, structured report highlighting key insights and recommendations.</a:t>
            </a:r>
          </a:p>
        </p:txBody>
      </p:sp>
    </p:spTree>
    <p:extLst>
      <p:ext uri="{BB962C8B-B14F-4D97-AF65-F5344CB8AC3E}">
        <p14:creationId xmlns:p14="http://schemas.microsoft.com/office/powerpoint/2010/main" val="576862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Impact Assessment and Stakeholder Feedback (cont.)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754304"/>
            <a:ext cx="9215967" cy="5299912"/>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Stakeholder Feedback:</a:t>
            </a:r>
          </a:p>
          <a:p>
            <a:pPr marL="657225" lvl="2">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Definition: </a:t>
            </a:r>
            <a:r>
              <a:rPr lang="en-AU" dirty="0">
                <a:solidFill>
                  <a:schemeClr val="tx1">
                    <a:lumMod val="75000"/>
                    <a:lumOff val="25000"/>
                  </a:schemeClr>
                </a:solidFill>
                <a:highlight>
                  <a:srgbClr val="FFFFFF"/>
                </a:highlight>
                <a:latin typeface="+mn-lt"/>
                <a:cs typeface="+mn-cs"/>
              </a:rPr>
              <a:t>Stakeholder feedback involves gathering input from those affected by or involved in the project.</a:t>
            </a:r>
          </a:p>
          <a:p>
            <a:pPr marL="657225" lvl="2">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Gathering Stakeholder Feedback:</a:t>
            </a:r>
          </a:p>
          <a:p>
            <a:pPr marL="1400175" lvl="3" indent="-285750">
              <a:lnSpc>
                <a:spcPct val="90000"/>
              </a:lnSpc>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Methods:</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Surveys and Questionnaires: </a:t>
            </a:r>
            <a:r>
              <a:rPr lang="en-AU" dirty="0">
                <a:solidFill>
                  <a:schemeClr val="tx1">
                    <a:lumMod val="75000"/>
                    <a:lumOff val="25000"/>
                  </a:schemeClr>
                </a:solidFill>
                <a:highlight>
                  <a:srgbClr val="FFFFFF"/>
                </a:highlight>
                <a:latin typeface="+mn-lt"/>
                <a:cs typeface="+mn-cs"/>
              </a:rPr>
              <a:t>Efficient way to collect feedback from a large number of stakeholders.</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Interviews and Focus Groups: </a:t>
            </a:r>
            <a:r>
              <a:rPr lang="en-AU" dirty="0">
                <a:solidFill>
                  <a:schemeClr val="tx1">
                    <a:lumMod val="75000"/>
                    <a:lumOff val="25000"/>
                  </a:schemeClr>
                </a:solidFill>
                <a:highlight>
                  <a:srgbClr val="FFFFFF"/>
                </a:highlight>
                <a:latin typeface="+mn-lt"/>
                <a:cs typeface="+mn-cs"/>
              </a:rPr>
              <a:t>Provides in-depth insights and allows for interactive discussions.</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Feedback Forms: </a:t>
            </a:r>
            <a:r>
              <a:rPr lang="en-AU" dirty="0">
                <a:solidFill>
                  <a:schemeClr val="tx1">
                    <a:lumMod val="75000"/>
                    <a:lumOff val="25000"/>
                  </a:schemeClr>
                </a:solidFill>
                <a:highlight>
                  <a:srgbClr val="FFFFFF"/>
                </a:highlight>
                <a:latin typeface="+mn-lt"/>
                <a:cs typeface="+mn-cs"/>
              </a:rPr>
              <a:t>Simple and accessible means for stakeholders to provide input.</a:t>
            </a:r>
          </a:p>
          <a:p>
            <a:pPr marL="1400175" lvl="3" indent="-285750">
              <a:lnSpc>
                <a:spcPct val="90000"/>
              </a:lnSpc>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Key Considerations:</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Anonymity: </a:t>
            </a:r>
            <a:r>
              <a:rPr lang="en-AU" dirty="0">
                <a:solidFill>
                  <a:schemeClr val="tx1">
                    <a:lumMod val="75000"/>
                    <a:lumOff val="25000"/>
                  </a:schemeClr>
                </a:solidFill>
                <a:highlight>
                  <a:srgbClr val="FFFFFF"/>
                </a:highlight>
                <a:latin typeface="+mn-lt"/>
                <a:cs typeface="+mn-cs"/>
              </a:rPr>
              <a:t>Ensure confidentiality to encourage honest feedback.</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Relevance: </a:t>
            </a:r>
            <a:r>
              <a:rPr lang="en-AU" dirty="0">
                <a:solidFill>
                  <a:schemeClr val="tx1">
                    <a:lumMod val="75000"/>
                    <a:lumOff val="25000"/>
                  </a:schemeClr>
                </a:solidFill>
                <a:highlight>
                  <a:srgbClr val="FFFFFF"/>
                </a:highlight>
                <a:latin typeface="+mn-lt"/>
                <a:cs typeface="+mn-cs"/>
              </a:rPr>
              <a:t>Tailor questions to gather specific, actionable insights.</a:t>
            </a:r>
          </a:p>
          <a:p>
            <a:pPr marL="1857375" lvl="4"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Follow-Up: </a:t>
            </a:r>
            <a:r>
              <a:rPr lang="en-AU" dirty="0">
                <a:solidFill>
                  <a:schemeClr val="tx1">
                    <a:lumMod val="75000"/>
                    <a:lumOff val="25000"/>
                  </a:schemeClr>
                </a:solidFill>
                <a:highlight>
                  <a:srgbClr val="FFFFFF"/>
                </a:highlight>
                <a:latin typeface="+mn-lt"/>
                <a:cs typeface="+mn-cs"/>
              </a:rPr>
              <a:t>Address feedback received and inform stakeholders of any actions taken as a result.</a:t>
            </a: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2806752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Incorporating Lessons Learned into Future Projects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98967" y="1754304"/>
            <a:ext cx="9215967" cy="4718215"/>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Documenting Lessons Learned:</a:t>
            </a:r>
          </a:p>
          <a:p>
            <a:pPr marL="657225" lvl="2">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Collection Methods:</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Post-Project Reviews: </a:t>
            </a:r>
            <a:r>
              <a:rPr lang="en-AU" dirty="0">
                <a:solidFill>
                  <a:schemeClr val="tx1">
                    <a:lumMod val="75000"/>
                    <a:lumOff val="25000"/>
                  </a:schemeClr>
                </a:solidFill>
                <a:highlight>
                  <a:srgbClr val="FFFFFF"/>
                </a:highlight>
                <a:latin typeface="+mn-lt"/>
                <a:cs typeface="+mn-cs"/>
              </a:rPr>
              <a:t>Conduct formal meetings at the end of the project to gather team feedback.</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Surveys and Questionnaires</a:t>
            </a:r>
            <a:r>
              <a:rPr lang="en-AU" dirty="0">
                <a:solidFill>
                  <a:schemeClr val="tx1">
                    <a:lumMod val="75000"/>
                    <a:lumOff val="25000"/>
                  </a:schemeClr>
                </a:solidFill>
                <a:highlight>
                  <a:srgbClr val="FFFFFF"/>
                </a:highlight>
                <a:latin typeface="+mn-lt"/>
                <a:cs typeface="+mn-cs"/>
              </a:rPr>
              <a:t>: Collect input from team members and stakeholders about their experiences.</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Project Logs and Reports: </a:t>
            </a:r>
            <a:r>
              <a:rPr lang="en-AU" dirty="0">
                <a:solidFill>
                  <a:schemeClr val="tx1">
                    <a:lumMod val="75000"/>
                    <a:lumOff val="25000"/>
                  </a:schemeClr>
                </a:solidFill>
                <a:highlight>
                  <a:srgbClr val="FFFFFF"/>
                </a:highlight>
                <a:latin typeface="+mn-lt"/>
                <a:cs typeface="+mn-cs"/>
              </a:rPr>
              <a:t>Review documentation for issues and successes noted during the project.</a:t>
            </a:r>
          </a:p>
          <a:p>
            <a:pPr marL="1114425" lvl="3">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Key Areas to Document:</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Project Planning: </a:t>
            </a:r>
            <a:r>
              <a:rPr lang="en-AU" dirty="0">
                <a:solidFill>
                  <a:schemeClr val="tx1">
                    <a:lumMod val="75000"/>
                    <a:lumOff val="25000"/>
                  </a:schemeClr>
                </a:solidFill>
                <a:highlight>
                  <a:srgbClr val="FFFFFF"/>
                </a:highlight>
                <a:latin typeface="+mn-lt"/>
                <a:cs typeface="+mn-cs"/>
              </a:rPr>
              <a:t>What planning steps were successful or need improvement?</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Execution: </a:t>
            </a:r>
            <a:r>
              <a:rPr lang="en-AU" dirty="0">
                <a:solidFill>
                  <a:schemeClr val="tx1">
                    <a:lumMod val="75000"/>
                    <a:lumOff val="25000"/>
                  </a:schemeClr>
                </a:solidFill>
                <a:highlight>
                  <a:srgbClr val="FFFFFF"/>
                </a:highlight>
                <a:latin typeface="+mn-lt"/>
                <a:cs typeface="+mn-cs"/>
              </a:rPr>
              <a:t>Which processes and methods worked well or caused problems?</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Team Performance: </a:t>
            </a:r>
            <a:r>
              <a:rPr lang="en-AU" dirty="0">
                <a:solidFill>
                  <a:schemeClr val="tx1">
                    <a:lumMod val="75000"/>
                    <a:lumOff val="25000"/>
                  </a:schemeClr>
                </a:solidFill>
                <a:highlight>
                  <a:srgbClr val="FFFFFF"/>
                </a:highlight>
                <a:latin typeface="+mn-lt"/>
                <a:cs typeface="+mn-cs"/>
              </a:rPr>
              <a:t>How did the team dynamics and collaboration impact the project?</a:t>
            </a:r>
          </a:p>
          <a:p>
            <a:pPr marL="1400175" lvl="3" indent="-285750">
              <a:lnSpc>
                <a:spcPct val="90000"/>
              </a:lnSpc>
              <a:buClr>
                <a:schemeClr val="accent1"/>
              </a:buClr>
              <a:buFont typeface="Arial" panose="020B0604020202020204" pitchFamily="34" charset="0"/>
              <a:buChar char="•"/>
            </a:pPr>
            <a:r>
              <a:rPr lang="en-AU" u="sng" dirty="0">
                <a:solidFill>
                  <a:schemeClr val="tx1">
                    <a:lumMod val="75000"/>
                    <a:lumOff val="25000"/>
                  </a:schemeClr>
                </a:solidFill>
                <a:highlight>
                  <a:srgbClr val="FFFFFF"/>
                </a:highlight>
                <a:latin typeface="+mn-lt"/>
                <a:cs typeface="+mn-cs"/>
              </a:rPr>
              <a:t>Stakeholder Engagement: </a:t>
            </a:r>
            <a:r>
              <a:rPr lang="en-AU" dirty="0">
                <a:solidFill>
                  <a:schemeClr val="tx1">
                    <a:lumMod val="75000"/>
                    <a:lumOff val="25000"/>
                  </a:schemeClr>
                </a:solidFill>
                <a:highlight>
                  <a:srgbClr val="FFFFFF"/>
                </a:highlight>
                <a:latin typeface="+mn-lt"/>
                <a:cs typeface="+mn-cs"/>
              </a:rPr>
              <a:t>What were the successes and challenges in stakeholder communication and involvement?</a:t>
            </a:r>
          </a:p>
          <a:p>
            <a:pPr marL="942975" lvl="2" indent="-285750">
              <a:lnSpc>
                <a:spcPct val="90000"/>
              </a:lnSpc>
              <a:buClr>
                <a:schemeClr val="accent1"/>
              </a:buClr>
              <a:buFont typeface="Arial" panose="020B0604020202020204" pitchFamily="34" charset="0"/>
              <a:buChar char="•"/>
            </a:pPr>
            <a:endParaRPr lang="en-AU" u="sng"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42468482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pPr marL="0" indent="0">
              <a:buNone/>
            </a:pPr>
            <a:r>
              <a:rPr lang="en-AU" sz="2400" b="1" dirty="0">
                <a:solidFill>
                  <a:schemeClr val="accent2">
                    <a:lumMod val="75000"/>
                  </a:schemeClr>
                </a:solidFill>
              </a:rPr>
              <a:t>Scenario: Implementation of a Hospital Management System</a:t>
            </a:r>
          </a:p>
          <a:p>
            <a:pPr marL="0" indent="0">
              <a:buNone/>
            </a:pPr>
            <a:r>
              <a:rPr lang="en-AU" dirty="0"/>
              <a:t>You are the project manager for a team tasked with implementing a new Hospital Management System (HMS) at a regional hospital. The project aimed to replace the outdated system with a more efficient and user-friendly software that integrates patient records, appointment scheduling, billing, and inventory management. The project has recently been completed, and you are now in the phase of evaluating the project and reflecting on its outcomes.</a:t>
            </a:r>
          </a:p>
          <a:p>
            <a:pPr marL="0" indent="0">
              <a:buNone/>
            </a:pPr>
            <a:r>
              <a:rPr lang="en-AU" b="1" dirty="0"/>
              <a:t>Questions:</a:t>
            </a:r>
          </a:p>
          <a:p>
            <a:pPr>
              <a:buFont typeface="+mj-lt"/>
              <a:buAutoNum type="arabicPeriod"/>
            </a:pPr>
            <a:r>
              <a:rPr lang="en-AU" sz="1800" dirty="0"/>
              <a:t>What are the main objectives of the Hospital Management System project?</a:t>
            </a:r>
          </a:p>
          <a:p>
            <a:pPr>
              <a:buFont typeface="+mj-lt"/>
              <a:buAutoNum type="arabicPeriod"/>
            </a:pPr>
            <a:r>
              <a:rPr lang="en-AU" sz="1800" dirty="0"/>
              <a:t>What methods you can use to evaluate the success of the project?</a:t>
            </a:r>
          </a:p>
          <a:p>
            <a:pPr>
              <a:buFont typeface="+mj-lt"/>
              <a:buAutoNum type="arabicPeriod"/>
            </a:pPr>
            <a:r>
              <a:rPr lang="en-AU" sz="1800" dirty="0"/>
              <a:t>How stakeholder feedback influences the project's outcomes?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878232"/>
            <a:ext cx="8643668" cy="4321533"/>
          </a:xfrm>
        </p:spPr>
        <p:txBody>
          <a:bodyPr/>
          <a:lstStyle/>
          <a:p>
            <a:pPr>
              <a:buFont typeface="+mj-lt"/>
              <a:buAutoNum type="arabicPeriod"/>
            </a:pPr>
            <a:r>
              <a:rPr lang="en-AU" sz="2400" b="1" dirty="0">
                <a:solidFill>
                  <a:schemeClr val="accent1">
                    <a:lumMod val="75000"/>
                  </a:schemeClr>
                </a:solidFill>
              </a:rPr>
              <a:t>What are the main objectives of the Hospital Management System project?</a:t>
            </a:r>
          </a:p>
          <a:p>
            <a:pPr marL="0" indent="0">
              <a:buNone/>
            </a:pPr>
            <a:endParaRPr lang="en-AU" sz="2400" dirty="0"/>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Improve Efficiency: Streamline hospital operations by integrating various functions (patient records, scheduling, billing, inventory).</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Enhance User Experience: Provide a more user-friendly interface for hospital staff and patients.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Data Accuracy: Ensure accurate and up-to-date patient information.</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Compliance: Ensure the system meets healthcare regulations and standards.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Cost Reduction: Reduce operational costs through automation and improved resource management.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831112"/>
            <a:ext cx="8643668" cy="4321533"/>
          </a:xfrm>
        </p:spPr>
        <p:txBody>
          <a:bodyPr/>
          <a:lstStyle/>
          <a:p>
            <a:pPr marL="0" indent="0">
              <a:buNone/>
            </a:pPr>
            <a:r>
              <a:rPr lang="en-AU" sz="2400" b="1" dirty="0">
                <a:solidFill>
                  <a:schemeClr val="accent1">
                    <a:lumMod val="75000"/>
                  </a:schemeClr>
                </a:solidFill>
              </a:rPr>
              <a:t>2. What methods you can use to evaluate the success of the project?</a:t>
            </a:r>
          </a:p>
          <a:p>
            <a:pPr marL="0" indent="0">
              <a:buNone/>
            </a:pPr>
            <a:endParaRPr lang="en-AU" sz="2400" b="1" dirty="0">
              <a:solidFill>
                <a:schemeClr val="accent1">
                  <a:lumMod val="75000"/>
                </a:schemeClr>
              </a:solidFill>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Performance Metrics: Track key performance indicators (KPIs) such as system uptime, processing speed, and user satisfaction.</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User Surveys: Collect feedback from hospital staff and patients regarding their experience with the new system.</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Audit Reports: Conduct audits to ensure compliance with healthcare standards and regulations.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Operational Reports: Analyse data on appointment scheduling, billing accuracy, and inventory management efficiency.</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Stakeholder Meetings: Hold review meetings with stakeholders to discuss project outcomes and gather feedback.</a:t>
            </a:r>
            <a:endParaRPr lang="en-AU" sz="2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8522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763031"/>
            <a:ext cx="8643668" cy="4321533"/>
          </a:xfrm>
        </p:spPr>
        <p:txBody>
          <a:bodyPr/>
          <a:lstStyle/>
          <a:p>
            <a:pPr marL="0" indent="0">
              <a:buNone/>
            </a:pPr>
            <a:r>
              <a:rPr lang="en-AU" sz="2400" b="1" dirty="0">
                <a:solidFill>
                  <a:schemeClr val="accent1">
                    <a:lumMod val="75000"/>
                  </a:schemeClr>
                </a:solidFill>
              </a:rPr>
              <a:t>3.How stakeholder feedback influences the project's outcomes?</a:t>
            </a:r>
          </a:p>
          <a:p>
            <a:pPr marL="942975" lvl="2" indent="-285750" defTabSz="457200">
              <a:spcBef>
                <a:spcPct val="0"/>
              </a:spcBef>
              <a:spcAft>
                <a:spcPct val="0"/>
              </a:spcAft>
              <a:buFont typeface="Arial" panose="020B0604020202020204" pitchFamily="34" charset="0"/>
              <a:buChar char="•"/>
            </a:pPr>
            <a:endParaRPr lang="en-AU" sz="2400" dirty="0">
              <a:solidFill>
                <a:schemeClr val="tx1">
                  <a:lumMod val="75000"/>
                  <a:lumOff val="25000"/>
                </a:schemeClr>
              </a:solidFill>
              <a:highlight>
                <a:srgbClr val="FFFFFF"/>
              </a:highlight>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User Feedback: Input from hospital staff led to modifications in the user interface to make it more intuitive.</a:t>
            </a:r>
          </a:p>
          <a:p>
            <a:pPr marL="657225" lvl="2" indent="0" defTabSz="457200">
              <a:spcBef>
                <a:spcPct val="0"/>
              </a:spcBef>
              <a:spcAft>
                <a:spcPct val="0"/>
              </a:spcAft>
              <a:buNone/>
            </a:pPr>
            <a:endParaRPr lang="en-AU" sz="2000" dirty="0">
              <a:solidFill>
                <a:schemeClr val="tx1">
                  <a:lumMod val="75000"/>
                  <a:lumOff val="25000"/>
                </a:schemeClr>
              </a:solidFill>
              <a:highlight>
                <a:srgbClr val="FFFFFF"/>
              </a:highlight>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Patient Feedback: Feedback from patients resulted in improved appointment scheduling features.</a:t>
            </a:r>
          </a:p>
          <a:p>
            <a:pPr marL="657225" lvl="2" indent="0" defTabSz="457200">
              <a:spcBef>
                <a:spcPct val="0"/>
              </a:spcBef>
              <a:spcAft>
                <a:spcPct val="0"/>
              </a:spcAft>
              <a:buNone/>
            </a:pPr>
            <a:endParaRPr lang="en-AU" sz="2000" dirty="0">
              <a:solidFill>
                <a:schemeClr val="tx1">
                  <a:lumMod val="75000"/>
                  <a:lumOff val="25000"/>
                </a:schemeClr>
              </a:solidFill>
              <a:highlight>
                <a:srgbClr val="FFFFFF"/>
              </a:highlight>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Management Feedback: Insights from hospital management helped prioritise features that improved operational efficiency and compliance</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27066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596135" y="1628829"/>
            <a:ext cx="8293865"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AU" dirty="0"/>
          </a:p>
          <a:p>
            <a:pPr>
              <a:buFont typeface="Arial" panose="020B0604020202020204" pitchFamily="34" charset="0"/>
              <a:buChar char="•"/>
            </a:pPr>
            <a:r>
              <a:rPr lang="en-AU" dirty="0"/>
              <a:t>Techniques for assessing project outcomes and performance effectively.</a:t>
            </a:r>
          </a:p>
          <a:p>
            <a:pPr>
              <a:buFont typeface="Arial" panose="020B0604020202020204" pitchFamily="34" charset="0"/>
              <a:buChar char="•"/>
            </a:pPr>
            <a:r>
              <a:rPr lang="en-AU" dirty="0"/>
              <a:t>Analysed successes and challenges to improve future project management.</a:t>
            </a:r>
          </a:p>
          <a:p>
            <a:pPr>
              <a:buFont typeface="Arial" panose="020B0604020202020204" pitchFamily="34" charset="0"/>
              <a:buChar char="•"/>
            </a:pPr>
            <a:r>
              <a:rPr lang="en-AU" dirty="0"/>
              <a:t>Highlighted the importance of embedding evaluation processes for continuous improvement.</a:t>
            </a:r>
          </a:p>
          <a:p>
            <a:pPr>
              <a:buFont typeface="Arial" panose="020B0604020202020204" pitchFamily="34" charset="0"/>
              <a:buChar char="•"/>
            </a:pPr>
            <a:r>
              <a:rPr lang="en-AU" dirty="0"/>
              <a:t>Emphasised gathering stakeholder perspectives to refine strategies and assess project impact.</a:t>
            </a:r>
          </a:p>
          <a:p>
            <a:pPr>
              <a:buFont typeface="Arial" panose="020B0604020202020204" pitchFamily="34" charset="0"/>
              <a:buChar char="•"/>
            </a:pPr>
            <a:r>
              <a:rPr lang="en-AU" dirty="0"/>
              <a:t>Stressed applying insights from past projects to enhance future planning and execution.</a:t>
            </a:r>
          </a:p>
          <a:p>
            <a:pPr>
              <a:buFont typeface="Arial" panose="020B0604020202020204" pitchFamily="34" charset="0"/>
              <a:buChar char="•"/>
            </a:pPr>
            <a:r>
              <a:rPr lang="en-AU" dirty="0"/>
              <a:t>Underlined ongoing evaluation and reflection as essential for achieving and sustaining project success.</a:t>
            </a:r>
          </a:p>
        </p:txBody>
      </p:sp>
    </p:spTree>
    <p:extLst>
      <p:ext uri="{BB962C8B-B14F-4D97-AF65-F5344CB8AC3E}">
        <p14:creationId xmlns:p14="http://schemas.microsoft.com/office/powerpoint/2010/main" val="26462278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4037</TotalTime>
  <Words>5312</Words>
  <Application>Microsoft Office PowerPoint</Application>
  <PresentationFormat>On-screen Show (4:3)</PresentationFormat>
  <Paragraphs>868</Paragraphs>
  <Slides>102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102</vt:i4>
      </vt:variant>
    </vt:vector>
  </HeadingPairs>
  <TitlesOfParts>
    <vt:vector size="109" baseType="lpstr">
      <vt:lpstr>Arial</vt:lpstr>
      <vt:lpstr>Arial Narrow</vt:lpstr>
      <vt:lpstr>Calibri</vt:lpstr>
      <vt:lpstr>Calibri Light</vt:lpstr>
      <vt:lpstr>Symbol</vt:lpstr>
      <vt:lpstr>Times New Roman</vt:lpstr>
      <vt:lpstr>Retrospect</vt:lpstr>
      <vt:lpstr>PowerPoint Presentation</vt:lpstr>
      <vt:lpstr>What we learned last week</vt:lpstr>
      <vt:lpstr>Evaluating IT Projects in Real Industry</vt:lpstr>
      <vt:lpstr>Why Project Evaluation Matters</vt:lpstr>
      <vt:lpstr>Connecting Week 9 to Assessment 4</vt:lpstr>
      <vt:lpstr>Connecting Week 9 to Assessment 4</vt:lpstr>
      <vt:lpstr>Common Problems NSW IT Support May Face</vt:lpstr>
      <vt:lpstr>Questions Students Can Ask NSW IT Support</vt:lpstr>
      <vt:lpstr>Questions About Stakeholder Feedback</vt:lpstr>
      <vt:lpstr>Questions About Reflection &amp; Lessons Learned</vt:lpstr>
      <vt:lpstr>Helping Students Think Critically</vt:lpstr>
      <vt:lpstr>Example: Evaluation for Assessment 4</vt:lpstr>
      <vt:lpstr>Quantitative Evaluation Examples</vt:lpstr>
      <vt:lpstr>Qualitative Evaluation Examples</vt:lpstr>
      <vt:lpstr>Qualitative Evaluation Examples</vt:lpstr>
      <vt:lpstr>Example Stakeholder Analysis</vt:lpstr>
      <vt:lpstr>Example Challenges &amp; Student Solutions</vt:lpstr>
      <vt:lpstr>Critical Reflection Questions for Students</vt:lpstr>
      <vt:lpstr>Integrating Evaluation into Project Management</vt:lpstr>
      <vt:lpstr>Integrating Evaluation into Project Management</vt:lpstr>
      <vt:lpstr>Example Future Development Ideas</vt:lpstr>
      <vt:lpstr>Questions About Future Technology</vt:lpstr>
      <vt:lpstr>Australian Context (Very Important)</vt:lpstr>
      <vt:lpstr>Australian Industry-Focused Questions</vt:lpstr>
      <vt:lpstr>Professional Communication Tips</vt:lpstr>
      <vt:lpstr>Example Assessment 4 Paragraph</vt:lpstr>
      <vt:lpstr>Example Assessment 4 Paragraph</vt:lpstr>
      <vt:lpstr>Final Advice for Students</vt:lpstr>
      <vt:lpstr>Final Message</vt:lpstr>
      <vt:lpstr>VERY STRONG OPTIONAL ACTIVITY</vt:lpstr>
      <vt:lpstr>Week 9 Pre-Class Readings</vt:lpstr>
      <vt:lpstr>Week 9 Pre-Class Readings</vt:lpstr>
      <vt:lpstr>Week 9 Pre-Class Readings</vt:lpstr>
      <vt:lpstr>Week 9 Pre-Class Readings</vt:lpstr>
      <vt:lpstr>Week 9 Pre-Class Readings</vt:lpstr>
      <vt:lpstr>Week 9 Pre-Class Readings</vt:lpstr>
      <vt:lpstr>Week 9 Pre-Class Readings</vt:lpstr>
      <vt:lpstr>Week 9 Pre-Class Readings</vt:lpstr>
      <vt:lpstr>Week 9 Pre-Class Readings</vt:lpstr>
      <vt:lpstr>Week 9 Pre-Class Readings</vt:lpstr>
      <vt:lpstr>Discussion Questions for Students</vt:lpstr>
      <vt:lpstr>Discussion Questions for Students</vt:lpstr>
      <vt:lpstr>Discussion Questions for Students</vt:lpstr>
      <vt:lpstr>Discussion Questions for Students</vt:lpstr>
      <vt:lpstr>Discussion Questions for Students</vt:lpstr>
      <vt:lpstr>Discussion Questions for Students</vt:lpstr>
      <vt:lpstr>Discussion Questions for Students</vt:lpstr>
      <vt:lpstr>Week 9 Topics</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Discussion Questions for Students</vt:lpstr>
      <vt:lpstr>Discussion Questions for Students</vt:lpstr>
      <vt:lpstr>Discussion Questions for Students</vt:lpstr>
      <vt:lpstr>Discussion Questions for Students</vt:lpstr>
      <vt:lpstr>Discussion Questions for Students</vt:lpstr>
      <vt:lpstr>Discussion Questions for Students</vt:lpstr>
      <vt:lpstr>Discussion Questions for Students</vt:lpstr>
      <vt:lpstr>Discussion Questions for Students</vt:lpstr>
      <vt:lpstr>Methods of IT Project Evaluation</vt:lpstr>
      <vt:lpstr>Methods of IT Project Evaluation</vt:lpstr>
      <vt:lpstr>Methods of IT Project Evaluation:  Quantitative Methods</vt:lpstr>
      <vt:lpstr>Methods of IT Project Evaluation:  Quantitative Methods(cont.)</vt:lpstr>
      <vt:lpstr>Methods of IT Project Evaluation:  Qualitative Evaluation Methods</vt:lpstr>
      <vt:lpstr>Methods o f IT Project Evaluation:  Qualitative Evaluation Methods</vt:lpstr>
      <vt:lpstr>Methods o f IT Project Evaluation:  Qualitative Evaluation Methods</vt:lpstr>
      <vt:lpstr>Critical Reflection on Project Performance</vt:lpstr>
      <vt:lpstr>Critical Reflection on Project Performance： Introduction</vt:lpstr>
      <vt:lpstr>Critical Reflection on Project Performance: Benefits</vt:lpstr>
      <vt:lpstr>Critical Reflection on Project Performance: Methods</vt:lpstr>
      <vt:lpstr>Critical Reflection on Project Performance: Methods (cont.)</vt:lpstr>
      <vt:lpstr>Critical Reflection on Project Performance: Methods (cont.)</vt:lpstr>
      <vt:lpstr>Critical Reflection on Project Performance: Methods (cont.)</vt:lpstr>
      <vt:lpstr>Critical Reflection on Project Performance: Implementing</vt:lpstr>
      <vt:lpstr>Critical Reflection on Project Performance: Implementing</vt:lpstr>
      <vt:lpstr>Integration of Evaluation into Project Management</vt:lpstr>
      <vt:lpstr>Impact Assessment and Stakeholder Feedback</vt:lpstr>
      <vt:lpstr>Impact Assessment and Stakeholder Feedback</vt:lpstr>
      <vt:lpstr>Impact Assessment and Stakeholder Feedback (cont.)</vt:lpstr>
      <vt:lpstr>Impact Assessment and Stakeholder Feedback (cont.)</vt:lpstr>
      <vt:lpstr>Incorporating Lessons Learned into Future Projects</vt:lpstr>
      <vt:lpstr>Group Discussion Case Study </vt:lpstr>
      <vt:lpstr>Case Study: Discussion Points</vt:lpstr>
      <vt:lpstr>Case Study: Discussion Points</vt:lpstr>
      <vt:lpstr>Case Study: Discussion Points</vt:lpstr>
      <vt:lpstr>Summary</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365</cp:revision>
  <dcterms:created xsi:type="dcterms:W3CDTF">2009-10-28T23:36:30Z</dcterms:created>
  <dcterms:modified xsi:type="dcterms:W3CDTF">2026-05-18T02:18:17Z</dcterms:modified>
</cp:coreProperties>
</file>