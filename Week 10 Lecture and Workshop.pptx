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8" r:id="rId1"/>
  </p:sldMasterIdLst>
  <p:notesMasterIdLst>
    <p:notesMasterId r:id="rId120"/>
  </p:notesMasterIdLst>
  <p:handoutMasterIdLst>
    <p:handoutMasterId r:id="rId121"/>
  </p:handoutMasterIdLst>
  <p:sldIdLst>
    <p:sldId id="260" r:id="rId2"/>
    <p:sldId id="286" r:id="rId3"/>
    <p:sldId id="520" r:id="rId4"/>
    <p:sldId id="521" r:id="rId5"/>
    <p:sldId id="522" r:id="rId6"/>
    <p:sldId id="523" r:id="rId7"/>
    <p:sldId id="524" r:id="rId8"/>
    <p:sldId id="525" r:id="rId9"/>
    <p:sldId id="526" r:id="rId10"/>
    <p:sldId id="527" r:id="rId11"/>
    <p:sldId id="528" r:id="rId12"/>
    <p:sldId id="529" r:id="rId13"/>
    <p:sldId id="530" r:id="rId14"/>
    <p:sldId id="531" r:id="rId15"/>
    <p:sldId id="532" r:id="rId16"/>
    <p:sldId id="533" r:id="rId17"/>
    <p:sldId id="534" r:id="rId18"/>
    <p:sldId id="535" r:id="rId19"/>
    <p:sldId id="536" r:id="rId20"/>
    <p:sldId id="537" r:id="rId21"/>
    <p:sldId id="538" r:id="rId22"/>
    <p:sldId id="539" r:id="rId23"/>
    <p:sldId id="540" r:id="rId24"/>
    <p:sldId id="541" r:id="rId25"/>
    <p:sldId id="542" r:id="rId26"/>
    <p:sldId id="543" r:id="rId27"/>
    <p:sldId id="544" r:id="rId28"/>
    <p:sldId id="545" r:id="rId29"/>
    <p:sldId id="546" r:id="rId30"/>
    <p:sldId id="547" r:id="rId31"/>
    <p:sldId id="548" r:id="rId32"/>
    <p:sldId id="549" r:id="rId33"/>
    <p:sldId id="550" r:id="rId34"/>
    <p:sldId id="551" r:id="rId35"/>
    <p:sldId id="552" r:id="rId36"/>
    <p:sldId id="553" r:id="rId37"/>
    <p:sldId id="554" r:id="rId38"/>
    <p:sldId id="555" r:id="rId39"/>
    <p:sldId id="556" r:id="rId40"/>
    <p:sldId id="304" r:id="rId41"/>
    <p:sldId id="519" r:id="rId42"/>
    <p:sldId id="557" r:id="rId43"/>
    <p:sldId id="558" r:id="rId44"/>
    <p:sldId id="559" r:id="rId45"/>
    <p:sldId id="560" r:id="rId46"/>
    <p:sldId id="561" r:id="rId47"/>
    <p:sldId id="562" r:id="rId48"/>
    <p:sldId id="563" r:id="rId49"/>
    <p:sldId id="564" r:id="rId50"/>
    <p:sldId id="457" r:id="rId51"/>
    <p:sldId id="565" r:id="rId52"/>
    <p:sldId id="566" r:id="rId53"/>
    <p:sldId id="567" r:id="rId54"/>
    <p:sldId id="568" r:id="rId55"/>
    <p:sldId id="569" r:id="rId56"/>
    <p:sldId id="570" r:id="rId57"/>
    <p:sldId id="571" r:id="rId58"/>
    <p:sldId id="572" r:id="rId59"/>
    <p:sldId id="573" r:id="rId60"/>
    <p:sldId id="574" r:id="rId61"/>
    <p:sldId id="575" r:id="rId62"/>
    <p:sldId id="576" r:id="rId63"/>
    <p:sldId id="577" r:id="rId64"/>
    <p:sldId id="578" r:id="rId65"/>
    <p:sldId id="412" r:id="rId66"/>
    <p:sldId id="438" r:id="rId67"/>
    <p:sldId id="501" r:id="rId68"/>
    <p:sldId id="502" r:id="rId69"/>
    <p:sldId id="503" r:id="rId70"/>
    <p:sldId id="504" r:id="rId71"/>
    <p:sldId id="505" r:id="rId72"/>
    <p:sldId id="476" r:id="rId73"/>
    <p:sldId id="515" r:id="rId74"/>
    <p:sldId id="506" r:id="rId75"/>
    <p:sldId id="507" r:id="rId76"/>
    <p:sldId id="516" r:id="rId77"/>
    <p:sldId id="508" r:id="rId78"/>
    <p:sldId id="517" r:id="rId79"/>
    <p:sldId id="509" r:id="rId80"/>
    <p:sldId id="510" r:id="rId81"/>
    <p:sldId id="511" r:id="rId82"/>
    <p:sldId id="512" r:id="rId83"/>
    <p:sldId id="513" r:id="rId84"/>
    <p:sldId id="514" r:id="rId85"/>
    <p:sldId id="292" r:id="rId86"/>
    <p:sldId id="363" r:id="rId87"/>
    <p:sldId id="500" r:id="rId88"/>
    <p:sldId id="499" r:id="rId89"/>
    <p:sldId id="295" r:id="rId90"/>
    <p:sldId id="296" r:id="rId91"/>
    <p:sldId id="369" r:id="rId92"/>
    <p:sldId id="362" r:id="rId93"/>
    <p:sldId id="370" r:id="rId94"/>
    <p:sldId id="371" r:id="rId95"/>
    <p:sldId id="372" r:id="rId96"/>
    <p:sldId id="350" r:id="rId97"/>
    <p:sldId id="579" r:id="rId98"/>
    <p:sldId id="580" r:id="rId99"/>
    <p:sldId id="581" r:id="rId100"/>
    <p:sldId id="582" r:id="rId101"/>
    <p:sldId id="583" r:id="rId102"/>
    <p:sldId id="584" r:id="rId103"/>
    <p:sldId id="585" r:id="rId104"/>
    <p:sldId id="586" r:id="rId105"/>
    <p:sldId id="587" r:id="rId106"/>
    <p:sldId id="588" r:id="rId107"/>
    <p:sldId id="589" r:id="rId108"/>
    <p:sldId id="590" r:id="rId109"/>
    <p:sldId id="591" r:id="rId110"/>
    <p:sldId id="592" r:id="rId111"/>
    <p:sldId id="593" r:id="rId112"/>
    <p:sldId id="594" r:id="rId113"/>
    <p:sldId id="595" r:id="rId114"/>
    <p:sldId id="596" r:id="rId115"/>
    <p:sldId id="343" r:id="rId116"/>
    <p:sldId id="518" r:id="rId117"/>
    <p:sldId id="344" r:id="rId118"/>
    <p:sldId id="306" r:id="rId119"/>
  </p:sldIdLst>
  <p:sldSz cx="9144000" cy="6858000" type="screen4x3"/>
  <p:notesSz cx="6858000" cy="9144000"/>
  <p:custDataLst>
    <p:tags r:id="rId122"/>
  </p:custDataLst>
  <p:defaultTextStyle>
    <a:defPPr>
      <a:defRPr lang="en-US"/>
    </a:defPPr>
    <a:lvl1pPr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taff 45" initials="" lastIdx="3"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B073"/>
    <a:srgbClr val="BD92DE"/>
    <a:srgbClr val="A7D971"/>
    <a:srgbClr val="93E3FF"/>
    <a:srgbClr val="65D7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729" autoAdjust="0"/>
    <p:restoredTop sz="95714" autoAdjust="0"/>
  </p:normalViewPr>
  <p:slideViewPr>
    <p:cSldViewPr snapToGrid="0" snapToObjects="1">
      <p:cViewPr>
        <p:scale>
          <a:sx n="66" d="100"/>
          <a:sy n="66" d="100"/>
        </p:scale>
        <p:origin x="797" y="124"/>
      </p:cViewPr>
      <p:guideLst>
        <p:guide orient="horz" pos="2160"/>
        <p:guide pos="2880"/>
      </p:guideLst>
    </p:cSldViewPr>
  </p:slideViewPr>
  <p:notesTextViewPr>
    <p:cViewPr>
      <p:scale>
        <a:sx n="100" d="100"/>
        <a:sy n="100" d="100"/>
      </p:scale>
      <p:origin x="0" y="0"/>
    </p:cViewPr>
  </p:notesTextViewPr>
  <p:notesViewPr>
    <p:cSldViewPr snapToGrid="0" snapToObjects="1">
      <p:cViewPr>
        <p:scale>
          <a:sx n="100" d="100"/>
          <a:sy n="100" d="100"/>
        </p:scale>
        <p:origin x="-1632" y="176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commentAuthors" Target="commentAuthor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presProps" Target="pres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notesMaster" Target="notesMasters/notesMaster1.xml"/><Relationship Id="rId125"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handoutMaster" Target="handoutMasters/handout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D888D3-E0B3-4EC8-A0F8-AF7221993A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en-AU"/>
          </a:p>
        </p:txBody>
      </p:sp>
      <p:sp>
        <p:nvSpPr>
          <p:cNvPr id="3" name="Date Placeholder 2">
            <a:extLst>
              <a:ext uri="{FF2B5EF4-FFF2-40B4-BE49-F238E27FC236}">
                <a16:creationId xmlns:a16="http://schemas.microsoft.com/office/drawing/2014/main" id="{C38706D2-77D8-407C-A72D-20BBC22DB21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038AF6E5-6A99-4991-BBC1-EAD7CBCD643F}" type="datetimeFigureOut">
              <a:rPr lang="en-AU"/>
              <a:pPr>
                <a:defRPr/>
              </a:pPr>
              <a:t>25/05/2026</a:t>
            </a:fld>
            <a:endParaRPr lang="en-AU"/>
          </a:p>
        </p:txBody>
      </p:sp>
      <p:sp>
        <p:nvSpPr>
          <p:cNvPr id="4" name="Footer Placeholder 3">
            <a:extLst>
              <a:ext uri="{FF2B5EF4-FFF2-40B4-BE49-F238E27FC236}">
                <a16:creationId xmlns:a16="http://schemas.microsoft.com/office/drawing/2014/main" id="{075AA8F4-8CE8-419C-93D9-32E6EB87489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a:defRPr/>
            </a:pPr>
            <a:r>
              <a:rPr lang="en-AU"/>
              <a:t>MGM1201 Introduction to Management</a:t>
            </a:r>
          </a:p>
        </p:txBody>
      </p:sp>
      <p:sp>
        <p:nvSpPr>
          <p:cNvPr id="5" name="Slide Number Placeholder 4">
            <a:extLst>
              <a:ext uri="{FF2B5EF4-FFF2-40B4-BE49-F238E27FC236}">
                <a16:creationId xmlns:a16="http://schemas.microsoft.com/office/drawing/2014/main" id="{B7FAE922-90BD-4BEB-B517-77994FA71337}"/>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8EB6C266-7148-4A73-9792-6361C0E7D9CE}" type="slidenum">
              <a:rPr lang="en-AU" altLang="en-US"/>
              <a:pPr>
                <a:defRPr/>
              </a:pPr>
              <a:t>‹#›</a:t>
            </a:fld>
            <a:endParaRPr lang="en-AU"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4C9D7FC-AE7B-4171-9664-F81F340972E2}"/>
              </a:ext>
            </a:extLst>
          </p:cNvPr>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Arial Narrow" pitchFamily="34" charset="0"/>
                <a:cs typeface="Arial" charset="0"/>
              </a:defRPr>
            </a:lvl1pPr>
          </a:lstStyle>
          <a:p>
            <a:pPr>
              <a:defRPr/>
            </a:pPr>
            <a:endParaRPr lang="en-AU"/>
          </a:p>
        </p:txBody>
      </p:sp>
      <p:sp>
        <p:nvSpPr>
          <p:cNvPr id="3" name="Date Placeholder 2">
            <a:extLst>
              <a:ext uri="{FF2B5EF4-FFF2-40B4-BE49-F238E27FC236}">
                <a16:creationId xmlns:a16="http://schemas.microsoft.com/office/drawing/2014/main" id="{A570DDF3-705A-4AD4-BB96-1812D9EDCDBE}"/>
              </a:ext>
            </a:extLst>
          </p:cNvPr>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Arial Narrow" pitchFamily="34" charset="0"/>
                <a:cs typeface="Arial" charset="0"/>
              </a:defRPr>
            </a:lvl1pPr>
          </a:lstStyle>
          <a:p>
            <a:pPr>
              <a:defRPr/>
            </a:pPr>
            <a:fld id="{91F64CF8-3EFE-421F-BD7A-0A9B398E75CD}" type="datetimeFigureOut">
              <a:rPr lang="en-US"/>
              <a:pPr>
                <a:defRPr/>
              </a:pPr>
              <a:t>5/25/2026</a:t>
            </a:fld>
            <a:endParaRPr lang="en-AU"/>
          </a:p>
        </p:txBody>
      </p:sp>
      <p:sp>
        <p:nvSpPr>
          <p:cNvPr id="4" name="Slide Image Placeholder 3">
            <a:extLst>
              <a:ext uri="{FF2B5EF4-FFF2-40B4-BE49-F238E27FC236}">
                <a16:creationId xmlns:a16="http://schemas.microsoft.com/office/drawing/2014/main" id="{D28F1839-C53D-4FDD-9833-C60E30978FE9}"/>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AU" noProof="0" dirty="0"/>
          </a:p>
        </p:txBody>
      </p:sp>
      <p:sp>
        <p:nvSpPr>
          <p:cNvPr id="5" name="Notes Placeholder 4">
            <a:extLst>
              <a:ext uri="{FF2B5EF4-FFF2-40B4-BE49-F238E27FC236}">
                <a16:creationId xmlns:a16="http://schemas.microsoft.com/office/drawing/2014/main" id="{FB5005B8-2463-4395-A223-76E74F3A1BCD}"/>
              </a:ext>
            </a:extLst>
          </p:cNvPr>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6" name="Footer Placeholder 5">
            <a:extLst>
              <a:ext uri="{FF2B5EF4-FFF2-40B4-BE49-F238E27FC236}">
                <a16:creationId xmlns:a16="http://schemas.microsoft.com/office/drawing/2014/main" id="{8EAB34A1-0E20-4E59-AEDA-1BEB43815DAE}"/>
              </a:ext>
            </a:extLst>
          </p:cNvPr>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Arial Narrow" pitchFamily="34" charset="0"/>
                <a:cs typeface="Arial" charset="0"/>
              </a:defRPr>
            </a:lvl1pPr>
          </a:lstStyle>
          <a:p>
            <a:pPr>
              <a:defRPr/>
            </a:pPr>
            <a:r>
              <a:rPr lang="en-AU"/>
              <a:t>MGM1201 Introduction to Management</a:t>
            </a:r>
          </a:p>
        </p:txBody>
      </p:sp>
      <p:sp>
        <p:nvSpPr>
          <p:cNvPr id="7" name="Slide Number Placeholder 6">
            <a:extLst>
              <a:ext uri="{FF2B5EF4-FFF2-40B4-BE49-F238E27FC236}">
                <a16:creationId xmlns:a16="http://schemas.microsoft.com/office/drawing/2014/main" id="{573234FB-833F-4B2C-A50C-511DF9183171}"/>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Arial Narrow" panose="020B0606020202030204" pitchFamily="34" charset="0"/>
              </a:defRPr>
            </a:lvl1pPr>
          </a:lstStyle>
          <a:p>
            <a:pPr>
              <a:defRPr/>
            </a:pPr>
            <a:fld id="{D02EFCD8-A2D0-4328-B179-5217C2DCF70B}" type="slidenum">
              <a:rPr lang="en-AU" altLang="en-US"/>
              <a:pPr>
                <a:defRPr/>
              </a:pPr>
              <a:t>‹#›</a:t>
            </a:fld>
            <a:endParaRPr lang="en-AU" altLang="en-US"/>
          </a:p>
        </p:txBody>
      </p:sp>
    </p:spTree>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Arial Narrow"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Narrow"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Narrow"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Narrow"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Narrow"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495F52CD-DF24-453B-9DB4-CE8008EF328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Notes Placeholder 2">
            <a:extLst>
              <a:ext uri="{FF2B5EF4-FFF2-40B4-BE49-F238E27FC236}">
                <a16:creationId xmlns:a16="http://schemas.microsoft.com/office/drawing/2014/main" id="{996B2CE6-C6F1-4353-B4FB-CC52476FFFE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AU" altLang="en-US"/>
          </a:p>
        </p:txBody>
      </p:sp>
      <p:sp>
        <p:nvSpPr>
          <p:cNvPr id="19460" name="Slide Number Placeholder 3">
            <a:extLst>
              <a:ext uri="{FF2B5EF4-FFF2-40B4-BE49-F238E27FC236}">
                <a16:creationId xmlns:a16="http://schemas.microsoft.com/office/drawing/2014/main" id="{2D59A1C5-FCE8-4561-A2F6-2F27658A102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Narrow" panose="020B0606020202030204" pitchFamily="34" charset="0"/>
              </a:defRPr>
            </a:lvl1pPr>
            <a:lvl2pPr marL="742950" indent="-285750">
              <a:spcBef>
                <a:spcPct val="30000"/>
              </a:spcBef>
              <a:defRPr sz="1200">
                <a:solidFill>
                  <a:schemeClr val="tx1"/>
                </a:solidFill>
                <a:latin typeface="Arial Narrow" panose="020B0606020202030204" pitchFamily="34" charset="0"/>
              </a:defRPr>
            </a:lvl2pPr>
            <a:lvl3pPr marL="1143000" indent="-228600">
              <a:spcBef>
                <a:spcPct val="30000"/>
              </a:spcBef>
              <a:defRPr sz="1200">
                <a:solidFill>
                  <a:schemeClr val="tx1"/>
                </a:solidFill>
                <a:latin typeface="Arial Narrow" panose="020B0606020202030204" pitchFamily="34" charset="0"/>
              </a:defRPr>
            </a:lvl3pPr>
            <a:lvl4pPr marL="1600200" indent="-228600">
              <a:spcBef>
                <a:spcPct val="30000"/>
              </a:spcBef>
              <a:defRPr sz="1200">
                <a:solidFill>
                  <a:schemeClr val="tx1"/>
                </a:solidFill>
                <a:latin typeface="Arial Narrow" panose="020B0606020202030204" pitchFamily="34" charset="0"/>
              </a:defRPr>
            </a:lvl4pPr>
            <a:lvl5pPr marL="2057400" indent="-228600">
              <a:spcBef>
                <a:spcPct val="30000"/>
              </a:spcBef>
              <a:defRPr sz="1200">
                <a:solidFill>
                  <a:schemeClr val="tx1"/>
                </a:solidFill>
                <a:latin typeface="Arial Narrow" panose="020B0606020202030204" pitchFamily="34" charset="0"/>
              </a:defRPr>
            </a:lvl5pPr>
            <a:lvl6pPr marL="2514600" indent="-228600" defTabSz="457200" eaLnBrk="0" fontAlgn="base" hangingPunct="0">
              <a:spcBef>
                <a:spcPct val="30000"/>
              </a:spcBef>
              <a:spcAft>
                <a:spcPct val="0"/>
              </a:spcAft>
              <a:defRPr sz="1200">
                <a:solidFill>
                  <a:schemeClr val="tx1"/>
                </a:solidFill>
                <a:latin typeface="Arial Narrow" panose="020B0606020202030204" pitchFamily="34" charset="0"/>
              </a:defRPr>
            </a:lvl6pPr>
            <a:lvl7pPr marL="2971800" indent="-228600" defTabSz="457200" eaLnBrk="0" fontAlgn="base" hangingPunct="0">
              <a:spcBef>
                <a:spcPct val="30000"/>
              </a:spcBef>
              <a:spcAft>
                <a:spcPct val="0"/>
              </a:spcAft>
              <a:defRPr sz="1200">
                <a:solidFill>
                  <a:schemeClr val="tx1"/>
                </a:solidFill>
                <a:latin typeface="Arial Narrow" panose="020B0606020202030204" pitchFamily="34" charset="0"/>
              </a:defRPr>
            </a:lvl7pPr>
            <a:lvl8pPr marL="3429000" indent="-228600" defTabSz="457200" eaLnBrk="0" fontAlgn="base" hangingPunct="0">
              <a:spcBef>
                <a:spcPct val="30000"/>
              </a:spcBef>
              <a:spcAft>
                <a:spcPct val="0"/>
              </a:spcAft>
              <a:defRPr sz="1200">
                <a:solidFill>
                  <a:schemeClr val="tx1"/>
                </a:solidFill>
                <a:latin typeface="Arial Narrow" panose="020B0606020202030204" pitchFamily="34" charset="0"/>
              </a:defRPr>
            </a:lvl8pPr>
            <a:lvl9pPr marL="3886200" indent="-228600" defTabSz="457200" eaLnBrk="0" fontAlgn="base" hangingPunct="0">
              <a:spcBef>
                <a:spcPct val="30000"/>
              </a:spcBef>
              <a:spcAft>
                <a:spcPct val="0"/>
              </a:spcAft>
              <a:defRPr sz="1200">
                <a:solidFill>
                  <a:schemeClr val="tx1"/>
                </a:solidFill>
                <a:latin typeface="Arial Narrow" panose="020B0606020202030204" pitchFamily="34" charset="0"/>
              </a:defRPr>
            </a:lvl9pPr>
          </a:lstStyle>
          <a:p>
            <a:pPr>
              <a:spcBef>
                <a:spcPct val="0"/>
              </a:spcBef>
            </a:pPr>
            <a:fld id="{12DC90EC-2ECE-4CFA-BB58-9AC8119E5D23}" type="slidenum">
              <a:rPr lang="en-AU" altLang="en-US" smtClean="0"/>
              <a:pPr>
                <a:spcBef>
                  <a:spcPct val="0"/>
                </a:spcBef>
              </a:pPr>
              <a:t>1</a:t>
            </a:fld>
            <a:endParaRPr lang="en-AU" altLang="en-US"/>
          </a:p>
        </p:txBody>
      </p:sp>
      <p:sp>
        <p:nvSpPr>
          <p:cNvPr id="19461" name="Footer Placeholder 1">
            <a:extLst>
              <a:ext uri="{FF2B5EF4-FFF2-40B4-BE49-F238E27FC236}">
                <a16:creationId xmlns:a16="http://schemas.microsoft.com/office/drawing/2014/main" id="{B24EE58C-0BEF-4C39-BD7A-04ABFA94A109}"/>
              </a:ext>
            </a:extLst>
          </p:cNvPr>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AU" altLang="en-US">
                <a:latin typeface="Arial Narrow" panose="020B0606020202030204" pitchFamily="34" charset="0"/>
              </a:rPr>
              <a:t>MGM1201 Introduction to Management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495F52CD-DF24-453B-9DB4-CE8008EF328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Notes Placeholder 2">
            <a:extLst>
              <a:ext uri="{FF2B5EF4-FFF2-40B4-BE49-F238E27FC236}">
                <a16:creationId xmlns:a16="http://schemas.microsoft.com/office/drawing/2014/main" id="{996B2CE6-C6F1-4353-B4FB-CC52476FFFE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AU" altLang="en-US"/>
          </a:p>
        </p:txBody>
      </p:sp>
      <p:sp>
        <p:nvSpPr>
          <p:cNvPr id="19460" name="Slide Number Placeholder 3">
            <a:extLst>
              <a:ext uri="{FF2B5EF4-FFF2-40B4-BE49-F238E27FC236}">
                <a16:creationId xmlns:a16="http://schemas.microsoft.com/office/drawing/2014/main" id="{2D59A1C5-FCE8-4561-A2F6-2F27658A102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Narrow" panose="020B0606020202030204" pitchFamily="34" charset="0"/>
              </a:defRPr>
            </a:lvl1pPr>
            <a:lvl2pPr marL="742950" indent="-285750">
              <a:spcBef>
                <a:spcPct val="30000"/>
              </a:spcBef>
              <a:defRPr sz="1200">
                <a:solidFill>
                  <a:schemeClr val="tx1"/>
                </a:solidFill>
                <a:latin typeface="Arial Narrow" panose="020B0606020202030204" pitchFamily="34" charset="0"/>
              </a:defRPr>
            </a:lvl2pPr>
            <a:lvl3pPr marL="1143000" indent="-228600">
              <a:spcBef>
                <a:spcPct val="30000"/>
              </a:spcBef>
              <a:defRPr sz="1200">
                <a:solidFill>
                  <a:schemeClr val="tx1"/>
                </a:solidFill>
                <a:latin typeface="Arial Narrow" panose="020B0606020202030204" pitchFamily="34" charset="0"/>
              </a:defRPr>
            </a:lvl3pPr>
            <a:lvl4pPr marL="1600200" indent="-228600">
              <a:spcBef>
                <a:spcPct val="30000"/>
              </a:spcBef>
              <a:defRPr sz="1200">
                <a:solidFill>
                  <a:schemeClr val="tx1"/>
                </a:solidFill>
                <a:latin typeface="Arial Narrow" panose="020B0606020202030204" pitchFamily="34" charset="0"/>
              </a:defRPr>
            </a:lvl4pPr>
            <a:lvl5pPr marL="2057400" indent="-228600">
              <a:spcBef>
                <a:spcPct val="30000"/>
              </a:spcBef>
              <a:defRPr sz="1200">
                <a:solidFill>
                  <a:schemeClr val="tx1"/>
                </a:solidFill>
                <a:latin typeface="Arial Narrow" panose="020B0606020202030204" pitchFamily="34" charset="0"/>
              </a:defRPr>
            </a:lvl5pPr>
            <a:lvl6pPr marL="2514600" indent="-228600" defTabSz="457200" eaLnBrk="0" fontAlgn="base" hangingPunct="0">
              <a:spcBef>
                <a:spcPct val="30000"/>
              </a:spcBef>
              <a:spcAft>
                <a:spcPct val="0"/>
              </a:spcAft>
              <a:defRPr sz="1200">
                <a:solidFill>
                  <a:schemeClr val="tx1"/>
                </a:solidFill>
                <a:latin typeface="Arial Narrow" panose="020B0606020202030204" pitchFamily="34" charset="0"/>
              </a:defRPr>
            </a:lvl6pPr>
            <a:lvl7pPr marL="2971800" indent="-228600" defTabSz="457200" eaLnBrk="0" fontAlgn="base" hangingPunct="0">
              <a:spcBef>
                <a:spcPct val="30000"/>
              </a:spcBef>
              <a:spcAft>
                <a:spcPct val="0"/>
              </a:spcAft>
              <a:defRPr sz="1200">
                <a:solidFill>
                  <a:schemeClr val="tx1"/>
                </a:solidFill>
                <a:latin typeface="Arial Narrow" panose="020B0606020202030204" pitchFamily="34" charset="0"/>
              </a:defRPr>
            </a:lvl7pPr>
            <a:lvl8pPr marL="3429000" indent="-228600" defTabSz="457200" eaLnBrk="0" fontAlgn="base" hangingPunct="0">
              <a:spcBef>
                <a:spcPct val="30000"/>
              </a:spcBef>
              <a:spcAft>
                <a:spcPct val="0"/>
              </a:spcAft>
              <a:defRPr sz="1200">
                <a:solidFill>
                  <a:schemeClr val="tx1"/>
                </a:solidFill>
                <a:latin typeface="Arial Narrow" panose="020B0606020202030204" pitchFamily="34" charset="0"/>
              </a:defRPr>
            </a:lvl8pPr>
            <a:lvl9pPr marL="3886200" indent="-228600" defTabSz="457200" eaLnBrk="0" fontAlgn="base" hangingPunct="0">
              <a:spcBef>
                <a:spcPct val="30000"/>
              </a:spcBef>
              <a:spcAft>
                <a:spcPct val="0"/>
              </a:spcAft>
              <a:defRPr sz="1200">
                <a:solidFill>
                  <a:schemeClr val="tx1"/>
                </a:solidFill>
                <a:latin typeface="Arial Narrow" panose="020B0606020202030204" pitchFamily="34" charset="0"/>
              </a:defRPr>
            </a:lvl9pPr>
          </a:lstStyle>
          <a:p>
            <a:pPr>
              <a:spcBef>
                <a:spcPct val="0"/>
              </a:spcBef>
            </a:pPr>
            <a:fld id="{12DC90EC-2ECE-4CFA-BB58-9AC8119E5D23}" type="slidenum">
              <a:rPr lang="en-AU" altLang="en-US" smtClean="0"/>
              <a:pPr>
                <a:spcBef>
                  <a:spcPct val="0"/>
                </a:spcBef>
              </a:pPr>
              <a:t>91</a:t>
            </a:fld>
            <a:endParaRPr lang="en-AU" altLang="en-US"/>
          </a:p>
        </p:txBody>
      </p:sp>
      <p:sp>
        <p:nvSpPr>
          <p:cNvPr id="19461" name="Footer Placeholder 1">
            <a:extLst>
              <a:ext uri="{FF2B5EF4-FFF2-40B4-BE49-F238E27FC236}">
                <a16:creationId xmlns:a16="http://schemas.microsoft.com/office/drawing/2014/main" id="{B24EE58C-0BEF-4C39-BD7A-04ABFA94A109}"/>
              </a:ext>
            </a:extLst>
          </p:cNvPr>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AU" altLang="en-US">
                <a:latin typeface="Arial Narrow" panose="020B0606020202030204" pitchFamily="34" charset="0"/>
              </a:rPr>
              <a:t>MGM1201 Introduction to Management</a:t>
            </a:r>
          </a:p>
        </p:txBody>
      </p:sp>
    </p:spTree>
    <p:extLst>
      <p:ext uri="{BB962C8B-B14F-4D97-AF65-F5344CB8AC3E}">
        <p14:creationId xmlns:p14="http://schemas.microsoft.com/office/powerpoint/2010/main" val="1267305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FD18DDF8-BBAF-4CA3-8385-C9F26D1FA908}"/>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81279088-81E5-42AE-A449-F335DB56FCF5}"/>
              </a:ext>
            </a:extLst>
          </p:cNvPr>
          <p:cNvSpPr>
            <a:spLocks noGrp="1"/>
          </p:cNvSpPr>
          <p:nvPr>
            <p:ph type="ftr" sz="quarter" idx="11"/>
          </p:nvPr>
        </p:nvSpPr>
        <p:spPr/>
        <p:txBody>
          <a:bodyPr/>
          <a:lstStyle>
            <a:lvl1pPr>
              <a:defRPr/>
            </a:lvl1pPr>
          </a:lstStyle>
          <a:p>
            <a:pPr>
              <a:defRPr/>
            </a:pPr>
            <a:r>
              <a:rPr lang="en-US" dirty="0"/>
              <a:t>ICT401 Programming for the Information Age</a:t>
            </a:r>
          </a:p>
        </p:txBody>
      </p:sp>
      <p:sp>
        <p:nvSpPr>
          <p:cNvPr id="6" name="Slide Number Placeholder 5">
            <a:extLst>
              <a:ext uri="{FF2B5EF4-FFF2-40B4-BE49-F238E27FC236}">
                <a16:creationId xmlns:a16="http://schemas.microsoft.com/office/drawing/2014/main" id="{0FDB2800-BB2A-42FC-A1F7-6D65D43264BF}"/>
              </a:ext>
            </a:extLst>
          </p:cNvPr>
          <p:cNvSpPr>
            <a:spLocks noGrp="1"/>
          </p:cNvSpPr>
          <p:nvPr>
            <p:ph type="sldNum" sz="quarter" idx="12"/>
          </p:nvPr>
        </p:nvSpPr>
        <p:spPr/>
        <p:txBody>
          <a:bodyPr/>
          <a:lstStyle>
            <a:lvl1pPr>
              <a:defRPr/>
            </a:lvl1pPr>
          </a:lstStyle>
          <a:p>
            <a:pPr>
              <a:defRPr/>
            </a:pPr>
            <a:fld id="{D195665D-46DE-48AA-A147-583A9E243055}" type="slidenum">
              <a:rPr lang="en-US" altLang="en-US"/>
              <a:pPr>
                <a:defRPr/>
              </a:pPr>
              <a:t>‹#›</a:t>
            </a:fld>
            <a:endParaRPr lang="en-US" altLang="en-US"/>
          </a:p>
        </p:txBody>
      </p:sp>
    </p:spTree>
    <p:extLst>
      <p:ext uri="{BB962C8B-B14F-4D97-AF65-F5344CB8AC3E}">
        <p14:creationId xmlns:p14="http://schemas.microsoft.com/office/powerpoint/2010/main" val="30920585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9" name="Text Placeholder 8"/>
          <p:cNvSpPr>
            <a:spLocks noGrp="1"/>
          </p:cNvSpPr>
          <p:nvPr>
            <p:ph type="body" sz="quarter" idx="13"/>
          </p:nvPr>
        </p:nvSpPr>
        <p:spPr>
          <a:xfrm>
            <a:off x="987425" y="2424114"/>
            <a:ext cx="4208463" cy="754516"/>
          </a:xfrm>
        </p:spPr>
        <p:txBody>
          <a:bodyPr>
            <a:normAutofit/>
          </a:bodyPr>
          <a:lstStyle>
            <a:lvl1pPr>
              <a:buNone/>
              <a:defRPr sz="4000" b="1">
                <a:solidFill>
                  <a:schemeClr val="accent3">
                    <a:lumMod val="75000"/>
                  </a:schemeClr>
                </a:solidFill>
              </a:defRPr>
            </a:lvl1pPr>
          </a:lstStyle>
          <a:p>
            <a:pPr lvl="0"/>
            <a:r>
              <a:rPr lang="en-US"/>
              <a:t>Click to edit Master text styles</a:t>
            </a:r>
          </a:p>
        </p:txBody>
      </p:sp>
      <p:sp>
        <p:nvSpPr>
          <p:cNvPr id="11" name="Text Placeholder 10"/>
          <p:cNvSpPr>
            <a:spLocks noGrp="1"/>
          </p:cNvSpPr>
          <p:nvPr>
            <p:ph type="body" sz="quarter" idx="14"/>
          </p:nvPr>
        </p:nvSpPr>
        <p:spPr>
          <a:xfrm>
            <a:off x="987425" y="3429000"/>
            <a:ext cx="7300913" cy="2565400"/>
          </a:xfrm>
        </p:spPr>
        <p:txBody>
          <a:bodyPr>
            <a:normAutofit/>
          </a:bodyPr>
          <a:lstStyle>
            <a:lvl1pPr>
              <a:buNone/>
              <a:defRPr sz="4000">
                <a:solidFill>
                  <a:schemeClr val="accent3">
                    <a:lumMod val="75000"/>
                  </a:schemeClr>
                </a:solidFill>
                <a:latin typeface="Arial Narrow" pitchFamily="34" charset="0"/>
              </a:defRPr>
            </a:lvl1pPr>
          </a:lstStyle>
          <a:p>
            <a:pPr lvl="0"/>
            <a:endParaRPr lang="en-AU" dirty="0"/>
          </a:p>
        </p:txBody>
      </p:sp>
    </p:spTree>
    <p:extLst>
      <p:ext uri="{BB962C8B-B14F-4D97-AF65-F5344CB8AC3E}">
        <p14:creationId xmlns:p14="http://schemas.microsoft.com/office/powerpoint/2010/main" val="97006855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FAF0ADA-31EF-4C37-BFB4-6846F8CC73AD}"/>
              </a:ext>
            </a:extLst>
          </p:cNvPr>
          <p:cNvSpPr/>
          <p:nvPr/>
        </p:nvSpPr>
        <p:spPr>
          <a:xfrm>
            <a:off x="0" y="6400800"/>
            <a:ext cx="9144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a:extLst>
              <a:ext uri="{FF2B5EF4-FFF2-40B4-BE49-F238E27FC236}">
                <a16:creationId xmlns:a16="http://schemas.microsoft.com/office/drawing/2014/main" id="{D5F093B2-0F82-47F8-A8E7-F20180BAC978}"/>
              </a:ext>
            </a:extLst>
          </p:cNvPr>
          <p:cNvSpPr/>
          <p:nvPr/>
        </p:nvSpPr>
        <p:spPr>
          <a:xfrm>
            <a:off x="0" y="6334125"/>
            <a:ext cx="9144000" cy="666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a:extLst>
              <a:ext uri="{FF2B5EF4-FFF2-40B4-BE49-F238E27FC236}">
                <a16:creationId xmlns:a16="http://schemas.microsoft.com/office/drawing/2014/main" id="{C97CA925-85C2-4A83-ADE3-8FCC18A86A36}"/>
              </a:ext>
            </a:extLst>
          </p:cNvPr>
          <p:cNvSpPr>
            <a:spLocks noGrp="1"/>
          </p:cNvSpPr>
          <p:nvPr>
            <p:ph type="title"/>
          </p:nvPr>
        </p:nvSpPr>
        <p:spPr>
          <a:xfrm>
            <a:off x="822325" y="287338"/>
            <a:ext cx="7543800" cy="144938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077" name="Text Placeholder 2">
            <a:extLst>
              <a:ext uri="{FF2B5EF4-FFF2-40B4-BE49-F238E27FC236}">
                <a16:creationId xmlns:a16="http://schemas.microsoft.com/office/drawing/2014/main" id="{2D186389-A230-473D-BE88-C2B1FB76B0D3}"/>
              </a:ext>
            </a:extLst>
          </p:cNvPr>
          <p:cNvSpPr>
            <a:spLocks noGrp="1" noChangeArrowheads="1"/>
          </p:cNvSpPr>
          <p:nvPr>
            <p:ph type="body" idx="1"/>
          </p:nvPr>
        </p:nvSpPr>
        <p:spPr bwMode="auto">
          <a:xfrm>
            <a:off x="822325" y="1846263"/>
            <a:ext cx="7543800" cy="402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59CAD95A-D7C1-4161-B153-68D2FB5531E3}"/>
              </a:ext>
            </a:extLst>
          </p:cNvPr>
          <p:cNvSpPr>
            <a:spLocks noGrp="1"/>
          </p:cNvSpPr>
          <p:nvPr>
            <p:ph type="dt" sz="half" idx="2"/>
          </p:nvPr>
        </p:nvSpPr>
        <p:spPr>
          <a:xfrm>
            <a:off x="822325" y="6459538"/>
            <a:ext cx="1854200" cy="365125"/>
          </a:xfrm>
          <a:prstGeom prst="rect">
            <a:avLst/>
          </a:prstGeom>
        </p:spPr>
        <p:txBody>
          <a:bodyPr vert="horz" lIns="91440" tIns="45720" rIns="91440" bIns="45720" rtlCol="0" anchor="ctr"/>
          <a:lstStyle>
            <a:lvl1pPr algn="l">
              <a:defRPr sz="900">
                <a:solidFill>
                  <a:srgbClr val="FFFFFF"/>
                </a:solidFill>
              </a:defRPr>
            </a:lvl1pPr>
          </a:lstStyle>
          <a:p>
            <a:pPr>
              <a:defRPr/>
            </a:pPr>
            <a:endParaRPr lang="en-US"/>
          </a:p>
        </p:txBody>
      </p:sp>
      <p:sp>
        <p:nvSpPr>
          <p:cNvPr id="5" name="Footer Placeholder 4">
            <a:extLst>
              <a:ext uri="{FF2B5EF4-FFF2-40B4-BE49-F238E27FC236}">
                <a16:creationId xmlns:a16="http://schemas.microsoft.com/office/drawing/2014/main" id="{EFEE9959-195D-4693-AA37-953BDC04C6FE}"/>
              </a:ext>
            </a:extLst>
          </p:cNvPr>
          <p:cNvSpPr>
            <a:spLocks noGrp="1"/>
          </p:cNvSpPr>
          <p:nvPr>
            <p:ph type="ftr" sz="quarter" idx="3"/>
          </p:nvPr>
        </p:nvSpPr>
        <p:spPr>
          <a:xfrm>
            <a:off x="2765425" y="6459538"/>
            <a:ext cx="3616325" cy="365125"/>
          </a:xfrm>
          <a:prstGeom prst="rect">
            <a:avLst/>
          </a:prstGeom>
        </p:spPr>
        <p:txBody>
          <a:bodyPr vert="horz" lIns="91440" tIns="45720" rIns="91440" bIns="45720" rtlCol="0" anchor="ctr"/>
          <a:lstStyle>
            <a:lvl1pPr algn="ctr">
              <a:defRPr sz="900" cap="all" baseline="0">
                <a:solidFill>
                  <a:srgbClr val="FFFFFF"/>
                </a:solidFill>
              </a:defRPr>
            </a:lvl1pPr>
          </a:lstStyle>
          <a:p>
            <a:pPr>
              <a:defRPr/>
            </a:pPr>
            <a:r>
              <a:rPr lang="en-US" dirty="0"/>
              <a:t>Ict401 Programming for the Information Age</a:t>
            </a:r>
          </a:p>
        </p:txBody>
      </p:sp>
      <p:sp>
        <p:nvSpPr>
          <p:cNvPr id="6" name="Slide Number Placeholder 5">
            <a:extLst>
              <a:ext uri="{FF2B5EF4-FFF2-40B4-BE49-F238E27FC236}">
                <a16:creationId xmlns:a16="http://schemas.microsoft.com/office/drawing/2014/main" id="{87BDC37D-D0BA-42B9-9D61-2CF676F40B33}"/>
              </a:ext>
            </a:extLst>
          </p:cNvPr>
          <p:cNvSpPr>
            <a:spLocks noGrp="1"/>
          </p:cNvSpPr>
          <p:nvPr>
            <p:ph type="sldNum" sz="quarter" idx="4"/>
          </p:nvPr>
        </p:nvSpPr>
        <p:spPr>
          <a:xfrm>
            <a:off x="7424738" y="6459538"/>
            <a:ext cx="984250" cy="365125"/>
          </a:xfrm>
          <a:prstGeom prst="rect">
            <a:avLst/>
          </a:prstGeom>
        </p:spPr>
        <p:txBody>
          <a:bodyPr vert="horz" wrap="square" lIns="91440" tIns="45720" rIns="91440" bIns="45720" numCol="1" anchor="ctr" anchorCtr="0" compatLnSpc="1">
            <a:prstTxWarp prst="textNoShape">
              <a:avLst/>
            </a:prstTxWarp>
          </a:bodyPr>
          <a:lstStyle>
            <a:lvl1pPr algn="r">
              <a:defRPr sz="1000">
                <a:solidFill>
                  <a:srgbClr val="FFFFFF"/>
                </a:solidFill>
              </a:defRPr>
            </a:lvl1pPr>
          </a:lstStyle>
          <a:p>
            <a:pPr>
              <a:defRPr/>
            </a:pPr>
            <a:fld id="{55BE3CB0-5624-47F4-A482-33D6D62E6D59}" type="slidenum">
              <a:rPr lang="en-US" altLang="en-US"/>
              <a:pPr>
                <a:defRPr/>
              </a:pPr>
              <a:t>‹#›</a:t>
            </a:fld>
            <a:endParaRPr lang="en-US" altLang="en-US"/>
          </a:p>
        </p:txBody>
      </p:sp>
      <p:cxnSp>
        <p:nvCxnSpPr>
          <p:cNvPr id="10" name="Straight Connector 9">
            <a:extLst>
              <a:ext uri="{FF2B5EF4-FFF2-40B4-BE49-F238E27FC236}">
                <a16:creationId xmlns:a16="http://schemas.microsoft.com/office/drawing/2014/main" id="{8FB8F089-64D3-47EA-93ED-A369A77005E1}"/>
              </a:ext>
            </a:extLst>
          </p:cNvPr>
          <p:cNvCxnSpPr/>
          <p:nvPr/>
        </p:nvCxnSpPr>
        <p:spPr>
          <a:xfrm>
            <a:off x="895350" y="1738313"/>
            <a:ext cx="7475538"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971" r:id="rId1"/>
    <p:sldLayoutId id="2147483981" r:id="rId2"/>
  </p:sldLayoutIdLst>
  <p:hf hdr="0" dt="0"/>
  <p:txStyles>
    <p:titleStyle>
      <a:lvl1pPr algn="l" rtl="0" eaLnBrk="0" fontAlgn="base" hangingPunct="0">
        <a:lnSpc>
          <a:spcPct val="85000"/>
        </a:lnSpc>
        <a:spcBef>
          <a:spcPct val="0"/>
        </a:spcBef>
        <a:spcAft>
          <a:spcPct val="0"/>
        </a:spcAft>
        <a:defRPr sz="4800" kern="1200" spc="-50">
          <a:solidFill>
            <a:srgbClr val="404040"/>
          </a:solidFill>
          <a:latin typeface="+mj-lt"/>
          <a:ea typeface="+mj-ea"/>
          <a:cs typeface="+mj-cs"/>
        </a:defRPr>
      </a:lvl1pPr>
      <a:lvl2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2pPr>
      <a:lvl3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3pPr>
      <a:lvl4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4pPr>
      <a:lvl5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5pPr>
      <a:lvl6pPr marL="457200" algn="l" rtl="0" fontAlgn="base">
        <a:lnSpc>
          <a:spcPct val="85000"/>
        </a:lnSpc>
        <a:spcBef>
          <a:spcPct val="0"/>
        </a:spcBef>
        <a:spcAft>
          <a:spcPct val="0"/>
        </a:spcAft>
        <a:defRPr sz="4800">
          <a:solidFill>
            <a:srgbClr val="404040"/>
          </a:solidFill>
          <a:latin typeface="Calibri Light" panose="020F0302020204030204" pitchFamily="34" charset="0"/>
        </a:defRPr>
      </a:lvl6pPr>
      <a:lvl7pPr marL="914400" algn="l" rtl="0" fontAlgn="base">
        <a:lnSpc>
          <a:spcPct val="85000"/>
        </a:lnSpc>
        <a:spcBef>
          <a:spcPct val="0"/>
        </a:spcBef>
        <a:spcAft>
          <a:spcPct val="0"/>
        </a:spcAft>
        <a:defRPr sz="4800">
          <a:solidFill>
            <a:srgbClr val="404040"/>
          </a:solidFill>
          <a:latin typeface="Calibri Light" panose="020F0302020204030204" pitchFamily="34" charset="0"/>
        </a:defRPr>
      </a:lvl7pPr>
      <a:lvl8pPr marL="1371600" algn="l" rtl="0" fontAlgn="base">
        <a:lnSpc>
          <a:spcPct val="85000"/>
        </a:lnSpc>
        <a:spcBef>
          <a:spcPct val="0"/>
        </a:spcBef>
        <a:spcAft>
          <a:spcPct val="0"/>
        </a:spcAft>
        <a:defRPr sz="4800">
          <a:solidFill>
            <a:srgbClr val="404040"/>
          </a:solidFill>
          <a:latin typeface="Calibri Light" panose="020F0302020204030204" pitchFamily="34" charset="0"/>
        </a:defRPr>
      </a:lvl8pPr>
      <a:lvl9pPr marL="1828800" algn="l" rtl="0" fontAlgn="base">
        <a:lnSpc>
          <a:spcPct val="85000"/>
        </a:lnSpc>
        <a:spcBef>
          <a:spcPct val="0"/>
        </a:spcBef>
        <a:spcAft>
          <a:spcPct val="0"/>
        </a:spcAft>
        <a:defRPr sz="4800">
          <a:solidFill>
            <a:srgbClr val="404040"/>
          </a:solidFill>
          <a:latin typeface="Calibri Light" panose="020F0302020204030204" pitchFamily="34" charset="0"/>
        </a:defRPr>
      </a:lvl9pPr>
    </p:titleStyle>
    <p:bodyStyle>
      <a:lvl1pPr marL="90488" indent="-90488" algn="l" rtl="0" eaLnBrk="0" fontAlgn="base" hangingPunct="0">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youtube.com/watch?v=TSg0U8xIukY" TargetMode="Externa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youtube.com/watch?v=C2MWrCdGG0Q" TargetMode="Externa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jpeg"/></Relationships>
</file>

<file path=ppt/slides/_rels/slide9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youtube.com/watch?v=NaGhBpfZLzg" TargetMode="Externa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7.png"/></Relationships>
</file>

<file path=ppt/slides/_rels/slide9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Placeholder 2">
            <a:extLst>
              <a:ext uri="{FF2B5EF4-FFF2-40B4-BE49-F238E27FC236}">
                <a16:creationId xmlns:a16="http://schemas.microsoft.com/office/drawing/2014/main" id="{7011D958-7B17-483C-B07B-1B379F607C55}"/>
              </a:ext>
            </a:extLst>
          </p:cNvPr>
          <p:cNvSpPr>
            <a:spLocks noGrp="1" noChangeArrowheads="1"/>
          </p:cNvSpPr>
          <p:nvPr>
            <p:ph type="body" sz="quarter" idx="13"/>
          </p:nvPr>
        </p:nvSpPr>
        <p:spPr>
          <a:xfrm>
            <a:off x="127000" y="372858"/>
            <a:ext cx="8605044" cy="3788019"/>
          </a:xfrm>
        </p:spPr>
        <p:txBody>
          <a:bodyPr anchor="ctr"/>
          <a:lstStyle/>
          <a:p>
            <a:pPr algn="ctr" eaLnBrk="1" hangingPunct="1">
              <a:spcBef>
                <a:spcPts val="600"/>
              </a:spcBef>
              <a:spcAft>
                <a:spcPts val="2400"/>
              </a:spcAft>
            </a:pPr>
            <a:r>
              <a:rPr lang="en-AU" altLang="en-US" sz="5400" dirty="0">
                <a:solidFill>
                  <a:srgbClr val="00B0F0"/>
                </a:solidFill>
              </a:rPr>
              <a:t>ICT</a:t>
            </a:r>
            <a:r>
              <a:rPr lang="en-US" altLang="zh-CN" sz="5400" dirty="0">
                <a:solidFill>
                  <a:srgbClr val="00B0F0"/>
                </a:solidFill>
              </a:rPr>
              <a:t>502</a:t>
            </a:r>
            <a:endParaRPr lang="en-AU" altLang="en-US" sz="5400" dirty="0">
              <a:solidFill>
                <a:srgbClr val="00B0F0"/>
              </a:solidFill>
            </a:endParaRPr>
          </a:p>
          <a:p>
            <a:pPr algn="ctr" eaLnBrk="1" hangingPunct="1">
              <a:spcBef>
                <a:spcPts val="600"/>
              </a:spcBef>
              <a:spcAft>
                <a:spcPts val="2400"/>
              </a:spcAft>
            </a:pPr>
            <a:r>
              <a:rPr lang="en-AU" altLang="en-US" sz="5400" dirty="0">
                <a:solidFill>
                  <a:srgbClr val="00B0F0"/>
                </a:solidFill>
              </a:rPr>
              <a:t>Week </a:t>
            </a:r>
            <a:r>
              <a:rPr lang="en-US" altLang="en-US" sz="5400" dirty="0">
                <a:solidFill>
                  <a:srgbClr val="00B0F0"/>
                </a:solidFill>
              </a:rPr>
              <a:t>10: </a:t>
            </a:r>
            <a:r>
              <a:rPr lang="en-AU" sz="5400" dirty="0">
                <a:solidFill>
                  <a:srgbClr val="00B0F0"/>
                </a:solidFill>
              </a:rPr>
              <a:t>Ethical and Management Issues in IT Projects</a:t>
            </a:r>
            <a:endParaRPr lang="en-AU" altLang="en-US" sz="5400" dirty="0">
              <a:solidFill>
                <a:srgbClr val="00B0F0"/>
              </a:solidFill>
            </a:endParaRPr>
          </a:p>
        </p:txBody>
      </p:sp>
      <p:pic>
        <p:nvPicPr>
          <p:cNvPr id="18435" name="Picture 2">
            <a:extLst>
              <a:ext uri="{FF2B5EF4-FFF2-40B4-BE49-F238E27FC236}">
                <a16:creationId xmlns:a16="http://schemas.microsoft.com/office/drawing/2014/main" id="{7E97EA98-FA21-47E9-AAAB-D57D85BF5D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6" name="Footer Placeholder 1">
            <a:extLst>
              <a:ext uri="{FF2B5EF4-FFF2-40B4-BE49-F238E27FC236}">
                <a16:creationId xmlns:a16="http://schemas.microsoft.com/office/drawing/2014/main" id="{B585785C-A56D-4F54-80A4-ABEA8B982C83}"/>
              </a:ext>
            </a:extLst>
          </p:cNvPr>
          <p:cNvSpPr txBox="1">
            <a:spLocks noChangeArrowheads="1"/>
          </p:cNvSpPr>
          <p:nvPr/>
        </p:nvSpPr>
        <p:spPr bwMode="auto">
          <a:xfrm>
            <a:off x="2765425" y="6459538"/>
            <a:ext cx="3616325"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Calibri" panose="020F0502020204030204" pitchFamily="34" charset="0"/>
              </a:defRPr>
            </a:lvl1pPr>
            <a:lvl2pPr marL="382588" indent="-182563">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Calibri" panose="020F0502020204030204" pitchFamily="34" charset="0"/>
              </a:defRPr>
            </a:lvl2pPr>
            <a:lvl3pPr marL="566738"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3pPr>
            <a:lvl4pPr marL="749300"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4pPr>
            <a:lvl5pPr marL="931863"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5pPr>
            <a:lvl6pPr marL="13890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6pPr>
            <a:lvl7pPr marL="18462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7pPr>
            <a:lvl8pPr marL="23034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8pPr>
            <a:lvl9pPr marL="27606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9p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18437" name="Slide Number Placeholder 3">
            <a:extLst>
              <a:ext uri="{FF2B5EF4-FFF2-40B4-BE49-F238E27FC236}">
                <a16:creationId xmlns:a16="http://schemas.microsoft.com/office/drawing/2014/main" id="{24A2BABC-6B4A-40B3-94BC-37C96408B1C0}"/>
              </a:ext>
            </a:extLst>
          </p:cNvPr>
          <p:cNvSpPr txBox="1">
            <a:spLocks noChangeArrowheads="1"/>
          </p:cNvSpPr>
          <p:nvPr/>
        </p:nvSpPr>
        <p:spPr bwMode="auto">
          <a:xfrm>
            <a:off x="7424738" y="6459538"/>
            <a:ext cx="9842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Calibri" panose="020F0502020204030204" pitchFamily="34" charset="0"/>
              </a:defRPr>
            </a:lvl1pPr>
            <a:lvl2pPr marL="382588" indent="-182563">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Calibri" panose="020F0502020204030204" pitchFamily="34" charset="0"/>
              </a:defRPr>
            </a:lvl2pPr>
            <a:lvl3pPr marL="566738"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3pPr>
            <a:lvl4pPr marL="749300"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4pPr>
            <a:lvl5pPr marL="931863"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5pPr>
            <a:lvl6pPr marL="13890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6pPr>
            <a:lvl7pPr marL="18462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7pPr>
            <a:lvl8pPr marL="23034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8pPr>
            <a:lvl9pPr marL="27606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9pPr>
          </a:lstStyle>
          <a:p>
            <a:pPr algn="r">
              <a:lnSpc>
                <a:spcPct val="100000"/>
              </a:lnSpc>
              <a:spcBef>
                <a:spcPct val="0"/>
              </a:spcBef>
              <a:spcAft>
                <a:spcPct val="0"/>
              </a:spcAft>
              <a:buClrTx/>
              <a:buSzTx/>
              <a:buFontTx/>
              <a:buNone/>
            </a:pPr>
            <a:fld id="{6A713114-2FAF-491F-A5D9-97598AEF03A7}" type="slidenum">
              <a:rPr lang="en-US" altLang="en-US" sz="900">
                <a:solidFill>
                  <a:schemeClr val="bg1"/>
                </a:solidFill>
                <a:latin typeface="Arial" panose="020B0604020202020204" pitchFamily="34" charset="0"/>
              </a:rPr>
              <a:pPr algn="r">
                <a:lnSpc>
                  <a:spcPct val="100000"/>
                </a:lnSpc>
                <a:spcBef>
                  <a:spcPct val="0"/>
                </a:spcBef>
                <a:spcAft>
                  <a:spcPct val="0"/>
                </a:spcAft>
                <a:buClrTx/>
                <a:buSzTx/>
                <a:buFontTx/>
                <a:buNone/>
              </a:pPr>
              <a:t>1</a:t>
            </a:fld>
            <a:endParaRPr lang="en-US" altLang="en-US" sz="1000">
              <a:solidFill>
                <a:schemeClr val="bg1"/>
              </a:solidFill>
              <a:latin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190BDBBE-2518-4DC2-A8A5-7B1347851768}"/>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altLang="en-US" sz="4800" b="1" dirty="0">
                <a:solidFill>
                  <a:srgbClr val="00B0F0"/>
                </a:solidFill>
              </a:rPr>
              <a:t>What we</a:t>
            </a:r>
            <a:r>
              <a:rPr lang="zh-CN" altLang="en-US" sz="4800" b="1" dirty="0">
                <a:solidFill>
                  <a:srgbClr val="00B0F0"/>
                </a:solidFill>
              </a:rPr>
              <a:t> </a:t>
            </a:r>
            <a:r>
              <a:rPr lang="en-US" altLang="zh-CN" sz="4800" b="1" dirty="0">
                <a:solidFill>
                  <a:srgbClr val="00B0F0"/>
                </a:solidFill>
              </a:rPr>
              <a:t>learned</a:t>
            </a:r>
            <a:r>
              <a:rPr lang="zh-CN" altLang="en-US" sz="4800" b="1" dirty="0">
                <a:solidFill>
                  <a:srgbClr val="00B0F0"/>
                </a:solidFill>
              </a:rPr>
              <a:t> </a:t>
            </a:r>
            <a:r>
              <a:rPr lang="en-US" altLang="zh-CN" sz="4800" b="1" dirty="0">
                <a:solidFill>
                  <a:srgbClr val="00B0F0"/>
                </a:solidFill>
              </a:rPr>
              <a:t>last</a:t>
            </a:r>
            <a:r>
              <a:rPr lang="zh-CN" altLang="en-US" sz="4800" b="1" dirty="0">
                <a:solidFill>
                  <a:srgbClr val="00B0F0"/>
                </a:solidFill>
              </a:rPr>
              <a:t> </a:t>
            </a:r>
            <a:r>
              <a:rPr lang="en-US" altLang="zh-CN" sz="4800" b="1" dirty="0">
                <a:solidFill>
                  <a:srgbClr val="00B0F0"/>
                </a:solidFill>
              </a:rPr>
              <a:t>wee</a:t>
            </a:r>
            <a:r>
              <a:rPr lang="en-US" altLang="zh-CN" b="1" dirty="0">
                <a:solidFill>
                  <a:srgbClr val="00B0F0"/>
                </a:solidFill>
              </a:rPr>
              <a:t>k</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11F364B8-9E55-4D33-84A1-D572CD6C3E86}"/>
              </a:ext>
            </a:extLst>
          </p:cNvPr>
          <p:cNvSpPr>
            <a:spLocks noGrp="1" noChangeArrowheads="1"/>
          </p:cNvSpPr>
          <p:nvPr>
            <p:ph idx="1"/>
          </p:nvPr>
        </p:nvSpPr>
        <p:spPr>
          <a:xfrm>
            <a:off x="558006" y="1835151"/>
            <a:ext cx="8027988" cy="3776662"/>
          </a:xfrm>
        </p:spPr>
        <p:txBody>
          <a:bodyPr/>
          <a:lstStyle/>
          <a:p>
            <a:pPr marL="342900" indent="-342900">
              <a:buSzPts val="1000"/>
              <a:buFont typeface="Symbol" panose="05050102010706020507" pitchFamily="18" charset="2"/>
              <a:buChar char=""/>
              <a:tabLst>
                <a:tab pos="457200" algn="l"/>
              </a:tabLst>
            </a:pPr>
            <a:r>
              <a:rPr lang="en-AU" sz="2400" dirty="0">
                <a:latin typeface="Times New Roman" panose="02020603050405020304" pitchFamily="18" charset="0"/>
              </a:rPr>
              <a:t>Methods of Project Evaluation</a:t>
            </a:r>
          </a:p>
          <a:p>
            <a:pPr marL="342900" indent="-342900">
              <a:buSzPts val="1000"/>
              <a:buFont typeface="Symbol" panose="05050102010706020507" pitchFamily="18" charset="2"/>
              <a:buChar char=""/>
              <a:tabLst>
                <a:tab pos="457200" algn="l"/>
              </a:tabLst>
            </a:pPr>
            <a:r>
              <a:rPr lang="en-AU" sz="2400" dirty="0">
                <a:latin typeface="Times New Roman" panose="02020603050405020304" pitchFamily="18" charset="0"/>
              </a:rPr>
              <a:t>Critical Reflection on Project Performance</a:t>
            </a:r>
          </a:p>
          <a:p>
            <a:pPr marL="342900" indent="-342900">
              <a:buSzPts val="1000"/>
              <a:buFont typeface="Symbol" panose="05050102010706020507" pitchFamily="18" charset="2"/>
              <a:buChar char=""/>
              <a:tabLst>
                <a:tab pos="457200" algn="l"/>
              </a:tabLst>
            </a:pPr>
            <a:r>
              <a:rPr lang="en-AU" sz="2400" dirty="0">
                <a:latin typeface="Times New Roman" panose="02020603050405020304" pitchFamily="18" charset="0"/>
              </a:rPr>
              <a:t>Integration of Evaluation into Project Management</a:t>
            </a:r>
          </a:p>
          <a:p>
            <a:pPr marL="342900" indent="-342900">
              <a:buSzPts val="1000"/>
              <a:buFont typeface="Symbol" panose="05050102010706020507" pitchFamily="18" charset="2"/>
              <a:buChar char=""/>
              <a:tabLst>
                <a:tab pos="457200" algn="l"/>
              </a:tabLst>
            </a:pPr>
            <a:r>
              <a:rPr lang="en-AU" sz="2400" dirty="0">
                <a:latin typeface="Times New Roman" panose="02020603050405020304" pitchFamily="18" charset="0"/>
              </a:rPr>
              <a:t>Impact Assessment and Stakeholder Feedback</a:t>
            </a:r>
          </a:p>
          <a:p>
            <a:pPr marL="342900" indent="-342900">
              <a:buSzPts val="1000"/>
              <a:buFont typeface="Symbol" panose="05050102010706020507" pitchFamily="18" charset="2"/>
              <a:buChar char=""/>
              <a:tabLst>
                <a:tab pos="457200" algn="l"/>
              </a:tabLst>
            </a:pPr>
            <a:r>
              <a:rPr lang="en-AU" sz="2400" dirty="0">
                <a:latin typeface="Times New Roman" panose="02020603050405020304" pitchFamily="18" charset="0"/>
              </a:rPr>
              <a:t>Incorporating Lessons Learned into Future Projects</a:t>
            </a:r>
          </a:p>
        </p:txBody>
      </p:sp>
      <p:sp>
        <p:nvSpPr>
          <p:cNvPr id="2" name="Footer Placeholder 1">
            <a:extLst>
              <a:ext uri="{FF2B5EF4-FFF2-40B4-BE49-F238E27FC236}">
                <a16:creationId xmlns:a16="http://schemas.microsoft.com/office/drawing/2014/main" id="{72275A1D-7D1B-4E23-BF1C-0D30325F6EE6}"/>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FCD4B073-C5ED-4E44-934B-45E8993DC62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a:t>
            </a:fld>
            <a:endParaRPr lang="en-US" altLang="en-US" sz="900">
              <a:solidFill>
                <a:srgbClr val="FFFFFF"/>
              </a:solidFill>
            </a:endParaRPr>
          </a:p>
        </p:txBody>
      </p:sp>
      <p:pic>
        <p:nvPicPr>
          <p:cNvPr id="22534" name="Picture 5">
            <a:extLst>
              <a:ext uri="{FF2B5EF4-FFF2-40B4-BE49-F238E27FC236}">
                <a16:creationId xmlns:a16="http://schemas.microsoft.com/office/drawing/2014/main" id="{4B818E69-D4FE-4429-A5A7-24A6C8A089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281637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D4A9B-341C-A453-B1D3-8F8AAE2E79A6}"/>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7BCAFC3C-61D6-7542-3944-56D36CBD649D}"/>
              </a:ext>
            </a:extLst>
          </p:cNvPr>
          <p:cNvSpPr>
            <a:spLocks noGrp="1"/>
          </p:cNvSpPr>
          <p:nvPr>
            <p:ph type="title"/>
          </p:nvPr>
        </p:nvSpPr>
        <p:spPr>
          <a:xfrm>
            <a:off x="539750" y="612775"/>
            <a:ext cx="8027988" cy="863600"/>
          </a:xfrm>
        </p:spPr>
        <p:txBody>
          <a:bodyPr>
            <a:normAutofit fontScale="90000"/>
          </a:bodyPr>
          <a:lstStyle/>
          <a:p>
            <a:pPr algn="ctr" eaLnBrk="1" fontAlgn="auto" hangingPunct="1">
              <a:spcAft>
                <a:spcPts val="0"/>
              </a:spcAft>
              <a:defRPr/>
            </a:pPr>
            <a:r>
              <a:rPr lang="en-US" altLang="en-US" b="1" dirty="0">
                <a:solidFill>
                  <a:srgbClr val="00B0F0"/>
                </a:solidFill>
              </a:rPr>
              <a:t>Ethics and Governance in IT Projects</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CFC30C4B-12B6-6B7D-71BF-C561886B7B71}"/>
              </a:ext>
            </a:extLst>
          </p:cNvPr>
          <p:cNvSpPr>
            <a:spLocks noGrp="1" noChangeArrowheads="1"/>
          </p:cNvSpPr>
          <p:nvPr>
            <p:ph idx="1"/>
          </p:nvPr>
        </p:nvSpPr>
        <p:spPr>
          <a:xfrm>
            <a:off x="558006" y="1835150"/>
            <a:ext cx="8027988" cy="4257305"/>
          </a:xfrm>
        </p:spPr>
        <p:txBody>
          <a:bodyPr/>
          <a:lstStyle/>
          <a:p>
            <a:pPr>
              <a:lnSpc>
                <a:spcPct val="150000"/>
              </a:lnSpc>
            </a:pPr>
            <a:r>
              <a:rPr lang="en-US" sz="2400" b="1" dirty="0"/>
              <a:t>This week students learn:</a:t>
            </a:r>
          </a:p>
          <a:p>
            <a:pPr>
              <a:lnSpc>
                <a:spcPct val="150000"/>
              </a:lnSpc>
            </a:pPr>
            <a:r>
              <a:rPr lang="en-US" sz="2400" dirty="0"/>
              <a:t>- ethical issues in modern IT systems, </a:t>
            </a:r>
          </a:p>
          <a:p>
            <a:pPr>
              <a:lnSpc>
                <a:spcPct val="150000"/>
              </a:lnSpc>
            </a:pPr>
            <a:r>
              <a:rPr lang="en-US" sz="2400" dirty="0"/>
              <a:t>- responsible use of emerging technologies, </a:t>
            </a:r>
          </a:p>
          <a:p>
            <a:pPr>
              <a:lnSpc>
                <a:spcPct val="150000"/>
              </a:lnSpc>
            </a:pPr>
            <a:r>
              <a:rPr lang="en-US" sz="2400" dirty="0"/>
              <a:t>- IT governance and compliance, </a:t>
            </a:r>
          </a:p>
          <a:p>
            <a:pPr>
              <a:lnSpc>
                <a:spcPct val="150000"/>
              </a:lnSpc>
            </a:pPr>
            <a:r>
              <a:rPr lang="en-US" sz="2400" dirty="0"/>
              <a:t>- stakeholder management, </a:t>
            </a:r>
          </a:p>
          <a:p>
            <a:pPr>
              <a:lnSpc>
                <a:spcPct val="150000"/>
              </a:lnSpc>
            </a:pPr>
            <a:r>
              <a:rPr lang="en-US" sz="2400" dirty="0"/>
              <a:t>- and how these connect to Assessment 4.</a:t>
            </a:r>
          </a:p>
        </p:txBody>
      </p:sp>
      <p:sp>
        <p:nvSpPr>
          <p:cNvPr id="2" name="Footer Placeholder 1">
            <a:extLst>
              <a:ext uri="{FF2B5EF4-FFF2-40B4-BE49-F238E27FC236}">
                <a16:creationId xmlns:a16="http://schemas.microsoft.com/office/drawing/2014/main" id="{51E25FDC-7405-3AED-21A3-E359E229C1A5}"/>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664E5F26-03BD-0984-D75D-236CE06C8F3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a:t>
            </a:fld>
            <a:endParaRPr lang="en-US" altLang="en-US" sz="900">
              <a:solidFill>
                <a:srgbClr val="FFFFFF"/>
              </a:solidFill>
            </a:endParaRPr>
          </a:p>
        </p:txBody>
      </p:sp>
      <p:pic>
        <p:nvPicPr>
          <p:cNvPr id="22534" name="Picture 5">
            <a:extLst>
              <a:ext uri="{FF2B5EF4-FFF2-40B4-BE49-F238E27FC236}">
                <a16:creationId xmlns:a16="http://schemas.microsoft.com/office/drawing/2014/main" id="{A1F148D3-A2DB-31A3-E6D3-FF9CB05F43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252806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B54C6-0413-C2B0-9546-31ECFBCEC177}"/>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2E592DB4-106C-0B4D-6D46-FB5253447A58}"/>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altLang="en-US" b="1" dirty="0">
                <a:solidFill>
                  <a:srgbClr val="00B0F0"/>
                </a:solidFill>
              </a:rPr>
              <a:t>Why Ethics Matter in IT Projects</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2B917F30-A14A-6EB8-E0C6-1E8D9B46B64B}"/>
              </a:ext>
            </a:extLst>
          </p:cNvPr>
          <p:cNvSpPr>
            <a:spLocks noGrp="1" noChangeArrowheads="1"/>
          </p:cNvSpPr>
          <p:nvPr>
            <p:ph idx="1"/>
          </p:nvPr>
        </p:nvSpPr>
        <p:spPr>
          <a:xfrm>
            <a:off x="0" y="1835150"/>
            <a:ext cx="9144000" cy="4810199"/>
          </a:xfrm>
          <a:solidFill>
            <a:schemeClr val="bg1"/>
          </a:solidFill>
        </p:spPr>
        <p:txBody>
          <a:bodyPr/>
          <a:lstStyle/>
          <a:p>
            <a:r>
              <a:rPr lang="en-US" sz="2800" b="1" dirty="0"/>
              <a:t>Technology Can Create Risks</a:t>
            </a:r>
          </a:p>
          <a:p>
            <a:r>
              <a:rPr lang="en-US" sz="2800" dirty="0"/>
              <a:t>Modern technologies such as:</a:t>
            </a:r>
          </a:p>
          <a:p>
            <a:pPr marL="265113"/>
            <a:r>
              <a:rPr lang="en-US" sz="2800" dirty="0"/>
              <a:t>- AI, </a:t>
            </a:r>
          </a:p>
          <a:p>
            <a:pPr marL="265113"/>
            <a:r>
              <a:rPr lang="en-US" sz="2800" dirty="0"/>
              <a:t>- cloud computing, </a:t>
            </a:r>
          </a:p>
          <a:p>
            <a:pPr marL="265113"/>
            <a:r>
              <a:rPr lang="en-US" sz="2800" dirty="0"/>
              <a:t>- cybersecurity systems, </a:t>
            </a:r>
          </a:p>
          <a:p>
            <a:pPr marL="265113"/>
            <a:r>
              <a:rPr lang="en-US" sz="2800" dirty="0"/>
              <a:t>- IoT, </a:t>
            </a:r>
          </a:p>
          <a:p>
            <a:pPr marL="265113"/>
            <a:r>
              <a:rPr lang="en-US" sz="2800" dirty="0"/>
              <a:t>- and data analytics </a:t>
            </a:r>
          </a:p>
          <a:p>
            <a:r>
              <a:rPr lang="en-US" sz="2800" dirty="0"/>
              <a:t>can create ethical and legal challenges if not managed properly.</a:t>
            </a:r>
          </a:p>
        </p:txBody>
      </p:sp>
      <p:sp>
        <p:nvSpPr>
          <p:cNvPr id="2" name="Footer Placeholder 1">
            <a:extLst>
              <a:ext uri="{FF2B5EF4-FFF2-40B4-BE49-F238E27FC236}">
                <a16:creationId xmlns:a16="http://schemas.microsoft.com/office/drawing/2014/main" id="{4EF649D3-F11B-1931-501E-39D12DEE12F0}"/>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64D8BB74-4C9C-583F-292C-DB7CE34A1AA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4</a:t>
            </a:fld>
            <a:endParaRPr lang="en-US" altLang="en-US" sz="900">
              <a:solidFill>
                <a:srgbClr val="FFFFFF"/>
              </a:solidFill>
            </a:endParaRPr>
          </a:p>
        </p:txBody>
      </p:sp>
      <p:pic>
        <p:nvPicPr>
          <p:cNvPr id="22534" name="Picture 5">
            <a:extLst>
              <a:ext uri="{FF2B5EF4-FFF2-40B4-BE49-F238E27FC236}">
                <a16:creationId xmlns:a16="http://schemas.microsoft.com/office/drawing/2014/main" id="{6E0960B5-C50C-4059-9560-D1A4600804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226002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F2667-67D6-553A-949D-57A35BE5BE28}"/>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19D038A1-D04D-1DD8-36E5-DAADDC3DF533}"/>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altLang="en-US" b="1" dirty="0">
                <a:solidFill>
                  <a:srgbClr val="00B0F0"/>
                </a:solidFill>
              </a:rPr>
              <a:t>Ethics in Real IT Companies</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B8AB5E22-8924-67E6-1E9F-F529779A3A06}"/>
              </a:ext>
            </a:extLst>
          </p:cNvPr>
          <p:cNvSpPr>
            <a:spLocks noGrp="1" noChangeArrowheads="1"/>
          </p:cNvSpPr>
          <p:nvPr>
            <p:ph idx="1"/>
          </p:nvPr>
        </p:nvSpPr>
        <p:spPr>
          <a:xfrm>
            <a:off x="0" y="1835150"/>
            <a:ext cx="9144000" cy="4810199"/>
          </a:xfrm>
          <a:solidFill>
            <a:schemeClr val="bg1"/>
          </a:solidFill>
        </p:spPr>
        <p:txBody>
          <a:bodyPr/>
          <a:lstStyle/>
          <a:p>
            <a:pPr>
              <a:lnSpc>
                <a:spcPct val="150000"/>
              </a:lnSpc>
            </a:pPr>
            <a:r>
              <a:rPr lang="en-US" sz="2400" b="1" dirty="0"/>
              <a:t>Companies Like NSW IT Support Must Consider:</a:t>
            </a:r>
          </a:p>
          <a:p>
            <a:pPr>
              <a:lnSpc>
                <a:spcPct val="150000"/>
              </a:lnSpc>
            </a:pPr>
            <a:r>
              <a:rPr lang="en-US" sz="2400" dirty="0"/>
              <a:t>-  data privacy</a:t>
            </a:r>
            <a:br>
              <a:rPr lang="en-US" sz="2400" dirty="0"/>
            </a:br>
            <a:r>
              <a:rPr lang="en-US" sz="2400" dirty="0"/>
              <a:t>-  cybersecurity</a:t>
            </a:r>
            <a:br>
              <a:rPr lang="en-US" sz="2400" dirty="0"/>
            </a:br>
            <a:r>
              <a:rPr lang="en-US" sz="2400" dirty="0"/>
              <a:t>-  responsible AI use</a:t>
            </a:r>
            <a:br>
              <a:rPr lang="en-US" sz="2400" dirty="0"/>
            </a:br>
            <a:r>
              <a:rPr lang="en-US" sz="2400" dirty="0"/>
              <a:t>-  client confidentiality</a:t>
            </a:r>
            <a:br>
              <a:rPr lang="en-US" sz="2400" dirty="0"/>
            </a:br>
            <a:r>
              <a:rPr lang="en-US" sz="2400" dirty="0"/>
              <a:t>-  system reliability</a:t>
            </a:r>
            <a:br>
              <a:rPr lang="en-US" sz="2400" dirty="0"/>
            </a:br>
            <a:r>
              <a:rPr lang="en-US" sz="2400" dirty="0"/>
              <a:t>-  compliance with Australian regulations</a:t>
            </a:r>
          </a:p>
          <a:p>
            <a:pPr>
              <a:lnSpc>
                <a:spcPct val="150000"/>
              </a:lnSpc>
            </a:pPr>
            <a:r>
              <a:rPr lang="en-US" sz="2400" dirty="0"/>
              <a:t>Ethics is not optional in IT projects.</a:t>
            </a:r>
          </a:p>
        </p:txBody>
      </p:sp>
      <p:sp>
        <p:nvSpPr>
          <p:cNvPr id="2" name="Footer Placeholder 1">
            <a:extLst>
              <a:ext uri="{FF2B5EF4-FFF2-40B4-BE49-F238E27FC236}">
                <a16:creationId xmlns:a16="http://schemas.microsoft.com/office/drawing/2014/main" id="{6C4336C4-4C14-F47A-D066-645A10FE0C3F}"/>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2C7B7177-1701-BDFA-CE19-F715DC8B516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5</a:t>
            </a:fld>
            <a:endParaRPr lang="en-US" altLang="en-US" sz="900">
              <a:solidFill>
                <a:srgbClr val="FFFFFF"/>
              </a:solidFill>
            </a:endParaRPr>
          </a:p>
        </p:txBody>
      </p:sp>
      <p:pic>
        <p:nvPicPr>
          <p:cNvPr id="22534" name="Picture 5">
            <a:extLst>
              <a:ext uri="{FF2B5EF4-FFF2-40B4-BE49-F238E27FC236}">
                <a16:creationId xmlns:a16="http://schemas.microsoft.com/office/drawing/2014/main" id="{9DFFB278-B6AE-4BE3-497A-ADBD6F5A8F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295716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D84CF-0C00-5AAD-5CCA-0FB2D5985D46}"/>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304F70E3-B0E8-F8AB-9B0F-726ED8098B0D}"/>
              </a:ext>
            </a:extLst>
          </p:cNvPr>
          <p:cNvSpPr>
            <a:spLocks noGrp="1"/>
          </p:cNvSpPr>
          <p:nvPr>
            <p:ph type="title"/>
          </p:nvPr>
        </p:nvSpPr>
        <p:spPr>
          <a:xfrm>
            <a:off x="0" y="612775"/>
            <a:ext cx="9107488" cy="875784"/>
          </a:xfrm>
        </p:spPr>
        <p:txBody>
          <a:bodyPr>
            <a:normAutofit/>
          </a:bodyPr>
          <a:lstStyle/>
          <a:p>
            <a:pPr algn="ctr" eaLnBrk="1" fontAlgn="auto" hangingPunct="1">
              <a:spcAft>
                <a:spcPts val="0"/>
              </a:spcAft>
              <a:defRPr/>
            </a:pPr>
            <a:r>
              <a:rPr lang="en-US" altLang="en-US" b="1" dirty="0">
                <a:solidFill>
                  <a:srgbClr val="00B0F0"/>
                </a:solidFill>
              </a:rPr>
              <a:t>Connecting Week 10 to Assessment 4</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CDDEABF3-8F64-2DEB-0746-ACDC89186CFB}"/>
              </a:ext>
            </a:extLst>
          </p:cNvPr>
          <p:cNvSpPr>
            <a:spLocks noGrp="1" noChangeArrowheads="1"/>
          </p:cNvSpPr>
          <p:nvPr>
            <p:ph idx="1"/>
          </p:nvPr>
        </p:nvSpPr>
        <p:spPr>
          <a:xfrm>
            <a:off x="0" y="1835150"/>
            <a:ext cx="9144000" cy="5022850"/>
          </a:xfrm>
          <a:solidFill>
            <a:schemeClr val="bg1"/>
          </a:solidFill>
        </p:spPr>
        <p:txBody>
          <a:bodyPr/>
          <a:lstStyle/>
          <a:p>
            <a:pPr>
              <a:lnSpc>
                <a:spcPct val="150000"/>
              </a:lnSpc>
            </a:pPr>
            <a:r>
              <a:rPr lang="en-US" sz="2500" b="1" dirty="0"/>
              <a:t>Students Must Include:</a:t>
            </a:r>
          </a:p>
          <a:p>
            <a:pPr>
              <a:lnSpc>
                <a:spcPct val="150000"/>
              </a:lnSpc>
            </a:pPr>
            <a:r>
              <a:rPr lang="en-US" sz="2500" dirty="0"/>
              <a:t>- ethical considerations, </a:t>
            </a:r>
          </a:p>
          <a:p>
            <a:pPr>
              <a:lnSpc>
                <a:spcPct val="150000"/>
              </a:lnSpc>
            </a:pPr>
            <a:r>
              <a:rPr lang="en-US" sz="2500" dirty="0"/>
              <a:t>- security risks, </a:t>
            </a:r>
          </a:p>
          <a:p>
            <a:pPr>
              <a:lnSpc>
                <a:spcPct val="150000"/>
              </a:lnSpc>
            </a:pPr>
            <a:r>
              <a:rPr lang="en-US" sz="2500" dirty="0"/>
              <a:t>- governance, </a:t>
            </a:r>
          </a:p>
          <a:p>
            <a:pPr>
              <a:lnSpc>
                <a:spcPct val="150000"/>
              </a:lnSpc>
            </a:pPr>
            <a:r>
              <a:rPr lang="en-US" sz="2500" dirty="0"/>
              <a:t>- compliance, </a:t>
            </a:r>
          </a:p>
          <a:p>
            <a:pPr>
              <a:lnSpc>
                <a:spcPct val="150000"/>
              </a:lnSpc>
            </a:pPr>
            <a:r>
              <a:rPr lang="en-US" sz="2500" dirty="0"/>
              <a:t>- stakeholder communication, </a:t>
            </a:r>
          </a:p>
          <a:p>
            <a:pPr>
              <a:lnSpc>
                <a:spcPct val="150000"/>
              </a:lnSpc>
            </a:pPr>
            <a:r>
              <a:rPr lang="en-US" sz="2500" dirty="0"/>
              <a:t>- and risk management. </a:t>
            </a:r>
          </a:p>
        </p:txBody>
      </p:sp>
      <p:sp>
        <p:nvSpPr>
          <p:cNvPr id="2" name="Footer Placeholder 1">
            <a:extLst>
              <a:ext uri="{FF2B5EF4-FFF2-40B4-BE49-F238E27FC236}">
                <a16:creationId xmlns:a16="http://schemas.microsoft.com/office/drawing/2014/main" id="{17B242A1-DD18-4454-D7C2-E07619D7586E}"/>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7D4CC8E2-92C0-878B-664D-F6CB79ADB91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6</a:t>
            </a:fld>
            <a:endParaRPr lang="en-US" altLang="en-US" sz="900">
              <a:solidFill>
                <a:srgbClr val="FFFFFF"/>
              </a:solidFill>
            </a:endParaRPr>
          </a:p>
        </p:txBody>
      </p:sp>
      <p:pic>
        <p:nvPicPr>
          <p:cNvPr id="22534" name="Picture 5">
            <a:extLst>
              <a:ext uri="{FF2B5EF4-FFF2-40B4-BE49-F238E27FC236}">
                <a16:creationId xmlns:a16="http://schemas.microsoft.com/office/drawing/2014/main" id="{779D8902-92C0-66B8-5FAD-5B70CA1884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655410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BD482-45D5-063C-6849-0155F8ACDD33}"/>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B0667981-42EE-36D7-B917-08047CB64804}"/>
              </a:ext>
            </a:extLst>
          </p:cNvPr>
          <p:cNvSpPr>
            <a:spLocks noGrp="1"/>
          </p:cNvSpPr>
          <p:nvPr>
            <p:ph type="title"/>
          </p:nvPr>
        </p:nvSpPr>
        <p:spPr>
          <a:xfrm>
            <a:off x="0" y="612775"/>
            <a:ext cx="9107488" cy="875784"/>
          </a:xfrm>
        </p:spPr>
        <p:txBody>
          <a:bodyPr>
            <a:normAutofit/>
          </a:bodyPr>
          <a:lstStyle/>
          <a:p>
            <a:pPr algn="ctr" eaLnBrk="1" fontAlgn="auto" hangingPunct="1">
              <a:spcAft>
                <a:spcPts val="0"/>
              </a:spcAft>
              <a:defRPr/>
            </a:pPr>
            <a:r>
              <a:rPr lang="en-US" altLang="en-US" b="1" dirty="0">
                <a:solidFill>
                  <a:srgbClr val="00B0F0"/>
                </a:solidFill>
              </a:rPr>
              <a:t>Connecting Week 10 to Assessment 4</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C20B847B-40C2-7AE9-E6BE-27AD4E0F7838}"/>
              </a:ext>
            </a:extLst>
          </p:cNvPr>
          <p:cNvSpPr>
            <a:spLocks noGrp="1" noChangeArrowheads="1"/>
          </p:cNvSpPr>
          <p:nvPr>
            <p:ph idx="1"/>
          </p:nvPr>
        </p:nvSpPr>
        <p:spPr>
          <a:xfrm>
            <a:off x="0" y="1835150"/>
            <a:ext cx="9144000" cy="2609259"/>
          </a:xfrm>
          <a:solidFill>
            <a:schemeClr val="bg1"/>
          </a:solidFill>
        </p:spPr>
        <p:txBody>
          <a:bodyPr/>
          <a:lstStyle/>
          <a:p>
            <a:pPr>
              <a:lnSpc>
                <a:spcPct val="150000"/>
              </a:lnSpc>
            </a:pPr>
            <a:r>
              <a:rPr lang="en-US" sz="2500" dirty="0"/>
              <a:t>These directly support:</a:t>
            </a:r>
          </a:p>
          <a:p>
            <a:pPr>
              <a:lnSpc>
                <a:spcPct val="150000"/>
              </a:lnSpc>
            </a:pPr>
            <a:r>
              <a:rPr lang="en-US" sz="2500" dirty="0"/>
              <a:t>- Section 5 (Ethical &amp; Management Issues) </a:t>
            </a:r>
          </a:p>
          <a:p>
            <a:pPr>
              <a:lnSpc>
                <a:spcPct val="150000"/>
              </a:lnSpc>
            </a:pPr>
            <a:r>
              <a:rPr lang="en-US" sz="2500" dirty="0"/>
              <a:t>- Section 6 (Communication Strategy)</a:t>
            </a:r>
          </a:p>
        </p:txBody>
      </p:sp>
      <p:sp>
        <p:nvSpPr>
          <p:cNvPr id="2" name="Footer Placeholder 1">
            <a:extLst>
              <a:ext uri="{FF2B5EF4-FFF2-40B4-BE49-F238E27FC236}">
                <a16:creationId xmlns:a16="http://schemas.microsoft.com/office/drawing/2014/main" id="{0161E96A-878B-205F-D719-C1BA59A29F65}"/>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8B3D4481-D002-2410-FEBD-7C83B48E1C3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7</a:t>
            </a:fld>
            <a:endParaRPr lang="en-US" altLang="en-US" sz="900">
              <a:solidFill>
                <a:srgbClr val="FFFFFF"/>
              </a:solidFill>
            </a:endParaRPr>
          </a:p>
        </p:txBody>
      </p:sp>
      <p:pic>
        <p:nvPicPr>
          <p:cNvPr id="22534" name="Picture 5">
            <a:extLst>
              <a:ext uri="{FF2B5EF4-FFF2-40B4-BE49-F238E27FC236}">
                <a16:creationId xmlns:a16="http://schemas.microsoft.com/office/drawing/2014/main" id="{17843955-162E-9FBA-F3F1-602F2F46C1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847874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C33E0-EAC3-E262-A0A8-669C3118F736}"/>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F8FB5583-70FC-88E5-257F-885F5B8D273D}"/>
              </a:ext>
            </a:extLst>
          </p:cNvPr>
          <p:cNvSpPr>
            <a:spLocks noGrp="1"/>
          </p:cNvSpPr>
          <p:nvPr>
            <p:ph type="title"/>
          </p:nvPr>
        </p:nvSpPr>
        <p:spPr>
          <a:xfrm>
            <a:off x="0" y="612775"/>
            <a:ext cx="9107488" cy="875784"/>
          </a:xfrm>
        </p:spPr>
        <p:txBody>
          <a:bodyPr>
            <a:normAutofit/>
          </a:bodyPr>
          <a:lstStyle/>
          <a:p>
            <a:pPr algn="ctr" eaLnBrk="1" fontAlgn="auto" hangingPunct="1">
              <a:spcAft>
                <a:spcPts val="0"/>
              </a:spcAft>
              <a:defRPr/>
            </a:pPr>
            <a:r>
              <a:rPr lang="en-US" altLang="en-US" b="1" dirty="0">
                <a:solidFill>
                  <a:srgbClr val="00B0F0"/>
                </a:solidFill>
              </a:rPr>
              <a:t>Common Ethical Issues in IT Projects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A96080EF-9C67-7052-74D5-3E5D07DF02BE}"/>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6ED7B839-FF10-F638-5C6B-C0B56490E03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8</a:t>
            </a:fld>
            <a:endParaRPr lang="en-US" altLang="en-US" sz="900">
              <a:solidFill>
                <a:srgbClr val="FFFFFF"/>
              </a:solidFill>
            </a:endParaRPr>
          </a:p>
        </p:txBody>
      </p:sp>
      <p:pic>
        <p:nvPicPr>
          <p:cNvPr id="22534" name="Picture 5">
            <a:extLst>
              <a:ext uri="{FF2B5EF4-FFF2-40B4-BE49-F238E27FC236}">
                <a16:creationId xmlns:a16="http://schemas.microsoft.com/office/drawing/2014/main" id="{51966E76-1C92-E046-4A5E-11DA09F977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 name="Table 3">
            <a:extLst>
              <a:ext uri="{FF2B5EF4-FFF2-40B4-BE49-F238E27FC236}">
                <a16:creationId xmlns:a16="http://schemas.microsoft.com/office/drawing/2014/main" id="{0ADFB63D-2877-462F-085B-68F044D87FDB}"/>
              </a:ext>
            </a:extLst>
          </p:cNvPr>
          <p:cNvGraphicFramePr>
            <a:graphicFrameLocks noGrp="1"/>
          </p:cNvGraphicFramePr>
          <p:nvPr>
            <p:extLst>
              <p:ext uri="{D42A27DB-BD31-4B8C-83A1-F6EECF244321}">
                <p14:modId xmlns:p14="http://schemas.microsoft.com/office/powerpoint/2010/main" val="1449868897"/>
              </p:ext>
            </p:extLst>
          </p:nvPr>
        </p:nvGraphicFramePr>
        <p:xfrm>
          <a:off x="569524" y="1650210"/>
          <a:ext cx="8004951" cy="3962400"/>
        </p:xfrm>
        <a:graphic>
          <a:graphicData uri="http://schemas.openxmlformats.org/drawingml/2006/table">
            <a:tbl>
              <a:tblPr>
                <a:tableStyleId>{5DA37D80-6434-44D0-A028-1B22A696006F}</a:tableStyleId>
              </a:tblPr>
              <a:tblGrid>
                <a:gridCol w="3923414">
                  <a:extLst>
                    <a:ext uri="{9D8B030D-6E8A-4147-A177-3AD203B41FA5}">
                      <a16:colId xmlns:a16="http://schemas.microsoft.com/office/drawing/2014/main" val="76163291"/>
                    </a:ext>
                  </a:extLst>
                </a:gridCol>
                <a:gridCol w="4081537">
                  <a:extLst>
                    <a:ext uri="{9D8B030D-6E8A-4147-A177-3AD203B41FA5}">
                      <a16:colId xmlns:a16="http://schemas.microsoft.com/office/drawing/2014/main" val="3302023560"/>
                    </a:ext>
                  </a:extLst>
                </a:gridCol>
              </a:tblGrid>
              <a:tr h="0">
                <a:tc>
                  <a:txBody>
                    <a:bodyPr/>
                    <a:lstStyle/>
                    <a:p>
                      <a:pPr>
                        <a:buNone/>
                      </a:pPr>
                      <a:r>
                        <a:rPr lang="en-US" sz="2800"/>
                        <a:t>Ethical Issue</a:t>
                      </a:r>
                    </a:p>
                  </a:txBody>
                  <a:tcPr anchor="ctr">
                    <a:solidFill>
                      <a:schemeClr val="bg1"/>
                    </a:solidFill>
                  </a:tcPr>
                </a:tc>
                <a:tc>
                  <a:txBody>
                    <a:bodyPr/>
                    <a:lstStyle/>
                    <a:p>
                      <a:pPr>
                        <a:buNone/>
                      </a:pPr>
                      <a:r>
                        <a:rPr lang="en-US" sz="2800"/>
                        <a:t>Example</a:t>
                      </a:r>
                    </a:p>
                  </a:txBody>
                  <a:tcPr anchor="ctr">
                    <a:solidFill>
                      <a:schemeClr val="bg1"/>
                    </a:solidFill>
                  </a:tcPr>
                </a:tc>
                <a:extLst>
                  <a:ext uri="{0D108BD9-81ED-4DB2-BD59-A6C34878D82A}">
                    <a16:rowId xmlns:a16="http://schemas.microsoft.com/office/drawing/2014/main" val="1515352252"/>
                  </a:ext>
                </a:extLst>
              </a:tr>
              <a:tr h="0">
                <a:tc>
                  <a:txBody>
                    <a:bodyPr/>
                    <a:lstStyle/>
                    <a:p>
                      <a:pPr>
                        <a:buNone/>
                      </a:pPr>
                      <a:r>
                        <a:rPr lang="en-US" sz="2800"/>
                        <a:t>Data privacy</a:t>
                      </a:r>
                    </a:p>
                  </a:txBody>
                  <a:tcPr anchor="ctr">
                    <a:solidFill>
                      <a:schemeClr val="bg1"/>
                    </a:solidFill>
                  </a:tcPr>
                </a:tc>
                <a:tc>
                  <a:txBody>
                    <a:bodyPr/>
                    <a:lstStyle/>
                    <a:p>
                      <a:pPr>
                        <a:buNone/>
                      </a:pPr>
                      <a:r>
                        <a:rPr lang="en-US" sz="2800"/>
                        <a:t>client information exposed</a:t>
                      </a:r>
                    </a:p>
                  </a:txBody>
                  <a:tcPr anchor="ctr">
                    <a:solidFill>
                      <a:schemeClr val="bg1"/>
                    </a:solidFill>
                  </a:tcPr>
                </a:tc>
                <a:extLst>
                  <a:ext uri="{0D108BD9-81ED-4DB2-BD59-A6C34878D82A}">
                    <a16:rowId xmlns:a16="http://schemas.microsoft.com/office/drawing/2014/main" val="2728149097"/>
                  </a:ext>
                </a:extLst>
              </a:tr>
              <a:tr h="0">
                <a:tc>
                  <a:txBody>
                    <a:bodyPr/>
                    <a:lstStyle/>
                    <a:p>
                      <a:pPr>
                        <a:buNone/>
                      </a:pPr>
                      <a:r>
                        <a:rPr lang="en-US" sz="2800"/>
                        <a:t>AI bias</a:t>
                      </a:r>
                    </a:p>
                  </a:txBody>
                  <a:tcPr anchor="ctr">
                    <a:solidFill>
                      <a:schemeClr val="bg1"/>
                    </a:solidFill>
                  </a:tcPr>
                </a:tc>
                <a:tc>
                  <a:txBody>
                    <a:bodyPr/>
                    <a:lstStyle/>
                    <a:p>
                      <a:pPr>
                        <a:buNone/>
                      </a:pPr>
                      <a:r>
                        <a:rPr lang="en-US" sz="2800"/>
                        <a:t>unfair automated decisions</a:t>
                      </a:r>
                    </a:p>
                  </a:txBody>
                  <a:tcPr anchor="ctr">
                    <a:solidFill>
                      <a:schemeClr val="bg1"/>
                    </a:solidFill>
                  </a:tcPr>
                </a:tc>
                <a:extLst>
                  <a:ext uri="{0D108BD9-81ED-4DB2-BD59-A6C34878D82A}">
                    <a16:rowId xmlns:a16="http://schemas.microsoft.com/office/drawing/2014/main" val="1674981263"/>
                  </a:ext>
                </a:extLst>
              </a:tr>
              <a:tr h="0">
                <a:tc>
                  <a:txBody>
                    <a:bodyPr/>
                    <a:lstStyle/>
                    <a:p>
                      <a:pPr>
                        <a:buNone/>
                      </a:pPr>
                      <a:r>
                        <a:rPr lang="en-US" sz="2800"/>
                        <a:t>Cybersecurity breaches</a:t>
                      </a:r>
                    </a:p>
                  </a:txBody>
                  <a:tcPr anchor="ctr">
                    <a:solidFill>
                      <a:schemeClr val="bg1"/>
                    </a:solidFill>
                  </a:tcPr>
                </a:tc>
                <a:tc>
                  <a:txBody>
                    <a:bodyPr/>
                    <a:lstStyle/>
                    <a:p>
                      <a:pPr>
                        <a:buNone/>
                      </a:pPr>
                      <a:r>
                        <a:rPr lang="en-US" sz="2800"/>
                        <a:t>hacked systems</a:t>
                      </a:r>
                    </a:p>
                  </a:txBody>
                  <a:tcPr anchor="ctr">
                    <a:solidFill>
                      <a:schemeClr val="bg1"/>
                    </a:solidFill>
                  </a:tcPr>
                </a:tc>
                <a:extLst>
                  <a:ext uri="{0D108BD9-81ED-4DB2-BD59-A6C34878D82A}">
                    <a16:rowId xmlns:a16="http://schemas.microsoft.com/office/drawing/2014/main" val="4005425641"/>
                  </a:ext>
                </a:extLst>
              </a:tr>
              <a:tr h="0">
                <a:tc>
                  <a:txBody>
                    <a:bodyPr/>
                    <a:lstStyle/>
                    <a:p>
                      <a:pPr>
                        <a:buNone/>
                      </a:pPr>
                      <a:r>
                        <a:rPr lang="en-US" sz="2800"/>
                        <a:t>Poor accessibility</a:t>
                      </a:r>
                    </a:p>
                  </a:txBody>
                  <a:tcPr anchor="ctr">
                    <a:solidFill>
                      <a:schemeClr val="bg1"/>
                    </a:solidFill>
                  </a:tcPr>
                </a:tc>
                <a:tc>
                  <a:txBody>
                    <a:bodyPr/>
                    <a:lstStyle/>
                    <a:p>
                      <a:pPr>
                        <a:buNone/>
                      </a:pPr>
                      <a:r>
                        <a:rPr lang="en-US" sz="2800"/>
                        <a:t>systems difficult for users</a:t>
                      </a:r>
                    </a:p>
                  </a:txBody>
                  <a:tcPr anchor="ctr">
                    <a:solidFill>
                      <a:schemeClr val="bg1"/>
                    </a:solidFill>
                  </a:tcPr>
                </a:tc>
                <a:extLst>
                  <a:ext uri="{0D108BD9-81ED-4DB2-BD59-A6C34878D82A}">
                    <a16:rowId xmlns:a16="http://schemas.microsoft.com/office/drawing/2014/main" val="1550550607"/>
                  </a:ext>
                </a:extLst>
              </a:tr>
              <a:tr h="0">
                <a:tc>
                  <a:txBody>
                    <a:bodyPr/>
                    <a:lstStyle/>
                    <a:p>
                      <a:pPr>
                        <a:buNone/>
                      </a:pPr>
                      <a:r>
                        <a:rPr lang="en-US" sz="2800"/>
                        <a:t>Misuse of data</a:t>
                      </a:r>
                    </a:p>
                  </a:txBody>
                  <a:tcPr anchor="ctr">
                    <a:solidFill>
                      <a:schemeClr val="bg1"/>
                    </a:solidFill>
                  </a:tcPr>
                </a:tc>
                <a:tc>
                  <a:txBody>
                    <a:bodyPr/>
                    <a:lstStyle/>
                    <a:p>
                      <a:pPr>
                        <a:buNone/>
                      </a:pPr>
                      <a:r>
                        <a:rPr lang="en-US" sz="2800" dirty="0"/>
                        <a:t>collecting unnecessary data</a:t>
                      </a:r>
                    </a:p>
                  </a:txBody>
                  <a:tcPr anchor="ctr">
                    <a:solidFill>
                      <a:schemeClr val="bg1"/>
                    </a:solidFill>
                  </a:tcPr>
                </a:tc>
                <a:extLst>
                  <a:ext uri="{0D108BD9-81ED-4DB2-BD59-A6C34878D82A}">
                    <a16:rowId xmlns:a16="http://schemas.microsoft.com/office/drawing/2014/main" val="4257468979"/>
                  </a:ext>
                </a:extLst>
              </a:tr>
            </a:tbl>
          </a:graphicData>
        </a:graphic>
      </p:graphicFrame>
    </p:spTree>
    <p:extLst>
      <p:ext uri="{BB962C8B-B14F-4D97-AF65-F5344CB8AC3E}">
        <p14:creationId xmlns:p14="http://schemas.microsoft.com/office/powerpoint/2010/main" val="25307726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CEA48-117E-3C31-49F5-F79B46F79299}"/>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F97A884F-3134-095B-C8DB-4F8B2BB39663}"/>
              </a:ext>
            </a:extLst>
          </p:cNvPr>
          <p:cNvSpPr>
            <a:spLocks noGrp="1"/>
          </p:cNvSpPr>
          <p:nvPr>
            <p:ph type="title"/>
          </p:nvPr>
        </p:nvSpPr>
        <p:spPr>
          <a:xfrm>
            <a:off x="0" y="612775"/>
            <a:ext cx="9107488" cy="1269188"/>
          </a:xfrm>
        </p:spPr>
        <p:txBody>
          <a:bodyPr>
            <a:normAutofit fontScale="90000"/>
          </a:bodyPr>
          <a:lstStyle/>
          <a:p>
            <a:pPr algn="ctr" eaLnBrk="1" fontAlgn="auto" hangingPunct="1">
              <a:spcAft>
                <a:spcPts val="0"/>
              </a:spcAft>
              <a:defRPr/>
            </a:pPr>
            <a:r>
              <a:rPr lang="en-US" altLang="en-US" b="1" dirty="0">
                <a:solidFill>
                  <a:srgbClr val="00B0F0"/>
                </a:solidFill>
              </a:rPr>
              <a:t>Questions Students Can Ask NSW IT Support</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7827F7D6-9603-43C6-C331-C4CECD46F4DE}"/>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F10F93A0-2DE3-2EC5-A7FE-DDEC31533A9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9</a:t>
            </a:fld>
            <a:endParaRPr lang="en-US" altLang="en-US" sz="900">
              <a:solidFill>
                <a:srgbClr val="FFFFFF"/>
              </a:solidFill>
            </a:endParaRPr>
          </a:p>
        </p:txBody>
      </p:sp>
      <p:pic>
        <p:nvPicPr>
          <p:cNvPr id="22534" name="Picture 5">
            <a:extLst>
              <a:ext uri="{FF2B5EF4-FFF2-40B4-BE49-F238E27FC236}">
                <a16:creationId xmlns:a16="http://schemas.microsoft.com/office/drawing/2014/main" id="{E4B9DCB0-10D0-110B-EEBD-80876711F9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33012824-7C51-92ED-764E-14CF0BE85F71}"/>
              </a:ext>
            </a:extLst>
          </p:cNvPr>
          <p:cNvSpPr txBox="1"/>
          <p:nvPr/>
        </p:nvSpPr>
        <p:spPr>
          <a:xfrm>
            <a:off x="0" y="1701209"/>
            <a:ext cx="9144000" cy="4549835"/>
          </a:xfrm>
          <a:prstGeom prst="rect">
            <a:avLst/>
          </a:prstGeom>
          <a:noFill/>
        </p:spPr>
        <p:txBody>
          <a:bodyPr wrap="square">
            <a:spAutoFit/>
          </a:bodyPr>
          <a:lstStyle/>
          <a:p>
            <a:pPr>
              <a:lnSpc>
                <a:spcPct val="150000"/>
              </a:lnSpc>
              <a:buNone/>
            </a:pPr>
            <a:r>
              <a:rPr lang="en-US" sz="2800" b="1" dirty="0">
                <a:latin typeface="+mn-lt"/>
              </a:rPr>
              <a:t>About Ethics</a:t>
            </a:r>
          </a:p>
          <a:p>
            <a:pPr>
              <a:lnSpc>
                <a:spcPct val="150000"/>
              </a:lnSpc>
              <a:buNone/>
            </a:pPr>
            <a:r>
              <a:rPr lang="en-US" sz="2800" b="1" dirty="0">
                <a:latin typeface="+mn-lt"/>
              </a:rPr>
              <a:t>Useful Questions:</a:t>
            </a:r>
          </a:p>
          <a:p>
            <a:pPr>
              <a:lnSpc>
                <a:spcPct val="150000"/>
              </a:lnSpc>
            </a:pPr>
            <a:r>
              <a:rPr lang="en-US" sz="2800" dirty="0">
                <a:latin typeface="+mn-lt"/>
              </a:rPr>
              <a:t>- What cybersecurity risks concern clients most? </a:t>
            </a:r>
          </a:p>
          <a:p>
            <a:pPr>
              <a:lnSpc>
                <a:spcPct val="150000"/>
              </a:lnSpc>
            </a:pPr>
            <a:r>
              <a:rPr lang="en-US" sz="2800" dirty="0">
                <a:latin typeface="+mn-lt"/>
              </a:rPr>
              <a:t>- How do you protect customer data? </a:t>
            </a:r>
          </a:p>
          <a:p>
            <a:pPr>
              <a:lnSpc>
                <a:spcPct val="150000"/>
              </a:lnSpc>
            </a:pPr>
            <a:r>
              <a:rPr lang="en-US" sz="2800" dirty="0">
                <a:latin typeface="+mn-lt"/>
              </a:rPr>
              <a:t>- How do you manage privacy and confidentiality? </a:t>
            </a:r>
          </a:p>
          <a:p>
            <a:pPr>
              <a:lnSpc>
                <a:spcPct val="150000"/>
              </a:lnSpc>
            </a:pPr>
            <a:r>
              <a:rPr lang="en-US" sz="2800" dirty="0">
                <a:latin typeface="+mn-lt"/>
              </a:rPr>
              <a:t>- Do clients ask about compliance requirements? </a:t>
            </a:r>
          </a:p>
          <a:p>
            <a:pPr>
              <a:lnSpc>
                <a:spcPct val="150000"/>
              </a:lnSpc>
            </a:pPr>
            <a:r>
              <a:rPr lang="en-US" sz="2800" dirty="0">
                <a:latin typeface="+mn-lt"/>
              </a:rPr>
              <a:t>- What ethical challenges are common in IT support projects?</a:t>
            </a:r>
          </a:p>
        </p:txBody>
      </p:sp>
    </p:spTree>
    <p:extLst>
      <p:ext uri="{BB962C8B-B14F-4D97-AF65-F5344CB8AC3E}">
        <p14:creationId xmlns:p14="http://schemas.microsoft.com/office/powerpoint/2010/main" val="18184917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CF16D3-585F-41A4-C99E-7347CF52EECC}"/>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35674280-E931-9E34-1CC5-135FC1EE3ABE}"/>
              </a:ext>
            </a:extLst>
          </p:cNvPr>
          <p:cNvSpPr>
            <a:spLocks noGrp="1"/>
          </p:cNvSpPr>
          <p:nvPr>
            <p:ph type="title"/>
          </p:nvPr>
        </p:nvSpPr>
        <p:spPr>
          <a:xfrm>
            <a:off x="0" y="612775"/>
            <a:ext cx="9107488" cy="1269188"/>
          </a:xfrm>
        </p:spPr>
        <p:txBody>
          <a:bodyPr>
            <a:normAutofit/>
          </a:bodyPr>
          <a:lstStyle/>
          <a:p>
            <a:pPr algn="ctr" eaLnBrk="1" fontAlgn="auto" hangingPunct="1">
              <a:spcAft>
                <a:spcPts val="0"/>
              </a:spcAft>
              <a:defRPr/>
            </a:pPr>
            <a:r>
              <a:rPr lang="en-US" altLang="en-US" b="1" dirty="0">
                <a:solidFill>
                  <a:srgbClr val="00B0F0"/>
                </a:solidFill>
              </a:rPr>
              <a:t>Australian Context (Very Important)</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0CEC01CE-0CC0-1EBD-EAFC-84F65520D7D6}"/>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DF450B03-C792-E304-3068-E8B517F7E5B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10</a:t>
            </a:fld>
            <a:endParaRPr lang="en-US" altLang="en-US" sz="900">
              <a:solidFill>
                <a:srgbClr val="FFFFFF"/>
              </a:solidFill>
            </a:endParaRPr>
          </a:p>
        </p:txBody>
      </p:sp>
      <p:pic>
        <p:nvPicPr>
          <p:cNvPr id="22534" name="Picture 5">
            <a:extLst>
              <a:ext uri="{FF2B5EF4-FFF2-40B4-BE49-F238E27FC236}">
                <a16:creationId xmlns:a16="http://schemas.microsoft.com/office/drawing/2014/main" id="{5320D15B-D339-76EF-A141-957DA61614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D0738BF7-E943-CE70-C9DC-A348FC135C82}"/>
              </a:ext>
            </a:extLst>
          </p:cNvPr>
          <p:cNvSpPr txBox="1"/>
          <p:nvPr/>
        </p:nvSpPr>
        <p:spPr>
          <a:xfrm>
            <a:off x="0" y="1701209"/>
            <a:ext cx="9144000" cy="5223866"/>
          </a:xfrm>
          <a:prstGeom prst="rect">
            <a:avLst/>
          </a:prstGeom>
          <a:noFill/>
        </p:spPr>
        <p:txBody>
          <a:bodyPr wrap="square">
            <a:spAutoFit/>
          </a:bodyPr>
          <a:lstStyle/>
          <a:p>
            <a:pPr>
              <a:lnSpc>
                <a:spcPct val="150000"/>
              </a:lnSpc>
            </a:pPr>
            <a:r>
              <a:rPr lang="en-US" sz="2500" b="1" dirty="0">
                <a:latin typeface="+mn-lt"/>
              </a:rPr>
              <a:t>Students Should Think About:</a:t>
            </a:r>
          </a:p>
          <a:p>
            <a:pPr>
              <a:lnSpc>
                <a:spcPct val="150000"/>
              </a:lnSpc>
            </a:pPr>
            <a:r>
              <a:rPr lang="en-US" sz="2500" b="1" dirty="0">
                <a:latin typeface="+mn-lt"/>
              </a:rPr>
              <a:t>Australian IT Challenges</a:t>
            </a:r>
          </a:p>
          <a:p>
            <a:pPr>
              <a:lnSpc>
                <a:spcPct val="150000"/>
              </a:lnSpc>
            </a:pPr>
            <a:r>
              <a:rPr lang="en-US" sz="2500" dirty="0">
                <a:latin typeface="+mn-lt"/>
              </a:rPr>
              <a:t>- cyber attacks on SMEs </a:t>
            </a:r>
          </a:p>
          <a:p>
            <a:pPr>
              <a:lnSpc>
                <a:spcPct val="150000"/>
              </a:lnSpc>
            </a:pPr>
            <a:r>
              <a:rPr lang="en-US" sz="2500" dirty="0">
                <a:latin typeface="+mn-lt"/>
              </a:rPr>
              <a:t>- privacy regulations </a:t>
            </a:r>
          </a:p>
          <a:p>
            <a:pPr>
              <a:lnSpc>
                <a:spcPct val="150000"/>
              </a:lnSpc>
            </a:pPr>
            <a:r>
              <a:rPr lang="en-US" sz="2500" dirty="0">
                <a:latin typeface="+mn-lt"/>
              </a:rPr>
              <a:t>- cloud security </a:t>
            </a:r>
          </a:p>
          <a:p>
            <a:pPr>
              <a:lnSpc>
                <a:spcPct val="150000"/>
              </a:lnSpc>
            </a:pPr>
            <a:r>
              <a:rPr lang="en-US" sz="2500" dirty="0">
                <a:latin typeface="+mn-lt"/>
              </a:rPr>
              <a:t>- AI ethics </a:t>
            </a:r>
          </a:p>
          <a:p>
            <a:pPr>
              <a:lnSpc>
                <a:spcPct val="150000"/>
              </a:lnSpc>
            </a:pPr>
            <a:r>
              <a:rPr lang="en-US" sz="2500" dirty="0">
                <a:latin typeface="+mn-lt"/>
              </a:rPr>
              <a:t>- remote work security </a:t>
            </a:r>
          </a:p>
          <a:p>
            <a:pPr>
              <a:lnSpc>
                <a:spcPct val="150000"/>
              </a:lnSpc>
            </a:pPr>
            <a:r>
              <a:rPr lang="en-US" sz="2500" dirty="0">
                <a:latin typeface="+mn-lt"/>
              </a:rPr>
              <a:t>- ransomware attacks </a:t>
            </a:r>
          </a:p>
          <a:p>
            <a:pPr>
              <a:lnSpc>
                <a:spcPct val="150000"/>
              </a:lnSpc>
            </a:pPr>
            <a:r>
              <a:rPr lang="en-US" sz="2500" dirty="0">
                <a:latin typeface="+mn-lt"/>
              </a:rPr>
              <a:t>Assessment 4 should reflect real Australian industry issues.</a:t>
            </a:r>
          </a:p>
        </p:txBody>
      </p:sp>
    </p:spTree>
    <p:extLst>
      <p:ext uri="{BB962C8B-B14F-4D97-AF65-F5344CB8AC3E}">
        <p14:creationId xmlns:p14="http://schemas.microsoft.com/office/powerpoint/2010/main" val="31960775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D6EEE-B9C3-0DBB-7003-3A62BD6E50C7}"/>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FBD77B87-8616-8B0A-C9F2-410B58C5CC6A}"/>
              </a:ext>
            </a:extLst>
          </p:cNvPr>
          <p:cNvSpPr>
            <a:spLocks noGrp="1"/>
          </p:cNvSpPr>
          <p:nvPr>
            <p:ph type="title"/>
          </p:nvPr>
        </p:nvSpPr>
        <p:spPr>
          <a:xfrm>
            <a:off x="0" y="612775"/>
            <a:ext cx="9107488" cy="1269188"/>
          </a:xfrm>
        </p:spPr>
        <p:txBody>
          <a:bodyPr>
            <a:normAutofit fontScale="90000"/>
          </a:bodyPr>
          <a:lstStyle/>
          <a:p>
            <a:pPr algn="ctr" eaLnBrk="1" fontAlgn="auto" hangingPunct="1">
              <a:spcAft>
                <a:spcPts val="0"/>
              </a:spcAft>
              <a:defRPr/>
            </a:pPr>
            <a:r>
              <a:rPr lang="en-US" altLang="en-US" b="1" dirty="0">
                <a:solidFill>
                  <a:srgbClr val="00B0F0"/>
                </a:solidFill>
              </a:rPr>
              <a:t>Australian Regulations Students Should Mention</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0EC041D0-C7D5-BCEE-2A2A-9164693438F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4FB39532-B7B1-F7E6-F83C-FB7FA14805B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11</a:t>
            </a:fld>
            <a:endParaRPr lang="en-US" altLang="en-US" sz="900">
              <a:solidFill>
                <a:srgbClr val="FFFFFF"/>
              </a:solidFill>
            </a:endParaRPr>
          </a:p>
        </p:txBody>
      </p:sp>
      <p:pic>
        <p:nvPicPr>
          <p:cNvPr id="22534" name="Picture 5">
            <a:extLst>
              <a:ext uri="{FF2B5EF4-FFF2-40B4-BE49-F238E27FC236}">
                <a16:creationId xmlns:a16="http://schemas.microsoft.com/office/drawing/2014/main" id="{12FAAF3C-F948-A4AC-B20F-B833BD549D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8E5614F4-5151-B2DE-949B-5B10CB96C175}"/>
              </a:ext>
            </a:extLst>
          </p:cNvPr>
          <p:cNvSpPr txBox="1"/>
          <p:nvPr/>
        </p:nvSpPr>
        <p:spPr>
          <a:xfrm>
            <a:off x="0" y="1701209"/>
            <a:ext cx="9144000" cy="4549835"/>
          </a:xfrm>
          <a:prstGeom prst="rect">
            <a:avLst/>
          </a:prstGeom>
          <a:noFill/>
        </p:spPr>
        <p:txBody>
          <a:bodyPr wrap="square">
            <a:spAutoFit/>
          </a:bodyPr>
          <a:lstStyle/>
          <a:p>
            <a:pPr>
              <a:lnSpc>
                <a:spcPct val="150000"/>
              </a:lnSpc>
            </a:pPr>
            <a:r>
              <a:rPr lang="en-US" sz="2800" b="1" dirty="0">
                <a:latin typeface="+mn-lt"/>
              </a:rPr>
              <a:t>Important Examples:</a:t>
            </a:r>
          </a:p>
          <a:p>
            <a:pPr>
              <a:lnSpc>
                <a:spcPct val="150000"/>
              </a:lnSpc>
            </a:pPr>
            <a:r>
              <a:rPr lang="en-US" sz="2800" dirty="0">
                <a:latin typeface="+mn-lt"/>
              </a:rPr>
              <a:t>- Australian Privacy Act </a:t>
            </a:r>
          </a:p>
          <a:p>
            <a:pPr>
              <a:lnSpc>
                <a:spcPct val="150000"/>
              </a:lnSpc>
            </a:pPr>
            <a:r>
              <a:rPr lang="en-US" sz="2800" dirty="0">
                <a:latin typeface="+mn-lt"/>
              </a:rPr>
              <a:t>- Data protection principles </a:t>
            </a:r>
          </a:p>
          <a:p>
            <a:pPr>
              <a:lnSpc>
                <a:spcPct val="150000"/>
              </a:lnSpc>
            </a:pPr>
            <a:r>
              <a:rPr lang="en-US" sz="2800" dirty="0">
                <a:latin typeface="+mn-lt"/>
              </a:rPr>
              <a:t>- Cybersecurity best practices </a:t>
            </a:r>
          </a:p>
          <a:p>
            <a:pPr>
              <a:lnSpc>
                <a:spcPct val="150000"/>
              </a:lnSpc>
            </a:pPr>
            <a:r>
              <a:rPr lang="en-US" sz="2800" dirty="0">
                <a:latin typeface="+mn-lt"/>
              </a:rPr>
              <a:t>- Company policies and procedures </a:t>
            </a:r>
          </a:p>
          <a:p>
            <a:pPr>
              <a:lnSpc>
                <a:spcPct val="150000"/>
              </a:lnSpc>
            </a:pPr>
            <a:r>
              <a:rPr lang="en-US" sz="2800" dirty="0">
                <a:latin typeface="+mn-lt"/>
              </a:rPr>
              <a:t>Students do not need deep legal knowledge, but should show awareness.</a:t>
            </a:r>
          </a:p>
        </p:txBody>
      </p:sp>
    </p:spTree>
    <p:extLst>
      <p:ext uri="{BB962C8B-B14F-4D97-AF65-F5344CB8AC3E}">
        <p14:creationId xmlns:p14="http://schemas.microsoft.com/office/powerpoint/2010/main" val="30929711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6EE39-5BC0-A88A-941D-855903C2A9CD}"/>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13B0FE23-E203-9EE0-E766-437152EBF4F9}"/>
              </a:ext>
            </a:extLst>
          </p:cNvPr>
          <p:cNvSpPr>
            <a:spLocks noGrp="1"/>
          </p:cNvSpPr>
          <p:nvPr>
            <p:ph type="title"/>
          </p:nvPr>
        </p:nvSpPr>
        <p:spPr>
          <a:xfrm>
            <a:off x="0" y="612775"/>
            <a:ext cx="9107488" cy="1269188"/>
          </a:xfrm>
        </p:spPr>
        <p:txBody>
          <a:bodyPr>
            <a:normAutofit/>
          </a:bodyPr>
          <a:lstStyle/>
          <a:p>
            <a:pPr algn="ctr" eaLnBrk="1" fontAlgn="auto" hangingPunct="1">
              <a:spcAft>
                <a:spcPts val="0"/>
              </a:spcAft>
              <a:defRPr/>
            </a:pPr>
            <a:r>
              <a:rPr lang="en-US" altLang="en-US" b="1" dirty="0">
                <a:solidFill>
                  <a:srgbClr val="00B0F0"/>
                </a:solidFill>
              </a:rPr>
              <a:t>Example Ethical Problem</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042FB9AA-EFBC-87D8-1401-4BA11ED43FAB}"/>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9A88B84B-193C-950B-3111-0A4CD97FB13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12</a:t>
            </a:fld>
            <a:endParaRPr lang="en-US" altLang="en-US" sz="900">
              <a:solidFill>
                <a:srgbClr val="FFFFFF"/>
              </a:solidFill>
            </a:endParaRPr>
          </a:p>
        </p:txBody>
      </p:sp>
      <p:pic>
        <p:nvPicPr>
          <p:cNvPr id="22534" name="Picture 5">
            <a:extLst>
              <a:ext uri="{FF2B5EF4-FFF2-40B4-BE49-F238E27FC236}">
                <a16:creationId xmlns:a16="http://schemas.microsoft.com/office/drawing/2014/main" id="{694A23E4-85EA-0242-C2C0-E28E42692C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144BAA78-DA7D-C8CC-94DA-63551DEFD403}"/>
              </a:ext>
            </a:extLst>
          </p:cNvPr>
          <p:cNvSpPr txBox="1"/>
          <p:nvPr/>
        </p:nvSpPr>
        <p:spPr>
          <a:xfrm>
            <a:off x="0" y="1701209"/>
            <a:ext cx="9144000" cy="3903504"/>
          </a:xfrm>
          <a:prstGeom prst="rect">
            <a:avLst/>
          </a:prstGeom>
          <a:noFill/>
        </p:spPr>
        <p:txBody>
          <a:bodyPr wrap="square">
            <a:spAutoFit/>
          </a:bodyPr>
          <a:lstStyle/>
          <a:p>
            <a:pPr>
              <a:lnSpc>
                <a:spcPct val="150000"/>
              </a:lnSpc>
            </a:pPr>
            <a:r>
              <a:rPr lang="en-US" sz="2800" b="1" dirty="0">
                <a:latin typeface="+mn-lt"/>
              </a:rPr>
              <a:t>Problem:</a:t>
            </a:r>
          </a:p>
          <a:p>
            <a:pPr>
              <a:lnSpc>
                <a:spcPct val="150000"/>
              </a:lnSpc>
            </a:pPr>
            <a:r>
              <a:rPr lang="en-US" sz="2800" dirty="0">
                <a:latin typeface="+mn-lt"/>
              </a:rPr>
              <a:t>AI ticketing system incorrectly </a:t>
            </a:r>
            <a:r>
              <a:rPr lang="en-US" sz="2800" dirty="0" err="1">
                <a:latin typeface="+mn-lt"/>
              </a:rPr>
              <a:t>prioritises</a:t>
            </a:r>
            <a:r>
              <a:rPr lang="en-US" sz="2800" dirty="0">
                <a:latin typeface="+mn-lt"/>
              </a:rPr>
              <a:t> customer requests.</a:t>
            </a:r>
          </a:p>
          <a:p>
            <a:pPr>
              <a:lnSpc>
                <a:spcPct val="150000"/>
              </a:lnSpc>
            </a:pPr>
            <a:r>
              <a:rPr lang="en-US" sz="2800" b="1" dirty="0">
                <a:latin typeface="+mn-lt"/>
              </a:rPr>
              <a:t>Risks:</a:t>
            </a:r>
          </a:p>
          <a:p>
            <a:pPr>
              <a:lnSpc>
                <a:spcPct val="150000"/>
              </a:lnSpc>
            </a:pPr>
            <a:r>
              <a:rPr lang="en-US" sz="2800" dirty="0">
                <a:latin typeface="+mn-lt"/>
              </a:rPr>
              <a:t>- unfair treatment, </a:t>
            </a:r>
          </a:p>
          <a:p>
            <a:pPr>
              <a:lnSpc>
                <a:spcPct val="150000"/>
              </a:lnSpc>
            </a:pPr>
            <a:r>
              <a:rPr lang="en-US" sz="2800" dirty="0">
                <a:latin typeface="+mn-lt"/>
              </a:rPr>
              <a:t>- customer dissatisfaction, </a:t>
            </a:r>
          </a:p>
          <a:p>
            <a:pPr>
              <a:lnSpc>
                <a:spcPct val="150000"/>
              </a:lnSpc>
            </a:pPr>
            <a:r>
              <a:rPr lang="en-US" sz="2800" dirty="0">
                <a:latin typeface="+mn-lt"/>
              </a:rPr>
              <a:t>- inaccurate decisions. </a:t>
            </a:r>
          </a:p>
        </p:txBody>
      </p:sp>
    </p:spTree>
    <p:extLst>
      <p:ext uri="{BB962C8B-B14F-4D97-AF65-F5344CB8AC3E}">
        <p14:creationId xmlns:p14="http://schemas.microsoft.com/office/powerpoint/2010/main" val="34001833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DD8462-8898-44BA-9AAB-E35A8A589187}"/>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2BF6CCEE-8457-6309-24B1-2A892A4EA601}"/>
              </a:ext>
            </a:extLst>
          </p:cNvPr>
          <p:cNvSpPr>
            <a:spLocks noGrp="1"/>
          </p:cNvSpPr>
          <p:nvPr>
            <p:ph type="title"/>
          </p:nvPr>
        </p:nvSpPr>
        <p:spPr>
          <a:xfrm>
            <a:off x="0" y="612775"/>
            <a:ext cx="9107488" cy="1269188"/>
          </a:xfrm>
        </p:spPr>
        <p:txBody>
          <a:bodyPr>
            <a:normAutofit/>
          </a:bodyPr>
          <a:lstStyle/>
          <a:p>
            <a:pPr algn="ctr" eaLnBrk="1" fontAlgn="auto" hangingPunct="1">
              <a:spcAft>
                <a:spcPts val="0"/>
              </a:spcAft>
              <a:defRPr/>
            </a:pPr>
            <a:r>
              <a:rPr lang="en-US" altLang="en-US" b="1" dirty="0">
                <a:solidFill>
                  <a:srgbClr val="00B0F0"/>
                </a:solidFill>
              </a:rPr>
              <a:t>Example Ethical Problem</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10EDAFEF-C64D-D27F-771C-BA6E2DC7D3D3}"/>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2B318266-34D9-4EDF-CD21-C3195AB5013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13</a:t>
            </a:fld>
            <a:endParaRPr lang="en-US" altLang="en-US" sz="900">
              <a:solidFill>
                <a:srgbClr val="FFFFFF"/>
              </a:solidFill>
            </a:endParaRPr>
          </a:p>
        </p:txBody>
      </p:sp>
      <p:pic>
        <p:nvPicPr>
          <p:cNvPr id="22534" name="Picture 5">
            <a:extLst>
              <a:ext uri="{FF2B5EF4-FFF2-40B4-BE49-F238E27FC236}">
                <a16:creationId xmlns:a16="http://schemas.microsoft.com/office/drawing/2014/main" id="{072CB905-76A3-B04A-62B9-7AAE7282C4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83F43300-4D29-7B27-44C4-FAF95CB170B5}"/>
              </a:ext>
            </a:extLst>
          </p:cNvPr>
          <p:cNvSpPr txBox="1"/>
          <p:nvPr/>
        </p:nvSpPr>
        <p:spPr>
          <a:xfrm>
            <a:off x="0" y="1701209"/>
            <a:ext cx="9144000" cy="3254289"/>
          </a:xfrm>
          <a:prstGeom prst="rect">
            <a:avLst/>
          </a:prstGeom>
          <a:noFill/>
        </p:spPr>
        <p:txBody>
          <a:bodyPr wrap="square">
            <a:spAutoFit/>
          </a:bodyPr>
          <a:lstStyle/>
          <a:p>
            <a:pPr>
              <a:lnSpc>
                <a:spcPct val="150000"/>
              </a:lnSpc>
            </a:pPr>
            <a:r>
              <a:rPr lang="en-US" sz="2800" b="1" dirty="0">
                <a:latin typeface="+mn-lt"/>
              </a:rPr>
              <a:t>Possible Solutions:</a:t>
            </a:r>
          </a:p>
          <a:p>
            <a:pPr>
              <a:lnSpc>
                <a:spcPct val="150000"/>
              </a:lnSpc>
            </a:pPr>
            <a:r>
              <a:rPr lang="en-US" sz="2800" dirty="0">
                <a:latin typeface="+mn-lt"/>
              </a:rPr>
              <a:t>-  human review</a:t>
            </a:r>
            <a:br>
              <a:rPr lang="en-US" sz="2800" dirty="0">
                <a:latin typeface="+mn-lt"/>
              </a:rPr>
            </a:br>
            <a:r>
              <a:rPr lang="en-US" sz="2800" dirty="0">
                <a:latin typeface="+mn-lt"/>
              </a:rPr>
              <a:t>-  regular testing</a:t>
            </a:r>
            <a:br>
              <a:rPr lang="en-US" sz="2800" dirty="0">
                <a:latin typeface="+mn-lt"/>
              </a:rPr>
            </a:br>
            <a:r>
              <a:rPr lang="en-US" sz="2800" dirty="0">
                <a:latin typeface="+mn-lt"/>
              </a:rPr>
              <a:t>-  transparent AI rules</a:t>
            </a:r>
            <a:br>
              <a:rPr lang="en-US" sz="2800" dirty="0">
                <a:latin typeface="+mn-lt"/>
              </a:rPr>
            </a:br>
            <a:r>
              <a:rPr lang="en-US" sz="2800" dirty="0">
                <a:latin typeface="+mn-lt"/>
              </a:rPr>
              <a:t>-  staff oversight</a:t>
            </a:r>
          </a:p>
        </p:txBody>
      </p:sp>
    </p:spTree>
    <p:extLst>
      <p:ext uri="{BB962C8B-B14F-4D97-AF65-F5344CB8AC3E}">
        <p14:creationId xmlns:p14="http://schemas.microsoft.com/office/powerpoint/2010/main" val="3880809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86F19-F3EC-FA93-B19F-1B67832B3FD3}"/>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4F6235B6-8975-53D6-1388-49801E1CBD36}"/>
              </a:ext>
            </a:extLst>
          </p:cNvPr>
          <p:cNvSpPr>
            <a:spLocks noGrp="1"/>
          </p:cNvSpPr>
          <p:nvPr>
            <p:ph type="title"/>
          </p:nvPr>
        </p:nvSpPr>
        <p:spPr>
          <a:xfrm>
            <a:off x="0" y="612775"/>
            <a:ext cx="9107488" cy="1269188"/>
          </a:xfrm>
        </p:spPr>
        <p:txBody>
          <a:bodyPr>
            <a:normAutofit/>
          </a:bodyPr>
          <a:lstStyle/>
          <a:p>
            <a:pPr algn="ctr" eaLnBrk="1" fontAlgn="auto" hangingPunct="1">
              <a:spcAft>
                <a:spcPts val="0"/>
              </a:spcAft>
              <a:defRPr/>
            </a:pPr>
            <a:r>
              <a:rPr lang="en-US" altLang="en-US" b="1" dirty="0">
                <a:solidFill>
                  <a:srgbClr val="00B0F0"/>
                </a:solidFill>
              </a:rPr>
              <a:t>Questions About Governance</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FABEFFB5-D25E-A6DA-DD9A-052E60325DF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75256643-8A4A-C666-3168-549CAE73925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14</a:t>
            </a:fld>
            <a:endParaRPr lang="en-US" altLang="en-US" sz="900">
              <a:solidFill>
                <a:srgbClr val="FFFFFF"/>
              </a:solidFill>
            </a:endParaRPr>
          </a:p>
        </p:txBody>
      </p:sp>
      <p:pic>
        <p:nvPicPr>
          <p:cNvPr id="22534" name="Picture 5">
            <a:extLst>
              <a:ext uri="{FF2B5EF4-FFF2-40B4-BE49-F238E27FC236}">
                <a16:creationId xmlns:a16="http://schemas.microsoft.com/office/drawing/2014/main" id="{01AD8FDA-3E7A-3815-C185-F493D44CF0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7A4EB64C-ADD7-8097-043D-BC7CB0D5085E}"/>
              </a:ext>
            </a:extLst>
          </p:cNvPr>
          <p:cNvSpPr txBox="1"/>
          <p:nvPr/>
        </p:nvSpPr>
        <p:spPr>
          <a:xfrm>
            <a:off x="0" y="1881964"/>
            <a:ext cx="9144000" cy="3903504"/>
          </a:xfrm>
          <a:prstGeom prst="rect">
            <a:avLst/>
          </a:prstGeom>
          <a:noFill/>
        </p:spPr>
        <p:txBody>
          <a:bodyPr wrap="square">
            <a:spAutoFit/>
          </a:bodyPr>
          <a:lstStyle/>
          <a:p>
            <a:pPr>
              <a:lnSpc>
                <a:spcPct val="150000"/>
              </a:lnSpc>
              <a:buNone/>
            </a:pPr>
            <a:r>
              <a:rPr lang="en-US" sz="2800" b="1" dirty="0">
                <a:latin typeface="+mn-lt"/>
              </a:rPr>
              <a:t>Students Can Ask:</a:t>
            </a:r>
          </a:p>
          <a:p>
            <a:pPr marL="542925" indent="-265113">
              <a:lnSpc>
                <a:spcPct val="150000"/>
              </a:lnSpc>
            </a:pPr>
            <a:r>
              <a:rPr lang="en-US" sz="2800" dirty="0">
                <a:latin typeface="+mn-lt"/>
              </a:rPr>
              <a:t>- How do you manage IT risks? </a:t>
            </a:r>
          </a:p>
          <a:p>
            <a:pPr marL="542925" indent="-265113">
              <a:lnSpc>
                <a:spcPct val="150000"/>
              </a:lnSpc>
            </a:pPr>
            <a:r>
              <a:rPr lang="en-US" sz="2800" dirty="0">
                <a:latin typeface="+mn-lt"/>
              </a:rPr>
              <a:t>- What policies do you follow? </a:t>
            </a:r>
          </a:p>
          <a:p>
            <a:pPr marL="542925" indent="-265113">
              <a:lnSpc>
                <a:spcPct val="150000"/>
              </a:lnSpc>
            </a:pPr>
            <a:r>
              <a:rPr lang="en-US" sz="2800" dirty="0">
                <a:latin typeface="+mn-lt"/>
              </a:rPr>
              <a:t>- How do you manage user access permissions? </a:t>
            </a:r>
          </a:p>
          <a:p>
            <a:pPr marL="542925" indent="-265113">
              <a:lnSpc>
                <a:spcPct val="150000"/>
              </a:lnSpc>
            </a:pPr>
            <a:r>
              <a:rPr lang="en-US" sz="2800" dirty="0">
                <a:latin typeface="+mn-lt"/>
              </a:rPr>
              <a:t>- How do you ensure compliance? </a:t>
            </a:r>
          </a:p>
          <a:p>
            <a:pPr marL="542925" indent="-265113">
              <a:lnSpc>
                <a:spcPct val="150000"/>
              </a:lnSpc>
            </a:pPr>
            <a:r>
              <a:rPr lang="en-US" sz="2800" dirty="0">
                <a:latin typeface="+mn-lt"/>
              </a:rPr>
              <a:t>- How do you monitor system security?</a:t>
            </a:r>
          </a:p>
        </p:txBody>
      </p:sp>
    </p:spTree>
    <p:extLst>
      <p:ext uri="{BB962C8B-B14F-4D97-AF65-F5344CB8AC3E}">
        <p14:creationId xmlns:p14="http://schemas.microsoft.com/office/powerpoint/2010/main" val="12130459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A9FCC6-1C8B-6A7F-59DB-78BBF6900E6A}"/>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003C5025-ED26-A9C4-0F44-CE2E6DAFC682}"/>
              </a:ext>
            </a:extLst>
          </p:cNvPr>
          <p:cNvSpPr>
            <a:spLocks noGrp="1"/>
          </p:cNvSpPr>
          <p:nvPr>
            <p:ph type="title"/>
          </p:nvPr>
        </p:nvSpPr>
        <p:spPr>
          <a:xfrm>
            <a:off x="0" y="628651"/>
            <a:ext cx="9107488" cy="1253314"/>
          </a:xfrm>
        </p:spPr>
        <p:txBody>
          <a:bodyPr>
            <a:normAutofit fontScale="90000"/>
          </a:bodyPr>
          <a:lstStyle/>
          <a:p>
            <a:pPr algn="ctr" eaLnBrk="1" fontAlgn="auto" hangingPunct="1">
              <a:spcAft>
                <a:spcPts val="0"/>
              </a:spcAft>
              <a:defRPr/>
            </a:pPr>
            <a:r>
              <a:rPr lang="en-US" altLang="en-US" b="1" dirty="0">
                <a:solidFill>
                  <a:srgbClr val="00B0F0"/>
                </a:solidFill>
              </a:rPr>
              <a:t>IT Governance Explained Simply IT Governance Means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267D01D8-FAC0-689A-3194-FF8DE9BDD959}"/>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0868D0D3-B635-55A3-A01F-4CF8D7C58FD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15</a:t>
            </a:fld>
            <a:endParaRPr lang="en-US" altLang="en-US" sz="900">
              <a:solidFill>
                <a:srgbClr val="FFFFFF"/>
              </a:solidFill>
            </a:endParaRPr>
          </a:p>
        </p:txBody>
      </p:sp>
      <p:pic>
        <p:nvPicPr>
          <p:cNvPr id="22534" name="Picture 5">
            <a:extLst>
              <a:ext uri="{FF2B5EF4-FFF2-40B4-BE49-F238E27FC236}">
                <a16:creationId xmlns:a16="http://schemas.microsoft.com/office/drawing/2014/main" id="{5E30F39B-71F4-2C66-6F33-C705DA527D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74FFA800-3197-2410-71B2-42E86EE3AF4C}"/>
              </a:ext>
            </a:extLst>
          </p:cNvPr>
          <p:cNvSpPr txBox="1"/>
          <p:nvPr/>
        </p:nvSpPr>
        <p:spPr>
          <a:xfrm>
            <a:off x="0" y="1881964"/>
            <a:ext cx="9144000" cy="3257174"/>
          </a:xfrm>
          <a:prstGeom prst="rect">
            <a:avLst/>
          </a:prstGeom>
          <a:noFill/>
        </p:spPr>
        <p:txBody>
          <a:bodyPr wrap="square">
            <a:spAutoFit/>
          </a:bodyPr>
          <a:lstStyle/>
          <a:p>
            <a:pPr>
              <a:lnSpc>
                <a:spcPct val="150000"/>
              </a:lnSpc>
            </a:pPr>
            <a:r>
              <a:rPr lang="en-US" sz="2800" dirty="0">
                <a:latin typeface="+mn-lt"/>
              </a:rPr>
              <a:t>Making sure:</a:t>
            </a:r>
          </a:p>
          <a:p>
            <a:pPr marL="180975">
              <a:lnSpc>
                <a:spcPct val="150000"/>
              </a:lnSpc>
            </a:pPr>
            <a:r>
              <a:rPr lang="en-US" sz="2800" dirty="0">
                <a:latin typeface="+mn-lt"/>
              </a:rPr>
              <a:t>- IT systems support business goals, </a:t>
            </a:r>
          </a:p>
          <a:p>
            <a:pPr marL="180975">
              <a:lnSpc>
                <a:spcPct val="150000"/>
              </a:lnSpc>
            </a:pPr>
            <a:r>
              <a:rPr lang="en-US" sz="2800" dirty="0">
                <a:latin typeface="+mn-lt"/>
              </a:rPr>
              <a:t>- risks are managed, </a:t>
            </a:r>
          </a:p>
          <a:p>
            <a:pPr marL="180975">
              <a:lnSpc>
                <a:spcPct val="150000"/>
              </a:lnSpc>
            </a:pPr>
            <a:r>
              <a:rPr lang="en-US" sz="2800" dirty="0">
                <a:latin typeface="+mn-lt"/>
              </a:rPr>
              <a:t>- security is maintained, </a:t>
            </a:r>
          </a:p>
          <a:p>
            <a:pPr marL="180975">
              <a:lnSpc>
                <a:spcPct val="150000"/>
              </a:lnSpc>
            </a:pPr>
            <a:r>
              <a:rPr lang="en-US" sz="2800" dirty="0">
                <a:latin typeface="+mn-lt"/>
              </a:rPr>
              <a:t>- and policies are followed.</a:t>
            </a:r>
          </a:p>
        </p:txBody>
      </p:sp>
    </p:spTree>
    <p:extLst>
      <p:ext uri="{BB962C8B-B14F-4D97-AF65-F5344CB8AC3E}">
        <p14:creationId xmlns:p14="http://schemas.microsoft.com/office/powerpoint/2010/main" val="25702848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65E86-6520-B76C-351A-353EA883B61E}"/>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1432EAEC-8088-273D-354B-4E1D6A1F4965}"/>
              </a:ext>
            </a:extLst>
          </p:cNvPr>
          <p:cNvSpPr>
            <a:spLocks noGrp="1"/>
          </p:cNvSpPr>
          <p:nvPr>
            <p:ph type="title"/>
          </p:nvPr>
        </p:nvSpPr>
        <p:spPr>
          <a:xfrm>
            <a:off x="0" y="628651"/>
            <a:ext cx="9107488" cy="1253314"/>
          </a:xfrm>
        </p:spPr>
        <p:txBody>
          <a:bodyPr>
            <a:normAutofit/>
          </a:bodyPr>
          <a:lstStyle/>
          <a:p>
            <a:pPr algn="ctr" eaLnBrk="1" fontAlgn="auto" hangingPunct="1">
              <a:spcAft>
                <a:spcPts val="0"/>
              </a:spcAft>
              <a:defRPr/>
            </a:pPr>
            <a:r>
              <a:rPr lang="en-US" altLang="en-US" b="1" dirty="0">
                <a:solidFill>
                  <a:srgbClr val="00B0F0"/>
                </a:solidFill>
              </a:rPr>
              <a:t>Example Governance Challenges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864ED7D1-7235-826F-3057-E4EA0ED42DE7}"/>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98B41D90-B36D-9F56-D25E-99AACE1ACFB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16</a:t>
            </a:fld>
            <a:endParaRPr lang="en-US" altLang="en-US" sz="900">
              <a:solidFill>
                <a:srgbClr val="FFFFFF"/>
              </a:solidFill>
            </a:endParaRPr>
          </a:p>
        </p:txBody>
      </p:sp>
      <p:pic>
        <p:nvPicPr>
          <p:cNvPr id="22534" name="Picture 5">
            <a:extLst>
              <a:ext uri="{FF2B5EF4-FFF2-40B4-BE49-F238E27FC236}">
                <a16:creationId xmlns:a16="http://schemas.microsoft.com/office/drawing/2014/main" id="{7F838C0F-BAAE-465D-F269-BA751AA534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 name="Table 2">
            <a:extLst>
              <a:ext uri="{FF2B5EF4-FFF2-40B4-BE49-F238E27FC236}">
                <a16:creationId xmlns:a16="http://schemas.microsoft.com/office/drawing/2014/main" id="{4FEB2590-5EC4-DFAC-E4CA-23E2AD8DCE88}"/>
              </a:ext>
            </a:extLst>
          </p:cNvPr>
          <p:cNvGraphicFramePr>
            <a:graphicFrameLocks noGrp="1"/>
          </p:cNvGraphicFramePr>
          <p:nvPr>
            <p:extLst>
              <p:ext uri="{D42A27DB-BD31-4B8C-83A1-F6EECF244321}">
                <p14:modId xmlns:p14="http://schemas.microsoft.com/office/powerpoint/2010/main" val="1912127612"/>
              </p:ext>
            </p:extLst>
          </p:nvPr>
        </p:nvGraphicFramePr>
        <p:xfrm>
          <a:off x="822325" y="2315904"/>
          <a:ext cx="7543800" cy="3444240"/>
        </p:xfrm>
        <a:graphic>
          <a:graphicData uri="http://schemas.openxmlformats.org/drawingml/2006/table">
            <a:tbl>
              <a:tblPr>
                <a:tableStyleId>{5DA37D80-6434-44D0-A028-1B22A696006F}</a:tableStyleId>
              </a:tblPr>
              <a:tblGrid>
                <a:gridCol w="3771900">
                  <a:extLst>
                    <a:ext uri="{9D8B030D-6E8A-4147-A177-3AD203B41FA5}">
                      <a16:colId xmlns:a16="http://schemas.microsoft.com/office/drawing/2014/main" val="3000727800"/>
                    </a:ext>
                  </a:extLst>
                </a:gridCol>
                <a:gridCol w="3771900">
                  <a:extLst>
                    <a:ext uri="{9D8B030D-6E8A-4147-A177-3AD203B41FA5}">
                      <a16:colId xmlns:a16="http://schemas.microsoft.com/office/drawing/2014/main" val="1699578168"/>
                    </a:ext>
                  </a:extLst>
                </a:gridCol>
              </a:tblGrid>
              <a:tr h="0">
                <a:tc>
                  <a:txBody>
                    <a:bodyPr/>
                    <a:lstStyle/>
                    <a:p>
                      <a:pPr>
                        <a:buNone/>
                      </a:pPr>
                      <a:r>
                        <a:rPr lang="en-US" sz="2800" dirty="0"/>
                        <a:t>Challenge</a:t>
                      </a:r>
                    </a:p>
                  </a:txBody>
                  <a:tcPr anchor="ctr">
                    <a:solidFill>
                      <a:schemeClr val="accent2">
                        <a:lumMod val="20000"/>
                        <a:lumOff val="80000"/>
                      </a:schemeClr>
                    </a:solidFill>
                  </a:tcPr>
                </a:tc>
                <a:tc>
                  <a:txBody>
                    <a:bodyPr/>
                    <a:lstStyle/>
                    <a:p>
                      <a:pPr>
                        <a:buNone/>
                      </a:pPr>
                      <a:r>
                        <a:rPr lang="en-US" sz="2800" dirty="0"/>
                        <a:t>Possible Student Solution</a:t>
                      </a:r>
                    </a:p>
                  </a:txBody>
                  <a:tcPr anchor="ctr">
                    <a:solidFill>
                      <a:schemeClr val="accent2">
                        <a:lumMod val="20000"/>
                        <a:lumOff val="80000"/>
                      </a:schemeClr>
                    </a:solidFill>
                  </a:tcPr>
                </a:tc>
                <a:extLst>
                  <a:ext uri="{0D108BD9-81ED-4DB2-BD59-A6C34878D82A}">
                    <a16:rowId xmlns:a16="http://schemas.microsoft.com/office/drawing/2014/main" val="2215751432"/>
                  </a:ext>
                </a:extLst>
              </a:tr>
              <a:tr h="0">
                <a:tc>
                  <a:txBody>
                    <a:bodyPr/>
                    <a:lstStyle/>
                    <a:p>
                      <a:pPr>
                        <a:buNone/>
                      </a:pPr>
                      <a:r>
                        <a:rPr lang="en-US" sz="2800"/>
                        <a:t>weak password management</a:t>
                      </a:r>
                    </a:p>
                  </a:txBody>
                  <a:tcPr anchor="ctr"/>
                </a:tc>
                <a:tc>
                  <a:txBody>
                    <a:bodyPr/>
                    <a:lstStyle/>
                    <a:p>
                      <a:pPr>
                        <a:buNone/>
                      </a:pPr>
                      <a:r>
                        <a:rPr lang="en-US" sz="2800"/>
                        <a:t>MFA authentication</a:t>
                      </a:r>
                    </a:p>
                  </a:txBody>
                  <a:tcPr anchor="ctr"/>
                </a:tc>
                <a:extLst>
                  <a:ext uri="{0D108BD9-81ED-4DB2-BD59-A6C34878D82A}">
                    <a16:rowId xmlns:a16="http://schemas.microsoft.com/office/drawing/2014/main" val="2293808475"/>
                  </a:ext>
                </a:extLst>
              </a:tr>
              <a:tr h="0">
                <a:tc>
                  <a:txBody>
                    <a:bodyPr/>
                    <a:lstStyle/>
                    <a:p>
                      <a:pPr>
                        <a:buNone/>
                      </a:pPr>
                      <a:r>
                        <a:rPr lang="en-US" sz="2800"/>
                        <a:t>poor access control</a:t>
                      </a:r>
                    </a:p>
                  </a:txBody>
                  <a:tcPr anchor="ctr"/>
                </a:tc>
                <a:tc>
                  <a:txBody>
                    <a:bodyPr/>
                    <a:lstStyle/>
                    <a:p>
                      <a:pPr>
                        <a:buNone/>
                      </a:pPr>
                      <a:r>
                        <a:rPr lang="en-US" sz="2800"/>
                        <a:t>role-based access</a:t>
                      </a:r>
                    </a:p>
                  </a:txBody>
                  <a:tcPr anchor="ctr"/>
                </a:tc>
                <a:extLst>
                  <a:ext uri="{0D108BD9-81ED-4DB2-BD59-A6C34878D82A}">
                    <a16:rowId xmlns:a16="http://schemas.microsoft.com/office/drawing/2014/main" val="2689607449"/>
                  </a:ext>
                </a:extLst>
              </a:tr>
              <a:tr h="0">
                <a:tc>
                  <a:txBody>
                    <a:bodyPr/>
                    <a:lstStyle/>
                    <a:p>
                      <a:pPr>
                        <a:buNone/>
                      </a:pPr>
                      <a:r>
                        <a:rPr lang="en-US" sz="2800"/>
                        <a:t>unpatched systems</a:t>
                      </a:r>
                    </a:p>
                  </a:txBody>
                  <a:tcPr anchor="ctr"/>
                </a:tc>
                <a:tc>
                  <a:txBody>
                    <a:bodyPr/>
                    <a:lstStyle/>
                    <a:p>
                      <a:pPr>
                        <a:buNone/>
                      </a:pPr>
                      <a:r>
                        <a:rPr lang="en-US" sz="2800"/>
                        <a:t>automated updates</a:t>
                      </a:r>
                    </a:p>
                  </a:txBody>
                  <a:tcPr anchor="ctr"/>
                </a:tc>
                <a:extLst>
                  <a:ext uri="{0D108BD9-81ED-4DB2-BD59-A6C34878D82A}">
                    <a16:rowId xmlns:a16="http://schemas.microsoft.com/office/drawing/2014/main" val="2171133342"/>
                  </a:ext>
                </a:extLst>
              </a:tr>
              <a:tr h="0">
                <a:tc>
                  <a:txBody>
                    <a:bodyPr/>
                    <a:lstStyle/>
                    <a:p>
                      <a:pPr>
                        <a:buNone/>
                      </a:pPr>
                      <a:r>
                        <a:rPr lang="en-US" sz="2800"/>
                        <a:t>lack of monitoring</a:t>
                      </a:r>
                    </a:p>
                  </a:txBody>
                  <a:tcPr anchor="ctr"/>
                </a:tc>
                <a:tc>
                  <a:txBody>
                    <a:bodyPr/>
                    <a:lstStyle/>
                    <a:p>
                      <a:pPr>
                        <a:buNone/>
                      </a:pPr>
                      <a:r>
                        <a:rPr lang="en-US" sz="2800" dirty="0"/>
                        <a:t>security dashboard</a:t>
                      </a:r>
                    </a:p>
                  </a:txBody>
                  <a:tcPr anchor="ctr"/>
                </a:tc>
                <a:extLst>
                  <a:ext uri="{0D108BD9-81ED-4DB2-BD59-A6C34878D82A}">
                    <a16:rowId xmlns:a16="http://schemas.microsoft.com/office/drawing/2014/main" val="4290833671"/>
                  </a:ext>
                </a:extLst>
              </a:tr>
            </a:tbl>
          </a:graphicData>
        </a:graphic>
      </p:graphicFrame>
    </p:spTree>
    <p:extLst>
      <p:ext uri="{BB962C8B-B14F-4D97-AF65-F5344CB8AC3E}">
        <p14:creationId xmlns:p14="http://schemas.microsoft.com/office/powerpoint/2010/main" val="38097683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2D359F-C0FF-067F-B1E9-5441E55449A2}"/>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52315DC0-06C1-F0BA-D7F1-0B2D68BD90DC}"/>
              </a:ext>
            </a:extLst>
          </p:cNvPr>
          <p:cNvSpPr>
            <a:spLocks noGrp="1"/>
          </p:cNvSpPr>
          <p:nvPr>
            <p:ph type="title"/>
          </p:nvPr>
        </p:nvSpPr>
        <p:spPr>
          <a:xfrm>
            <a:off x="0" y="628651"/>
            <a:ext cx="9107488" cy="1253314"/>
          </a:xfrm>
        </p:spPr>
        <p:txBody>
          <a:bodyPr>
            <a:normAutofit/>
          </a:bodyPr>
          <a:lstStyle/>
          <a:p>
            <a:pPr algn="ctr" eaLnBrk="1" fontAlgn="auto" hangingPunct="1">
              <a:spcAft>
                <a:spcPts val="0"/>
              </a:spcAft>
              <a:defRPr/>
            </a:pPr>
            <a:r>
              <a:rPr lang="en-US" altLang="en-US" b="1" dirty="0">
                <a:solidFill>
                  <a:srgbClr val="00B0F0"/>
                </a:solidFill>
              </a:rPr>
              <a:t>Stakeholder Management</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FE9C52ED-C195-9128-DC9B-D49B10B8F8D7}"/>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456D201D-08DA-D02B-111B-97684D3792E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17</a:t>
            </a:fld>
            <a:endParaRPr lang="en-US" altLang="en-US" sz="900">
              <a:solidFill>
                <a:srgbClr val="FFFFFF"/>
              </a:solidFill>
            </a:endParaRPr>
          </a:p>
        </p:txBody>
      </p:sp>
      <p:pic>
        <p:nvPicPr>
          <p:cNvPr id="22534" name="Picture 5">
            <a:extLst>
              <a:ext uri="{FF2B5EF4-FFF2-40B4-BE49-F238E27FC236}">
                <a16:creationId xmlns:a16="http://schemas.microsoft.com/office/drawing/2014/main" id="{2D60F84B-464B-8129-252D-F8ACAF49C5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370C015B-91C8-93B5-6432-D1FA39C098CC}"/>
              </a:ext>
            </a:extLst>
          </p:cNvPr>
          <p:cNvSpPr txBox="1"/>
          <p:nvPr/>
        </p:nvSpPr>
        <p:spPr>
          <a:xfrm>
            <a:off x="148856" y="2030820"/>
            <a:ext cx="8846288" cy="4549835"/>
          </a:xfrm>
          <a:prstGeom prst="rect">
            <a:avLst/>
          </a:prstGeom>
          <a:noFill/>
        </p:spPr>
        <p:txBody>
          <a:bodyPr wrap="square">
            <a:spAutoFit/>
          </a:bodyPr>
          <a:lstStyle/>
          <a:p>
            <a:pPr>
              <a:lnSpc>
                <a:spcPct val="150000"/>
              </a:lnSpc>
              <a:buNone/>
            </a:pPr>
            <a:r>
              <a:rPr lang="en-US" sz="2800" b="1" dirty="0">
                <a:latin typeface="+mn-lt"/>
              </a:rPr>
              <a:t>Important Stakeholders:</a:t>
            </a:r>
          </a:p>
          <a:p>
            <a:pPr marL="808038" indent="-627063">
              <a:lnSpc>
                <a:spcPct val="150000"/>
              </a:lnSpc>
              <a:buNone/>
              <a:tabLst>
                <a:tab pos="627063" algn="l"/>
              </a:tabLst>
            </a:pPr>
            <a:r>
              <a:rPr lang="en-US" sz="2800" dirty="0">
                <a:latin typeface="+mn-lt"/>
              </a:rPr>
              <a:t>- clients, </a:t>
            </a:r>
          </a:p>
          <a:p>
            <a:pPr marL="808038" indent="-627063">
              <a:lnSpc>
                <a:spcPct val="150000"/>
              </a:lnSpc>
              <a:tabLst>
                <a:tab pos="627063" algn="l"/>
              </a:tabLst>
            </a:pPr>
            <a:r>
              <a:rPr lang="en-US" sz="2800" dirty="0">
                <a:latin typeface="+mn-lt"/>
              </a:rPr>
              <a:t>- managers, </a:t>
            </a:r>
          </a:p>
          <a:p>
            <a:pPr marL="808038" indent="-627063">
              <a:lnSpc>
                <a:spcPct val="150000"/>
              </a:lnSpc>
              <a:tabLst>
                <a:tab pos="627063" algn="l"/>
              </a:tabLst>
            </a:pPr>
            <a:r>
              <a:rPr lang="en-US" sz="2800" dirty="0">
                <a:latin typeface="+mn-lt"/>
              </a:rPr>
              <a:t>- IT engineers, </a:t>
            </a:r>
          </a:p>
          <a:p>
            <a:pPr marL="808038" indent="-627063">
              <a:lnSpc>
                <a:spcPct val="150000"/>
              </a:lnSpc>
              <a:tabLst>
                <a:tab pos="627063" algn="l"/>
              </a:tabLst>
            </a:pPr>
            <a:r>
              <a:rPr lang="en-US" sz="2800" dirty="0">
                <a:latin typeface="+mn-lt"/>
              </a:rPr>
              <a:t>- support staff, </a:t>
            </a:r>
          </a:p>
          <a:p>
            <a:pPr marL="808038" indent="-627063">
              <a:lnSpc>
                <a:spcPct val="150000"/>
              </a:lnSpc>
              <a:tabLst>
                <a:tab pos="627063" algn="l"/>
              </a:tabLst>
            </a:pPr>
            <a:r>
              <a:rPr lang="en-US" sz="2800" dirty="0">
                <a:latin typeface="+mn-lt"/>
              </a:rPr>
              <a:t>- project teams, </a:t>
            </a:r>
          </a:p>
          <a:p>
            <a:pPr marL="808038" indent="-627063">
              <a:lnSpc>
                <a:spcPct val="150000"/>
              </a:lnSpc>
              <a:tabLst>
                <a:tab pos="627063" algn="l"/>
              </a:tabLst>
            </a:pPr>
            <a:r>
              <a:rPr lang="en-US" sz="2800" dirty="0">
                <a:latin typeface="+mn-lt"/>
              </a:rPr>
              <a:t>- end users.</a:t>
            </a:r>
          </a:p>
        </p:txBody>
      </p:sp>
    </p:spTree>
    <p:extLst>
      <p:ext uri="{BB962C8B-B14F-4D97-AF65-F5344CB8AC3E}">
        <p14:creationId xmlns:p14="http://schemas.microsoft.com/office/powerpoint/2010/main" val="26397688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7D52BA-3A7A-1350-912E-0068BE993939}"/>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113D0D5C-CEF3-3997-A7D6-7FB349FA398C}"/>
              </a:ext>
            </a:extLst>
          </p:cNvPr>
          <p:cNvSpPr>
            <a:spLocks noGrp="1"/>
          </p:cNvSpPr>
          <p:nvPr>
            <p:ph type="title"/>
          </p:nvPr>
        </p:nvSpPr>
        <p:spPr>
          <a:xfrm>
            <a:off x="0" y="628651"/>
            <a:ext cx="9107488" cy="1253314"/>
          </a:xfrm>
        </p:spPr>
        <p:txBody>
          <a:bodyPr>
            <a:normAutofit fontScale="90000"/>
          </a:bodyPr>
          <a:lstStyle/>
          <a:p>
            <a:pPr algn="ctr" eaLnBrk="1" fontAlgn="auto" hangingPunct="1">
              <a:spcAft>
                <a:spcPts val="0"/>
              </a:spcAft>
              <a:defRPr/>
            </a:pPr>
            <a:r>
              <a:rPr lang="en-US" altLang="en-US" b="1" dirty="0">
                <a:solidFill>
                  <a:srgbClr val="00B0F0"/>
                </a:solidFill>
              </a:rPr>
              <a:t>Why Stakeholder Management Matters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68712FAD-B59A-A8AF-646A-1B28FE545E5C}"/>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AEC3F16A-9441-C7B4-7FAA-1EBA7DBF850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18</a:t>
            </a:fld>
            <a:endParaRPr lang="en-US" altLang="en-US" sz="900">
              <a:solidFill>
                <a:srgbClr val="FFFFFF"/>
              </a:solidFill>
            </a:endParaRPr>
          </a:p>
        </p:txBody>
      </p:sp>
      <p:pic>
        <p:nvPicPr>
          <p:cNvPr id="22534" name="Picture 5">
            <a:extLst>
              <a:ext uri="{FF2B5EF4-FFF2-40B4-BE49-F238E27FC236}">
                <a16:creationId xmlns:a16="http://schemas.microsoft.com/office/drawing/2014/main" id="{4C2CDF18-0111-D60B-6F54-316C28BE27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E1F590EF-093B-BACE-F90B-878F05876607}"/>
              </a:ext>
            </a:extLst>
          </p:cNvPr>
          <p:cNvSpPr txBox="1"/>
          <p:nvPr/>
        </p:nvSpPr>
        <p:spPr>
          <a:xfrm>
            <a:off x="148856" y="2030820"/>
            <a:ext cx="8846288" cy="3257174"/>
          </a:xfrm>
          <a:prstGeom prst="rect">
            <a:avLst/>
          </a:prstGeom>
          <a:noFill/>
        </p:spPr>
        <p:txBody>
          <a:bodyPr wrap="square">
            <a:spAutoFit/>
          </a:bodyPr>
          <a:lstStyle/>
          <a:p>
            <a:pPr>
              <a:lnSpc>
                <a:spcPct val="150000"/>
              </a:lnSpc>
            </a:pPr>
            <a:r>
              <a:rPr lang="en-US" sz="2800" dirty="0">
                <a:latin typeface="+mn-lt"/>
              </a:rPr>
              <a:t>Poor stakeholder management can cause:</a:t>
            </a:r>
            <a:br>
              <a:rPr lang="en-US" sz="2800" dirty="0">
                <a:latin typeface="+mn-lt"/>
              </a:rPr>
            </a:br>
            <a:r>
              <a:rPr lang="en-US" sz="2800" dirty="0">
                <a:highlight>
                  <a:srgbClr val="FF0000"/>
                </a:highlight>
              </a:rPr>
              <a:t>X</a:t>
            </a:r>
            <a:r>
              <a:rPr lang="en-US" sz="2800" dirty="0">
                <a:latin typeface="+mn-lt"/>
              </a:rPr>
              <a:t> misunderstandings</a:t>
            </a:r>
            <a:br>
              <a:rPr lang="en-US" sz="2800" dirty="0">
                <a:latin typeface="+mn-lt"/>
              </a:rPr>
            </a:br>
            <a:r>
              <a:rPr lang="en-US" sz="2800" dirty="0">
                <a:highlight>
                  <a:srgbClr val="FF0000"/>
                </a:highlight>
              </a:rPr>
              <a:t>X</a:t>
            </a:r>
            <a:r>
              <a:rPr lang="en-US" sz="2800" dirty="0">
                <a:latin typeface="+mn-lt"/>
              </a:rPr>
              <a:t> delays</a:t>
            </a:r>
            <a:br>
              <a:rPr lang="en-US" sz="2800" dirty="0">
                <a:latin typeface="+mn-lt"/>
              </a:rPr>
            </a:br>
            <a:r>
              <a:rPr lang="en-US" sz="2800" dirty="0">
                <a:highlight>
                  <a:srgbClr val="FF0000"/>
                </a:highlight>
              </a:rPr>
              <a:t>X</a:t>
            </a:r>
            <a:r>
              <a:rPr lang="en-US" sz="2800" dirty="0">
                <a:latin typeface="+mn-lt"/>
              </a:rPr>
              <a:t> unhappy clients</a:t>
            </a:r>
            <a:br>
              <a:rPr lang="en-US" sz="2800" dirty="0">
                <a:latin typeface="+mn-lt"/>
              </a:rPr>
            </a:br>
            <a:r>
              <a:rPr lang="en-US" sz="2800" dirty="0">
                <a:highlight>
                  <a:srgbClr val="FF0000"/>
                </a:highlight>
              </a:rPr>
              <a:t>X</a:t>
            </a:r>
            <a:r>
              <a:rPr lang="en-US" sz="2800" dirty="0">
                <a:latin typeface="+mn-lt"/>
              </a:rPr>
              <a:t> project failure</a:t>
            </a:r>
          </a:p>
        </p:txBody>
      </p:sp>
    </p:spTree>
    <p:extLst>
      <p:ext uri="{BB962C8B-B14F-4D97-AF65-F5344CB8AC3E}">
        <p14:creationId xmlns:p14="http://schemas.microsoft.com/office/powerpoint/2010/main" val="38376035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AA13A-72E7-EFE0-DFB0-DEC2963F355F}"/>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5AB1E887-D292-74D5-AA49-3C902300B72B}"/>
              </a:ext>
            </a:extLst>
          </p:cNvPr>
          <p:cNvSpPr>
            <a:spLocks noGrp="1"/>
          </p:cNvSpPr>
          <p:nvPr>
            <p:ph type="title"/>
          </p:nvPr>
        </p:nvSpPr>
        <p:spPr>
          <a:xfrm>
            <a:off x="0" y="628651"/>
            <a:ext cx="9107488" cy="1253314"/>
          </a:xfrm>
        </p:spPr>
        <p:txBody>
          <a:bodyPr>
            <a:normAutofit fontScale="90000"/>
          </a:bodyPr>
          <a:lstStyle/>
          <a:p>
            <a:pPr algn="ctr" eaLnBrk="1" fontAlgn="auto" hangingPunct="1">
              <a:spcAft>
                <a:spcPts val="0"/>
              </a:spcAft>
              <a:defRPr/>
            </a:pPr>
            <a:r>
              <a:rPr lang="en-US" altLang="en-US" b="1" dirty="0">
                <a:solidFill>
                  <a:srgbClr val="00B0F0"/>
                </a:solidFill>
              </a:rPr>
              <a:t>Why Stakeholder Management Matters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9E85EB0E-8642-7311-7288-B682C3D28179}"/>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40686EAF-A911-EB94-8448-CFDB152A328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19</a:t>
            </a:fld>
            <a:endParaRPr lang="en-US" altLang="en-US" sz="900">
              <a:solidFill>
                <a:srgbClr val="FFFFFF"/>
              </a:solidFill>
            </a:endParaRPr>
          </a:p>
        </p:txBody>
      </p:sp>
      <p:pic>
        <p:nvPicPr>
          <p:cNvPr id="22534" name="Picture 5">
            <a:extLst>
              <a:ext uri="{FF2B5EF4-FFF2-40B4-BE49-F238E27FC236}">
                <a16:creationId xmlns:a16="http://schemas.microsoft.com/office/drawing/2014/main" id="{877346A1-CECB-8F22-247B-0189933BF5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87EB24FA-B70F-3768-551C-3AC285EDE707}"/>
              </a:ext>
            </a:extLst>
          </p:cNvPr>
          <p:cNvSpPr txBox="1"/>
          <p:nvPr/>
        </p:nvSpPr>
        <p:spPr>
          <a:xfrm>
            <a:off x="148856" y="2030820"/>
            <a:ext cx="8846288" cy="2607958"/>
          </a:xfrm>
          <a:prstGeom prst="rect">
            <a:avLst/>
          </a:prstGeom>
          <a:noFill/>
        </p:spPr>
        <p:txBody>
          <a:bodyPr wrap="square">
            <a:spAutoFit/>
          </a:bodyPr>
          <a:lstStyle/>
          <a:p>
            <a:pPr marL="180975" indent="-180975">
              <a:lnSpc>
                <a:spcPct val="150000"/>
              </a:lnSpc>
            </a:pPr>
            <a:r>
              <a:rPr lang="en-US" sz="2800" dirty="0">
                <a:latin typeface="+mn-lt"/>
              </a:rPr>
              <a:t>Good communication improves:</a:t>
            </a:r>
            <a:br>
              <a:rPr lang="en-US" sz="2800" dirty="0">
                <a:latin typeface="+mn-lt"/>
              </a:rPr>
            </a:br>
            <a:r>
              <a:rPr lang="en-US" sz="2800" dirty="0">
                <a:latin typeface="+mn-lt"/>
              </a:rPr>
              <a:t>- trust</a:t>
            </a:r>
            <a:br>
              <a:rPr lang="en-US" sz="2800" dirty="0">
                <a:latin typeface="+mn-lt"/>
              </a:rPr>
            </a:br>
            <a:r>
              <a:rPr lang="en-US" sz="2800" dirty="0">
                <a:latin typeface="+mn-lt"/>
              </a:rPr>
              <a:t>- collaboration</a:t>
            </a:r>
            <a:br>
              <a:rPr lang="en-US" sz="2800" dirty="0">
                <a:latin typeface="+mn-lt"/>
              </a:rPr>
            </a:br>
            <a:r>
              <a:rPr lang="en-US" sz="2800" dirty="0">
                <a:latin typeface="+mn-lt"/>
              </a:rPr>
              <a:t>- project success</a:t>
            </a:r>
          </a:p>
        </p:txBody>
      </p:sp>
    </p:spTree>
    <p:extLst>
      <p:ext uri="{BB962C8B-B14F-4D97-AF65-F5344CB8AC3E}">
        <p14:creationId xmlns:p14="http://schemas.microsoft.com/office/powerpoint/2010/main" val="33104786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B3729-E40D-93C2-3722-86CFABDD6369}"/>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E35CD6EF-BDC2-B5C4-7C54-DDC382F46E4B}"/>
              </a:ext>
            </a:extLst>
          </p:cNvPr>
          <p:cNvSpPr>
            <a:spLocks noGrp="1"/>
          </p:cNvSpPr>
          <p:nvPr>
            <p:ph type="title"/>
          </p:nvPr>
        </p:nvSpPr>
        <p:spPr>
          <a:xfrm>
            <a:off x="0" y="628651"/>
            <a:ext cx="9107488" cy="1253314"/>
          </a:xfrm>
        </p:spPr>
        <p:txBody>
          <a:bodyPr>
            <a:normAutofit fontScale="90000"/>
          </a:bodyPr>
          <a:lstStyle/>
          <a:p>
            <a:pPr algn="ctr" eaLnBrk="1" fontAlgn="auto" hangingPunct="1">
              <a:spcAft>
                <a:spcPts val="0"/>
              </a:spcAft>
              <a:defRPr/>
            </a:pPr>
            <a:r>
              <a:rPr lang="en-US" altLang="en-US" b="1" dirty="0">
                <a:solidFill>
                  <a:srgbClr val="00B0F0"/>
                </a:solidFill>
              </a:rPr>
              <a:t>Questions Students Can Ask NSW IT Support</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1AEFED9C-0651-C56E-728A-AAB537A3C190}"/>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AB87C3C0-DDAD-9475-E7A3-6D1491FAA3D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20</a:t>
            </a:fld>
            <a:endParaRPr lang="en-US" altLang="en-US" sz="900">
              <a:solidFill>
                <a:srgbClr val="FFFFFF"/>
              </a:solidFill>
            </a:endParaRPr>
          </a:p>
        </p:txBody>
      </p:sp>
      <p:pic>
        <p:nvPicPr>
          <p:cNvPr id="22534" name="Picture 5">
            <a:extLst>
              <a:ext uri="{FF2B5EF4-FFF2-40B4-BE49-F238E27FC236}">
                <a16:creationId xmlns:a16="http://schemas.microsoft.com/office/drawing/2014/main" id="{A9707C6F-D45B-8346-EAFF-B72BED2AA9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BFE751F6-B0DC-94E7-7659-F3D0BA9A806F}"/>
              </a:ext>
            </a:extLst>
          </p:cNvPr>
          <p:cNvSpPr txBox="1"/>
          <p:nvPr/>
        </p:nvSpPr>
        <p:spPr>
          <a:xfrm>
            <a:off x="0" y="1732678"/>
            <a:ext cx="9107488" cy="4549835"/>
          </a:xfrm>
          <a:prstGeom prst="rect">
            <a:avLst/>
          </a:prstGeom>
          <a:solidFill>
            <a:schemeClr val="bg1"/>
          </a:solidFill>
        </p:spPr>
        <p:txBody>
          <a:bodyPr wrap="square">
            <a:spAutoFit/>
          </a:bodyPr>
          <a:lstStyle/>
          <a:p>
            <a:pPr>
              <a:lnSpc>
                <a:spcPct val="150000"/>
              </a:lnSpc>
            </a:pPr>
            <a:r>
              <a:rPr lang="en-US" sz="2800" b="1" dirty="0">
                <a:latin typeface="+mn-lt"/>
              </a:rPr>
              <a:t>About Stakeholders</a:t>
            </a:r>
          </a:p>
          <a:p>
            <a:pPr>
              <a:lnSpc>
                <a:spcPct val="150000"/>
              </a:lnSpc>
            </a:pPr>
            <a:r>
              <a:rPr lang="en-US" sz="2800" b="1" dirty="0">
                <a:latin typeface="+mn-lt"/>
              </a:rPr>
              <a:t>Good Questions:</a:t>
            </a:r>
          </a:p>
          <a:p>
            <a:pPr>
              <a:lnSpc>
                <a:spcPct val="150000"/>
              </a:lnSpc>
            </a:pPr>
            <a:r>
              <a:rPr lang="en-US" sz="2800" dirty="0">
                <a:latin typeface="+mn-lt"/>
              </a:rPr>
              <a:t>- How do you manage client expectations? </a:t>
            </a:r>
          </a:p>
          <a:p>
            <a:pPr>
              <a:lnSpc>
                <a:spcPct val="150000"/>
              </a:lnSpc>
            </a:pPr>
            <a:r>
              <a:rPr lang="en-US" sz="2800" dirty="0">
                <a:latin typeface="+mn-lt"/>
              </a:rPr>
              <a:t>- What communication problems happen most often? </a:t>
            </a:r>
          </a:p>
          <a:p>
            <a:pPr>
              <a:lnSpc>
                <a:spcPct val="150000"/>
              </a:lnSpc>
            </a:pPr>
            <a:r>
              <a:rPr lang="en-US" sz="2800" dirty="0">
                <a:latin typeface="+mn-lt"/>
              </a:rPr>
              <a:t>- How do you handle difficult clients? </a:t>
            </a:r>
          </a:p>
          <a:p>
            <a:pPr>
              <a:lnSpc>
                <a:spcPct val="150000"/>
              </a:lnSpc>
            </a:pPr>
            <a:r>
              <a:rPr lang="en-US" sz="2800" dirty="0">
                <a:latin typeface="+mn-lt"/>
              </a:rPr>
              <a:t>- How do you explain technical issues to non-technical users? </a:t>
            </a:r>
          </a:p>
          <a:p>
            <a:pPr>
              <a:lnSpc>
                <a:spcPct val="150000"/>
              </a:lnSpc>
            </a:pPr>
            <a:r>
              <a:rPr lang="en-US" sz="2800" dirty="0">
                <a:latin typeface="+mn-lt"/>
              </a:rPr>
              <a:t>- How do teams coordinate during projects?</a:t>
            </a:r>
          </a:p>
        </p:txBody>
      </p:sp>
    </p:spTree>
    <p:extLst>
      <p:ext uri="{BB962C8B-B14F-4D97-AF65-F5344CB8AC3E}">
        <p14:creationId xmlns:p14="http://schemas.microsoft.com/office/powerpoint/2010/main" val="24017433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919FB-A702-2452-6FF9-200D0F90A09B}"/>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821149C3-9194-EFA0-44B3-FE9B6CA86D76}"/>
              </a:ext>
            </a:extLst>
          </p:cNvPr>
          <p:cNvSpPr>
            <a:spLocks noGrp="1"/>
          </p:cNvSpPr>
          <p:nvPr>
            <p:ph type="title"/>
          </p:nvPr>
        </p:nvSpPr>
        <p:spPr>
          <a:xfrm>
            <a:off x="0" y="628651"/>
            <a:ext cx="9107488" cy="927002"/>
          </a:xfrm>
        </p:spPr>
        <p:txBody>
          <a:bodyPr>
            <a:normAutofit/>
          </a:bodyPr>
          <a:lstStyle/>
          <a:p>
            <a:pPr algn="ctr" eaLnBrk="1" fontAlgn="auto" hangingPunct="1">
              <a:spcAft>
                <a:spcPts val="0"/>
              </a:spcAft>
              <a:defRPr/>
            </a:pPr>
            <a:r>
              <a:rPr lang="en-US" altLang="en-US" b="1" dirty="0">
                <a:solidFill>
                  <a:srgbClr val="00B0F0"/>
                </a:solidFill>
              </a:rPr>
              <a:t>Managing Client Expectations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B83FA3A6-0642-87EC-9E42-09F0BBA157F9}"/>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42DDC529-0A80-AB58-C2D9-9AF1B172097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21</a:t>
            </a:fld>
            <a:endParaRPr lang="en-US" altLang="en-US" sz="900">
              <a:solidFill>
                <a:srgbClr val="FFFFFF"/>
              </a:solidFill>
            </a:endParaRPr>
          </a:p>
        </p:txBody>
      </p:sp>
      <p:pic>
        <p:nvPicPr>
          <p:cNvPr id="22534" name="Picture 5">
            <a:extLst>
              <a:ext uri="{FF2B5EF4-FFF2-40B4-BE49-F238E27FC236}">
                <a16:creationId xmlns:a16="http://schemas.microsoft.com/office/drawing/2014/main" id="{559E50F1-2BCF-B5AB-5BFC-68928E4C75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DC82B175-9D8D-41D0-D04A-A3814A90404C}"/>
              </a:ext>
            </a:extLst>
          </p:cNvPr>
          <p:cNvSpPr txBox="1"/>
          <p:nvPr/>
        </p:nvSpPr>
        <p:spPr>
          <a:xfrm>
            <a:off x="0" y="1732678"/>
            <a:ext cx="9107488" cy="3903504"/>
          </a:xfrm>
          <a:prstGeom prst="rect">
            <a:avLst/>
          </a:prstGeom>
          <a:solidFill>
            <a:schemeClr val="bg1"/>
          </a:solidFill>
        </p:spPr>
        <p:txBody>
          <a:bodyPr wrap="square">
            <a:spAutoFit/>
          </a:bodyPr>
          <a:lstStyle/>
          <a:p>
            <a:pPr>
              <a:lnSpc>
                <a:spcPct val="150000"/>
              </a:lnSpc>
            </a:pPr>
            <a:r>
              <a:rPr lang="en-US" sz="2800" b="1" dirty="0">
                <a:latin typeface="+mn-lt"/>
              </a:rPr>
              <a:t>Important Lesson:</a:t>
            </a:r>
          </a:p>
          <a:p>
            <a:pPr>
              <a:lnSpc>
                <a:spcPct val="150000"/>
              </a:lnSpc>
            </a:pPr>
            <a:r>
              <a:rPr lang="en-US" sz="2800" dirty="0">
                <a:latin typeface="+mn-lt"/>
              </a:rPr>
              <a:t>- Clients may expect:</a:t>
            </a:r>
          </a:p>
          <a:p>
            <a:pPr>
              <a:lnSpc>
                <a:spcPct val="150000"/>
              </a:lnSpc>
            </a:pPr>
            <a:r>
              <a:rPr lang="en-US" sz="2800" dirty="0">
                <a:latin typeface="+mn-lt"/>
              </a:rPr>
              <a:t>- faster systems, </a:t>
            </a:r>
          </a:p>
          <a:p>
            <a:pPr>
              <a:lnSpc>
                <a:spcPct val="150000"/>
              </a:lnSpc>
            </a:pPr>
            <a:r>
              <a:rPr lang="en-US" sz="2800" dirty="0">
                <a:latin typeface="+mn-lt"/>
              </a:rPr>
              <a:t>- lower cost, </a:t>
            </a:r>
          </a:p>
          <a:p>
            <a:pPr>
              <a:lnSpc>
                <a:spcPct val="150000"/>
              </a:lnSpc>
            </a:pPr>
            <a:r>
              <a:rPr lang="en-US" sz="2800" dirty="0">
                <a:latin typeface="+mn-lt"/>
              </a:rPr>
              <a:t>- perfect security, </a:t>
            </a:r>
          </a:p>
          <a:p>
            <a:pPr>
              <a:lnSpc>
                <a:spcPct val="150000"/>
              </a:lnSpc>
            </a:pPr>
            <a:r>
              <a:rPr lang="en-US" sz="2800" dirty="0">
                <a:latin typeface="+mn-lt"/>
              </a:rPr>
              <a:t>- instant support. </a:t>
            </a:r>
          </a:p>
        </p:txBody>
      </p:sp>
    </p:spTree>
    <p:extLst>
      <p:ext uri="{BB962C8B-B14F-4D97-AF65-F5344CB8AC3E}">
        <p14:creationId xmlns:p14="http://schemas.microsoft.com/office/powerpoint/2010/main" val="41219467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645547-1939-3BA7-FCEC-962387E61B0B}"/>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AD1608BA-D98B-896F-AE46-1EE9294CF354}"/>
              </a:ext>
            </a:extLst>
          </p:cNvPr>
          <p:cNvSpPr>
            <a:spLocks noGrp="1"/>
          </p:cNvSpPr>
          <p:nvPr>
            <p:ph type="title"/>
          </p:nvPr>
        </p:nvSpPr>
        <p:spPr>
          <a:xfrm>
            <a:off x="0" y="628651"/>
            <a:ext cx="9107488" cy="927002"/>
          </a:xfrm>
        </p:spPr>
        <p:txBody>
          <a:bodyPr>
            <a:normAutofit/>
          </a:bodyPr>
          <a:lstStyle/>
          <a:p>
            <a:pPr algn="ctr" eaLnBrk="1" fontAlgn="auto" hangingPunct="1">
              <a:spcAft>
                <a:spcPts val="0"/>
              </a:spcAft>
              <a:defRPr/>
            </a:pPr>
            <a:r>
              <a:rPr lang="en-US" altLang="en-US" b="1" dirty="0">
                <a:solidFill>
                  <a:srgbClr val="00B0F0"/>
                </a:solidFill>
              </a:rPr>
              <a:t>Managing Client Expectations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580B9F46-A38B-2FBD-2BCD-B061DB2AC94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E57B78EA-100D-488F-78AF-AF75DDC04A6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22</a:t>
            </a:fld>
            <a:endParaRPr lang="en-US" altLang="en-US" sz="900">
              <a:solidFill>
                <a:srgbClr val="FFFFFF"/>
              </a:solidFill>
            </a:endParaRPr>
          </a:p>
        </p:txBody>
      </p:sp>
      <p:pic>
        <p:nvPicPr>
          <p:cNvPr id="22534" name="Picture 5">
            <a:extLst>
              <a:ext uri="{FF2B5EF4-FFF2-40B4-BE49-F238E27FC236}">
                <a16:creationId xmlns:a16="http://schemas.microsoft.com/office/drawing/2014/main" id="{2D55C73F-D75C-CAC7-70D9-D69E991AAB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E88C1787-F0AF-C4E1-3249-335C3E2C3AC7}"/>
              </a:ext>
            </a:extLst>
          </p:cNvPr>
          <p:cNvSpPr txBox="1"/>
          <p:nvPr/>
        </p:nvSpPr>
        <p:spPr>
          <a:xfrm>
            <a:off x="0" y="1732678"/>
            <a:ext cx="9107488" cy="2607958"/>
          </a:xfrm>
          <a:prstGeom prst="rect">
            <a:avLst/>
          </a:prstGeom>
          <a:solidFill>
            <a:schemeClr val="bg1"/>
          </a:solidFill>
        </p:spPr>
        <p:txBody>
          <a:bodyPr wrap="square">
            <a:spAutoFit/>
          </a:bodyPr>
          <a:lstStyle/>
          <a:p>
            <a:pPr marL="180975" indent="-180975">
              <a:lnSpc>
                <a:spcPct val="150000"/>
              </a:lnSpc>
            </a:pPr>
            <a:r>
              <a:rPr lang="en-US" sz="2800" dirty="0">
                <a:latin typeface="+mn-lt"/>
              </a:rPr>
              <a:t>Project teams must:</a:t>
            </a:r>
            <a:br>
              <a:rPr lang="en-US" sz="2800" dirty="0">
                <a:latin typeface="+mn-lt"/>
              </a:rPr>
            </a:br>
            <a:r>
              <a:rPr lang="en-US" sz="2800" dirty="0">
                <a:latin typeface="+mn-lt"/>
              </a:rPr>
              <a:t>- communicate clearly</a:t>
            </a:r>
            <a:br>
              <a:rPr lang="en-US" sz="2800" dirty="0">
                <a:latin typeface="+mn-lt"/>
              </a:rPr>
            </a:br>
            <a:r>
              <a:rPr lang="en-US" sz="2800" dirty="0">
                <a:latin typeface="+mn-lt"/>
              </a:rPr>
              <a:t>- explain limitations</a:t>
            </a:r>
            <a:br>
              <a:rPr lang="en-US" sz="2800" dirty="0">
                <a:latin typeface="+mn-lt"/>
              </a:rPr>
            </a:br>
            <a:r>
              <a:rPr lang="en-US" sz="2800" dirty="0">
                <a:latin typeface="+mn-lt"/>
              </a:rPr>
              <a:t>- provide realistic timelines</a:t>
            </a:r>
          </a:p>
        </p:txBody>
      </p:sp>
    </p:spTree>
    <p:extLst>
      <p:ext uri="{BB962C8B-B14F-4D97-AF65-F5344CB8AC3E}">
        <p14:creationId xmlns:p14="http://schemas.microsoft.com/office/powerpoint/2010/main" val="26239654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93E9D-5D78-07F0-CFEE-29048ADE7792}"/>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280E2E8C-9C13-D948-B5B5-B7FB86B941D4}"/>
              </a:ext>
            </a:extLst>
          </p:cNvPr>
          <p:cNvSpPr>
            <a:spLocks noGrp="1"/>
          </p:cNvSpPr>
          <p:nvPr>
            <p:ph type="title"/>
          </p:nvPr>
        </p:nvSpPr>
        <p:spPr>
          <a:xfrm>
            <a:off x="0" y="628651"/>
            <a:ext cx="9107488" cy="927002"/>
          </a:xfrm>
        </p:spPr>
        <p:txBody>
          <a:bodyPr>
            <a:normAutofit fontScale="90000"/>
          </a:bodyPr>
          <a:lstStyle/>
          <a:p>
            <a:pPr algn="ctr" eaLnBrk="1" fontAlgn="auto" hangingPunct="1">
              <a:spcAft>
                <a:spcPts val="0"/>
              </a:spcAft>
              <a:defRPr/>
            </a:pPr>
            <a:r>
              <a:rPr lang="en-US" altLang="en-US" b="1" dirty="0">
                <a:solidFill>
                  <a:srgbClr val="00B0F0"/>
                </a:solidFill>
              </a:rPr>
              <a:t>Example Assessment 4 Ethical Discussion</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C9E3911D-7529-12A0-1901-A35F7740F77D}"/>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824F1C6B-C6AB-E1F0-FE2D-5CE4559FD28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23</a:t>
            </a:fld>
            <a:endParaRPr lang="en-US" altLang="en-US" sz="900">
              <a:solidFill>
                <a:srgbClr val="FFFFFF"/>
              </a:solidFill>
            </a:endParaRPr>
          </a:p>
        </p:txBody>
      </p:sp>
      <p:pic>
        <p:nvPicPr>
          <p:cNvPr id="22534" name="Picture 5">
            <a:extLst>
              <a:ext uri="{FF2B5EF4-FFF2-40B4-BE49-F238E27FC236}">
                <a16:creationId xmlns:a16="http://schemas.microsoft.com/office/drawing/2014/main" id="{8EE14378-F50D-CFAD-B7D0-D6BB3334AF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BF3680B1-1C4C-BE04-8F7C-DC01FA0732E0}"/>
              </a:ext>
            </a:extLst>
          </p:cNvPr>
          <p:cNvSpPr txBox="1"/>
          <p:nvPr/>
        </p:nvSpPr>
        <p:spPr>
          <a:xfrm>
            <a:off x="0" y="1732678"/>
            <a:ext cx="9107488" cy="4546950"/>
          </a:xfrm>
          <a:prstGeom prst="rect">
            <a:avLst/>
          </a:prstGeom>
          <a:solidFill>
            <a:schemeClr val="bg1"/>
          </a:solidFill>
        </p:spPr>
        <p:txBody>
          <a:bodyPr wrap="square">
            <a:spAutoFit/>
          </a:bodyPr>
          <a:lstStyle/>
          <a:p>
            <a:pPr>
              <a:lnSpc>
                <a:spcPct val="150000"/>
              </a:lnSpc>
            </a:pPr>
            <a:r>
              <a:rPr lang="en-US" sz="2800" b="1" dirty="0">
                <a:latin typeface="+mn-lt"/>
              </a:rPr>
              <a:t>Example</a:t>
            </a:r>
          </a:p>
          <a:p>
            <a:pPr>
              <a:lnSpc>
                <a:spcPct val="150000"/>
              </a:lnSpc>
            </a:pPr>
            <a:r>
              <a:rPr lang="en-US" sz="2800" dirty="0">
                <a:latin typeface="+mn-lt"/>
              </a:rPr>
              <a:t>The proposed AI-assisted ticketing system may create risks related to inaccurate </a:t>
            </a:r>
            <a:r>
              <a:rPr lang="en-US" sz="2800" dirty="0" err="1">
                <a:latin typeface="+mn-lt"/>
              </a:rPr>
              <a:t>prioritisation</a:t>
            </a:r>
            <a:r>
              <a:rPr lang="en-US" sz="2800" dirty="0">
                <a:latin typeface="+mn-lt"/>
              </a:rPr>
              <a:t> and client data privacy. To reduce these risks, the system will include human oversight, encrypted storage, and role-based access controls to ensure ethical and secure operation.</a:t>
            </a:r>
          </a:p>
          <a:p>
            <a:pPr>
              <a:lnSpc>
                <a:spcPct val="150000"/>
              </a:lnSpc>
            </a:pPr>
            <a:r>
              <a:rPr lang="en-US" sz="2800" dirty="0">
                <a:latin typeface="+mn-lt"/>
              </a:rPr>
              <a:t>This is the level students should aim for.</a:t>
            </a:r>
          </a:p>
        </p:txBody>
      </p:sp>
    </p:spTree>
    <p:extLst>
      <p:ext uri="{BB962C8B-B14F-4D97-AF65-F5344CB8AC3E}">
        <p14:creationId xmlns:p14="http://schemas.microsoft.com/office/powerpoint/2010/main" val="1858016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6AE9A-277B-21A1-38ED-3C0C8727E61A}"/>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FD406976-0873-0944-FD5F-E60F5E3EB300}"/>
              </a:ext>
            </a:extLst>
          </p:cNvPr>
          <p:cNvSpPr>
            <a:spLocks noGrp="1"/>
          </p:cNvSpPr>
          <p:nvPr>
            <p:ph type="title"/>
          </p:nvPr>
        </p:nvSpPr>
        <p:spPr>
          <a:xfrm>
            <a:off x="0" y="628651"/>
            <a:ext cx="9107488" cy="927002"/>
          </a:xfrm>
        </p:spPr>
        <p:txBody>
          <a:bodyPr>
            <a:normAutofit fontScale="90000"/>
          </a:bodyPr>
          <a:lstStyle/>
          <a:p>
            <a:pPr algn="ctr" eaLnBrk="1" fontAlgn="auto" hangingPunct="1">
              <a:spcAft>
                <a:spcPts val="0"/>
              </a:spcAft>
              <a:defRPr/>
            </a:pPr>
            <a:r>
              <a:rPr lang="en-US" altLang="en-US" b="1" dirty="0">
                <a:solidFill>
                  <a:srgbClr val="00B0F0"/>
                </a:solidFill>
              </a:rPr>
              <a:t>Example Challenges &amp; Student Solutions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4CA74278-5433-B5B3-8579-6EC91FDD093D}"/>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78A6F72D-B795-A7AA-1BC5-AA90917CDEC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24</a:t>
            </a:fld>
            <a:endParaRPr lang="en-US" altLang="en-US" sz="900">
              <a:solidFill>
                <a:srgbClr val="FFFFFF"/>
              </a:solidFill>
            </a:endParaRPr>
          </a:p>
        </p:txBody>
      </p:sp>
      <p:pic>
        <p:nvPicPr>
          <p:cNvPr id="22534" name="Picture 5">
            <a:extLst>
              <a:ext uri="{FF2B5EF4-FFF2-40B4-BE49-F238E27FC236}">
                <a16:creationId xmlns:a16="http://schemas.microsoft.com/office/drawing/2014/main" id="{3E0FC24E-F85C-4D6D-E1C5-84847F4AE0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 name="Table 2">
            <a:extLst>
              <a:ext uri="{FF2B5EF4-FFF2-40B4-BE49-F238E27FC236}">
                <a16:creationId xmlns:a16="http://schemas.microsoft.com/office/drawing/2014/main" id="{F03FE87C-1AF7-B313-A048-8E60AADD21E9}"/>
              </a:ext>
            </a:extLst>
          </p:cNvPr>
          <p:cNvGraphicFramePr>
            <a:graphicFrameLocks noGrp="1"/>
          </p:cNvGraphicFramePr>
          <p:nvPr>
            <p:extLst>
              <p:ext uri="{D42A27DB-BD31-4B8C-83A1-F6EECF244321}">
                <p14:modId xmlns:p14="http://schemas.microsoft.com/office/powerpoint/2010/main" val="3232254357"/>
              </p:ext>
            </p:extLst>
          </p:nvPr>
        </p:nvGraphicFramePr>
        <p:xfrm>
          <a:off x="36512" y="2126512"/>
          <a:ext cx="9144000" cy="3535680"/>
        </p:xfrm>
        <a:graphic>
          <a:graphicData uri="http://schemas.openxmlformats.org/drawingml/2006/table">
            <a:tbl>
              <a:tblPr>
                <a:tableStyleId>{BC89EF96-8CEA-46FF-86C4-4CE0E7609802}</a:tableStyleId>
              </a:tblPr>
              <a:tblGrid>
                <a:gridCol w="4572000">
                  <a:extLst>
                    <a:ext uri="{9D8B030D-6E8A-4147-A177-3AD203B41FA5}">
                      <a16:colId xmlns:a16="http://schemas.microsoft.com/office/drawing/2014/main" val="1247955443"/>
                    </a:ext>
                  </a:extLst>
                </a:gridCol>
                <a:gridCol w="4572000">
                  <a:extLst>
                    <a:ext uri="{9D8B030D-6E8A-4147-A177-3AD203B41FA5}">
                      <a16:colId xmlns:a16="http://schemas.microsoft.com/office/drawing/2014/main" val="2547556287"/>
                    </a:ext>
                  </a:extLst>
                </a:gridCol>
              </a:tblGrid>
              <a:tr h="0">
                <a:tc>
                  <a:txBody>
                    <a:bodyPr/>
                    <a:lstStyle/>
                    <a:p>
                      <a:pPr>
                        <a:buNone/>
                      </a:pPr>
                      <a:r>
                        <a:rPr lang="en-US" sz="2800" dirty="0">
                          <a:latin typeface="+mn-lt"/>
                        </a:rPr>
                        <a:t>NSW IT Support Challenge</a:t>
                      </a:r>
                    </a:p>
                  </a:txBody>
                  <a:tcPr anchor="ctr">
                    <a:solidFill>
                      <a:schemeClr val="accent2">
                        <a:lumMod val="20000"/>
                        <a:lumOff val="80000"/>
                      </a:schemeClr>
                    </a:solidFill>
                  </a:tcPr>
                </a:tc>
                <a:tc>
                  <a:txBody>
                    <a:bodyPr/>
                    <a:lstStyle/>
                    <a:p>
                      <a:pPr>
                        <a:buNone/>
                      </a:pPr>
                      <a:r>
                        <a:rPr lang="en-US" sz="2800" dirty="0">
                          <a:latin typeface="+mn-lt"/>
                        </a:rPr>
                        <a:t>Possible Solution</a:t>
                      </a:r>
                    </a:p>
                  </a:txBody>
                  <a:tcPr anchor="ctr">
                    <a:solidFill>
                      <a:schemeClr val="accent2">
                        <a:lumMod val="20000"/>
                        <a:lumOff val="80000"/>
                      </a:schemeClr>
                    </a:solidFill>
                  </a:tcPr>
                </a:tc>
                <a:extLst>
                  <a:ext uri="{0D108BD9-81ED-4DB2-BD59-A6C34878D82A}">
                    <a16:rowId xmlns:a16="http://schemas.microsoft.com/office/drawing/2014/main" val="1241728206"/>
                  </a:ext>
                </a:extLst>
              </a:tr>
              <a:tr h="0">
                <a:tc>
                  <a:txBody>
                    <a:bodyPr/>
                    <a:lstStyle/>
                    <a:p>
                      <a:pPr>
                        <a:buNone/>
                      </a:pPr>
                      <a:r>
                        <a:rPr lang="en-US" sz="2800">
                          <a:latin typeface="+mn-lt"/>
                        </a:rPr>
                        <a:t>phishing attacks</a:t>
                      </a:r>
                    </a:p>
                  </a:txBody>
                  <a:tcPr anchor="ctr"/>
                </a:tc>
                <a:tc>
                  <a:txBody>
                    <a:bodyPr/>
                    <a:lstStyle/>
                    <a:p>
                      <a:pPr>
                        <a:buNone/>
                      </a:pPr>
                      <a:r>
                        <a:rPr lang="en-US" sz="2800">
                          <a:latin typeface="+mn-lt"/>
                        </a:rPr>
                        <a:t>cybersecurity awareness training</a:t>
                      </a:r>
                    </a:p>
                  </a:txBody>
                  <a:tcPr anchor="ctr"/>
                </a:tc>
                <a:extLst>
                  <a:ext uri="{0D108BD9-81ED-4DB2-BD59-A6C34878D82A}">
                    <a16:rowId xmlns:a16="http://schemas.microsoft.com/office/drawing/2014/main" val="4014478771"/>
                  </a:ext>
                </a:extLst>
              </a:tr>
              <a:tr h="0">
                <a:tc>
                  <a:txBody>
                    <a:bodyPr/>
                    <a:lstStyle/>
                    <a:p>
                      <a:pPr>
                        <a:buNone/>
                      </a:pPr>
                      <a:r>
                        <a:rPr lang="en-US" sz="2800">
                          <a:latin typeface="+mn-lt"/>
                        </a:rPr>
                        <a:t>data privacy concerns</a:t>
                      </a:r>
                    </a:p>
                  </a:txBody>
                  <a:tcPr anchor="ctr"/>
                </a:tc>
                <a:tc>
                  <a:txBody>
                    <a:bodyPr/>
                    <a:lstStyle/>
                    <a:p>
                      <a:pPr>
                        <a:buNone/>
                      </a:pPr>
                      <a:r>
                        <a:rPr lang="en-US" sz="2800">
                          <a:latin typeface="+mn-lt"/>
                        </a:rPr>
                        <a:t>encrypted cloud storage</a:t>
                      </a:r>
                    </a:p>
                  </a:txBody>
                  <a:tcPr anchor="ctr"/>
                </a:tc>
                <a:extLst>
                  <a:ext uri="{0D108BD9-81ED-4DB2-BD59-A6C34878D82A}">
                    <a16:rowId xmlns:a16="http://schemas.microsoft.com/office/drawing/2014/main" val="2086999536"/>
                  </a:ext>
                </a:extLst>
              </a:tr>
              <a:tr h="0">
                <a:tc>
                  <a:txBody>
                    <a:bodyPr/>
                    <a:lstStyle/>
                    <a:p>
                      <a:pPr>
                        <a:buNone/>
                      </a:pPr>
                      <a:r>
                        <a:rPr lang="en-US" sz="2800">
                          <a:latin typeface="+mn-lt"/>
                        </a:rPr>
                        <a:t>client communication delays</a:t>
                      </a:r>
                    </a:p>
                  </a:txBody>
                  <a:tcPr anchor="ctr"/>
                </a:tc>
                <a:tc>
                  <a:txBody>
                    <a:bodyPr/>
                    <a:lstStyle/>
                    <a:p>
                      <a:pPr>
                        <a:buNone/>
                      </a:pPr>
                      <a:r>
                        <a:rPr lang="en-US" sz="2800">
                          <a:latin typeface="+mn-lt"/>
                        </a:rPr>
                        <a:t>customer portal</a:t>
                      </a:r>
                    </a:p>
                  </a:txBody>
                  <a:tcPr anchor="ctr"/>
                </a:tc>
                <a:extLst>
                  <a:ext uri="{0D108BD9-81ED-4DB2-BD59-A6C34878D82A}">
                    <a16:rowId xmlns:a16="http://schemas.microsoft.com/office/drawing/2014/main" val="760593026"/>
                  </a:ext>
                </a:extLst>
              </a:tr>
              <a:tr h="0">
                <a:tc>
                  <a:txBody>
                    <a:bodyPr/>
                    <a:lstStyle/>
                    <a:p>
                      <a:pPr>
                        <a:buNone/>
                      </a:pPr>
                      <a:r>
                        <a:rPr lang="en-US" sz="2800">
                          <a:latin typeface="+mn-lt"/>
                        </a:rPr>
                        <a:t>access control problems</a:t>
                      </a:r>
                    </a:p>
                  </a:txBody>
                  <a:tcPr anchor="ctr"/>
                </a:tc>
                <a:tc>
                  <a:txBody>
                    <a:bodyPr/>
                    <a:lstStyle/>
                    <a:p>
                      <a:pPr>
                        <a:buNone/>
                      </a:pPr>
                      <a:r>
                        <a:rPr lang="en-US" sz="2800">
                          <a:latin typeface="+mn-lt"/>
                        </a:rPr>
                        <a:t>MFA and role-based access</a:t>
                      </a:r>
                    </a:p>
                  </a:txBody>
                  <a:tcPr anchor="ctr"/>
                </a:tc>
                <a:extLst>
                  <a:ext uri="{0D108BD9-81ED-4DB2-BD59-A6C34878D82A}">
                    <a16:rowId xmlns:a16="http://schemas.microsoft.com/office/drawing/2014/main" val="3322275837"/>
                  </a:ext>
                </a:extLst>
              </a:tr>
              <a:tr h="0">
                <a:tc>
                  <a:txBody>
                    <a:bodyPr/>
                    <a:lstStyle/>
                    <a:p>
                      <a:pPr>
                        <a:buNone/>
                      </a:pPr>
                      <a:r>
                        <a:rPr lang="en-US" sz="2800">
                          <a:latin typeface="+mn-lt"/>
                        </a:rPr>
                        <a:t>remote work risks</a:t>
                      </a:r>
                    </a:p>
                  </a:txBody>
                  <a:tcPr anchor="ctr"/>
                </a:tc>
                <a:tc>
                  <a:txBody>
                    <a:bodyPr/>
                    <a:lstStyle/>
                    <a:p>
                      <a:pPr>
                        <a:buNone/>
                      </a:pPr>
                      <a:r>
                        <a:rPr lang="en-US" sz="2800" dirty="0">
                          <a:latin typeface="+mn-lt"/>
                        </a:rPr>
                        <a:t>VPN and endpoint security</a:t>
                      </a:r>
                    </a:p>
                  </a:txBody>
                  <a:tcPr anchor="ctr"/>
                </a:tc>
                <a:extLst>
                  <a:ext uri="{0D108BD9-81ED-4DB2-BD59-A6C34878D82A}">
                    <a16:rowId xmlns:a16="http://schemas.microsoft.com/office/drawing/2014/main" val="3555538890"/>
                  </a:ext>
                </a:extLst>
              </a:tr>
            </a:tbl>
          </a:graphicData>
        </a:graphic>
      </p:graphicFrame>
    </p:spTree>
    <p:extLst>
      <p:ext uri="{BB962C8B-B14F-4D97-AF65-F5344CB8AC3E}">
        <p14:creationId xmlns:p14="http://schemas.microsoft.com/office/powerpoint/2010/main" val="24285494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54C7BC-9150-67F0-AB43-8F5B70622EF6}"/>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81146618-7F2C-8643-5595-0A5E99830DEB}"/>
              </a:ext>
            </a:extLst>
          </p:cNvPr>
          <p:cNvSpPr>
            <a:spLocks noGrp="1"/>
          </p:cNvSpPr>
          <p:nvPr>
            <p:ph type="title"/>
          </p:nvPr>
        </p:nvSpPr>
        <p:spPr>
          <a:xfrm>
            <a:off x="0" y="628650"/>
            <a:ext cx="9107488" cy="1157619"/>
          </a:xfrm>
        </p:spPr>
        <p:txBody>
          <a:bodyPr>
            <a:normAutofit fontScale="90000"/>
          </a:bodyPr>
          <a:lstStyle/>
          <a:p>
            <a:pPr algn="ctr" eaLnBrk="1" fontAlgn="auto" hangingPunct="1">
              <a:spcAft>
                <a:spcPts val="0"/>
              </a:spcAft>
              <a:defRPr/>
            </a:pPr>
            <a:r>
              <a:rPr lang="en-US" altLang="en-US" b="1" dirty="0">
                <a:solidFill>
                  <a:srgbClr val="00B0F0"/>
                </a:solidFill>
              </a:rPr>
              <a:t>Professional Questions Students Should Ask</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67AA4E1D-15A0-B990-72DC-09FA1F269557}"/>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00148BC3-7281-26B1-F33C-E9F558B76FA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25</a:t>
            </a:fld>
            <a:endParaRPr lang="en-US" altLang="en-US" sz="900">
              <a:solidFill>
                <a:srgbClr val="FFFFFF"/>
              </a:solidFill>
            </a:endParaRPr>
          </a:p>
        </p:txBody>
      </p:sp>
      <p:pic>
        <p:nvPicPr>
          <p:cNvPr id="22534" name="Picture 5">
            <a:extLst>
              <a:ext uri="{FF2B5EF4-FFF2-40B4-BE49-F238E27FC236}">
                <a16:creationId xmlns:a16="http://schemas.microsoft.com/office/drawing/2014/main" id="{E4D452BD-B9BB-882C-012B-5289F0283A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048335B5-DA31-BFA7-BFC5-13D81F61525C}"/>
              </a:ext>
            </a:extLst>
          </p:cNvPr>
          <p:cNvSpPr txBox="1"/>
          <p:nvPr/>
        </p:nvSpPr>
        <p:spPr>
          <a:xfrm>
            <a:off x="3009" y="1018388"/>
            <a:ext cx="9144000" cy="5839612"/>
          </a:xfrm>
          <a:prstGeom prst="rect">
            <a:avLst/>
          </a:prstGeom>
          <a:solidFill>
            <a:schemeClr val="bg1"/>
          </a:solidFill>
        </p:spPr>
        <p:txBody>
          <a:bodyPr wrap="square">
            <a:spAutoFit/>
          </a:bodyPr>
          <a:lstStyle/>
          <a:p>
            <a:pPr>
              <a:lnSpc>
                <a:spcPct val="150000"/>
              </a:lnSpc>
              <a:buNone/>
            </a:pPr>
            <a:r>
              <a:rPr lang="en-US" sz="2800" b="1" dirty="0">
                <a:latin typeface="+mn-lt"/>
              </a:rPr>
              <a:t>Instead of:</a:t>
            </a:r>
          </a:p>
          <a:p>
            <a:pPr>
              <a:lnSpc>
                <a:spcPct val="150000"/>
              </a:lnSpc>
              <a:buNone/>
            </a:pPr>
            <a:r>
              <a:rPr lang="en-US" sz="2800" dirty="0">
                <a:latin typeface="+mn-lt"/>
              </a:rPr>
              <a:t>“What software do you use?”</a:t>
            </a:r>
          </a:p>
          <a:p>
            <a:pPr>
              <a:lnSpc>
                <a:spcPct val="150000"/>
              </a:lnSpc>
              <a:buNone/>
            </a:pPr>
            <a:r>
              <a:rPr lang="en-US" sz="2800" b="1" dirty="0">
                <a:latin typeface="+mn-lt"/>
              </a:rPr>
              <a:t>Better Questions:</a:t>
            </a:r>
          </a:p>
          <a:p>
            <a:pPr marL="361950">
              <a:lnSpc>
                <a:spcPct val="150000"/>
              </a:lnSpc>
            </a:pPr>
            <a:r>
              <a:rPr lang="en-US" sz="2800" dirty="0">
                <a:latin typeface="+mn-lt"/>
              </a:rPr>
              <a:t>- Why was this security solution chosen? </a:t>
            </a:r>
          </a:p>
          <a:p>
            <a:pPr marL="361950">
              <a:lnSpc>
                <a:spcPct val="150000"/>
              </a:lnSpc>
            </a:pPr>
            <a:r>
              <a:rPr lang="en-US" sz="2800" dirty="0">
                <a:latin typeface="+mn-lt"/>
              </a:rPr>
              <a:t>- What risks were considered? </a:t>
            </a:r>
          </a:p>
          <a:p>
            <a:pPr marL="361950">
              <a:lnSpc>
                <a:spcPct val="150000"/>
              </a:lnSpc>
            </a:pPr>
            <a:r>
              <a:rPr lang="en-US" sz="2800" dirty="0">
                <a:latin typeface="+mn-lt"/>
              </a:rPr>
              <a:t>- How do clients respond to this technology? </a:t>
            </a:r>
          </a:p>
          <a:p>
            <a:pPr marL="361950">
              <a:lnSpc>
                <a:spcPct val="150000"/>
              </a:lnSpc>
            </a:pPr>
            <a:r>
              <a:rPr lang="en-US" sz="2800" dirty="0">
                <a:latin typeface="+mn-lt"/>
              </a:rPr>
              <a:t>- What ethical concerns exist? </a:t>
            </a:r>
          </a:p>
          <a:p>
            <a:pPr marL="361950">
              <a:lnSpc>
                <a:spcPct val="150000"/>
              </a:lnSpc>
            </a:pPr>
            <a:r>
              <a:rPr lang="en-US" sz="2800" dirty="0">
                <a:latin typeface="+mn-lt"/>
              </a:rPr>
              <a:t>- What governance policies support this system? </a:t>
            </a:r>
          </a:p>
          <a:p>
            <a:pPr>
              <a:lnSpc>
                <a:spcPct val="150000"/>
              </a:lnSpc>
              <a:buNone/>
            </a:pPr>
            <a:r>
              <a:rPr lang="en-US" sz="2800" dirty="0">
                <a:latin typeface="+mn-lt"/>
              </a:rPr>
              <a:t>These questions show critical thinking.</a:t>
            </a:r>
          </a:p>
        </p:txBody>
      </p:sp>
    </p:spTree>
    <p:extLst>
      <p:ext uri="{BB962C8B-B14F-4D97-AF65-F5344CB8AC3E}">
        <p14:creationId xmlns:p14="http://schemas.microsoft.com/office/powerpoint/2010/main" val="7068066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61494-1E2C-1678-D1B0-43C54BF67C73}"/>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6B3AD622-CF0C-A32D-7C83-056239100962}"/>
              </a:ext>
            </a:extLst>
          </p:cNvPr>
          <p:cNvSpPr>
            <a:spLocks noGrp="1"/>
          </p:cNvSpPr>
          <p:nvPr>
            <p:ph type="title"/>
          </p:nvPr>
        </p:nvSpPr>
        <p:spPr>
          <a:xfrm>
            <a:off x="0" y="628650"/>
            <a:ext cx="9107488" cy="1157619"/>
          </a:xfrm>
        </p:spPr>
        <p:txBody>
          <a:bodyPr>
            <a:normAutofit/>
          </a:bodyPr>
          <a:lstStyle/>
          <a:p>
            <a:pPr algn="ctr" eaLnBrk="1" fontAlgn="auto" hangingPunct="1">
              <a:spcAft>
                <a:spcPts val="0"/>
              </a:spcAft>
              <a:defRPr/>
            </a:pPr>
            <a:r>
              <a:rPr lang="en-US" altLang="en-US" b="1" dirty="0">
                <a:solidFill>
                  <a:srgbClr val="00B0F0"/>
                </a:solidFill>
              </a:rPr>
              <a:t>Common Mistakes in Assessment 4</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361A5542-D434-C0FA-9E95-F63D56ED189A}"/>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9BE1673C-6BAE-CAAE-BA1C-547268F44BE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26</a:t>
            </a:fld>
            <a:endParaRPr lang="en-US" altLang="en-US" sz="900">
              <a:solidFill>
                <a:srgbClr val="FFFFFF"/>
              </a:solidFill>
            </a:endParaRPr>
          </a:p>
        </p:txBody>
      </p:sp>
      <p:pic>
        <p:nvPicPr>
          <p:cNvPr id="22534" name="Picture 5">
            <a:extLst>
              <a:ext uri="{FF2B5EF4-FFF2-40B4-BE49-F238E27FC236}">
                <a16:creationId xmlns:a16="http://schemas.microsoft.com/office/drawing/2014/main" id="{0197686A-B9FD-A54F-09A9-58D48B5BC7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A682ADF7-6345-8C60-8FAE-C189C30BF663}"/>
              </a:ext>
            </a:extLst>
          </p:cNvPr>
          <p:cNvSpPr txBox="1"/>
          <p:nvPr/>
        </p:nvSpPr>
        <p:spPr>
          <a:xfrm>
            <a:off x="287079" y="1945758"/>
            <a:ext cx="8569842" cy="3900620"/>
          </a:xfrm>
          <a:prstGeom prst="rect">
            <a:avLst/>
          </a:prstGeom>
          <a:noFill/>
        </p:spPr>
        <p:txBody>
          <a:bodyPr wrap="square">
            <a:spAutoFit/>
          </a:bodyPr>
          <a:lstStyle/>
          <a:p>
            <a:pPr>
              <a:lnSpc>
                <a:spcPct val="150000"/>
              </a:lnSpc>
            </a:pPr>
            <a:r>
              <a:rPr lang="en-US" sz="2800" dirty="0">
                <a:highlight>
                  <a:srgbClr val="FF0000"/>
                </a:highlight>
              </a:rPr>
              <a:t>X</a:t>
            </a:r>
            <a:r>
              <a:rPr lang="en-US" sz="2800" dirty="0">
                <a:latin typeface="+mn-lt"/>
              </a:rPr>
              <a:t> ignoring ethics</a:t>
            </a:r>
            <a:br>
              <a:rPr lang="en-US" sz="2800" dirty="0">
                <a:latin typeface="+mn-lt"/>
              </a:rPr>
            </a:br>
            <a:r>
              <a:rPr lang="en-US" sz="2800" dirty="0">
                <a:highlight>
                  <a:srgbClr val="FF0000"/>
                </a:highlight>
              </a:rPr>
              <a:t>X</a:t>
            </a:r>
            <a:r>
              <a:rPr lang="en-US" sz="2800" dirty="0">
                <a:latin typeface="+mn-lt"/>
              </a:rPr>
              <a:t> no cybersecurity discussion</a:t>
            </a:r>
            <a:br>
              <a:rPr lang="en-US" sz="2800" dirty="0">
                <a:latin typeface="+mn-lt"/>
              </a:rPr>
            </a:br>
            <a:r>
              <a:rPr lang="en-US" sz="2800" dirty="0">
                <a:highlight>
                  <a:srgbClr val="FF0000"/>
                </a:highlight>
              </a:rPr>
              <a:t>X</a:t>
            </a:r>
            <a:r>
              <a:rPr lang="en-US" sz="2800" dirty="0">
                <a:latin typeface="+mn-lt"/>
              </a:rPr>
              <a:t> weak stakeholder analysis</a:t>
            </a:r>
            <a:br>
              <a:rPr lang="en-US" sz="2800" dirty="0">
                <a:latin typeface="+mn-lt"/>
              </a:rPr>
            </a:br>
            <a:r>
              <a:rPr lang="en-US" sz="2800" dirty="0">
                <a:highlight>
                  <a:srgbClr val="FF0000"/>
                </a:highlight>
              </a:rPr>
              <a:t>X</a:t>
            </a:r>
            <a:r>
              <a:rPr lang="en-US" sz="2800" dirty="0">
                <a:latin typeface="+mn-lt"/>
              </a:rPr>
              <a:t> no governance discussion</a:t>
            </a:r>
            <a:br>
              <a:rPr lang="en-US" sz="2800" dirty="0">
                <a:latin typeface="+mn-lt"/>
              </a:rPr>
            </a:br>
            <a:r>
              <a:rPr lang="en-US" sz="2800" dirty="0">
                <a:highlight>
                  <a:srgbClr val="FF0000"/>
                </a:highlight>
              </a:rPr>
              <a:t>X</a:t>
            </a:r>
            <a:r>
              <a:rPr lang="en-US" sz="2800" dirty="0">
                <a:latin typeface="+mn-lt"/>
              </a:rPr>
              <a:t> unrealistic solutions</a:t>
            </a:r>
            <a:br>
              <a:rPr lang="en-US" sz="2800" dirty="0">
                <a:latin typeface="+mn-lt"/>
              </a:rPr>
            </a:br>
            <a:r>
              <a:rPr lang="en-US" sz="2800" dirty="0">
                <a:highlight>
                  <a:srgbClr val="FF0000"/>
                </a:highlight>
              </a:rPr>
              <a:t>X</a:t>
            </a:r>
            <a:r>
              <a:rPr lang="en-US" sz="2800" dirty="0">
                <a:latin typeface="+mn-lt"/>
              </a:rPr>
              <a:t> no Australian context</a:t>
            </a:r>
          </a:p>
        </p:txBody>
      </p:sp>
    </p:spTree>
    <p:extLst>
      <p:ext uri="{BB962C8B-B14F-4D97-AF65-F5344CB8AC3E}">
        <p14:creationId xmlns:p14="http://schemas.microsoft.com/office/powerpoint/2010/main" val="22328862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B8AD1-A8BC-203D-9135-8378AF0FC775}"/>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68D55D65-7C9F-700C-D1E2-A66F9E10C25B}"/>
              </a:ext>
            </a:extLst>
          </p:cNvPr>
          <p:cNvSpPr>
            <a:spLocks noGrp="1"/>
          </p:cNvSpPr>
          <p:nvPr>
            <p:ph type="title"/>
          </p:nvPr>
        </p:nvSpPr>
        <p:spPr>
          <a:xfrm>
            <a:off x="0" y="628650"/>
            <a:ext cx="9107488" cy="1157619"/>
          </a:xfrm>
        </p:spPr>
        <p:txBody>
          <a:bodyPr>
            <a:normAutofit/>
          </a:bodyPr>
          <a:lstStyle/>
          <a:p>
            <a:pPr algn="ctr" eaLnBrk="1" fontAlgn="auto" hangingPunct="1">
              <a:spcAft>
                <a:spcPts val="0"/>
              </a:spcAft>
              <a:defRPr/>
            </a:pPr>
            <a:r>
              <a:rPr lang="en-US" altLang="en-US" b="1" dirty="0">
                <a:solidFill>
                  <a:srgbClr val="00B0F0"/>
                </a:solidFill>
              </a:rPr>
              <a:t>Final Advice for Students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E6EFF842-5217-4452-3ED6-9CD6DC7679BC}"/>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91F6D0C8-0CC1-0D8B-91C6-AB39B4398B6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27</a:t>
            </a:fld>
            <a:endParaRPr lang="en-US" altLang="en-US" sz="900">
              <a:solidFill>
                <a:srgbClr val="FFFFFF"/>
              </a:solidFill>
            </a:endParaRPr>
          </a:p>
        </p:txBody>
      </p:sp>
      <p:pic>
        <p:nvPicPr>
          <p:cNvPr id="22534" name="Picture 5">
            <a:extLst>
              <a:ext uri="{FF2B5EF4-FFF2-40B4-BE49-F238E27FC236}">
                <a16:creationId xmlns:a16="http://schemas.microsoft.com/office/drawing/2014/main" id="{688120CC-DB69-BD56-0567-EBDBD3F43B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3E7AAB35-8AB2-1D22-387E-8300E3BF32DA}"/>
              </a:ext>
            </a:extLst>
          </p:cNvPr>
          <p:cNvSpPr txBox="1"/>
          <p:nvPr/>
        </p:nvSpPr>
        <p:spPr>
          <a:xfrm>
            <a:off x="287079" y="1945758"/>
            <a:ext cx="8569842" cy="4546950"/>
          </a:xfrm>
          <a:prstGeom prst="rect">
            <a:avLst/>
          </a:prstGeom>
          <a:noFill/>
        </p:spPr>
        <p:txBody>
          <a:bodyPr wrap="square">
            <a:spAutoFit/>
          </a:bodyPr>
          <a:lstStyle/>
          <a:p>
            <a:pPr>
              <a:lnSpc>
                <a:spcPct val="150000"/>
              </a:lnSpc>
            </a:pPr>
            <a:r>
              <a:rPr lang="en-US" sz="2800" b="1" dirty="0">
                <a:latin typeface="+mn-lt"/>
              </a:rPr>
              <a:t>High-Quality Assessment 4 Reports:</a:t>
            </a:r>
          </a:p>
          <a:p>
            <a:pPr>
              <a:lnSpc>
                <a:spcPct val="150000"/>
              </a:lnSpc>
            </a:pPr>
            <a:r>
              <a:rPr lang="en-US" sz="2800" dirty="0">
                <a:latin typeface="+mn-lt"/>
              </a:rPr>
              <a:t>-  solve real business problems</a:t>
            </a:r>
            <a:br>
              <a:rPr lang="en-US" sz="2800" dirty="0">
                <a:latin typeface="+mn-lt"/>
              </a:rPr>
            </a:br>
            <a:r>
              <a:rPr lang="en-US" sz="2800" dirty="0">
                <a:latin typeface="+mn-lt"/>
              </a:rPr>
              <a:t>-  include ethical considerations</a:t>
            </a:r>
            <a:br>
              <a:rPr lang="en-US" sz="2800" dirty="0">
                <a:latin typeface="+mn-lt"/>
              </a:rPr>
            </a:br>
            <a:r>
              <a:rPr lang="en-US" sz="2800" dirty="0">
                <a:latin typeface="+mn-lt"/>
              </a:rPr>
              <a:t>-  discuss governance and compliance</a:t>
            </a:r>
            <a:br>
              <a:rPr lang="en-US" sz="2800" dirty="0">
                <a:latin typeface="+mn-lt"/>
              </a:rPr>
            </a:br>
            <a:r>
              <a:rPr lang="en-US" sz="2800" dirty="0">
                <a:latin typeface="+mn-lt"/>
              </a:rPr>
              <a:t>-  manage stakeholder needs</a:t>
            </a:r>
            <a:br>
              <a:rPr lang="en-US" sz="2800" dirty="0">
                <a:latin typeface="+mn-lt"/>
              </a:rPr>
            </a:br>
            <a:r>
              <a:rPr lang="en-US" sz="2800" dirty="0">
                <a:latin typeface="+mn-lt"/>
              </a:rPr>
              <a:t>-  justify security decisions</a:t>
            </a:r>
            <a:br>
              <a:rPr lang="en-US" sz="2800" dirty="0">
                <a:latin typeface="+mn-lt"/>
              </a:rPr>
            </a:br>
            <a:r>
              <a:rPr lang="en-US" sz="2800" dirty="0">
                <a:latin typeface="+mn-lt"/>
              </a:rPr>
              <a:t>-  connect technology to business value</a:t>
            </a:r>
          </a:p>
        </p:txBody>
      </p:sp>
    </p:spTree>
    <p:extLst>
      <p:ext uri="{BB962C8B-B14F-4D97-AF65-F5344CB8AC3E}">
        <p14:creationId xmlns:p14="http://schemas.microsoft.com/office/powerpoint/2010/main" val="3331226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BC37D-C1EA-399F-2EAF-5E94C426E833}"/>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7CC234EF-4BD2-7DD3-D8D2-5F1736AD301B}"/>
              </a:ext>
            </a:extLst>
          </p:cNvPr>
          <p:cNvSpPr>
            <a:spLocks noGrp="1"/>
          </p:cNvSpPr>
          <p:nvPr>
            <p:ph type="title"/>
          </p:nvPr>
        </p:nvSpPr>
        <p:spPr>
          <a:xfrm>
            <a:off x="0" y="628650"/>
            <a:ext cx="9107488" cy="1157619"/>
          </a:xfrm>
        </p:spPr>
        <p:txBody>
          <a:bodyPr>
            <a:normAutofit/>
          </a:bodyPr>
          <a:lstStyle/>
          <a:p>
            <a:pPr algn="ctr" eaLnBrk="1" fontAlgn="auto" hangingPunct="1">
              <a:spcAft>
                <a:spcPts val="0"/>
              </a:spcAft>
              <a:defRPr/>
            </a:pPr>
            <a:r>
              <a:rPr lang="en-US" altLang="en-US" b="1" dirty="0">
                <a:solidFill>
                  <a:srgbClr val="00B0F0"/>
                </a:solidFill>
              </a:rPr>
              <a:t>Final Message</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D7D2264C-B4FF-A8A2-107B-60C62D258ACF}"/>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4D2E1D38-6553-601D-BE64-CCE71355181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28</a:t>
            </a:fld>
            <a:endParaRPr lang="en-US" altLang="en-US" sz="900">
              <a:solidFill>
                <a:srgbClr val="FFFFFF"/>
              </a:solidFill>
            </a:endParaRPr>
          </a:p>
        </p:txBody>
      </p:sp>
      <p:pic>
        <p:nvPicPr>
          <p:cNvPr id="22534" name="Picture 5">
            <a:extLst>
              <a:ext uri="{FF2B5EF4-FFF2-40B4-BE49-F238E27FC236}">
                <a16:creationId xmlns:a16="http://schemas.microsoft.com/office/drawing/2014/main" id="{87FC1FC9-7865-77A9-5397-1F88D18879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D4BE1F58-3546-55FD-2940-79667DF7D234}"/>
              </a:ext>
            </a:extLst>
          </p:cNvPr>
          <p:cNvSpPr txBox="1"/>
          <p:nvPr/>
        </p:nvSpPr>
        <p:spPr>
          <a:xfrm>
            <a:off x="287079" y="1945758"/>
            <a:ext cx="8569842" cy="4549835"/>
          </a:xfrm>
          <a:prstGeom prst="rect">
            <a:avLst/>
          </a:prstGeom>
          <a:noFill/>
        </p:spPr>
        <p:txBody>
          <a:bodyPr wrap="square">
            <a:spAutoFit/>
          </a:bodyPr>
          <a:lstStyle/>
          <a:p>
            <a:pPr>
              <a:lnSpc>
                <a:spcPct val="150000"/>
              </a:lnSpc>
            </a:pPr>
            <a:r>
              <a:rPr lang="en-US" sz="2800" b="1" dirty="0">
                <a:latin typeface="+mn-lt"/>
              </a:rPr>
              <a:t>Think Like a Responsible IT Professional</a:t>
            </a:r>
          </a:p>
          <a:p>
            <a:pPr>
              <a:lnSpc>
                <a:spcPct val="150000"/>
              </a:lnSpc>
            </a:pPr>
            <a:r>
              <a:rPr lang="en-US" sz="2800" dirty="0">
                <a:latin typeface="+mn-lt"/>
              </a:rPr>
              <a:t>Ask yourself:</a:t>
            </a:r>
          </a:p>
          <a:p>
            <a:pPr>
              <a:lnSpc>
                <a:spcPct val="150000"/>
              </a:lnSpc>
            </a:pPr>
            <a:r>
              <a:rPr lang="en-US" sz="2800" dirty="0">
                <a:latin typeface="+mn-lt"/>
              </a:rPr>
              <a:t>- Is my solution ethical? </a:t>
            </a:r>
          </a:p>
          <a:p>
            <a:pPr>
              <a:lnSpc>
                <a:spcPct val="150000"/>
              </a:lnSpc>
            </a:pPr>
            <a:r>
              <a:rPr lang="en-US" sz="2800" dirty="0">
                <a:latin typeface="+mn-lt"/>
              </a:rPr>
              <a:t>- Is customer data protected? </a:t>
            </a:r>
          </a:p>
          <a:p>
            <a:pPr>
              <a:lnSpc>
                <a:spcPct val="150000"/>
              </a:lnSpc>
            </a:pPr>
            <a:r>
              <a:rPr lang="en-US" sz="2800" dirty="0">
                <a:latin typeface="+mn-lt"/>
              </a:rPr>
              <a:t>- Are risks managed properly? </a:t>
            </a:r>
          </a:p>
          <a:p>
            <a:pPr>
              <a:lnSpc>
                <a:spcPct val="150000"/>
              </a:lnSpc>
            </a:pPr>
            <a:r>
              <a:rPr lang="en-US" sz="2800" dirty="0">
                <a:latin typeface="+mn-lt"/>
              </a:rPr>
              <a:t>- Would stakeholders trust this system? </a:t>
            </a:r>
          </a:p>
          <a:p>
            <a:pPr>
              <a:lnSpc>
                <a:spcPct val="150000"/>
              </a:lnSpc>
            </a:pPr>
            <a:r>
              <a:rPr lang="en-US" sz="2800" dirty="0">
                <a:latin typeface="+mn-lt"/>
              </a:rPr>
              <a:t>- Does this solution fit Australian business needs?</a:t>
            </a:r>
          </a:p>
        </p:txBody>
      </p:sp>
    </p:spTree>
    <p:extLst>
      <p:ext uri="{BB962C8B-B14F-4D97-AF65-F5344CB8AC3E}">
        <p14:creationId xmlns:p14="http://schemas.microsoft.com/office/powerpoint/2010/main" val="42516415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65ED4-9D04-23B8-8153-8F4DB11FCC80}"/>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B6A9E692-0BE5-1976-94BB-750172137B53}"/>
              </a:ext>
            </a:extLst>
          </p:cNvPr>
          <p:cNvSpPr>
            <a:spLocks noGrp="1"/>
          </p:cNvSpPr>
          <p:nvPr>
            <p:ph type="title"/>
          </p:nvPr>
        </p:nvSpPr>
        <p:spPr>
          <a:xfrm>
            <a:off x="0" y="628650"/>
            <a:ext cx="9107488" cy="1157619"/>
          </a:xfrm>
        </p:spPr>
        <p:txBody>
          <a:bodyPr>
            <a:normAutofit fontScale="90000"/>
          </a:bodyPr>
          <a:lstStyle/>
          <a:p>
            <a:pPr algn="ctr" eaLnBrk="1" fontAlgn="auto" hangingPunct="1">
              <a:spcAft>
                <a:spcPts val="0"/>
              </a:spcAft>
              <a:defRPr/>
            </a:pPr>
            <a:r>
              <a:rPr lang="en-US" altLang="en-US" b="1" dirty="0">
                <a:solidFill>
                  <a:srgbClr val="00B0F0"/>
                </a:solidFill>
              </a:rPr>
              <a:t>Key Lessons/Messages from Week 10 Topic</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EBDFB73E-CCBD-8FBB-D049-190A523D767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D5479732-089D-3F5A-26D7-28818D9CEF5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29</a:t>
            </a:fld>
            <a:endParaRPr lang="en-US" altLang="en-US" sz="900">
              <a:solidFill>
                <a:srgbClr val="FFFFFF"/>
              </a:solidFill>
            </a:endParaRPr>
          </a:p>
        </p:txBody>
      </p:sp>
      <p:pic>
        <p:nvPicPr>
          <p:cNvPr id="22534" name="Picture 5">
            <a:extLst>
              <a:ext uri="{FF2B5EF4-FFF2-40B4-BE49-F238E27FC236}">
                <a16:creationId xmlns:a16="http://schemas.microsoft.com/office/drawing/2014/main" id="{9C22F09A-2B7B-5B12-0F72-6DCBD46813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A124F07A-B767-499A-D483-C3EB0DCF11CB}"/>
              </a:ext>
            </a:extLst>
          </p:cNvPr>
          <p:cNvSpPr txBox="1"/>
          <p:nvPr/>
        </p:nvSpPr>
        <p:spPr>
          <a:xfrm>
            <a:off x="287079" y="1945758"/>
            <a:ext cx="8569842" cy="1964512"/>
          </a:xfrm>
          <a:prstGeom prst="rect">
            <a:avLst/>
          </a:prstGeom>
          <a:noFill/>
        </p:spPr>
        <p:txBody>
          <a:bodyPr wrap="square">
            <a:spAutoFit/>
          </a:bodyPr>
          <a:lstStyle/>
          <a:p>
            <a:pPr>
              <a:lnSpc>
                <a:spcPct val="150000"/>
              </a:lnSpc>
            </a:pPr>
            <a:r>
              <a:rPr lang="en-US" sz="2800" b="1" dirty="0">
                <a:latin typeface="+mn-lt"/>
              </a:rPr>
              <a:t>1. Ethics is important in IT projects</a:t>
            </a:r>
          </a:p>
          <a:p>
            <a:pPr>
              <a:lnSpc>
                <a:spcPct val="150000"/>
              </a:lnSpc>
            </a:pPr>
            <a:r>
              <a:rPr lang="en-US" sz="2800" dirty="0">
                <a:latin typeface="+mn-lt"/>
              </a:rPr>
              <a:t>Technology should be used responsibly and fairly. IT systems must protect users and </a:t>
            </a:r>
            <a:r>
              <a:rPr lang="en-US" sz="2800" dirty="0" err="1">
                <a:latin typeface="+mn-lt"/>
              </a:rPr>
              <a:t>organisations</a:t>
            </a:r>
            <a:r>
              <a:rPr lang="en-US" sz="2800" dirty="0">
                <a:latin typeface="+mn-lt"/>
              </a:rPr>
              <a:t> from harm.</a:t>
            </a:r>
          </a:p>
        </p:txBody>
      </p:sp>
    </p:spTree>
    <p:extLst>
      <p:ext uri="{BB962C8B-B14F-4D97-AF65-F5344CB8AC3E}">
        <p14:creationId xmlns:p14="http://schemas.microsoft.com/office/powerpoint/2010/main" val="28021839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AE426-956D-7314-1E00-0F72C55AE77F}"/>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474FA8CB-3321-E4EC-389A-6F26B9383158}"/>
              </a:ext>
            </a:extLst>
          </p:cNvPr>
          <p:cNvSpPr>
            <a:spLocks noGrp="1"/>
          </p:cNvSpPr>
          <p:nvPr>
            <p:ph type="title"/>
          </p:nvPr>
        </p:nvSpPr>
        <p:spPr>
          <a:xfrm>
            <a:off x="0" y="628650"/>
            <a:ext cx="9107488" cy="1157619"/>
          </a:xfrm>
        </p:spPr>
        <p:txBody>
          <a:bodyPr>
            <a:normAutofit fontScale="90000"/>
          </a:bodyPr>
          <a:lstStyle/>
          <a:p>
            <a:pPr algn="ctr" eaLnBrk="1" fontAlgn="auto" hangingPunct="1">
              <a:spcAft>
                <a:spcPts val="0"/>
              </a:spcAft>
              <a:defRPr/>
            </a:pPr>
            <a:r>
              <a:rPr lang="en-US" altLang="en-US" b="1" dirty="0">
                <a:solidFill>
                  <a:srgbClr val="00B0F0"/>
                </a:solidFill>
              </a:rPr>
              <a:t>Key Lessons/Messages from Week 10 Topic</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54C4C5EA-E65D-E167-0A80-6C4C47C973B0}"/>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BD4A3881-3BFC-5547-0E8A-BB772165853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30</a:t>
            </a:fld>
            <a:endParaRPr lang="en-US" altLang="en-US" sz="900">
              <a:solidFill>
                <a:srgbClr val="FFFFFF"/>
              </a:solidFill>
            </a:endParaRPr>
          </a:p>
        </p:txBody>
      </p:sp>
      <p:pic>
        <p:nvPicPr>
          <p:cNvPr id="22534" name="Picture 5">
            <a:extLst>
              <a:ext uri="{FF2B5EF4-FFF2-40B4-BE49-F238E27FC236}">
                <a16:creationId xmlns:a16="http://schemas.microsoft.com/office/drawing/2014/main" id="{4EBCDA52-BF3A-7C3C-C3DD-9F0E3E9548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D6AD3748-05F4-B5ED-CB84-5706E810FB37}"/>
              </a:ext>
            </a:extLst>
          </p:cNvPr>
          <p:cNvSpPr txBox="1"/>
          <p:nvPr/>
        </p:nvSpPr>
        <p:spPr>
          <a:xfrm>
            <a:off x="287079" y="1945758"/>
            <a:ext cx="8569842" cy="4649350"/>
          </a:xfrm>
          <a:prstGeom prst="rect">
            <a:avLst/>
          </a:prstGeom>
          <a:noFill/>
        </p:spPr>
        <p:txBody>
          <a:bodyPr wrap="square">
            <a:spAutoFit/>
          </a:bodyPr>
          <a:lstStyle/>
          <a:p>
            <a:pPr>
              <a:lnSpc>
                <a:spcPct val="150000"/>
              </a:lnSpc>
            </a:pPr>
            <a:r>
              <a:rPr lang="en-US" sz="2500" b="1" dirty="0">
                <a:latin typeface="+mn-lt"/>
              </a:rPr>
              <a:t>2. Emerging technologies create both opportunities and risks</a:t>
            </a:r>
          </a:p>
          <a:p>
            <a:pPr>
              <a:lnSpc>
                <a:spcPct val="150000"/>
              </a:lnSpc>
            </a:pPr>
            <a:r>
              <a:rPr lang="en-US" sz="2500" dirty="0">
                <a:latin typeface="+mn-lt"/>
              </a:rPr>
              <a:t>Technologies like:</a:t>
            </a:r>
          </a:p>
          <a:p>
            <a:pPr>
              <a:lnSpc>
                <a:spcPct val="150000"/>
              </a:lnSpc>
            </a:pPr>
            <a:r>
              <a:rPr lang="en-US" sz="2500" dirty="0">
                <a:latin typeface="+mn-lt"/>
              </a:rPr>
              <a:t>- AI, </a:t>
            </a:r>
          </a:p>
          <a:p>
            <a:pPr>
              <a:lnSpc>
                <a:spcPct val="150000"/>
              </a:lnSpc>
            </a:pPr>
            <a:r>
              <a:rPr lang="en-US" sz="2500" dirty="0">
                <a:latin typeface="+mn-lt"/>
              </a:rPr>
              <a:t>- cloud computing, </a:t>
            </a:r>
          </a:p>
          <a:p>
            <a:pPr>
              <a:lnSpc>
                <a:spcPct val="150000"/>
              </a:lnSpc>
            </a:pPr>
            <a:r>
              <a:rPr lang="en-US" sz="2500" dirty="0">
                <a:latin typeface="+mn-lt"/>
              </a:rPr>
              <a:t>- IoT, </a:t>
            </a:r>
          </a:p>
          <a:p>
            <a:pPr>
              <a:lnSpc>
                <a:spcPct val="150000"/>
              </a:lnSpc>
            </a:pPr>
            <a:r>
              <a:rPr lang="en-US" sz="2500" dirty="0">
                <a:latin typeface="+mn-lt"/>
              </a:rPr>
              <a:t>- and cybersecurity systems </a:t>
            </a:r>
          </a:p>
          <a:p>
            <a:pPr>
              <a:lnSpc>
                <a:spcPct val="150000"/>
              </a:lnSpc>
            </a:pPr>
            <a:r>
              <a:rPr lang="en-US" sz="2500" dirty="0">
                <a:latin typeface="+mn-lt"/>
              </a:rPr>
              <a:t>can improve businesses, but they may also create privacy, security, or ethical problems.</a:t>
            </a:r>
          </a:p>
        </p:txBody>
      </p:sp>
    </p:spTree>
    <p:extLst>
      <p:ext uri="{BB962C8B-B14F-4D97-AF65-F5344CB8AC3E}">
        <p14:creationId xmlns:p14="http://schemas.microsoft.com/office/powerpoint/2010/main" val="42501825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2E068-16A6-64CA-5622-8D662F3D41BF}"/>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BC196E10-B79F-BE4B-D962-B3459CD2019C}"/>
              </a:ext>
            </a:extLst>
          </p:cNvPr>
          <p:cNvSpPr>
            <a:spLocks noGrp="1"/>
          </p:cNvSpPr>
          <p:nvPr>
            <p:ph type="title"/>
          </p:nvPr>
        </p:nvSpPr>
        <p:spPr>
          <a:xfrm>
            <a:off x="0" y="628650"/>
            <a:ext cx="9107488" cy="1157619"/>
          </a:xfrm>
        </p:spPr>
        <p:txBody>
          <a:bodyPr>
            <a:normAutofit fontScale="90000"/>
          </a:bodyPr>
          <a:lstStyle/>
          <a:p>
            <a:pPr algn="ctr" eaLnBrk="1" fontAlgn="auto" hangingPunct="1">
              <a:spcAft>
                <a:spcPts val="0"/>
              </a:spcAft>
              <a:defRPr/>
            </a:pPr>
            <a:r>
              <a:rPr lang="en-US" altLang="en-US" b="1" dirty="0">
                <a:solidFill>
                  <a:srgbClr val="00B0F0"/>
                </a:solidFill>
              </a:rPr>
              <a:t>Key Lessons/Messages from Week 10 Topic</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49EA0E8A-DA5C-FF37-820D-A41473D33544}"/>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D9376ACB-A060-8C12-2ECF-87F6CABC2FF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31</a:t>
            </a:fld>
            <a:endParaRPr lang="en-US" altLang="en-US" sz="900">
              <a:solidFill>
                <a:srgbClr val="FFFFFF"/>
              </a:solidFill>
            </a:endParaRPr>
          </a:p>
        </p:txBody>
      </p:sp>
      <p:pic>
        <p:nvPicPr>
          <p:cNvPr id="22534" name="Picture 5">
            <a:extLst>
              <a:ext uri="{FF2B5EF4-FFF2-40B4-BE49-F238E27FC236}">
                <a16:creationId xmlns:a16="http://schemas.microsoft.com/office/drawing/2014/main" id="{1CE63EFC-4BC8-2200-51C9-D2440BEB8F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7C12A993-CF5C-69F0-1A21-C16E1C8E1E21}"/>
              </a:ext>
            </a:extLst>
          </p:cNvPr>
          <p:cNvSpPr txBox="1"/>
          <p:nvPr/>
        </p:nvSpPr>
        <p:spPr>
          <a:xfrm>
            <a:off x="287079" y="1945758"/>
            <a:ext cx="8569842" cy="3903504"/>
          </a:xfrm>
          <a:prstGeom prst="rect">
            <a:avLst/>
          </a:prstGeom>
          <a:noFill/>
        </p:spPr>
        <p:txBody>
          <a:bodyPr wrap="square">
            <a:spAutoFit/>
          </a:bodyPr>
          <a:lstStyle/>
          <a:p>
            <a:pPr>
              <a:lnSpc>
                <a:spcPct val="150000"/>
              </a:lnSpc>
            </a:pPr>
            <a:r>
              <a:rPr lang="en-US" sz="2800" b="1" dirty="0">
                <a:latin typeface="+mn-lt"/>
              </a:rPr>
              <a:t>3. IT governance helps </a:t>
            </a:r>
            <a:r>
              <a:rPr lang="en-US" sz="2800" b="1" dirty="0" err="1">
                <a:latin typeface="+mn-lt"/>
              </a:rPr>
              <a:t>organisations</a:t>
            </a:r>
            <a:r>
              <a:rPr lang="en-US" sz="2800" b="1" dirty="0">
                <a:latin typeface="+mn-lt"/>
              </a:rPr>
              <a:t> manage IT properly</a:t>
            </a:r>
          </a:p>
          <a:p>
            <a:pPr>
              <a:lnSpc>
                <a:spcPct val="150000"/>
              </a:lnSpc>
            </a:pPr>
            <a:r>
              <a:rPr lang="en-US" sz="2800" dirty="0">
                <a:latin typeface="+mn-lt"/>
              </a:rPr>
              <a:t>IT governance ensures:</a:t>
            </a:r>
          </a:p>
          <a:p>
            <a:pPr>
              <a:lnSpc>
                <a:spcPct val="150000"/>
              </a:lnSpc>
            </a:pPr>
            <a:r>
              <a:rPr lang="en-US" sz="2800" dirty="0">
                <a:latin typeface="+mn-lt"/>
              </a:rPr>
              <a:t>- systems support business goals, </a:t>
            </a:r>
          </a:p>
          <a:p>
            <a:pPr>
              <a:lnSpc>
                <a:spcPct val="150000"/>
              </a:lnSpc>
            </a:pPr>
            <a:r>
              <a:rPr lang="en-US" sz="2800" dirty="0">
                <a:latin typeface="+mn-lt"/>
              </a:rPr>
              <a:t>- security is maintained, </a:t>
            </a:r>
          </a:p>
          <a:p>
            <a:pPr>
              <a:lnSpc>
                <a:spcPct val="150000"/>
              </a:lnSpc>
            </a:pPr>
            <a:r>
              <a:rPr lang="en-US" sz="2800" dirty="0">
                <a:latin typeface="+mn-lt"/>
              </a:rPr>
              <a:t>- risks are controlled, </a:t>
            </a:r>
          </a:p>
          <a:p>
            <a:pPr>
              <a:lnSpc>
                <a:spcPct val="150000"/>
              </a:lnSpc>
            </a:pPr>
            <a:r>
              <a:rPr lang="en-US" sz="2800" dirty="0">
                <a:latin typeface="+mn-lt"/>
              </a:rPr>
              <a:t>- and policies are followed.</a:t>
            </a:r>
          </a:p>
        </p:txBody>
      </p:sp>
    </p:spTree>
    <p:extLst>
      <p:ext uri="{BB962C8B-B14F-4D97-AF65-F5344CB8AC3E}">
        <p14:creationId xmlns:p14="http://schemas.microsoft.com/office/powerpoint/2010/main" val="10811921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0A01A-2FD4-6361-739A-D26C4BD6A973}"/>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815FC9E0-33FB-23F2-9A7A-2AF57543EAE5}"/>
              </a:ext>
            </a:extLst>
          </p:cNvPr>
          <p:cNvSpPr>
            <a:spLocks noGrp="1"/>
          </p:cNvSpPr>
          <p:nvPr>
            <p:ph type="title"/>
          </p:nvPr>
        </p:nvSpPr>
        <p:spPr>
          <a:xfrm>
            <a:off x="0" y="628650"/>
            <a:ext cx="9107488" cy="1157619"/>
          </a:xfrm>
        </p:spPr>
        <p:txBody>
          <a:bodyPr>
            <a:normAutofit fontScale="90000"/>
          </a:bodyPr>
          <a:lstStyle/>
          <a:p>
            <a:pPr algn="ctr" eaLnBrk="1" fontAlgn="auto" hangingPunct="1">
              <a:spcAft>
                <a:spcPts val="0"/>
              </a:spcAft>
              <a:defRPr/>
            </a:pPr>
            <a:r>
              <a:rPr lang="en-US" altLang="en-US" b="1" dirty="0">
                <a:solidFill>
                  <a:srgbClr val="00B0F0"/>
                </a:solidFill>
              </a:rPr>
              <a:t>Key Lessons/Messages from Week 10 Topic</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128E9519-0B01-C95A-EEF3-EC614D17DF55}"/>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BD5B3D2A-437E-CF22-C082-B6FC5228CFE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32</a:t>
            </a:fld>
            <a:endParaRPr lang="en-US" altLang="en-US" sz="900">
              <a:solidFill>
                <a:srgbClr val="FFFFFF"/>
              </a:solidFill>
            </a:endParaRPr>
          </a:p>
        </p:txBody>
      </p:sp>
      <p:pic>
        <p:nvPicPr>
          <p:cNvPr id="22534" name="Picture 5">
            <a:extLst>
              <a:ext uri="{FF2B5EF4-FFF2-40B4-BE49-F238E27FC236}">
                <a16:creationId xmlns:a16="http://schemas.microsoft.com/office/drawing/2014/main" id="{16EDDBC7-372B-EA2D-264D-70EAA60015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5B6B2BB8-1067-0825-D5D0-CE37805C0FF0}"/>
              </a:ext>
            </a:extLst>
          </p:cNvPr>
          <p:cNvSpPr txBox="1"/>
          <p:nvPr/>
        </p:nvSpPr>
        <p:spPr>
          <a:xfrm>
            <a:off x="36512" y="1701209"/>
            <a:ext cx="8820409" cy="5196166"/>
          </a:xfrm>
          <a:prstGeom prst="rect">
            <a:avLst/>
          </a:prstGeom>
          <a:solidFill>
            <a:schemeClr val="bg1"/>
          </a:solidFill>
        </p:spPr>
        <p:txBody>
          <a:bodyPr wrap="square">
            <a:spAutoFit/>
          </a:bodyPr>
          <a:lstStyle/>
          <a:p>
            <a:pPr>
              <a:lnSpc>
                <a:spcPct val="150000"/>
              </a:lnSpc>
            </a:pPr>
            <a:r>
              <a:rPr lang="en-US" sz="2800" b="1" dirty="0">
                <a:latin typeface="+mn-lt"/>
              </a:rPr>
              <a:t>4. Cybersecurity and privacy are major concerns in Australia</a:t>
            </a:r>
          </a:p>
          <a:p>
            <a:pPr>
              <a:lnSpc>
                <a:spcPct val="150000"/>
              </a:lnSpc>
            </a:pPr>
            <a:r>
              <a:rPr lang="en-US" sz="2800" dirty="0">
                <a:latin typeface="+mn-lt"/>
              </a:rPr>
              <a:t>Australian businesses must protect customer data and reduce cyber risks such as:</a:t>
            </a:r>
          </a:p>
          <a:p>
            <a:pPr>
              <a:lnSpc>
                <a:spcPct val="150000"/>
              </a:lnSpc>
            </a:pPr>
            <a:r>
              <a:rPr lang="en-US" sz="2800" dirty="0">
                <a:latin typeface="+mn-lt"/>
              </a:rPr>
              <a:t>- hacking, </a:t>
            </a:r>
          </a:p>
          <a:p>
            <a:pPr>
              <a:lnSpc>
                <a:spcPct val="150000"/>
              </a:lnSpc>
            </a:pPr>
            <a:r>
              <a:rPr lang="en-US" sz="2800" dirty="0">
                <a:latin typeface="+mn-lt"/>
              </a:rPr>
              <a:t>- phishing, </a:t>
            </a:r>
          </a:p>
          <a:p>
            <a:pPr>
              <a:lnSpc>
                <a:spcPct val="150000"/>
              </a:lnSpc>
            </a:pPr>
            <a:r>
              <a:rPr lang="en-US" sz="2800" dirty="0">
                <a:latin typeface="+mn-lt"/>
              </a:rPr>
              <a:t>- ransomware, </a:t>
            </a:r>
          </a:p>
          <a:p>
            <a:pPr>
              <a:lnSpc>
                <a:spcPct val="150000"/>
              </a:lnSpc>
            </a:pPr>
            <a:r>
              <a:rPr lang="en-US" sz="2800" dirty="0">
                <a:latin typeface="+mn-lt"/>
              </a:rPr>
              <a:t>- and data breaches.</a:t>
            </a:r>
          </a:p>
        </p:txBody>
      </p:sp>
    </p:spTree>
    <p:extLst>
      <p:ext uri="{BB962C8B-B14F-4D97-AF65-F5344CB8AC3E}">
        <p14:creationId xmlns:p14="http://schemas.microsoft.com/office/powerpoint/2010/main" val="30079511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84E89-0DF0-3FA4-54BE-41575B3743DF}"/>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D2B6FFDC-8B32-2197-A355-0CED14A0BAD0}"/>
              </a:ext>
            </a:extLst>
          </p:cNvPr>
          <p:cNvSpPr>
            <a:spLocks noGrp="1"/>
          </p:cNvSpPr>
          <p:nvPr>
            <p:ph type="title"/>
          </p:nvPr>
        </p:nvSpPr>
        <p:spPr>
          <a:xfrm>
            <a:off x="0" y="628650"/>
            <a:ext cx="9107488" cy="1157619"/>
          </a:xfrm>
        </p:spPr>
        <p:txBody>
          <a:bodyPr>
            <a:normAutofit fontScale="90000"/>
          </a:bodyPr>
          <a:lstStyle/>
          <a:p>
            <a:pPr algn="ctr" eaLnBrk="1" fontAlgn="auto" hangingPunct="1">
              <a:spcAft>
                <a:spcPts val="0"/>
              </a:spcAft>
              <a:defRPr/>
            </a:pPr>
            <a:r>
              <a:rPr lang="en-US" altLang="en-US" b="1" dirty="0">
                <a:solidFill>
                  <a:srgbClr val="00B0F0"/>
                </a:solidFill>
              </a:rPr>
              <a:t>Key Lessons/Messages from Week 10 Topic</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4359E92D-7F7A-3829-E792-AA176BE93A66}"/>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A0AF5FBD-E0AF-10D2-B179-EE0543DFEB6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33</a:t>
            </a:fld>
            <a:endParaRPr lang="en-US" altLang="en-US" sz="900">
              <a:solidFill>
                <a:srgbClr val="FFFFFF"/>
              </a:solidFill>
            </a:endParaRPr>
          </a:p>
        </p:txBody>
      </p:sp>
      <p:pic>
        <p:nvPicPr>
          <p:cNvPr id="22534" name="Picture 5">
            <a:extLst>
              <a:ext uri="{FF2B5EF4-FFF2-40B4-BE49-F238E27FC236}">
                <a16:creationId xmlns:a16="http://schemas.microsoft.com/office/drawing/2014/main" id="{A30DCDDF-3FF2-39A7-7DC9-09CC9AB42A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7F65AB01-4325-0EBE-63DB-4C6A8D93AEFF}"/>
              </a:ext>
            </a:extLst>
          </p:cNvPr>
          <p:cNvSpPr txBox="1"/>
          <p:nvPr/>
        </p:nvSpPr>
        <p:spPr>
          <a:xfrm>
            <a:off x="36512" y="1701209"/>
            <a:ext cx="8820409" cy="4549835"/>
          </a:xfrm>
          <a:prstGeom prst="rect">
            <a:avLst/>
          </a:prstGeom>
          <a:solidFill>
            <a:schemeClr val="bg1"/>
          </a:solidFill>
        </p:spPr>
        <p:txBody>
          <a:bodyPr wrap="square">
            <a:spAutoFit/>
          </a:bodyPr>
          <a:lstStyle/>
          <a:p>
            <a:pPr>
              <a:lnSpc>
                <a:spcPct val="150000"/>
              </a:lnSpc>
            </a:pPr>
            <a:r>
              <a:rPr lang="en-US" sz="2800" b="1" dirty="0">
                <a:latin typeface="+mn-lt"/>
              </a:rPr>
              <a:t>5. Stakeholder management is critical</a:t>
            </a:r>
          </a:p>
          <a:p>
            <a:pPr>
              <a:lnSpc>
                <a:spcPct val="150000"/>
              </a:lnSpc>
            </a:pPr>
            <a:r>
              <a:rPr lang="en-US" sz="2800" dirty="0">
                <a:latin typeface="+mn-lt"/>
              </a:rPr>
              <a:t>IT projects involve many stakeholders:</a:t>
            </a:r>
          </a:p>
          <a:p>
            <a:pPr>
              <a:lnSpc>
                <a:spcPct val="150000"/>
              </a:lnSpc>
            </a:pPr>
            <a:r>
              <a:rPr lang="en-US" sz="2800" dirty="0">
                <a:latin typeface="+mn-lt"/>
              </a:rPr>
              <a:t>- clients, </a:t>
            </a:r>
          </a:p>
          <a:p>
            <a:pPr>
              <a:lnSpc>
                <a:spcPct val="150000"/>
              </a:lnSpc>
            </a:pPr>
            <a:r>
              <a:rPr lang="en-US" sz="2800" dirty="0">
                <a:latin typeface="+mn-lt"/>
              </a:rPr>
              <a:t>- managers, </a:t>
            </a:r>
          </a:p>
          <a:p>
            <a:pPr>
              <a:lnSpc>
                <a:spcPct val="150000"/>
              </a:lnSpc>
            </a:pPr>
            <a:r>
              <a:rPr lang="en-US" sz="2800" dirty="0">
                <a:latin typeface="+mn-lt"/>
              </a:rPr>
              <a:t>- engineers, </a:t>
            </a:r>
          </a:p>
          <a:p>
            <a:pPr>
              <a:lnSpc>
                <a:spcPct val="150000"/>
              </a:lnSpc>
            </a:pPr>
            <a:r>
              <a:rPr lang="en-US" sz="2800" dirty="0">
                <a:latin typeface="+mn-lt"/>
              </a:rPr>
              <a:t>- and end users. </a:t>
            </a:r>
          </a:p>
          <a:p>
            <a:pPr>
              <a:lnSpc>
                <a:spcPct val="150000"/>
              </a:lnSpc>
            </a:pPr>
            <a:r>
              <a:rPr lang="en-US" sz="2800" dirty="0">
                <a:latin typeface="+mn-lt"/>
              </a:rPr>
              <a:t>Good communication improves project success.</a:t>
            </a:r>
          </a:p>
        </p:txBody>
      </p:sp>
    </p:spTree>
    <p:extLst>
      <p:ext uri="{BB962C8B-B14F-4D97-AF65-F5344CB8AC3E}">
        <p14:creationId xmlns:p14="http://schemas.microsoft.com/office/powerpoint/2010/main" val="36931491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02399E-E2D9-7986-B5A9-3DB011FBE36E}"/>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FF44CFF9-0E04-D675-DF8C-FC40AD3DFF61}"/>
              </a:ext>
            </a:extLst>
          </p:cNvPr>
          <p:cNvSpPr>
            <a:spLocks noGrp="1"/>
          </p:cNvSpPr>
          <p:nvPr>
            <p:ph type="title"/>
          </p:nvPr>
        </p:nvSpPr>
        <p:spPr>
          <a:xfrm>
            <a:off x="0" y="628650"/>
            <a:ext cx="9107488" cy="1157619"/>
          </a:xfrm>
        </p:spPr>
        <p:txBody>
          <a:bodyPr>
            <a:normAutofit fontScale="90000"/>
          </a:bodyPr>
          <a:lstStyle/>
          <a:p>
            <a:pPr algn="ctr" eaLnBrk="1" fontAlgn="auto" hangingPunct="1">
              <a:spcAft>
                <a:spcPts val="0"/>
              </a:spcAft>
              <a:defRPr/>
            </a:pPr>
            <a:r>
              <a:rPr lang="en-US" altLang="en-US" b="1" dirty="0">
                <a:solidFill>
                  <a:srgbClr val="00B0F0"/>
                </a:solidFill>
              </a:rPr>
              <a:t>Key Lessons/Messages from Week 10 Topic</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35D7CC50-29AA-19CF-C3E0-DE325C1DCD9E}"/>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B443B735-F32A-3522-C562-CDE7F39896C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34</a:t>
            </a:fld>
            <a:endParaRPr lang="en-US" altLang="en-US" sz="900">
              <a:solidFill>
                <a:srgbClr val="FFFFFF"/>
              </a:solidFill>
            </a:endParaRPr>
          </a:p>
        </p:txBody>
      </p:sp>
      <p:pic>
        <p:nvPicPr>
          <p:cNvPr id="22534" name="Picture 5">
            <a:extLst>
              <a:ext uri="{FF2B5EF4-FFF2-40B4-BE49-F238E27FC236}">
                <a16:creationId xmlns:a16="http://schemas.microsoft.com/office/drawing/2014/main" id="{75A642E2-46A7-9E4F-A1A6-6F48AAFFC6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FF9E77D8-922A-DF65-5F17-6CBDCE77A2BC}"/>
              </a:ext>
            </a:extLst>
          </p:cNvPr>
          <p:cNvSpPr txBox="1"/>
          <p:nvPr/>
        </p:nvSpPr>
        <p:spPr>
          <a:xfrm>
            <a:off x="36512" y="1701209"/>
            <a:ext cx="8820409" cy="4549835"/>
          </a:xfrm>
          <a:prstGeom prst="rect">
            <a:avLst/>
          </a:prstGeom>
          <a:solidFill>
            <a:schemeClr val="bg1"/>
          </a:solidFill>
        </p:spPr>
        <p:txBody>
          <a:bodyPr wrap="square">
            <a:spAutoFit/>
          </a:bodyPr>
          <a:lstStyle/>
          <a:p>
            <a:pPr>
              <a:lnSpc>
                <a:spcPct val="150000"/>
              </a:lnSpc>
            </a:pPr>
            <a:r>
              <a:rPr lang="en-US" sz="2800" b="1" dirty="0">
                <a:latin typeface="+mn-lt"/>
              </a:rPr>
              <a:t>6. Ethical decision-making is part of project management</a:t>
            </a:r>
          </a:p>
          <a:p>
            <a:pPr>
              <a:lnSpc>
                <a:spcPct val="150000"/>
              </a:lnSpc>
            </a:pPr>
            <a:r>
              <a:rPr lang="en-US" sz="2800" dirty="0">
                <a:latin typeface="+mn-lt"/>
              </a:rPr>
              <a:t>Project teams must think about:</a:t>
            </a:r>
          </a:p>
          <a:p>
            <a:pPr>
              <a:lnSpc>
                <a:spcPct val="150000"/>
              </a:lnSpc>
            </a:pPr>
            <a:r>
              <a:rPr lang="en-US" sz="2800" dirty="0">
                <a:latin typeface="+mn-lt"/>
              </a:rPr>
              <a:t>- fairness, </a:t>
            </a:r>
          </a:p>
          <a:p>
            <a:pPr>
              <a:lnSpc>
                <a:spcPct val="150000"/>
              </a:lnSpc>
            </a:pPr>
            <a:r>
              <a:rPr lang="en-US" sz="2800" dirty="0">
                <a:latin typeface="+mn-lt"/>
              </a:rPr>
              <a:t>- privacy, </a:t>
            </a:r>
          </a:p>
          <a:p>
            <a:pPr>
              <a:lnSpc>
                <a:spcPct val="150000"/>
              </a:lnSpc>
            </a:pPr>
            <a:r>
              <a:rPr lang="en-US" sz="2800" dirty="0">
                <a:latin typeface="+mn-lt"/>
              </a:rPr>
              <a:t>- accessibility, </a:t>
            </a:r>
          </a:p>
          <a:p>
            <a:pPr>
              <a:lnSpc>
                <a:spcPct val="150000"/>
              </a:lnSpc>
            </a:pPr>
            <a:r>
              <a:rPr lang="en-US" sz="2800" dirty="0">
                <a:latin typeface="+mn-lt"/>
              </a:rPr>
              <a:t>- transparency, </a:t>
            </a:r>
          </a:p>
          <a:p>
            <a:pPr>
              <a:lnSpc>
                <a:spcPct val="150000"/>
              </a:lnSpc>
            </a:pPr>
            <a:r>
              <a:rPr lang="en-US" sz="2800" dirty="0">
                <a:latin typeface="+mn-lt"/>
              </a:rPr>
              <a:t>- and responsible use of technology.</a:t>
            </a:r>
          </a:p>
        </p:txBody>
      </p:sp>
    </p:spTree>
    <p:extLst>
      <p:ext uri="{BB962C8B-B14F-4D97-AF65-F5344CB8AC3E}">
        <p14:creationId xmlns:p14="http://schemas.microsoft.com/office/powerpoint/2010/main" val="5546192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523297-428A-8BB0-DEAF-4D855E8D0FE3}"/>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1201E99A-FB14-1B35-B314-D67CEC6240DD}"/>
              </a:ext>
            </a:extLst>
          </p:cNvPr>
          <p:cNvSpPr>
            <a:spLocks noGrp="1"/>
          </p:cNvSpPr>
          <p:nvPr>
            <p:ph type="title"/>
          </p:nvPr>
        </p:nvSpPr>
        <p:spPr>
          <a:xfrm>
            <a:off x="0" y="628650"/>
            <a:ext cx="9107488" cy="1157619"/>
          </a:xfrm>
        </p:spPr>
        <p:txBody>
          <a:bodyPr>
            <a:normAutofit fontScale="90000"/>
          </a:bodyPr>
          <a:lstStyle/>
          <a:p>
            <a:pPr algn="ctr" eaLnBrk="1" fontAlgn="auto" hangingPunct="1">
              <a:spcAft>
                <a:spcPts val="0"/>
              </a:spcAft>
              <a:defRPr/>
            </a:pPr>
            <a:r>
              <a:rPr lang="en-US" altLang="en-US" b="1" dirty="0">
                <a:solidFill>
                  <a:srgbClr val="00B0F0"/>
                </a:solidFill>
              </a:rPr>
              <a:t>Key Lessons/Messages from Week 10 Topic</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8819EA33-230C-4C12-1984-31075175102D}"/>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071670F8-C58E-A0CE-C722-F54BD54F200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35</a:t>
            </a:fld>
            <a:endParaRPr lang="en-US" altLang="en-US" sz="900">
              <a:solidFill>
                <a:srgbClr val="FFFFFF"/>
              </a:solidFill>
            </a:endParaRPr>
          </a:p>
        </p:txBody>
      </p:sp>
      <p:pic>
        <p:nvPicPr>
          <p:cNvPr id="22534" name="Picture 5">
            <a:extLst>
              <a:ext uri="{FF2B5EF4-FFF2-40B4-BE49-F238E27FC236}">
                <a16:creationId xmlns:a16="http://schemas.microsoft.com/office/drawing/2014/main" id="{2B498313-1A62-F7D0-DBC4-67ED325276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E668AF23-4E1A-D684-CF02-73D61403A521}"/>
              </a:ext>
            </a:extLst>
          </p:cNvPr>
          <p:cNvSpPr txBox="1"/>
          <p:nvPr/>
        </p:nvSpPr>
        <p:spPr>
          <a:xfrm>
            <a:off x="36512" y="1701209"/>
            <a:ext cx="8820409" cy="4549835"/>
          </a:xfrm>
          <a:prstGeom prst="rect">
            <a:avLst/>
          </a:prstGeom>
          <a:solidFill>
            <a:schemeClr val="bg1"/>
          </a:solidFill>
        </p:spPr>
        <p:txBody>
          <a:bodyPr wrap="square">
            <a:spAutoFit/>
          </a:bodyPr>
          <a:lstStyle/>
          <a:p>
            <a:pPr>
              <a:lnSpc>
                <a:spcPct val="150000"/>
              </a:lnSpc>
            </a:pPr>
            <a:r>
              <a:rPr lang="en-US" sz="2800" b="1" dirty="0">
                <a:latin typeface="+mn-lt"/>
              </a:rPr>
              <a:t>7. Students should think beyond technology</a:t>
            </a:r>
          </a:p>
          <a:p>
            <a:pPr>
              <a:lnSpc>
                <a:spcPct val="150000"/>
              </a:lnSpc>
            </a:pPr>
            <a:r>
              <a:rPr lang="en-US" sz="2800" dirty="0">
                <a:latin typeface="+mn-lt"/>
              </a:rPr>
              <a:t>A successful IT solution is not only technically correct. It must also:</a:t>
            </a:r>
          </a:p>
          <a:p>
            <a:pPr>
              <a:lnSpc>
                <a:spcPct val="150000"/>
              </a:lnSpc>
            </a:pPr>
            <a:r>
              <a:rPr lang="en-US" sz="2800" dirty="0">
                <a:latin typeface="+mn-lt"/>
              </a:rPr>
              <a:t>- be secure, </a:t>
            </a:r>
          </a:p>
          <a:p>
            <a:pPr>
              <a:lnSpc>
                <a:spcPct val="150000"/>
              </a:lnSpc>
            </a:pPr>
            <a:r>
              <a:rPr lang="en-US" sz="2800" dirty="0">
                <a:latin typeface="+mn-lt"/>
              </a:rPr>
              <a:t>- ethical, </a:t>
            </a:r>
          </a:p>
          <a:p>
            <a:pPr>
              <a:lnSpc>
                <a:spcPct val="150000"/>
              </a:lnSpc>
            </a:pPr>
            <a:r>
              <a:rPr lang="en-US" sz="2800" dirty="0">
                <a:latin typeface="+mn-lt"/>
              </a:rPr>
              <a:t>- realistic, </a:t>
            </a:r>
          </a:p>
          <a:p>
            <a:pPr>
              <a:lnSpc>
                <a:spcPct val="150000"/>
              </a:lnSpc>
            </a:pPr>
            <a:r>
              <a:rPr lang="en-US" sz="2800" dirty="0">
                <a:latin typeface="+mn-lt"/>
              </a:rPr>
              <a:t>- and useful for stakeholders.</a:t>
            </a:r>
          </a:p>
        </p:txBody>
      </p:sp>
    </p:spTree>
    <p:extLst>
      <p:ext uri="{BB962C8B-B14F-4D97-AF65-F5344CB8AC3E}">
        <p14:creationId xmlns:p14="http://schemas.microsoft.com/office/powerpoint/2010/main" val="21860291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ACF82-8D91-F5A8-A8DC-FDF81DB26B95}"/>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8058F2F5-F1DF-A68E-E21F-894F826A4477}"/>
              </a:ext>
            </a:extLst>
          </p:cNvPr>
          <p:cNvSpPr>
            <a:spLocks noGrp="1"/>
          </p:cNvSpPr>
          <p:nvPr>
            <p:ph type="title"/>
          </p:nvPr>
        </p:nvSpPr>
        <p:spPr>
          <a:xfrm>
            <a:off x="0" y="628650"/>
            <a:ext cx="9107488" cy="1157619"/>
          </a:xfrm>
        </p:spPr>
        <p:txBody>
          <a:bodyPr>
            <a:normAutofit/>
          </a:bodyPr>
          <a:lstStyle/>
          <a:p>
            <a:pPr algn="ctr" eaLnBrk="1" fontAlgn="auto" hangingPunct="1">
              <a:spcAft>
                <a:spcPts val="0"/>
              </a:spcAft>
              <a:defRPr/>
            </a:pPr>
            <a:r>
              <a:rPr lang="en-US" altLang="en-US" b="1" dirty="0">
                <a:solidFill>
                  <a:srgbClr val="00B0F0"/>
                </a:solidFill>
              </a:rPr>
              <a:t>Discussion Questions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A5FCD064-6103-0FF1-40DD-A686F6EA2415}"/>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E68DCDFC-043F-0D1D-6B71-54DC28B026C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36</a:t>
            </a:fld>
            <a:endParaRPr lang="en-US" altLang="en-US" sz="900">
              <a:solidFill>
                <a:srgbClr val="FFFFFF"/>
              </a:solidFill>
            </a:endParaRPr>
          </a:p>
        </p:txBody>
      </p:sp>
      <p:pic>
        <p:nvPicPr>
          <p:cNvPr id="22534" name="Picture 5">
            <a:extLst>
              <a:ext uri="{FF2B5EF4-FFF2-40B4-BE49-F238E27FC236}">
                <a16:creationId xmlns:a16="http://schemas.microsoft.com/office/drawing/2014/main" id="{D3AD0C47-F8E1-8EBF-F029-B38F8FB094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3DF695D7-C574-2F48-C948-0FBFC7197E6E}"/>
              </a:ext>
            </a:extLst>
          </p:cNvPr>
          <p:cNvSpPr txBox="1"/>
          <p:nvPr/>
        </p:nvSpPr>
        <p:spPr>
          <a:xfrm>
            <a:off x="36512" y="1701209"/>
            <a:ext cx="8820409" cy="3903504"/>
          </a:xfrm>
          <a:prstGeom prst="rect">
            <a:avLst/>
          </a:prstGeom>
          <a:solidFill>
            <a:schemeClr val="bg1"/>
          </a:solidFill>
        </p:spPr>
        <p:txBody>
          <a:bodyPr wrap="square">
            <a:spAutoFit/>
          </a:bodyPr>
          <a:lstStyle/>
          <a:p>
            <a:pPr marL="514350" indent="-514350">
              <a:lnSpc>
                <a:spcPct val="150000"/>
              </a:lnSpc>
              <a:buAutoNum type="arabicPeriod"/>
            </a:pPr>
            <a:r>
              <a:rPr lang="en-US" sz="2800" b="1" dirty="0">
                <a:latin typeface="+mn-lt"/>
              </a:rPr>
              <a:t>Why are ethics important in IT projects?</a:t>
            </a:r>
          </a:p>
          <a:p>
            <a:pPr>
              <a:lnSpc>
                <a:spcPct val="150000"/>
              </a:lnSpc>
            </a:pPr>
            <a:r>
              <a:rPr lang="en-US" sz="2800" dirty="0">
                <a:latin typeface="+mn-lt"/>
              </a:rPr>
              <a:t>Ethics help ensure technology is used responsibly, fairly, and safely for users and </a:t>
            </a:r>
            <a:r>
              <a:rPr lang="en-US" sz="2800" dirty="0" err="1">
                <a:latin typeface="+mn-lt"/>
              </a:rPr>
              <a:t>organisations</a:t>
            </a:r>
            <a:r>
              <a:rPr lang="en-US" sz="2800" dirty="0">
                <a:latin typeface="+mn-lt"/>
              </a:rPr>
              <a:t>.</a:t>
            </a:r>
          </a:p>
          <a:p>
            <a:pPr>
              <a:lnSpc>
                <a:spcPct val="150000"/>
              </a:lnSpc>
            </a:pPr>
            <a:r>
              <a:rPr lang="en-US" sz="2800" b="1" dirty="0">
                <a:latin typeface="+mn-lt"/>
              </a:rPr>
              <a:t>2. What are some common ethical issues in IT systems?</a:t>
            </a:r>
          </a:p>
          <a:p>
            <a:pPr>
              <a:lnSpc>
                <a:spcPct val="150000"/>
              </a:lnSpc>
            </a:pPr>
            <a:r>
              <a:rPr lang="en-US" sz="2800" dirty="0">
                <a:latin typeface="+mn-lt"/>
              </a:rPr>
              <a:t>Common issues include data privacy, cybersecurity risks, AI bias, and misuse of customer information.</a:t>
            </a:r>
          </a:p>
        </p:txBody>
      </p:sp>
    </p:spTree>
    <p:extLst>
      <p:ext uri="{BB962C8B-B14F-4D97-AF65-F5344CB8AC3E}">
        <p14:creationId xmlns:p14="http://schemas.microsoft.com/office/powerpoint/2010/main" val="2314136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1000"/>
                                        <p:tgtEl>
                                          <p:spTgt spid="4">
                                            <p:txEl>
                                              <p:pRg st="1" end="1"/>
                                            </p:txEl>
                                          </p:spTgt>
                                        </p:tgtEl>
                                      </p:cBhvr>
                                    </p:animEffect>
                                    <p:anim calcmode="lin" valueType="num">
                                      <p:cBhvr>
                                        <p:cTn id="8"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3" end="3"/>
                                            </p:txEl>
                                          </p:spTgt>
                                        </p:tgtEl>
                                        <p:attrNameLst>
                                          <p:attrName>style.visibility</p:attrName>
                                        </p:attrNameLst>
                                      </p:cBhvr>
                                      <p:to>
                                        <p:strVal val="visible"/>
                                      </p:to>
                                    </p:set>
                                    <p:animEffect transition="in" filter="fade">
                                      <p:cBhvr>
                                        <p:cTn id="12" dur="1000"/>
                                        <p:tgtEl>
                                          <p:spTgt spid="4">
                                            <p:txEl>
                                              <p:pRg st="3" end="3"/>
                                            </p:txEl>
                                          </p:spTgt>
                                        </p:tgtEl>
                                      </p:cBhvr>
                                    </p:animEffect>
                                    <p:anim calcmode="lin" valueType="num">
                                      <p:cBhvr>
                                        <p:cTn id="13"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A5D75-E486-3495-4109-B9DF881DECE4}"/>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BF4798C8-4AA9-24FC-EE5F-7CD3D9572A9F}"/>
              </a:ext>
            </a:extLst>
          </p:cNvPr>
          <p:cNvSpPr>
            <a:spLocks noGrp="1"/>
          </p:cNvSpPr>
          <p:nvPr>
            <p:ph type="title"/>
          </p:nvPr>
        </p:nvSpPr>
        <p:spPr>
          <a:xfrm>
            <a:off x="0" y="628650"/>
            <a:ext cx="9107488" cy="1157619"/>
          </a:xfrm>
        </p:spPr>
        <p:txBody>
          <a:bodyPr>
            <a:normAutofit/>
          </a:bodyPr>
          <a:lstStyle/>
          <a:p>
            <a:pPr algn="ctr" eaLnBrk="1" fontAlgn="auto" hangingPunct="1">
              <a:spcAft>
                <a:spcPts val="0"/>
              </a:spcAft>
              <a:defRPr/>
            </a:pPr>
            <a:r>
              <a:rPr lang="en-US" altLang="en-US" b="1" dirty="0">
                <a:solidFill>
                  <a:srgbClr val="00B0F0"/>
                </a:solidFill>
              </a:rPr>
              <a:t>Discussion Questions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ADE34904-A62C-F792-EA55-06256CD328DB}"/>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5C4789EC-87D9-AE3B-925C-9B061ED84CD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37</a:t>
            </a:fld>
            <a:endParaRPr lang="en-US" altLang="en-US" sz="900">
              <a:solidFill>
                <a:srgbClr val="FFFFFF"/>
              </a:solidFill>
            </a:endParaRPr>
          </a:p>
        </p:txBody>
      </p:sp>
      <p:pic>
        <p:nvPicPr>
          <p:cNvPr id="22534" name="Picture 5">
            <a:extLst>
              <a:ext uri="{FF2B5EF4-FFF2-40B4-BE49-F238E27FC236}">
                <a16:creationId xmlns:a16="http://schemas.microsoft.com/office/drawing/2014/main" id="{D00FF380-B7AF-FEB4-FE26-80A29CDB4C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6465B711-98F1-4042-CCA5-B2C794A2DB4B}"/>
              </a:ext>
            </a:extLst>
          </p:cNvPr>
          <p:cNvSpPr txBox="1"/>
          <p:nvPr/>
        </p:nvSpPr>
        <p:spPr>
          <a:xfrm>
            <a:off x="36512" y="1701209"/>
            <a:ext cx="8820409" cy="5196166"/>
          </a:xfrm>
          <a:prstGeom prst="rect">
            <a:avLst/>
          </a:prstGeom>
          <a:solidFill>
            <a:schemeClr val="bg1"/>
          </a:solidFill>
        </p:spPr>
        <p:txBody>
          <a:bodyPr wrap="square">
            <a:spAutoFit/>
          </a:bodyPr>
          <a:lstStyle/>
          <a:p>
            <a:pPr>
              <a:lnSpc>
                <a:spcPct val="150000"/>
              </a:lnSpc>
            </a:pPr>
            <a:r>
              <a:rPr lang="en-US" sz="2800" b="1" dirty="0">
                <a:latin typeface="+mn-lt"/>
              </a:rPr>
              <a:t>3. What is IT governance?</a:t>
            </a:r>
          </a:p>
          <a:p>
            <a:pPr>
              <a:lnSpc>
                <a:spcPct val="150000"/>
              </a:lnSpc>
            </a:pPr>
            <a:r>
              <a:rPr lang="en-US" sz="2800" dirty="0">
                <a:latin typeface="+mn-lt"/>
              </a:rPr>
              <a:t>IT governance means managing IT systems properly to support business goals, security, and compliance.</a:t>
            </a:r>
          </a:p>
          <a:p>
            <a:pPr>
              <a:lnSpc>
                <a:spcPct val="150000"/>
              </a:lnSpc>
            </a:pPr>
            <a:r>
              <a:rPr lang="en-US" sz="2800" b="1" dirty="0">
                <a:latin typeface="+mn-lt"/>
              </a:rPr>
              <a:t>4. Why is cybersecurity important for Australian businesses?</a:t>
            </a:r>
          </a:p>
          <a:p>
            <a:pPr>
              <a:lnSpc>
                <a:spcPct val="150000"/>
              </a:lnSpc>
            </a:pPr>
            <a:r>
              <a:rPr lang="en-US" sz="2800" dirty="0">
                <a:latin typeface="+mn-lt"/>
              </a:rPr>
              <a:t>Australian businesses face cyber threats such as hacking, phishing, and ransomware, so protecting systems and customer data is very important.</a:t>
            </a:r>
          </a:p>
        </p:txBody>
      </p:sp>
    </p:spTree>
    <p:extLst>
      <p:ext uri="{BB962C8B-B14F-4D97-AF65-F5344CB8AC3E}">
        <p14:creationId xmlns:p14="http://schemas.microsoft.com/office/powerpoint/2010/main" val="2008962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1000"/>
                                        <p:tgtEl>
                                          <p:spTgt spid="4">
                                            <p:txEl>
                                              <p:pRg st="1" end="1"/>
                                            </p:txEl>
                                          </p:spTgt>
                                        </p:tgtEl>
                                      </p:cBhvr>
                                    </p:animEffect>
                                    <p:anim calcmode="lin" valueType="num">
                                      <p:cBhvr>
                                        <p:cTn id="8"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3" end="3"/>
                                            </p:txEl>
                                          </p:spTgt>
                                        </p:tgtEl>
                                        <p:attrNameLst>
                                          <p:attrName>style.visibility</p:attrName>
                                        </p:attrNameLst>
                                      </p:cBhvr>
                                      <p:to>
                                        <p:strVal val="visible"/>
                                      </p:to>
                                    </p:set>
                                    <p:animEffect transition="in" filter="fade">
                                      <p:cBhvr>
                                        <p:cTn id="12" dur="1000"/>
                                        <p:tgtEl>
                                          <p:spTgt spid="4">
                                            <p:txEl>
                                              <p:pRg st="3" end="3"/>
                                            </p:txEl>
                                          </p:spTgt>
                                        </p:tgtEl>
                                      </p:cBhvr>
                                    </p:animEffect>
                                    <p:anim calcmode="lin" valueType="num">
                                      <p:cBhvr>
                                        <p:cTn id="13"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818E38-AAA6-40BA-29B4-379F1222DA4F}"/>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BC00C704-44C5-A874-1016-7664ABAEDB99}"/>
              </a:ext>
            </a:extLst>
          </p:cNvPr>
          <p:cNvSpPr>
            <a:spLocks noGrp="1"/>
          </p:cNvSpPr>
          <p:nvPr>
            <p:ph type="title"/>
          </p:nvPr>
        </p:nvSpPr>
        <p:spPr>
          <a:xfrm>
            <a:off x="0" y="628650"/>
            <a:ext cx="9107488" cy="864065"/>
          </a:xfrm>
        </p:spPr>
        <p:txBody>
          <a:bodyPr>
            <a:normAutofit/>
          </a:bodyPr>
          <a:lstStyle/>
          <a:p>
            <a:pPr algn="ctr" eaLnBrk="1" fontAlgn="auto" hangingPunct="1">
              <a:spcAft>
                <a:spcPts val="0"/>
              </a:spcAft>
              <a:defRPr/>
            </a:pPr>
            <a:r>
              <a:rPr lang="en-US" altLang="en-US" b="1" dirty="0">
                <a:solidFill>
                  <a:srgbClr val="00B0F0"/>
                </a:solidFill>
              </a:rPr>
              <a:t>Discussion Questions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497D1ABD-B263-C8A7-73D5-A489509D6725}"/>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5E3130EF-D060-560A-DE86-365C923BE5C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38</a:t>
            </a:fld>
            <a:endParaRPr lang="en-US" altLang="en-US" sz="900">
              <a:solidFill>
                <a:srgbClr val="FFFFFF"/>
              </a:solidFill>
            </a:endParaRPr>
          </a:p>
        </p:txBody>
      </p:sp>
      <p:sp>
        <p:nvSpPr>
          <p:cNvPr id="4" name="TextBox 3">
            <a:extLst>
              <a:ext uri="{FF2B5EF4-FFF2-40B4-BE49-F238E27FC236}">
                <a16:creationId xmlns:a16="http://schemas.microsoft.com/office/drawing/2014/main" id="{D44EECE8-3E84-EEA6-02CA-482FE39ABCCC}"/>
              </a:ext>
            </a:extLst>
          </p:cNvPr>
          <p:cNvSpPr txBox="1"/>
          <p:nvPr/>
        </p:nvSpPr>
        <p:spPr>
          <a:xfrm>
            <a:off x="36512" y="1701209"/>
            <a:ext cx="8820409" cy="4549835"/>
          </a:xfrm>
          <a:prstGeom prst="rect">
            <a:avLst/>
          </a:prstGeom>
          <a:solidFill>
            <a:schemeClr val="bg1"/>
          </a:solidFill>
        </p:spPr>
        <p:txBody>
          <a:bodyPr wrap="square">
            <a:spAutoFit/>
          </a:bodyPr>
          <a:lstStyle/>
          <a:p>
            <a:pPr>
              <a:lnSpc>
                <a:spcPct val="150000"/>
              </a:lnSpc>
            </a:pPr>
            <a:r>
              <a:rPr lang="en-US" sz="2800" b="1" dirty="0">
                <a:latin typeface="+mn-lt"/>
              </a:rPr>
              <a:t>5. Who are stakeholders in an IT project?</a:t>
            </a:r>
          </a:p>
          <a:p>
            <a:pPr>
              <a:lnSpc>
                <a:spcPct val="150000"/>
              </a:lnSpc>
            </a:pPr>
            <a:r>
              <a:rPr lang="en-US" sz="2800" dirty="0">
                <a:latin typeface="+mn-lt"/>
              </a:rPr>
              <a:t>Stakeholders include clients, managers, employees, project teams, and end users affected by the project.</a:t>
            </a:r>
          </a:p>
          <a:p>
            <a:pPr>
              <a:lnSpc>
                <a:spcPct val="150000"/>
              </a:lnSpc>
            </a:pPr>
            <a:r>
              <a:rPr lang="en-US" sz="2800" b="1" dirty="0">
                <a:latin typeface="+mn-lt"/>
              </a:rPr>
              <a:t>6. Why is communication important in stakeholder management?</a:t>
            </a:r>
          </a:p>
          <a:p>
            <a:pPr>
              <a:lnSpc>
                <a:spcPct val="150000"/>
              </a:lnSpc>
            </a:pPr>
            <a:r>
              <a:rPr lang="en-US" sz="2800" dirty="0">
                <a:latin typeface="+mn-lt"/>
              </a:rPr>
              <a:t>Good communication helps reduce misunderstandings, improve trust, and keep projects running smoothly.</a:t>
            </a:r>
          </a:p>
        </p:txBody>
      </p:sp>
      <p:pic>
        <p:nvPicPr>
          <p:cNvPr id="3" name="Picture 5">
            <a:extLst>
              <a:ext uri="{FF2B5EF4-FFF2-40B4-BE49-F238E27FC236}">
                <a16:creationId xmlns:a16="http://schemas.microsoft.com/office/drawing/2014/main" id="{603D8C46-5325-D7CC-8FE0-BC910F2EAE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39345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1000"/>
                                        <p:tgtEl>
                                          <p:spTgt spid="4">
                                            <p:txEl>
                                              <p:pRg st="1" end="1"/>
                                            </p:txEl>
                                          </p:spTgt>
                                        </p:tgtEl>
                                      </p:cBhvr>
                                    </p:animEffect>
                                    <p:anim calcmode="lin" valueType="num">
                                      <p:cBhvr>
                                        <p:cTn id="8"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3" end="3"/>
                                            </p:txEl>
                                          </p:spTgt>
                                        </p:tgtEl>
                                        <p:attrNameLst>
                                          <p:attrName>style.visibility</p:attrName>
                                        </p:attrNameLst>
                                      </p:cBhvr>
                                      <p:to>
                                        <p:strVal val="visible"/>
                                      </p:to>
                                    </p:set>
                                    <p:animEffect transition="in" filter="fade">
                                      <p:cBhvr>
                                        <p:cTn id="12" dur="1000"/>
                                        <p:tgtEl>
                                          <p:spTgt spid="4">
                                            <p:txEl>
                                              <p:pRg st="3" end="3"/>
                                            </p:txEl>
                                          </p:spTgt>
                                        </p:tgtEl>
                                      </p:cBhvr>
                                    </p:animEffect>
                                    <p:anim calcmode="lin" valueType="num">
                                      <p:cBhvr>
                                        <p:cTn id="13"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EF859-67BE-8EEE-CB81-79CC18311136}"/>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CECEA082-5A6B-BE02-BB6D-90691F9F130D}"/>
              </a:ext>
            </a:extLst>
          </p:cNvPr>
          <p:cNvSpPr>
            <a:spLocks noGrp="1"/>
          </p:cNvSpPr>
          <p:nvPr>
            <p:ph type="title"/>
          </p:nvPr>
        </p:nvSpPr>
        <p:spPr>
          <a:xfrm>
            <a:off x="0" y="628651"/>
            <a:ext cx="9107488" cy="934336"/>
          </a:xfrm>
        </p:spPr>
        <p:txBody>
          <a:bodyPr>
            <a:normAutofit/>
          </a:bodyPr>
          <a:lstStyle/>
          <a:p>
            <a:pPr algn="ctr" eaLnBrk="1" fontAlgn="auto" hangingPunct="1">
              <a:spcAft>
                <a:spcPts val="0"/>
              </a:spcAft>
              <a:defRPr/>
            </a:pPr>
            <a:r>
              <a:rPr lang="en-US" altLang="en-US" b="1" dirty="0">
                <a:solidFill>
                  <a:srgbClr val="00B0F0"/>
                </a:solidFill>
              </a:rPr>
              <a:t>Discussion Questions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4D8AB1C3-BD63-1811-7239-29A6E49A94DF}"/>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40EEF72B-41DC-ED01-B381-EEEED36E730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39</a:t>
            </a:fld>
            <a:endParaRPr lang="en-US" altLang="en-US" sz="900">
              <a:solidFill>
                <a:srgbClr val="FFFFFF"/>
              </a:solidFill>
            </a:endParaRPr>
          </a:p>
        </p:txBody>
      </p:sp>
      <p:sp>
        <p:nvSpPr>
          <p:cNvPr id="4" name="TextBox 3">
            <a:extLst>
              <a:ext uri="{FF2B5EF4-FFF2-40B4-BE49-F238E27FC236}">
                <a16:creationId xmlns:a16="http://schemas.microsoft.com/office/drawing/2014/main" id="{D1155534-2CBD-9875-A227-3245FDA92F63}"/>
              </a:ext>
            </a:extLst>
          </p:cNvPr>
          <p:cNvSpPr txBox="1"/>
          <p:nvPr/>
        </p:nvSpPr>
        <p:spPr>
          <a:xfrm>
            <a:off x="36512" y="1562986"/>
            <a:ext cx="9070976" cy="4549835"/>
          </a:xfrm>
          <a:prstGeom prst="rect">
            <a:avLst/>
          </a:prstGeom>
          <a:solidFill>
            <a:schemeClr val="bg1"/>
          </a:solidFill>
        </p:spPr>
        <p:txBody>
          <a:bodyPr wrap="square">
            <a:spAutoFit/>
          </a:bodyPr>
          <a:lstStyle/>
          <a:p>
            <a:pPr>
              <a:lnSpc>
                <a:spcPct val="150000"/>
              </a:lnSpc>
            </a:pPr>
            <a:r>
              <a:rPr lang="en-US" sz="2800" b="1" dirty="0">
                <a:latin typeface="+mn-lt"/>
              </a:rPr>
              <a:t>7. Give one example of an ethical solution for an AI system.</a:t>
            </a:r>
          </a:p>
          <a:p>
            <a:pPr>
              <a:lnSpc>
                <a:spcPct val="150000"/>
              </a:lnSpc>
            </a:pPr>
            <a:r>
              <a:rPr lang="en-US" sz="2800" dirty="0">
                <a:latin typeface="+mn-lt"/>
              </a:rPr>
              <a:t>Adding human review and protecting user data with encryption are examples of ethical solutions.</a:t>
            </a:r>
          </a:p>
          <a:p>
            <a:pPr>
              <a:lnSpc>
                <a:spcPct val="150000"/>
              </a:lnSpc>
            </a:pPr>
            <a:r>
              <a:rPr lang="en-US" sz="2800" b="1" dirty="0">
                <a:latin typeface="+mn-lt"/>
              </a:rPr>
              <a:t>8. How can NSW IT Support improve stakeholder relationships?</a:t>
            </a:r>
          </a:p>
          <a:p>
            <a:pPr>
              <a:lnSpc>
                <a:spcPct val="150000"/>
              </a:lnSpc>
            </a:pPr>
            <a:r>
              <a:rPr lang="en-US" sz="2800" dirty="0">
                <a:latin typeface="+mn-lt"/>
              </a:rPr>
              <a:t>They can improve communication, provide regular updates, listen to client feedback, and explain technical issues clearly.</a:t>
            </a:r>
          </a:p>
        </p:txBody>
      </p:sp>
      <p:pic>
        <p:nvPicPr>
          <p:cNvPr id="3" name="Picture 5">
            <a:extLst>
              <a:ext uri="{FF2B5EF4-FFF2-40B4-BE49-F238E27FC236}">
                <a16:creationId xmlns:a16="http://schemas.microsoft.com/office/drawing/2014/main" id="{351B8D74-B551-857E-940C-CE283150F4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88879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1000"/>
                                        <p:tgtEl>
                                          <p:spTgt spid="4">
                                            <p:txEl>
                                              <p:pRg st="1" end="1"/>
                                            </p:txEl>
                                          </p:spTgt>
                                        </p:tgtEl>
                                      </p:cBhvr>
                                    </p:animEffect>
                                    <p:anim calcmode="lin" valueType="num">
                                      <p:cBhvr>
                                        <p:cTn id="8"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3" end="3"/>
                                            </p:txEl>
                                          </p:spTgt>
                                        </p:tgtEl>
                                        <p:attrNameLst>
                                          <p:attrName>style.visibility</p:attrName>
                                        </p:attrNameLst>
                                      </p:cBhvr>
                                      <p:to>
                                        <p:strVal val="visible"/>
                                      </p:to>
                                    </p:set>
                                    <p:animEffect transition="in" filter="fade">
                                      <p:cBhvr>
                                        <p:cTn id="12" dur="1000"/>
                                        <p:tgtEl>
                                          <p:spTgt spid="4">
                                            <p:txEl>
                                              <p:pRg st="3" end="3"/>
                                            </p:txEl>
                                          </p:spTgt>
                                        </p:tgtEl>
                                      </p:cBhvr>
                                    </p:animEffect>
                                    <p:anim calcmode="lin" valueType="num">
                                      <p:cBhvr>
                                        <p:cTn id="13"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190BDBBE-2518-4DC2-A8A5-7B1347851768}"/>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10 Pre-Class Readings</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11F364B8-9E55-4D33-84A1-D572CD6C3E86}"/>
              </a:ext>
            </a:extLst>
          </p:cNvPr>
          <p:cNvSpPr>
            <a:spLocks noGrp="1" noChangeArrowheads="1"/>
          </p:cNvSpPr>
          <p:nvPr>
            <p:ph idx="1"/>
          </p:nvPr>
        </p:nvSpPr>
        <p:spPr>
          <a:xfrm>
            <a:off x="558006" y="1835151"/>
            <a:ext cx="8027988" cy="3776662"/>
          </a:xfrm>
        </p:spPr>
        <p:txBody>
          <a:bodyPr/>
          <a:lstStyle/>
          <a:p>
            <a:pPr algn="l"/>
            <a:endParaRPr lang="en-AU" sz="2400" b="0" i="0" u="none" strike="noStrike" baseline="0" dirty="0">
              <a:solidFill>
                <a:srgbClr val="000000"/>
              </a:solidFill>
              <a:latin typeface="Arial" panose="020B0604020202020204" pitchFamily="34" charset="0"/>
            </a:endParaRPr>
          </a:p>
          <a:p>
            <a:r>
              <a:rPr lang="en-AU" sz="2400" b="0" i="0" u="none" strike="noStrike" baseline="0" dirty="0">
                <a:solidFill>
                  <a:srgbClr val="4B1858"/>
                </a:solidFill>
                <a:highlight>
                  <a:srgbClr val="FFFF00"/>
                </a:highlight>
                <a:latin typeface="Arial" panose="020B0604020202020204" pitchFamily="34" charset="0"/>
              </a:rPr>
              <a:t>YouTube Video (Please review in 10 minutes): </a:t>
            </a:r>
          </a:p>
          <a:p>
            <a:endParaRPr lang="en-AU" sz="2400" b="0" i="0" u="none" strike="noStrike" baseline="0" dirty="0">
              <a:solidFill>
                <a:srgbClr val="4B1858"/>
              </a:solidFill>
              <a:highlight>
                <a:srgbClr val="FFFF00"/>
              </a:highlight>
              <a:latin typeface="Arial" panose="020B0604020202020204" pitchFamily="34" charset="0"/>
            </a:endParaRPr>
          </a:p>
          <a:p>
            <a:r>
              <a:rPr lang="en-AU" sz="2400" dirty="0">
                <a:solidFill>
                  <a:srgbClr val="4B1858"/>
                </a:solidFill>
                <a:latin typeface="Arial" panose="020B0604020202020204" pitchFamily="34" charset="0"/>
              </a:rPr>
              <a:t>Importance of ethics in Project Management:</a:t>
            </a:r>
          </a:p>
          <a:p>
            <a:r>
              <a:rPr lang="en-AU" sz="2400" dirty="0">
                <a:solidFill>
                  <a:srgbClr val="4B1858"/>
                </a:solidFill>
                <a:latin typeface="Arial" panose="020B0604020202020204" pitchFamily="34" charset="0"/>
                <a:hlinkClick r:id="rId2"/>
              </a:rPr>
              <a:t>https://www.youtube.com/watch?v=TSg0U8xIukY</a:t>
            </a:r>
            <a:endParaRPr lang="en-AU" sz="2400" dirty="0">
              <a:solidFill>
                <a:srgbClr val="4B1858"/>
              </a:solidFill>
              <a:latin typeface="Arial" panose="020B0604020202020204" pitchFamily="34" charset="0"/>
            </a:endParaRPr>
          </a:p>
          <a:p>
            <a:endParaRPr lang="en-AU" sz="3600" dirty="0">
              <a:effectLst/>
              <a:latin typeface="Times New Roman" panose="02020603050405020304" pitchFamily="18" charset="0"/>
              <a:ea typeface="Times New Roman" panose="02020603050405020304" pitchFamily="18" charset="0"/>
            </a:endParaRPr>
          </a:p>
        </p:txBody>
      </p:sp>
      <p:sp>
        <p:nvSpPr>
          <p:cNvPr id="2" name="Footer Placeholder 1">
            <a:extLst>
              <a:ext uri="{FF2B5EF4-FFF2-40B4-BE49-F238E27FC236}">
                <a16:creationId xmlns:a16="http://schemas.microsoft.com/office/drawing/2014/main" id="{72275A1D-7D1B-4E23-BF1C-0D30325F6EE6}"/>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FCD4B073-C5ED-4E44-934B-45E8993DC62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40</a:t>
            </a:fld>
            <a:endParaRPr lang="en-US" altLang="en-US" sz="900">
              <a:solidFill>
                <a:srgbClr val="FFFFFF"/>
              </a:solidFill>
            </a:endParaRPr>
          </a:p>
        </p:txBody>
      </p:sp>
      <p:pic>
        <p:nvPicPr>
          <p:cNvPr id="22534" name="Picture 5">
            <a:extLst>
              <a:ext uri="{FF2B5EF4-FFF2-40B4-BE49-F238E27FC236}">
                <a16:creationId xmlns:a16="http://schemas.microsoft.com/office/drawing/2014/main" id="{4B818E69-D4FE-4429-A5A7-24A6C8A089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976007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FA89E-B210-D9E9-2EF7-E00EDFE24308}"/>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1B0670CD-9D26-3203-995C-12D1D2933F4C}"/>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10 Pre-Class Readings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A3BCC917-B4B0-DEFB-11FE-0A450BBBEDC3}"/>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A72BD385-00D8-FAC8-A03E-4400E817D99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41</a:t>
            </a:fld>
            <a:endParaRPr lang="en-US" altLang="en-US" sz="900">
              <a:solidFill>
                <a:srgbClr val="FFFFFF"/>
              </a:solidFill>
            </a:endParaRPr>
          </a:p>
        </p:txBody>
      </p:sp>
      <p:pic>
        <p:nvPicPr>
          <p:cNvPr id="22534" name="Picture 5">
            <a:extLst>
              <a:ext uri="{FF2B5EF4-FFF2-40B4-BE49-F238E27FC236}">
                <a16:creationId xmlns:a16="http://schemas.microsoft.com/office/drawing/2014/main" id="{8EA7B8E6-4E77-F572-6BA8-EA65CC457F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F70D6F75-228D-A9FD-C6F9-C4F43EF36760}"/>
              </a:ext>
            </a:extLst>
          </p:cNvPr>
          <p:cNvSpPr txBox="1"/>
          <p:nvPr/>
        </p:nvSpPr>
        <p:spPr>
          <a:xfrm>
            <a:off x="0" y="1476375"/>
            <a:ext cx="9144000" cy="5196166"/>
          </a:xfrm>
          <a:prstGeom prst="rect">
            <a:avLst/>
          </a:prstGeom>
          <a:solidFill>
            <a:schemeClr val="bg1"/>
          </a:solidFill>
        </p:spPr>
        <p:txBody>
          <a:bodyPr wrap="square">
            <a:spAutoFit/>
          </a:bodyPr>
          <a:lstStyle/>
          <a:p>
            <a:pPr>
              <a:lnSpc>
                <a:spcPct val="150000"/>
              </a:lnSpc>
              <a:buNone/>
            </a:pPr>
            <a:r>
              <a:rPr lang="en-US" sz="2800" b="1" dirty="0">
                <a:latin typeface="+mn-lt"/>
              </a:rPr>
              <a:t>Key lessons/messages from the video: Ethics in Project Management</a:t>
            </a:r>
          </a:p>
          <a:p>
            <a:pPr>
              <a:lnSpc>
                <a:spcPct val="150000"/>
              </a:lnSpc>
              <a:buNone/>
            </a:pPr>
            <a:r>
              <a:rPr lang="en-US" sz="2800" b="1" dirty="0">
                <a:latin typeface="+mn-lt"/>
              </a:rPr>
              <a:t>1. Ethics is very important in project management</a:t>
            </a:r>
          </a:p>
          <a:p>
            <a:pPr>
              <a:lnSpc>
                <a:spcPct val="150000"/>
              </a:lnSpc>
              <a:buNone/>
            </a:pPr>
            <a:r>
              <a:rPr lang="en-US" sz="2800" dirty="0">
                <a:latin typeface="+mn-lt"/>
              </a:rPr>
              <a:t>Project managers should make fair, honest, and responsible decisions.</a:t>
            </a:r>
          </a:p>
          <a:p>
            <a:pPr>
              <a:lnSpc>
                <a:spcPct val="150000"/>
              </a:lnSpc>
              <a:buNone/>
            </a:pPr>
            <a:r>
              <a:rPr lang="en-US" sz="2800" b="1" dirty="0">
                <a:latin typeface="+mn-lt"/>
              </a:rPr>
              <a:t>2. A project manager should not be a “bad cop”</a:t>
            </a:r>
          </a:p>
          <a:p>
            <a:pPr>
              <a:lnSpc>
                <a:spcPct val="150000"/>
              </a:lnSpc>
              <a:buNone/>
            </a:pPr>
            <a:r>
              <a:rPr lang="en-US" sz="2800" dirty="0">
                <a:latin typeface="+mn-lt"/>
              </a:rPr>
              <a:t>Some people think project managers must shout, pressure people, or act harshly. The video explains this is wrong.</a:t>
            </a:r>
          </a:p>
        </p:txBody>
      </p:sp>
    </p:spTree>
    <p:extLst>
      <p:ext uri="{BB962C8B-B14F-4D97-AF65-F5344CB8AC3E}">
        <p14:creationId xmlns:p14="http://schemas.microsoft.com/office/powerpoint/2010/main" val="12369557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F9993-A34B-04B6-3BD3-9E3D7198274D}"/>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E4FB99AB-8071-F900-3495-5F4102D8E87F}"/>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10 Pre-Class Readings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0499EDE7-90DA-37AC-65DA-A511093C5DB8}"/>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5E62F57A-0901-C824-3743-DE7DC2ADA49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42</a:t>
            </a:fld>
            <a:endParaRPr lang="en-US" altLang="en-US" sz="900">
              <a:solidFill>
                <a:srgbClr val="FFFFFF"/>
              </a:solidFill>
            </a:endParaRPr>
          </a:p>
        </p:txBody>
      </p:sp>
      <p:pic>
        <p:nvPicPr>
          <p:cNvPr id="22534" name="Picture 5">
            <a:extLst>
              <a:ext uri="{FF2B5EF4-FFF2-40B4-BE49-F238E27FC236}">
                <a16:creationId xmlns:a16="http://schemas.microsoft.com/office/drawing/2014/main" id="{50DE22AE-F7C2-7882-AA62-2694853805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95BBEE5A-0FD9-8CD5-BEA8-62104F05896D}"/>
              </a:ext>
            </a:extLst>
          </p:cNvPr>
          <p:cNvSpPr txBox="1"/>
          <p:nvPr/>
        </p:nvSpPr>
        <p:spPr>
          <a:xfrm>
            <a:off x="0" y="1476375"/>
            <a:ext cx="9144000" cy="3903504"/>
          </a:xfrm>
          <a:prstGeom prst="rect">
            <a:avLst/>
          </a:prstGeom>
          <a:solidFill>
            <a:schemeClr val="bg1"/>
          </a:solidFill>
        </p:spPr>
        <p:txBody>
          <a:bodyPr wrap="square">
            <a:spAutoFit/>
          </a:bodyPr>
          <a:lstStyle/>
          <a:p>
            <a:pPr>
              <a:lnSpc>
                <a:spcPct val="150000"/>
              </a:lnSpc>
            </a:pPr>
            <a:r>
              <a:rPr lang="en-US" sz="2800" b="1" dirty="0">
                <a:latin typeface="+mn-lt"/>
              </a:rPr>
              <a:t>3. A good project manager should be neutral</a:t>
            </a:r>
          </a:p>
          <a:p>
            <a:pPr>
              <a:lnSpc>
                <a:spcPct val="150000"/>
              </a:lnSpc>
            </a:pPr>
            <a:r>
              <a:rPr lang="en-US" sz="2800" dirty="0">
                <a:latin typeface="+mn-lt"/>
              </a:rPr>
              <a:t>A project manager should not take sides. They should make unbiased decisions based on facts.</a:t>
            </a:r>
          </a:p>
          <a:p>
            <a:pPr>
              <a:lnSpc>
                <a:spcPct val="150000"/>
              </a:lnSpc>
            </a:pPr>
            <a:r>
              <a:rPr lang="en-US" sz="2800" b="1" dirty="0">
                <a:latin typeface="+mn-lt"/>
              </a:rPr>
              <a:t>4. Bribery is always wrong</a:t>
            </a:r>
          </a:p>
          <a:p>
            <a:pPr>
              <a:lnSpc>
                <a:spcPct val="150000"/>
              </a:lnSpc>
            </a:pPr>
            <a:r>
              <a:rPr lang="en-US" sz="2800" dirty="0">
                <a:latin typeface="+mn-lt"/>
              </a:rPr>
              <a:t>Even if bribery helps finish a project on time, it is still unethical and should not be accepted.</a:t>
            </a:r>
          </a:p>
        </p:txBody>
      </p:sp>
    </p:spTree>
    <p:extLst>
      <p:ext uri="{BB962C8B-B14F-4D97-AF65-F5344CB8AC3E}">
        <p14:creationId xmlns:p14="http://schemas.microsoft.com/office/powerpoint/2010/main" val="374882901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0A18A-94D7-4DC7-78B4-0AF6D7B7BEEE}"/>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02161DFE-E399-69F8-6FEF-45511625D024}"/>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10 Pre-Class Readings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06B24D1D-D264-6F49-6A4C-9E55087D864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C8F1CB7A-ADCC-0B3B-0E8D-72715D43334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43</a:t>
            </a:fld>
            <a:endParaRPr lang="en-US" altLang="en-US" sz="900">
              <a:solidFill>
                <a:srgbClr val="FFFFFF"/>
              </a:solidFill>
            </a:endParaRPr>
          </a:p>
        </p:txBody>
      </p:sp>
      <p:pic>
        <p:nvPicPr>
          <p:cNvPr id="22534" name="Picture 5">
            <a:extLst>
              <a:ext uri="{FF2B5EF4-FFF2-40B4-BE49-F238E27FC236}">
                <a16:creationId xmlns:a16="http://schemas.microsoft.com/office/drawing/2014/main" id="{2748B5AE-C7F2-167D-00F5-709F6CC07E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9D027BFB-172A-8F64-5579-7AC2D20CB099}"/>
              </a:ext>
            </a:extLst>
          </p:cNvPr>
          <p:cNvSpPr txBox="1"/>
          <p:nvPr/>
        </p:nvSpPr>
        <p:spPr>
          <a:xfrm>
            <a:off x="0" y="1476375"/>
            <a:ext cx="9144000" cy="3903504"/>
          </a:xfrm>
          <a:prstGeom prst="rect">
            <a:avLst/>
          </a:prstGeom>
          <a:solidFill>
            <a:schemeClr val="bg1"/>
          </a:solidFill>
        </p:spPr>
        <p:txBody>
          <a:bodyPr wrap="square">
            <a:spAutoFit/>
          </a:bodyPr>
          <a:lstStyle/>
          <a:p>
            <a:pPr>
              <a:lnSpc>
                <a:spcPct val="150000"/>
              </a:lnSpc>
            </a:pPr>
            <a:r>
              <a:rPr lang="en-US" sz="2800" b="1" dirty="0">
                <a:latin typeface="+mn-lt"/>
              </a:rPr>
              <a:t>5. </a:t>
            </a:r>
            <a:r>
              <a:rPr lang="en-US" sz="2800" b="1" dirty="0" err="1">
                <a:latin typeface="+mn-lt"/>
              </a:rPr>
              <a:t>Favouritism</a:t>
            </a:r>
            <a:r>
              <a:rPr lang="en-US" sz="2800" b="1" dirty="0">
                <a:latin typeface="+mn-lt"/>
              </a:rPr>
              <a:t> is also unethical</a:t>
            </a:r>
          </a:p>
          <a:p>
            <a:pPr>
              <a:lnSpc>
                <a:spcPct val="150000"/>
              </a:lnSpc>
            </a:pPr>
            <a:r>
              <a:rPr lang="en-US" sz="2800" dirty="0">
                <a:latin typeface="+mn-lt"/>
              </a:rPr>
              <a:t>Giving benefits or contracts to friends instead of the best person or company is unfair.</a:t>
            </a:r>
          </a:p>
          <a:p>
            <a:pPr>
              <a:lnSpc>
                <a:spcPct val="150000"/>
              </a:lnSpc>
            </a:pPr>
            <a:r>
              <a:rPr lang="en-US" sz="2800" b="1" dirty="0">
                <a:latin typeface="+mn-lt"/>
              </a:rPr>
              <a:t>6. Ethics builds trust</a:t>
            </a:r>
          </a:p>
          <a:p>
            <a:pPr>
              <a:lnSpc>
                <a:spcPct val="150000"/>
              </a:lnSpc>
            </a:pPr>
            <a:r>
              <a:rPr lang="en-US" sz="2800" dirty="0">
                <a:latin typeface="+mn-lt"/>
              </a:rPr>
              <a:t>When project managers are honest and fair, stakeholders trust them more.</a:t>
            </a:r>
          </a:p>
        </p:txBody>
      </p:sp>
    </p:spTree>
    <p:extLst>
      <p:ext uri="{BB962C8B-B14F-4D97-AF65-F5344CB8AC3E}">
        <p14:creationId xmlns:p14="http://schemas.microsoft.com/office/powerpoint/2010/main" val="21663988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D5E0C-987A-7C29-4996-EE27EAF4E03F}"/>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54252C60-675E-82F1-2A57-43D8061B456D}"/>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10 Pre-Class Readings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33D03ADE-C0D1-5E41-5001-39E07F5DEA20}"/>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325E1A8B-6B5F-13BF-5322-B7C15053817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44</a:t>
            </a:fld>
            <a:endParaRPr lang="en-US" altLang="en-US" sz="900">
              <a:solidFill>
                <a:srgbClr val="FFFFFF"/>
              </a:solidFill>
            </a:endParaRPr>
          </a:p>
        </p:txBody>
      </p:sp>
      <p:pic>
        <p:nvPicPr>
          <p:cNvPr id="22534" name="Picture 5">
            <a:extLst>
              <a:ext uri="{FF2B5EF4-FFF2-40B4-BE49-F238E27FC236}">
                <a16:creationId xmlns:a16="http://schemas.microsoft.com/office/drawing/2014/main" id="{57EC72DC-FFD8-E037-FB5F-DA169DF49F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7DFF94AC-14F6-9289-4DA4-69247D817E3D}"/>
              </a:ext>
            </a:extLst>
          </p:cNvPr>
          <p:cNvSpPr txBox="1"/>
          <p:nvPr/>
        </p:nvSpPr>
        <p:spPr>
          <a:xfrm>
            <a:off x="0" y="1476375"/>
            <a:ext cx="9144000" cy="3903504"/>
          </a:xfrm>
          <a:prstGeom prst="rect">
            <a:avLst/>
          </a:prstGeom>
          <a:solidFill>
            <a:schemeClr val="bg1"/>
          </a:solidFill>
        </p:spPr>
        <p:txBody>
          <a:bodyPr wrap="square">
            <a:spAutoFit/>
          </a:bodyPr>
          <a:lstStyle/>
          <a:p>
            <a:pPr>
              <a:lnSpc>
                <a:spcPct val="150000"/>
              </a:lnSpc>
            </a:pPr>
            <a:r>
              <a:rPr lang="en-US" sz="2800" b="1" dirty="0">
                <a:latin typeface="+mn-lt"/>
              </a:rPr>
              <a:t>7. Ethics improves business relationships</a:t>
            </a:r>
          </a:p>
          <a:p>
            <a:pPr>
              <a:lnSpc>
                <a:spcPct val="150000"/>
              </a:lnSpc>
            </a:pPr>
            <a:r>
              <a:rPr lang="en-US" sz="2800" dirty="0">
                <a:latin typeface="+mn-lt"/>
              </a:rPr>
              <a:t>Clients and partners are more likely to work again with people who act professionally and honestly.</a:t>
            </a:r>
          </a:p>
          <a:p>
            <a:pPr>
              <a:lnSpc>
                <a:spcPct val="150000"/>
              </a:lnSpc>
            </a:pPr>
            <a:r>
              <a:rPr lang="en-US" sz="2800" b="1" dirty="0">
                <a:latin typeface="+mn-lt"/>
              </a:rPr>
              <a:t>8. Ethical decisions reduce project risk</a:t>
            </a:r>
          </a:p>
          <a:p>
            <a:pPr>
              <a:lnSpc>
                <a:spcPct val="150000"/>
              </a:lnSpc>
            </a:pPr>
            <a:r>
              <a:rPr lang="en-US" sz="2800" dirty="0">
                <a:latin typeface="+mn-lt"/>
              </a:rPr>
              <a:t>When problems are openly discussed and not hidden, the project becomes safer and easier to manage.</a:t>
            </a:r>
          </a:p>
        </p:txBody>
      </p:sp>
    </p:spTree>
    <p:extLst>
      <p:ext uri="{BB962C8B-B14F-4D97-AF65-F5344CB8AC3E}">
        <p14:creationId xmlns:p14="http://schemas.microsoft.com/office/powerpoint/2010/main" val="41285455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3B68F-2B73-6B39-56A9-B6CDCD54A318}"/>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72140677-521C-5C39-9C1E-32B128FEA509}"/>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10 Pre-Class Readings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AAC6EF89-50D3-E12B-B9A4-C5BD0CBB058B}"/>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A0A36DCC-24BF-4AEF-9A3C-61BFC786AD9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45</a:t>
            </a:fld>
            <a:endParaRPr lang="en-US" altLang="en-US" sz="900">
              <a:solidFill>
                <a:srgbClr val="FFFFFF"/>
              </a:solidFill>
            </a:endParaRPr>
          </a:p>
        </p:txBody>
      </p:sp>
      <p:pic>
        <p:nvPicPr>
          <p:cNvPr id="22534" name="Picture 5">
            <a:extLst>
              <a:ext uri="{FF2B5EF4-FFF2-40B4-BE49-F238E27FC236}">
                <a16:creationId xmlns:a16="http://schemas.microsoft.com/office/drawing/2014/main" id="{CBA191D3-DDC3-C3E4-7EB3-E459918B71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F9580A63-17CE-133F-EC96-D73493CD9254}"/>
              </a:ext>
            </a:extLst>
          </p:cNvPr>
          <p:cNvSpPr txBox="1"/>
          <p:nvPr/>
        </p:nvSpPr>
        <p:spPr>
          <a:xfrm>
            <a:off x="0" y="1476375"/>
            <a:ext cx="9144000" cy="4549835"/>
          </a:xfrm>
          <a:prstGeom prst="rect">
            <a:avLst/>
          </a:prstGeom>
          <a:solidFill>
            <a:schemeClr val="bg1"/>
          </a:solidFill>
        </p:spPr>
        <p:txBody>
          <a:bodyPr wrap="square">
            <a:spAutoFit/>
          </a:bodyPr>
          <a:lstStyle/>
          <a:p>
            <a:pPr>
              <a:lnSpc>
                <a:spcPct val="150000"/>
              </a:lnSpc>
            </a:pPr>
            <a:r>
              <a:rPr lang="en-US" sz="2800" b="1" dirty="0">
                <a:latin typeface="+mn-lt"/>
              </a:rPr>
              <a:t>9. Doing the right thing leads to better results</a:t>
            </a:r>
          </a:p>
          <a:p>
            <a:pPr>
              <a:lnSpc>
                <a:spcPct val="150000"/>
              </a:lnSpc>
            </a:pPr>
            <a:r>
              <a:rPr lang="en-US" sz="2800" dirty="0">
                <a:latin typeface="+mn-lt"/>
              </a:rPr>
              <a:t>Unethical actions may create stress, conflict, and project failure. Ethical actions support long-term success.</a:t>
            </a:r>
          </a:p>
          <a:p>
            <a:pPr>
              <a:lnSpc>
                <a:spcPct val="150000"/>
              </a:lnSpc>
            </a:pPr>
            <a:r>
              <a:rPr lang="en-US" sz="2800" b="1" dirty="0">
                <a:latin typeface="+mn-lt"/>
              </a:rPr>
              <a:t>10. Main lesson</a:t>
            </a:r>
          </a:p>
          <a:p>
            <a:pPr>
              <a:lnSpc>
                <a:spcPct val="150000"/>
              </a:lnSpc>
            </a:pPr>
            <a:r>
              <a:rPr lang="en-US" sz="2800" dirty="0">
                <a:latin typeface="+mn-lt"/>
              </a:rPr>
              <a:t>A successful project manager is not just someone who finishes the project. A successful project manager completes the project in a fair, honest, and ethical way.</a:t>
            </a:r>
          </a:p>
        </p:txBody>
      </p:sp>
    </p:spTree>
    <p:extLst>
      <p:ext uri="{BB962C8B-B14F-4D97-AF65-F5344CB8AC3E}">
        <p14:creationId xmlns:p14="http://schemas.microsoft.com/office/powerpoint/2010/main" val="15834949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C09CF-3135-356D-B70C-3887F3A6841C}"/>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00ABC620-B656-616D-8EDE-0F294AA19D4B}"/>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Discussion Questions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4EFE3A88-3227-580D-B379-912FF43CAA5D}"/>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B5B281A7-7F4E-B25F-0E80-1408AF5CA35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46</a:t>
            </a:fld>
            <a:endParaRPr lang="en-US" altLang="en-US" sz="900">
              <a:solidFill>
                <a:srgbClr val="FFFFFF"/>
              </a:solidFill>
            </a:endParaRPr>
          </a:p>
        </p:txBody>
      </p:sp>
      <p:pic>
        <p:nvPicPr>
          <p:cNvPr id="22534" name="Picture 5">
            <a:extLst>
              <a:ext uri="{FF2B5EF4-FFF2-40B4-BE49-F238E27FC236}">
                <a16:creationId xmlns:a16="http://schemas.microsoft.com/office/drawing/2014/main" id="{55303EB1-9597-4746-3607-7BEED53286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DE9C82D7-3A85-106C-7FBC-6CB09D5591A3}"/>
              </a:ext>
            </a:extLst>
          </p:cNvPr>
          <p:cNvSpPr txBox="1"/>
          <p:nvPr/>
        </p:nvSpPr>
        <p:spPr>
          <a:xfrm>
            <a:off x="0" y="1476375"/>
            <a:ext cx="9144000" cy="4549835"/>
          </a:xfrm>
          <a:prstGeom prst="rect">
            <a:avLst/>
          </a:prstGeom>
          <a:solidFill>
            <a:schemeClr val="bg1"/>
          </a:solidFill>
        </p:spPr>
        <p:txBody>
          <a:bodyPr wrap="square">
            <a:spAutoFit/>
          </a:bodyPr>
          <a:lstStyle/>
          <a:p>
            <a:pPr>
              <a:lnSpc>
                <a:spcPct val="150000"/>
              </a:lnSpc>
            </a:pPr>
            <a:r>
              <a:rPr lang="en-US" sz="2800" b="1" dirty="0">
                <a:latin typeface="+mn-lt"/>
              </a:rPr>
              <a:t>1. Why is ethics important in project management?</a:t>
            </a:r>
          </a:p>
          <a:p>
            <a:pPr>
              <a:lnSpc>
                <a:spcPct val="150000"/>
              </a:lnSpc>
            </a:pPr>
            <a:r>
              <a:rPr lang="en-US" sz="2800" dirty="0">
                <a:latin typeface="+mn-lt"/>
              </a:rPr>
              <a:t>Ethics helps project managers make honest, fair, and responsible decisions.</a:t>
            </a:r>
          </a:p>
          <a:p>
            <a:pPr>
              <a:lnSpc>
                <a:spcPct val="150000"/>
              </a:lnSpc>
            </a:pPr>
            <a:r>
              <a:rPr lang="en-US" sz="2800" b="1" dirty="0">
                <a:latin typeface="+mn-lt"/>
              </a:rPr>
              <a:t>2. Should a project manager accept bribery to finish a project on time?</a:t>
            </a:r>
          </a:p>
          <a:p>
            <a:pPr>
              <a:lnSpc>
                <a:spcPct val="150000"/>
              </a:lnSpc>
            </a:pPr>
            <a:r>
              <a:rPr lang="en-US" sz="2800" dirty="0">
                <a:latin typeface="+mn-lt"/>
              </a:rPr>
              <a:t>No. Bribery is unethical, even if it helps complete the project faster.</a:t>
            </a:r>
          </a:p>
        </p:txBody>
      </p:sp>
    </p:spTree>
    <p:extLst>
      <p:ext uri="{BB962C8B-B14F-4D97-AF65-F5344CB8AC3E}">
        <p14:creationId xmlns:p14="http://schemas.microsoft.com/office/powerpoint/2010/main" val="2259833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1000"/>
                                        <p:tgtEl>
                                          <p:spTgt spid="6">
                                            <p:txEl>
                                              <p:pRg st="1" end="1"/>
                                            </p:txEl>
                                          </p:spTgt>
                                        </p:tgtEl>
                                      </p:cBhvr>
                                    </p:animEffect>
                                    <p:anim calcmode="lin" valueType="num">
                                      <p:cBhvr>
                                        <p:cTn id="8"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xEl>
                                              <p:pRg st="3" end="3"/>
                                            </p:txEl>
                                          </p:spTgt>
                                        </p:tgtEl>
                                        <p:attrNameLst>
                                          <p:attrName>style.visibility</p:attrName>
                                        </p:attrNameLst>
                                      </p:cBhvr>
                                      <p:to>
                                        <p:strVal val="visible"/>
                                      </p:to>
                                    </p:set>
                                    <p:animEffect transition="in" filter="fade">
                                      <p:cBhvr>
                                        <p:cTn id="12" dur="1000"/>
                                        <p:tgtEl>
                                          <p:spTgt spid="6">
                                            <p:txEl>
                                              <p:pRg st="3" end="3"/>
                                            </p:txEl>
                                          </p:spTgt>
                                        </p:tgtEl>
                                      </p:cBhvr>
                                    </p:animEffect>
                                    <p:anim calcmode="lin" valueType="num">
                                      <p:cBhvr>
                                        <p:cTn id="13"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6107B-7518-A033-9F90-BAF440C00316}"/>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4EE9C0E5-A7CD-E5E7-D8A3-757ECBB3246C}"/>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Discussion Questions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A04852F2-EAE0-483F-8236-EF5B61C08AA2}"/>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2BF98C1A-B4B5-3E73-32BF-0140969CA0B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47</a:t>
            </a:fld>
            <a:endParaRPr lang="en-US" altLang="en-US" sz="900">
              <a:solidFill>
                <a:srgbClr val="FFFFFF"/>
              </a:solidFill>
            </a:endParaRPr>
          </a:p>
        </p:txBody>
      </p:sp>
      <p:pic>
        <p:nvPicPr>
          <p:cNvPr id="22534" name="Picture 5">
            <a:extLst>
              <a:ext uri="{FF2B5EF4-FFF2-40B4-BE49-F238E27FC236}">
                <a16:creationId xmlns:a16="http://schemas.microsoft.com/office/drawing/2014/main" id="{80A788AB-9DD2-4FEF-C7B0-3BC91AB07B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9AA6FA7A-E48C-4C9D-DB2E-7CBAB4AEB7DE}"/>
              </a:ext>
            </a:extLst>
          </p:cNvPr>
          <p:cNvSpPr txBox="1"/>
          <p:nvPr/>
        </p:nvSpPr>
        <p:spPr>
          <a:xfrm>
            <a:off x="0" y="1476375"/>
            <a:ext cx="9144000" cy="3903504"/>
          </a:xfrm>
          <a:prstGeom prst="rect">
            <a:avLst/>
          </a:prstGeom>
          <a:solidFill>
            <a:schemeClr val="bg1"/>
          </a:solidFill>
        </p:spPr>
        <p:txBody>
          <a:bodyPr wrap="square">
            <a:spAutoFit/>
          </a:bodyPr>
          <a:lstStyle/>
          <a:p>
            <a:pPr>
              <a:lnSpc>
                <a:spcPct val="150000"/>
              </a:lnSpc>
            </a:pPr>
            <a:r>
              <a:rPr lang="en-US" sz="2800" b="1" dirty="0">
                <a:latin typeface="+mn-lt"/>
              </a:rPr>
              <a:t>3. What does it mean for a project manager to be neutral?</a:t>
            </a:r>
          </a:p>
          <a:p>
            <a:pPr>
              <a:lnSpc>
                <a:spcPct val="150000"/>
              </a:lnSpc>
            </a:pPr>
            <a:r>
              <a:rPr lang="en-US" sz="2800" dirty="0">
                <a:latin typeface="+mn-lt"/>
              </a:rPr>
              <a:t>It means the project manager does not take sides and makes fair decisions based on facts.</a:t>
            </a:r>
          </a:p>
          <a:p>
            <a:pPr>
              <a:lnSpc>
                <a:spcPct val="150000"/>
              </a:lnSpc>
            </a:pPr>
            <a:r>
              <a:rPr lang="en-US" sz="2800" b="1" dirty="0">
                <a:latin typeface="+mn-lt"/>
              </a:rPr>
              <a:t>4. Why is </a:t>
            </a:r>
            <a:r>
              <a:rPr lang="en-US" sz="2800" b="1" dirty="0" err="1">
                <a:latin typeface="+mn-lt"/>
              </a:rPr>
              <a:t>favouritism</a:t>
            </a:r>
            <a:r>
              <a:rPr lang="en-US" sz="2800" b="1" dirty="0">
                <a:latin typeface="+mn-lt"/>
              </a:rPr>
              <a:t> a problem in projects?</a:t>
            </a:r>
          </a:p>
          <a:p>
            <a:pPr>
              <a:lnSpc>
                <a:spcPct val="150000"/>
              </a:lnSpc>
            </a:pPr>
            <a:r>
              <a:rPr lang="en-US" sz="2800" dirty="0" err="1">
                <a:latin typeface="+mn-lt"/>
              </a:rPr>
              <a:t>Favouritism</a:t>
            </a:r>
            <a:r>
              <a:rPr lang="en-US" sz="2800" dirty="0">
                <a:latin typeface="+mn-lt"/>
              </a:rPr>
              <a:t> is unfair and can lead to poor decisions, conflict, and loss of trust.</a:t>
            </a:r>
          </a:p>
        </p:txBody>
      </p:sp>
    </p:spTree>
    <p:extLst>
      <p:ext uri="{BB962C8B-B14F-4D97-AF65-F5344CB8AC3E}">
        <p14:creationId xmlns:p14="http://schemas.microsoft.com/office/powerpoint/2010/main" val="3369749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1000"/>
                                        <p:tgtEl>
                                          <p:spTgt spid="6">
                                            <p:txEl>
                                              <p:pRg st="1" end="1"/>
                                            </p:txEl>
                                          </p:spTgt>
                                        </p:tgtEl>
                                      </p:cBhvr>
                                    </p:animEffect>
                                    <p:anim calcmode="lin" valueType="num">
                                      <p:cBhvr>
                                        <p:cTn id="8"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xEl>
                                              <p:pRg st="3" end="3"/>
                                            </p:txEl>
                                          </p:spTgt>
                                        </p:tgtEl>
                                        <p:attrNameLst>
                                          <p:attrName>style.visibility</p:attrName>
                                        </p:attrNameLst>
                                      </p:cBhvr>
                                      <p:to>
                                        <p:strVal val="visible"/>
                                      </p:to>
                                    </p:set>
                                    <p:animEffect transition="in" filter="fade">
                                      <p:cBhvr>
                                        <p:cTn id="12" dur="1000"/>
                                        <p:tgtEl>
                                          <p:spTgt spid="6">
                                            <p:txEl>
                                              <p:pRg st="3" end="3"/>
                                            </p:txEl>
                                          </p:spTgt>
                                        </p:tgtEl>
                                      </p:cBhvr>
                                    </p:animEffect>
                                    <p:anim calcmode="lin" valueType="num">
                                      <p:cBhvr>
                                        <p:cTn id="13"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8B120-A1FF-657D-2E90-E79270220811}"/>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00C4CA75-2A2E-AC11-28D1-932336B47D76}"/>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Discussion Questions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A4CB9B17-90CF-DC59-B9E0-1097889801EC}"/>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CFCB8580-ED18-5318-BB23-20988E4FEED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48</a:t>
            </a:fld>
            <a:endParaRPr lang="en-US" altLang="en-US" sz="900">
              <a:solidFill>
                <a:srgbClr val="FFFFFF"/>
              </a:solidFill>
            </a:endParaRPr>
          </a:p>
        </p:txBody>
      </p:sp>
      <p:pic>
        <p:nvPicPr>
          <p:cNvPr id="22534" name="Picture 5">
            <a:extLst>
              <a:ext uri="{FF2B5EF4-FFF2-40B4-BE49-F238E27FC236}">
                <a16:creationId xmlns:a16="http://schemas.microsoft.com/office/drawing/2014/main" id="{5EB30FE4-1D6E-E392-91DE-2FE6140A08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FDD52DDD-DE7A-5FB5-CC74-D8AD34FE8AC2}"/>
              </a:ext>
            </a:extLst>
          </p:cNvPr>
          <p:cNvSpPr txBox="1"/>
          <p:nvPr/>
        </p:nvSpPr>
        <p:spPr>
          <a:xfrm>
            <a:off x="0" y="1476375"/>
            <a:ext cx="9144000" cy="3903504"/>
          </a:xfrm>
          <a:prstGeom prst="rect">
            <a:avLst/>
          </a:prstGeom>
          <a:solidFill>
            <a:schemeClr val="bg1"/>
          </a:solidFill>
        </p:spPr>
        <p:txBody>
          <a:bodyPr wrap="square">
            <a:spAutoFit/>
          </a:bodyPr>
          <a:lstStyle/>
          <a:p>
            <a:pPr>
              <a:lnSpc>
                <a:spcPct val="150000"/>
              </a:lnSpc>
            </a:pPr>
            <a:r>
              <a:rPr lang="en-US" sz="2800" b="1" dirty="0">
                <a:latin typeface="+mn-lt"/>
              </a:rPr>
              <a:t>5. How does ethical </a:t>
            </a:r>
            <a:r>
              <a:rPr lang="en-US" sz="2800" b="1" dirty="0" err="1">
                <a:latin typeface="+mn-lt"/>
              </a:rPr>
              <a:t>behaviour</a:t>
            </a:r>
            <a:r>
              <a:rPr lang="en-US" sz="2800" b="1" dirty="0">
                <a:latin typeface="+mn-lt"/>
              </a:rPr>
              <a:t> build trust?</a:t>
            </a:r>
          </a:p>
          <a:p>
            <a:pPr>
              <a:lnSpc>
                <a:spcPct val="150000"/>
              </a:lnSpc>
            </a:pPr>
            <a:r>
              <a:rPr lang="en-US" sz="2800" dirty="0">
                <a:latin typeface="+mn-lt"/>
              </a:rPr>
              <a:t>When people see that a project manager is honest and fair, they are more likely to trust and respect them.</a:t>
            </a:r>
          </a:p>
          <a:p>
            <a:pPr>
              <a:lnSpc>
                <a:spcPct val="150000"/>
              </a:lnSpc>
            </a:pPr>
            <a:r>
              <a:rPr lang="en-US" sz="2800" b="1" dirty="0">
                <a:latin typeface="+mn-lt"/>
              </a:rPr>
              <a:t>6. How can ethics reduce project risk?</a:t>
            </a:r>
          </a:p>
          <a:p>
            <a:pPr>
              <a:lnSpc>
                <a:spcPct val="150000"/>
              </a:lnSpc>
            </a:pPr>
            <a:r>
              <a:rPr lang="en-US" sz="2800" dirty="0">
                <a:latin typeface="+mn-lt"/>
              </a:rPr>
              <a:t>Ethics encourages transparency. Problems are discussed early instead of being hidden.</a:t>
            </a:r>
          </a:p>
        </p:txBody>
      </p:sp>
    </p:spTree>
    <p:extLst>
      <p:ext uri="{BB962C8B-B14F-4D97-AF65-F5344CB8AC3E}">
        <p14:creationId xmlns:p14="http://schemas.microsoft.com/office/powerpoint/2010/main" val="399619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1000"/>
                                        <p:tgtEl>
                                          <p:spTgt spid="6">
                                            <p:txEl>
                                              <p:pRg st="1" end="1"/>
                                            </p:txEl>
                                          </p:spTgt>
                                        </p:tgtEl>
                                      </p:cBhvr>
                                    </p:animEffect>
                                    <p:anim calcmode="lin" valueType="num">
                                      <p:cBhvr>
                                        <p:cTn id="8"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xEl>
                                              <p:pRg st="3" end="3"/>
                                            </p:txEl>
                                          </p:spTgt>
                                        </p:tgtEl>
                                        <p:attrNameLst>
                                          <p:attrName>style.visibility</p:attrName>
                                        </p:attrNameLst>
                                      </p:cBhvr>
                                      <p:to>
                                        <p:strVal val="visible"/>
                                      </p:to>
                                    </p:set>
                                    <p:animEffect transition="in" filter="fade">
                                      <p:cBhvr>
                                        <p:cTn id="12" dur="1000"/>
                                        <p:tgtEl>
                                          <p:spTgt spid="6">
                                            <p:txEl>
                                              <p:pRg st="3" end="3"/>
                                            </p:txEl>
                                          </p:spTgt>
                                        </p:tgtEl>
                                      </p:cBhvr>
                                    </p:animEffect>
                                    <p:anim calcmode="lin" valueType="num">
                                      <p:cBhvr>
                                        <p:cTn id="13"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A01AA-E8DF-E31C-0DDD-28A5476A2C68}"/>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2B7E3244-4D5F-AA2D-C06E-78CF3016012F}"/>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Discussion Questions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ED68D207-1DB3-A638-C345-C66D37BD4109}"/>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31785F31-3036-D7C7-63A5-E5A7CD4F80C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49</a:t>
            </a:fld>
            <a:endParaRPr lang="en-US" altLang="en-US" sz="900">
              <a:solidFill>
                <a:srgbClr val="FFFFFF"/>
              </a:solidFill>
            </a:endParaRPr>
          </a:p>
        </p:txBody>
      </p:sp>
      <p:pic>
        <p:nvPicPr>
          <p:cNvPr id="22534" name="Picture 5">
            <a:extLst>
              <a:ext uri="{FF2B5EF4-FFF2-40B4-BE49-F238E27FC236}">
                <a16:creationId xmlns:a16="http://schemas.microsoft.com/office/drawing/2014/main" id="{E4483C50-66EE-EC3F-E88B-BB6AA4EDC5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06A877FD-BCC1-59A1-19C1-279D8029E7D2}"/>
              </a:ext>
            </a:extLst>
          </p:cNvPr>
          <p:cNvSpPr txBox="1"/>
          <p:nvPr/>
        </p:nvSpPr>
        <p:spPr>
          <a:xfrm>
            <a:off x="0" y="1476375"/>
            <a:ext cx="9144000" cy="2610843"/>
          </a:xfrm>
          <a:prstGeom prst="rect">
            <a:avLst/>
          </a:prstGeom>
          <a:solidFill>
            <a:schemeClr val="bg1"/>
          </a:solidFill>
        </p:spPr>
        <p:txBody>
          <a:bodyPr wrap="square">
            <a:spAutoFit/>
          </a:bodyPr>
          <a:lstStyle/>
          <a:p>
            <a:pPr>
              <a:lnSpc>
                <a:spcPct val="150000"/>
              </a:lnSpc>
            </a:pPr>
            <a:r>
              <a:rPr lang="en-US" sz="2800" b="1" dirty="0">
                <a:latin typeface="+mn-lt"/>
              </a:rPr>
              <a:t>7. What is the main message of the video?</a:t>
            </a:r>
          </a:p>
          <a:p>
            <a:pPr>
              <a:lnSpc>
                <a:spcPct val="150000"/>
              </a:lnSpc>
            </a:pPr>
            <a:r>
              <a:rPr lang="en-US" sz="2800" dirty="0">
                <a:latin typeface="+mn-lt"/>
              </a:rPr>
              <a:t>Project managers should be honest, fair, neutral, and responsible. Finishing a project is important, but doing it ethically is more important.</a:t>
            </a:r>
          </a:p>
        </p:txBody>
      </p:sp>
    </p:spTree>
    <p:extLst>
      <p:ext uri="{BB962C8B-B14F-4D97-AF65-F5344CB8AC3E}">
        <p14:creationId xmlns:p14="http://schemas.microsoft.com/office/powerpoint/2010/main" val="2667254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1000"/>
                                        <p:tgtEl>
                                          <p:spTgt spid="6">
                                            <p:txEl>
                                              <p:pRg st="1" end="1"/>
                                            </p:txEl>
                                          </p:spTgt>
                                        </p:tgtEl>
                                      </p:cBhvr>
                                    </p:animEffect>
                                    <p:anim calcmode="lin" valueType="num">
                                      <p:cBhvr>
                                        <p:cTn id="8"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190BDBBE-2518-4DC2-A8A5-7B1347851768}"/>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sz="4800" b="1" dirty="0">
                <a:solidFill>
                  <a:srgbClr val="00B0F0"/>
                </a:solidFill>
              </a:rPr>
              <a:t>Pre-Class Discussion</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11F364B8-9E55-4D33-84A1-D572CD6C3E86}"/>
              </a:ext>
            </a:extLst>
          </p:cNvPr>
          <p:cNvSpPr>
            <a:spLocks noGrp="1" noChangeArrowheads="1"/>
          </p:cNvSpPr>
          <p:nvPr>
            <p:ph idx="1"/>
          </p:nvPr>
        </p:nvSpPr>
        <p:spPr>
          <a:xfrm>
            <a:off x="558006" y="1835151"/>
            <a:ext cx="8027988" cy="3776662"/>
          </a:xfrm>
        </p:spPr>
        <p:txBody>
          <a:bodyPr/>
          <a:lstStyle/>
          <a:p>
            <a:pPr algn="l"/>
            <a:endParaRPr lang="en-AU" sz="2400" b="0" i="0" u="none" strike="noStrike" baseline="0" dirty="0">
              <a:solidFill>
                <a:srgbClr val="000000"/>
              </a:solidFill>
              <a:latin typeface="Arial" panose="020B0604020202020204" pitchFamily="34" charset="0"/>
            </a:endParaRPr>
          </a:p>
          <a:p>
            <a:r>
              <a:rPr lang="en-AU" sz="2400" b="0" i="0" u="none" strike="noStrike" baseline="0" dirty="0">
                <a:solidFill>
                  <a:srgbClr val="4B1858"/>
                </a:solidFill>
                <a:highlight>
                  <a:srgbClr val="FFFF00"/>
                </a:highlight>
                <a:latin typeface="Arial" panose="020B0604020202020204" pitchFamily="34" charset="0"/>
              </a:rPr>
              <a:t>YouTube Video: (Watch the video in 2 minutes)</a:t>
            </a:r>
          </a:p>
          <a:p>
            <a:r>
              <a:rPr lang="en-AU" sz="2400" dirty="0">
                <a:solidFill>
                  <a:srgbClr val="4B1858"/>
                </a:solidFill>
                <a:latin typeface="Arial" panose="020B0604020202020204" pitchFamily="34" charset="0"/>
              </a:rPr>
              <a:t>AI Ethics: Why It Matters?</a:t>
            </a:r>
          </a:p>
          <a:p>
            <a:pPr algn="l"/>
            <a:r>
              <a:rPr lang="en-AU" sz="2400" dirty="0">
                <a:solidFill>
                  <a:srgbClr val="4B1858"/>
                </a:solidFill>
                <a:latin typeface="Arial" panose="020B0604020202020204" pitchFamily="34" charset="0"/>
                <a:hlinkClick r:id="rId2"/>
              </a:rPr>
              <a:t>https://www.youtube.com/watch?v=C2MWrCdGG0Q</a:t>
            </a:r>
            <a:endParaRPr lang="en-AU" sz="2400" dirty="0">
              <a:solidFill>
                <a:srgbClr val="4B1858"/>
              </a:solidFill>
              <a:latin typeface="Arial" panose="020B0604020202020204" pitchFamily="34" charset="0"/>
            </a:endParaRPr>
          </a:p>
          <a:p>
            <a:pPr algn="l"/>
            <a:endParaRPr lang="en-AU" sz="3600" dirty="0">
              <a:effectLst/>
              <a:latin typeface="Times New Roman" panose="02020603050405020304" pitchFamily="18" charset="0"/>
              <a:ea typeface="Times New Roman" panose="02020603050405020304" pitchFamily="18" charset="0"/>
            </a:endParaRPr>
          </a:p>
        </p:txBody>
      </p:sp>
      <p:sp>
        <p:nvSpPr>
          <p:cNvPr id="2" name="Footer Placeholder 1">
            <a:extLst>
              <a:ext uri="{FF2B5EF4-FFF2-40B4-BE49-F238E27FC236}">
                <a16:creationId xmlns:a16="http://schemas.microsoft.com/office/drawing/2014/main" id="{72275A1D-7D1B-4E23-BF1C-0D30325F6EE6}"/>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FCD4B073-C5ED-4E44-934B-45E8993DC62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50</a:t>
            </a:fld>
            <a:endParaRPr lang="en-US" altLang="en-US" sz="900">
              <a:solidFill>
                <a:srgbClr val="FFFFFF"/>
              </a:solidFill>
            </a:endParaRPr>
          </a:p>
        </p:txBody>
      </p:sp>
      <p:pic>
        <p:nvPicPr>
          <p:cNvPr id="22534" name="Picture 5">
            <a:extLst>
              <a:ext uri="{FF2B5EF4-FFF2-40B4-BE49-F238E27FC236}">
                <a16:creationId xmlns:a16="http://schemas.microsoft.com/office/drawing/2014/main" id="{4B818E69-D4FE-4429-A5A7-24A6C8A089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a:extLst>
              <a:ext uri="{FF2B5EF4-FFF2-40B4-BE49-F238E27FC236}">
                <a16:creationId xmlns:a16="http://schemas.microsoft.com/office/drawing/2014/main" id="{CA3BEA0E-C067-37D7-24F6-8DD0F457908F}"/>
              </a:ext>
            </a:extLst>
          </p:cNvPr>
          <p:cNvPicPr>
            <a:picLocks noChangeAspect="1"/>
          </p:cNvPicPr>
          <p:nvPr/>
        </p:nvPicPr>
        <p:blipFill>
          <a:blip r:embed="rId4"/>
          <a:srcRect l="5904" t="28519" r="38659" b="12168"/>
          <a:stretch>
            <a:fillRect/>
          </a:stretch>
        </p:blipFill>
        <p:spPr>
          <a:xfrm>
            <a:off x="4038175" y="3773874"/>
            <a:ext cx="5069313" cy="3050789"/>
          </a:xfrm>
          <a:prstGeom prst="rect">
            <a:avLst/>
          </a:prstGeom>
        </p:spPr>
      </p:pic>
    </p:spTree>
    <p:extLst>
      <p:ext uri="{BB962C8B-B14F-4D97-AF65-F5344CB8AC3E}">
        <p14:creationId xmlns:p14="http://schemas.microsoft.com/office/powerpoint/2010/main" val="357528227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FBD30-2A61-EE5A-39A6-4BFDF08EA138}"/>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2D8194EC-0DDC-BB18-FBA7-5A6834D2C325}"/>
              </a:ext>
            </a:extLst>
          </p:cNvPr>
          <p:cNvSpPr>
            <a:spLocks noGrp="1"/>
          </p:cNvSpPr>
          <p:nvPr>
            <p:ph type="title"/>
          </p:nvPr>
        </p:nvSpPr>
        <p:spPr>
          <a:xfrm>
            <a:off x="558006" y="406262"/>
            <a:ext cx="8027988" cy="863600"/>
          </a:xfrm>
        </p:spPr>
        <p:txBody>
          <a:bodyPr>
            <a:normAutofit/>
          </a:bodyPr>
          <a:lstStyle/>
          <a:p>
            <a:pPr algn="ctr" eaLnBrk="1" fontAlgn="auto" hangingPunct="1">
              <a:spcAft>
                <a:spcPts val="0"/>
              </a:spcAft>
              <a:defRPr/>
            </a:pPr>
            <a:r>
              <a:rPr lang="en-AU" sz="4800" b="1" dirty="0">
                <a:solidFill>
                  <a:srgbClr val="00B0F0"/>
                </a:solidFill>
              </a:rPr>
              <a:t>Pre-Class Discussion</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547B731D-000F-DC53-F6A7-66EDFA3AB414}"/>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79B0B7E9-0527-D16A-FCCA-3EE0EA96BC5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51</a:t>
            </a:fld>
            <a:endParaRPr lang="en-US" altLang="en-US" sz="900">
              <a:solidFill>
                <a:srgbClr val="FFFFFF"/>
              </a:solidFill>
            </a:endParaRPr>
          </a:p>
        </p:txBody>
      </p:sp>
      <p:pic>
        <p:nvPicPr>
          <p:cNvPr id="22534" name="Picture 5">
            <a:extLst>
              <a:ext uri="{FF2B5EF4-FFF2-40B4-BE49-F238E27FC236}">
                <a16:creationId xmlns:a16="http://schemas.microsoft.com/office/drawing/2014/main" id="{9F9868EB-EBB6-2842-8228-C44686BAA3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638EA143-A96A-1534-4973-031C943D790A}"/>
              </a:ext>
            </a:extLst>
          </p:cNvPr>
          <p:cNvSpPr txBox="1"/>
          <p:nvPr/>
        </p:nvSpPr>
        <p:spPr>
          <a:xfrm>
            <a:off x="0" y="1047474"/>
            <a:ext cx="9144000" cy="5842497"/>
          </a:xfrm>
          <a:prstGeom prst="rect">
            <a:avLst/>
          </a:prstGeom>
          <a:noFill/>
        </p:spPr>
        <p:txBody>
          <a:bodyPr wrap="square">
            <a:spAutoFit/>
          </a:bodyPr>
          <a:lstStyle/>
          <a:p>
            <a:pPr>
              <a:lnSpc>
                <a:spcPct val="150000"/>
              </a:lnSpc>
              <a:buNone/>
            </a:pPr>
            <a:r>
              <a:rPr lang="en-US" sz="2800" b="1" dirty="0">
                <a:latin typeface="+mn-lt"/>
              </a:rPr>
              <a:t>Key lessons/messages from the video: AI Ethics</a:t>
            </a:r>
          </a:p>
          <a:p>
            <a:pPr>
              <a:lnSpc>
                <a:spcPct val="150000"/>
              </a:lnSpc>
              <a:buNone/>
            </a:pPr>
            <a:r>
              <a:rPr lang="en-US" sz="2800" b="1" dirty="0">
                <a:latin typeface="+mn-lt"/>
              </a:rPr>
              <a:t>1. AI is already part of daily life</a:t>
            </a:r>
          </a:p>
          <a:p>
            <a:pPr>
              <a:lnSpc>
                <a:spcPct val="150000"/>
              </a:lnSpc>
              <a:buNone/>
            </a:pPr>
            <a:r>
              <a:rPr lang="en-US" sz="2800" dirty="0">
                <a:latin typeface="+mn-lt"/>
              </a:rPr>
              <a:t>Artificial Intelligence (AI) is not just futuristic technology. It is already used in:</a:t>
            </a:r>
          </a:p>
          <a:p>
            <a:pPr>
              <a:lnSpc>
                <a:spcPct val="150000"/>
              </a:lnSpc>
            </a:pPr>
            <a:r>
              <a:rPr lang="en-US" sz="2800" dirty="0">
                <a:latin typeface="+mn-lt"/>
              </a:rPr>
              <a:t>- customer service, </a:t>
            </a:r>
          </a:p>
          <a:p>
            <a:pPr>
              <a:lnSpc>
                <a:spcPct val="150000"/>
              </a:lnSpc>
            </a:pPr>
            <a:r>
              <a:rPr lang="en-US" sz="2800" dirty="0">
                <a:latin typeface="+mn-lt"/>
              </a:rPr>
              <a:t>- online shopping, </a:t>
            </a:r>
          </a:p>
          <a:p>
            <a:pPr>
              <a:lnSpc>
                <a:spcPct val="150000"/>
              </a:lnSpc>
            </a:pPr>
            <a:r>
              <a:rPr lang="en-US" sz="2800" dirty="0">
                <a:latin typeface="+mn-lt"/>
              </a:rPr>
              <a:t>- automation, </a:t>
            </a:r>
          </a:p>
          <a:p>
            <a:pPr>
              <a:lnSpc>
                <a:spcPct val="150000"/>
              </a:lnSpc>
            </a:pPr>
            <a:r>
              <a:rPr lang="en-US" sz="2800" dirty="0">
                <a:latin typeface="+mn-lt"/>
              </a:rPr>
              <a:t>- recommendations, </a:t>
            </a:r>
          </a:p>
          <a:p>
            <a:pPr>
              <a:lnSpc>
                <a:spcPct val="150000"/>
              </a:lnSpc>
            </a:pPr>
            <a:r>
              <a:rPr lang="en-US" sz="2800" dirty="0">
                <a:latin typeface="+mn-lt"/>
              </a:rPr>
              <a:t>- and business operations.</a:t>
            </a:r>
          </a:p>
        </p:txBody>
      </p:sp>
    </p:spTree>
    <p:extLst>
      <p:ext uri="{BB962C8B-B14F-4D97-AF65-F5344CB8AC3E}">
        <p14:creationId xmlns:p14="http://schemas.microsoft.com/office/powerpoint/2010/main" val="333491584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8E3F8-99AE-7F0C-84EB-C49522B6150B}"/>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B6F2A743-4196-52F0-FA96-F2B2E8C11256}"/>
              </a:ext>
            </a:extLst>
          </p:cNvPr>
          <p:cNvSpPr>
            <a:spLocks noGrp="1"/>
          </p:cNvSpPr>
          <p:nvPr>
            <p:ph type="title"/>
          </p:nvPr>
        </p:nvSpPr>
        <p:spPr>
          <a:xfrm>
            <a:off x="558006" y="406262"/>
            <a:ext cx="8027988" cy="863600"/>
          </a:xfrm>
        </p:spPr>
        <p:txBody>
          <a:bodyPr>
            <a:normAutofit/>
          </a:bodyPr>
          <a:lstStyle/>
          <a:p>
            <a:pPr algn="ctr" eaLnBrk="1" fontAlgn="auto" hangingPunct="1">
              <a:spcAft>
                <a:spcPts val="0"/>
              </a:spcAft>
              <a:defRPr/>
            </a:pPr>
            <a:r>
              <a:rPr lang="en-AU" sz="4800" b="1" dirty="0">
                <a:solidFill>
                  <a:srgbClr val="00B0F0"/>
                </a:solidFill>
              </a:rPr>
              <a:t>Pre-Class Discussion</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94A35138-8A49-52F5-4E13-D5D8C25AD072}"/>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25D573D4-E2DF-ECCB-BB40-BD64A1179F5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52</a:t>
            </a:fld>
            <a:endParaRPr lang="en-US" altLang="en-US" sz="900">
              <a:solidFill>
                <a:srgbClr val="FFFFFF"/>
              </a:solidFill>
            </a:endParaRPr>
          </a:p>
        </p:txBody>
      </p:sp>
      <p:pic>
        <p:nvPicPr>
          <p:cNvPr id="22534" name="Picture 5">
            <a:extLst>
              <a:ext uri="{FF2B5EF4-FFF2-40B4-BE49-F238E27FC236}">
                <a16:creationId xmlns:a16="http://schemas.microsoft.com/office/drawing/2014/main" id="{B112BE0F-A821-D0D1-E6C9-A455C70690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C183A64E-746D-587A-7488-15C653F31678}"/>
              </a:ext>
            </a:extLst>
          </p:cNvPr>
          <p:cNvSpPr txBox="1"/>
          <p:nvPr/>
        </p:nvSpPr>
        <p:spPr>
          <a:xfrm>
            <a:off x="0" y="1686535"/>
            <a:ext cx="9144000" cy="4549835"/>
          </a:xfrm>
          <a:prstGeom prst="rect">
            <a:avLst/>
          </a:prstGeom>
          <a:noFill/>
        </p:spPr>
        <p:txBody>
          <a:bodyPr wrap="square">
            <a:spAutoFit/>
          </a:bodyPr>
          <a:lstStyle/>
          <a:p>
            <a:pPr>
              <a:lnSpc>
                <a:spcPct val="150000"/>
              </a:lnSpc>
            </a:pPr>
            <a:r>
              <a:rPr lang="en-US" sz="2800" b="1" dirty="0">
                <a:latin typeface="+mn-lt"/>
              </a:rPr>
              <a:t>2. AI can improve businesses and productivity</a:t>
            </a:r>
          </a:p>
          <a:p>
            <a:pPr>
              <a:lnSpc>
                <a:spcPct val="150000"/>
              </a:lnSpc>
            </a:pPr>
            <a:r>
              <a:rPr lang="en-US" sz="2800" dirty="0">
                <a:latin typeface="+mn-lt"/>
              </a:rPr>
              <a:t>AI helps </a:t>
            </a:r>
            <a:r>
              <a:rPr lang="en-US" sz="2800" dirty="0" err="1">
                <a:latin typeface="+mn-lt"/>
              </a:rPr>
              <a:t>organisations</a:t>
            </a:r>
            <a:r>
              <a:rPr lang="en-US" sz="2800" dirty="0">
                <a:latin typeface="+mn-lt"/>
              </a:rPr>
              <a:t>:</a:t>
            </a:r>
          </a:p>
          <a:p>
            <a:pPr>
              <a:lnSpc>
                <a:spcPct val="150000"/>
              </a:lnSpc>
            </a:pPr>
            <a:r>
              <a:rPr lang="en-US" sz="2800" dirty="0">
                <a:latin typeface="+mn-lt"/>
              </a:rPr>
              <a:t>- save time, </a:t>
            </a:r>
          </a:p>
          <a:p>
            <a:pPr>
              <a:lnSpc>
                <a:spcPct val="150000"/>
              </a:lnSpc>
            </a:pPr>
            <a:r>
              <a:rPr lang="en-US" sz="2800" dirty="0">
                <a:latin typeface="+mn-lt"/>
              </a:rPr>
              <a:t>- automate tasks, </a:t>
            </a:r>
          </a:p>
          <a:p>
            <a:pPr>
              <a:lnSpc>
                <a:spcPct val="150000"/>
              </a:lnSpc>
            </a:pPr>
            <a:r>
              <a:rPr lang="en-US" sz="2800" dirty="0">
                <a:latin typeface="+mn-lt"/>
              </a:rPr>
              <a:t>- improve customer experience, </a:t>
            </a:r>
          </a:p>
          <a:p>
            <a:pPr>
              <a:lnSpc>
                <a:spcPct val="150000"/>
              </a:lnSpc>
            </a:pPr>
            <a:r>
              <a:rPr lang="en-US" sz="2800" dirty="0">
                <a:latin typeface="+mn-lt"/>
              </a:rPr>
              <a:t>- increase productivity, </a:t>
            </a:r>
          </a:p>
          <a:p>
            <a:pPr>
              <a:lnSpc>
                <a:spcPct val="150000"/>
              </a:lnSpc>
            </a:pPr>
            <a:r>
              <a:rPr lang="en-US" sz="2800" dirty="0">
                <a:latin typeface="+mn-lt"/>
              </a:rPr>
              <a:t>- and improve business performance.</a:t>
            </a:r>
          </a:p>
        </p:txBody>
      </p:sp>
    </p:spTree>
    <p:extLst>
      <p:ext uri="{BB962C8B-B14F-4D97-AF65-F5344CB8AC3E}">
        <p14:creationId xmlns:p14="http://schemas.microsoft.com/office/powerpoint/2010/main" val="126979168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7CC044-2586-F7B9-9223-9898BA4F626E}"/>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88BFCFFF-3E7E-6822-2623-E47BCF3D0621}"/>
              </a:ext>
            </a:extLst>
          </p:cNvPr>
          <p:cNvSpPr>
            <a:spLocks noGrp="1"/>
          </p:cNvSpPr>
          <p:nvPr>
            <p:ph type="title"/>
          </p:nvPr>
        </p:nvSpPr>
        <p:spPr>
          <a:xfrm>
            <a:off x="558006" y="406262"/>
            <a:ext cx="8027988" cy="863600"/>
          </a:xfrm>
        </p:spPr>
        <p:txBody>
          <a:bodyPr>
            <a:normAutofit/>
          </a:bodyPr>
          <a:lstStyle/>
          <a:p>
            <a:pPr algn="ctr" eaLnBrk="1" fontAlgn="auto" hangingPunct="1">
              <a:spcAft>
                <a:spcPts val="0"/>
              </a:spcAft>
              <a:defRPr/>
            </a:pPr>
            <a:r>
              <a:rPr lang="en-AU" sz="4800" b="1" dirty="0">
                <a:solidFill>
                  <a:srgbClr val="00B0F0"/>
                </a:solidFill>
              </a:rPr>
              <a:t>Pre-Class Discussion</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010D703E-15F4-5CDB-EEFF-3B59DFE35C79}"/>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1571135B-3DEE-957E-FED3-57C3A6E1596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53</a:t>
            </a:fld>
            <a:endParaRPr lang="en-US" altLang="en-US" sz="900">
              <a:solidFill>
                <a:srgbClr val="FFFFFF"/>
              </a:solidFill>
            </a:endParaRPr>
          </a:p>
        </p:txBody>
      </p:sp>
      <p:pic>
        <p:nvPicPr>
          <p:cNvPr id="22534" name="Picture 5">
            <a:extLst>
              <a:ext uri="{FF2B5EF4-FFF2-40B4-BE49-F238E27FC236}">
                <a16:creationId xmlns:a16="http://schemas.microsoft.com/office/drawing/2014/main" id="{DB5ED4F2-E9F6-7129-F844-5A8ABC6C70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10C67675-0BA8-5F12-A54C-66D704D5839E}"/>
              </a:ext>
            </a:extLst>
          </p:cNvPr>
          <p:cNvSpPr txBox="1"/>
          <p:nvPr/>
        </p:nvSpPr>
        <p:spPr>
          <a:xfrm>
            <a:off x="0" y="1686535"/>
            <a:ext cx="9144000" cy="3903504"/>
          </a:xfrm>
          <a:prstGeom prst="rect">
            <a:avLst/>
          </a:prstGeom>
          <a:noFill/>
        </p:spPr>
        <p:txBody>
          <a:bodyPr wrap="square">
            <a:spAutoFit/>
          </a:bodyPr>
          <a:lstStyle/>
          <a:p>
            <a:pPr>
              <a:lnSpc>
                <a:spcPct val="150000"/>
              </a:lnSpc>
            </a:pPr>
            <a:r>
              <a:rPr lang="en-US" sz="2800" b="1" dirty="0">
                <a:latin typeface="+mn-lt"/>
              </a:rPr>
              <a:t>3. AI also creates ethical concerns</a:t>
            </a:r>
          </a:p>
          <a:p>
            <a:pPr>
              <a:lnSpc>
                <a:spcPct val="150000"/>
              </a:lnSpc>
            </a:pPr>
            <a:r>
              <a:rPr lang="en-US" sz="2800" dirty="0">
                <a:latin typeface="+mn-lt"/>
              </a:rPr>
              <a:t>If AI is not used properly, it may:</a:t>
            </a:r>
          </a:p>
          <a:p>
            <a:pPr>
              <a:lnSpc>
                <a:spcPct val="150000"/>
              </a:lnSpc>
            </a:pPr>
            <a:r>
              <a:rPr lang="en-US" sz="2800" dirty="0">
                <a:latin typeface="+mn-lt"/>
              </a:rPr>
              <a:t>- harm people, </a:t>
            </a:r>
          </a:p>
          <a:p>
            <a:pPr>
              <a:lnSpc>
                <a:spcPct val="150000"/>
              </a:lnSpc>
            </a:pPr>
            <a:r>
              <a:rPr lang="en-US" sz="2800" dirty="0">
                <a:latin typeface="+mn-lt"/>
              </a:rPr>
              <a:t>- damage company reputation, </a:t>
            </a:r>
          </a:p>
          <a:p>
            <a:pPr>
              <a:lnSpc>
                <a:spcPct val="150000"/>
              </a:lnSpc>
            </a:pPr>
            <a:r>
              <a:rPr lang="en-US" sz="2800" dirty="0">
                <a:latin typeface="+mn-lt"/>
              </a:rPr>
              <a:t>- create legal problems, </a:t>
            </a:r>
          </a:p>
          <a:p>
            <a:pPr>
              <a:lnSpc>
                <a:spcPct val="150000"/>
              </a:lnSpc>
            </a:pPr>
            <a:r>
              <a:rPr lang="en-US" sz="2800" dirty="0">
                <a:latin typeface="+mn-lt"/>
              </a:rPr>
              <a:t>- or make unfair decisions.</a:t>
            </a:r>
          </a:p>
        </p:txBody>
      </p:sp>
    </p:spTree>
    <p:extLst>
      <p:ext uri="{BB962C8B-B14F-4D97-AF65-F5344CB8AC3E}">
        <p14:creationId xmlns:p14="http://schemas.microsoft.com/office/powerpoint/2010/main" val="391747864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7D5551-888A-972E-05D6-F5C62DBDDE9D}"/>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EA49AB52-D34F-B789-7584-6104CC7E22F2}"/>
              </a:ext>
            </a:extLst>
          </p:cNvPr>
          <p:cNvSpPr>
            <a:spLocks noGrp="1"/>
          </p:cNvSpPr>
          <p:nvPr>
            <p:ph type="title"/>
          </p:nvPr>
        </p:nvSpPr>
        <p:spPr>
          <a:xfrm>
            <a:off x="558006" y="406262"/>
            <a:ext cx="8027988" cy="863600"/>
          </a:xfrm>
        </p:spPr>
        <p:txBody>
          <a:bodyPr>
            <a:normAutofit/>
          </a:bodyPr>
          <a:lstStyle/>
          <a:p>
            <a:pPr algn="ctr" eaLnBrk="1" fontAlgn="auto" hangingPunct="1">
              <a:spcAft>
                <a:spcPts val="0"/>
              </a:spcAft>
              <a:defRPr/>
            </a:pPr>
            <a:r>
              <a:rPr lang="en-AU" sz="4800" b="1" dirty="0">
                <a:solidFill>
                  <a:srgbClr val="00B0F0"/>
                </a:solidFill>
              </a:rPr>
              <a:t>Pre-Class Discussion</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AEE332BB-A605-A96F-2901-FFCECFAC74C7}"/>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C349D68C-CF3E-F16E-BB3B-500393312C3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54</a:t>
            </a:fld>
            <a:endParaRPr lang="en-US" altLang="en-US" sz="900">
              <a:solidFill>
                <a:srgbClr val="FFFFFF"/>
              </a:solidFill>
            </a:endParaRPr>
          </a:p>
        </p:txBody>
      </p:sp>
      <p:pic>
        <p:nvPicPr>
          <p:cNvPr id="22534" name="Picture 5">
            <a:extLst>
              <a:ext uri="{FF2B5EF4-FFF2-40B4-BE49-F238E27FC236}">
                <a16:creationId xmlns:a16="http://schemas.microsoft.com/office/drawing/2014/main" id="{DBEDF84F-C021-747D-DD08-9253CB16D4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6A1145A9-AB8F-DCEE-1E6C-D52E79E65B0D}"/>
              </a:ext>
            </a:extLst>
          </p:cNvPr>
          <p:cNvSpPr txBox="1"/>
          <p:nvPr/>
        </p:nvSpPr>
        <p:spPr>
          <a:xfrm>
            <a:off x="0" y="1686535"/>
            <a:ext cx="9144000" cy="3257174"/>
          </a:xfrm>
          <a:prstGeom prst="rect">
            <a:avLst/>
          </a:prstGeom>
          <a:noFill/>
        </p:spPr>
        <p:txBody>
          <a:bodyPr wrap="square">
            <a:spAutoFit/>
          </a:bodyPr>
          <a:lstStyle/>
          <a:p>
            <a:pPr>
              <a:lnSpc>
                <a:spcPct val="150000"/>
              </a:lnSpc>
            </a:pPr>
            <a:r>
              <a:rPr lang="en-US" sz="2800" b="1" dirty="0">
                <a:latin typeface="+mn-lt"/>
              </a:rPr>
              <a:t>4. Technology itself is neutral</a:t>
            </a:r>
          </a:p>
          <a:p>
            <a:pPr>
              <a:lnSpc>
                <a:spcPct val="150000"/>
              </a:lnSpc>
            </a:pPr>
            <a:r>
              <a:rPr lang="en-US" sz="2800" dirty="0">
                <a:latin typeface="+mn-lt"/>
              </a:rPr>
              <a:t>AI is just a tool. The real issue is:</a:t>
            </a:r>
          </a:p>
          <a:p>
            <a:pPr>
              <a:lnSpc>
                <a:spcPct val="150000"/>
              </a:lnSpc>
            </a:pPr>
            <a:r>
              <a:rPr lang="en-US" sz="2800" dirty="0">
                <a:latin typeface="+mn-lt"/>
              </a:rPr>
              <a:t>- how people design it, </a:t>
            </a:r>
          </a:p>
          <a:p>
            <a:pPr>
              <a:lnSpc>
                <a:spcPct val="150000"/>
              </a:lnSpc>
            </a:pPr>
            <a:r>
              <a:rPr lang="en-US" sz="2800" dirty="0">
                <a:latin typeface="+mn-lt"/>
              </a:rPr>
              <a:t>- how </a:t>
            </a:r>
            <a:r>
              <a:rPr lang="en-US" sz="2800" dirty="0" err="1">
                <a:latin typeface="+mn-lt"/>
              </a:rPr>
              <a:t>organisations</a:t>
            </a:r>
            <a:r>
              <a:rPr lang="en-US" sz="2800" dirty="0">
                <a:latin typeface="+mn-lt"/>
              </a:rPr>
              <a:t> use it, </a:t>
            </a:r>
          </a:p>
          <a:p>
            <a:pPr>
              <a:lnSpc>
                <a:spcPct val="150000"/>
              </a:lnSpc>
            </a:pPr>
            <a:r>
              <a:rPr lang="en-US" sz="2800" dirty="0">
                <a:latin typeface="+mn-lt"/>
              </a:rPr>
              <a:t>- and whether it is used responsibly.</a:t>
            </a:r>
          </a:p>
        </p:txBody>
      </p:sp>
    </p:spTree>
    <p:extLst>
      <p:ext uri="{BB962C8B-B14F-4D97-AF65-F5344CB8AC3E}">
        <p14:creationId xmlns:p14="http://schemas.microsoft.com/office/powerpoint/2010/main" val="14971362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74FA1-7E61-A204-76EC-323074A1080C}"/>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FAB24C19-64F8-7C82-9CE8-735012BDF9F5}"/>
              </a:ext>
            </a:extLst>
          </p:cNvPr>
          <p:cNvSpPr>
            <a:spLocks noGrp="1"/>
          </p:cNvSpPr>
          <p:nvPr>
            <p:ph type="title"/>
          </p:nvPr>
        </p:nvSpPr>
        <p:spPr>
          <a:xfrm>
            <a:off x="558006" y="406262"/>
            <a:ext cx="8027988" cy="863600"/>
          </a:xfrm>
        </p:spPr>
        <p:txBody>
          <a:bodyPr>
            <a:normAutofit/>
          </a:bodyPr>
          <a:lstStyle/>
          <a:p>
            <a:pPr algn="ctr" eaLnBrk="1" fontAlgn="auto" hangingPunct="1">
              <a:spcAft>
                <a:spcPts val="0"/>
              </a:spcAft>
              <a:defRPr/>
            </a:pPr>
            <a:r>
              <a:rPr lang="en-AU" sz="4800" b="1" dirty="0">
                <a:solidFill>
                  <a:srgbClr val="00B0F0"/>
                </a:solidFill>
              </a:rPr>
              <a:t>Pre-Class Discussion</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0DF2F4EB-68D6-D64F-F6CA-73A2B71E89FE}"/>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E3EE2082-7575-7771-0E85-A3733F5AA1A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55</a:t>
            </a:fld>
            <a:endParaRPr lang="en-US" altLang="en-US" sz="900">
              <a:solidFill>
                <a:srgbClr val="FFFFFF"/>
              </a:solidFill>
            </a:endParaRPr>
          </a:p>
        </p:txBody>
      </p:sp>
      <p:pic>
        <p:nvPicPr>
          <p:cNvPr id="22534" name="Picture 5">
            <a:extLst>
              <a:ext uri="{FF2B5EF4-FFF2-40B4-BE49-F238E27FC236}">
                <a16:creationId xmlns:a16="http://schemas.microsoft.com/office/drawing/2014/main" id="{08BCE56E-05A5-2122-5D1F-6EA3D89B28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83CDFCE3-222D-FC5C-89D0-AD8E1A4FB536}"/>
              </a:ext>
            </a:extLst>
          </p:cNvPr>
          <p:cNvSpPr txBox="1"/>
          <p:nvPr/>
        </p:nvSpPr>
        <p:spPr>
          <a:xfrm>
            <a:off x="0" y="1686535"/>
            <a:ext cx="9144000" cy="3257174"/>
          </a:xfrm>
          <a:prstGeom prst="rect">
            <a:avLst/>
          </a:prstGeom>
          <a:noFill/>
        </p:spPr>
        <p:txBody>
          <a:bodyPr wrap="square">
            <a:spAutoFit/>
          </a:bodyPr>
          <a:lstStyle/>
          <a:p>
            <a:pPr>
              <a:lnSpc>
                <a:spcPct val="150000"/>
              </a:lnSpc>
            </a:pPr>
            <a:r>
              <a:rPr lang="en-US" sz="2800" b="1" dirty="0">
                <a:latin typeface="+mn-lt"/>
              </a:rPr>
              <a:t>5. AI should be human-</a:t>
            </a:r>
            <a:r>
              <a:rPr lang="en-US" sz="2800" b="1" dirty="0" err="1">
                <a:latin typeface="+mn-lt"/>
              </a:rPr>
              <a:t>centred</a:t>
            </a:r>
            <a:endParaRPr lang="en-US" sz="2800" b="1" dirty="0">
              <a:latin typeface="+mn-lt"/>
            </a:endParaRPr>
          </a:p>
          <a:p>
            <a:pPr>
              <a:lnSpc>
                <a:spcPct val="150000"/>
              </a:lnSpc>
            </a:pPr>
            <a:r>
              <a:rPr lang="en-US" sz="2800" dirty="0">
                <a:latin typeface="+mn-lt"/>
              </a:rPr>
              <a:t>AI systems should:</a:t>
            </a:r>
          </a:p>
          <a:p>
            <a:pPr>
              <a:lnSpc>
                <a:spcPct val="150000"/>
              </a:lnSpc>
            </a:pPr>
            <a:r>
              <a:rPr lang="en-US" sz="2800" dirty="0">
                <a:latin typeface="+mn-lt"/>
              </a:rPr>
              <a:t>- help people, </a:t>
            </a:r>
          </a:p>
          <a:p>
            <a:pPr>
              <a:lnSpc>
                <a:spcPct val="150000"/>
              </a:lnSpc>
            </a:pPr>
            <a:r>
              <a:rPr lang="en-US" sz="2800" dirty="0">
                <a:latin typeface="+mn-lt"/>
              </a:rPr>
              <a:t>- improve quality of life, </a:t>
            </a:r>
          </a:p>
          <a:p>
            <a:pPr>
              <a:lnSpc>
                <a:spcPct val="150000"/>
              </a:lnSpc>
            </a:pPr>
            <a:r>
              <a:rPr lang="en-US" sz="2800" dirty="0">
                <a:latin typeface="+mn-lt"/>
              </a:rPr>
              <a:t>- and create fair outcomes for users.</a:t>
            </a:r>
          </a:p>
        </p:txBody>
      </p:sp>
    </p:spTree>
    <p:extLst>
      <p:ext uri="{BB962C8B-B14F-4D97-AF65-F5344CB8AC3E}">
        <p14:creationId xmlns:p14="http://schemas.microsoft.com/office/powerpoint/2010/main" val="299857720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1ED0A-A666-1B04-D617-536E2E9E69A7}"/>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E085BC49-4C87-C105-D7E9-576156CB525F}"/>
              </a:ext>
            </a:extLst>
          </p:cNvPr>
          <p:cNvSpPr>
            <a:spLocks noGrp="1"/>
          </p:cNvSpPr>
          <p:nvPr>
            <p:ph type="title"/>
          </p:nvPr>
        </p:nvSpPr>
        <p:spPr>
          <a:xfrm>
            <a:off x="558006" y="406262"/>
            <a:ext cx="8027988" cy="863600"/>
          </a:xfrm>
        </p:spPr>
        <p:txBody>
          <a:bodyPr>
            <a:normAutofit/>
          </a:bodyPr>
          <a:lstStyle/>
          <a:p>
            <a:pPr algn="ctr" eaLnBrk="1" fontAlgn="auto" hangingPunct="1">
              <a:spcAft>
                <a:spcPts val="0"/>
              </a:spcAft>
              <a:defRPr/>
            </a:pPr>
            <a:r>
              <a:rPr lang="en-AU" sz="4800" b="1" dirty="0">
                <a:solidFill>
                  <a:srgbClr val="00B0F0"/>
                </a:solidFill>
              </a:rPr>
              <a:t>Pre-Class Discussion</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025C0A80-D4FC-93C2-502A-DA887CDA8A78}"/>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92EF6BB7-46C0-85F3-DC15-220ED383CB6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56</a:t>
            </a:fld>
            <a:endParaRPr lang="en-US" altLang="en-US" sz="900">
              <a:solidFill>
                <a:srgbClr val="FFFFFF"/>
              </a:solidFill>
            </a:endParaRPr>
          </a:p>
        </p:txBody>
      </p:sp>
      <p:pic>
        <p:nvPicPr>
          <p:cNvPr id="22534" name="Picture 5">
            <a:extLst>
              <a:ext uri="{FF2B5EF4-FFF2-40B4-BE49-F238E27FC236}">
                <a16:creationId xmlns:a16="http://schemas.microsoft.com/office/drawing/2014/main" id="{EFD33B22-CC2A-2E2B-5DF2-977EA5FAB3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60C8FBED-4EDD-A87E-CFC1-5E24DBBB6F2E}"/>
              </a:ext>
            </a:extLst>
          </p:cNvPr>
          <p:cNvSpPr txBox="1"/>
          <p:nvPr/>
        </p:nvSpPr>
        <p:spPr>
          <a:xfrm>
            <a:off x="0" y="1686535"/>
            <a:ext cx="9144000" cy="3257174"/>
          </a:xfrm>
          <a:prstGeom prst="rect">
            <a:avLst/>
          </a:prstGeom>
          <a:noFill/>
        </p:spPr>
        <p:txBody>
          <a:bodyPr wrap="square">
            <a:spAutoFit/>
          </a:bodyPr>
          <a:lstStyle/>
          <a:p>
            <a:pPr>
              <a:lnSpc>
                <a:spcPct val="150000"/>
              </a:lnSpc>
            </a:pPr>
            <a:r>
              <a:rPr lang="en-US" sz="2800" b="1" dirty="0">
                <a:latin typeface="+mn-lt"/>
              </a:rPr>
              <a:t>6. AI systems should be transparent</a:t>
            </a:r>
          </a:p>
          <a:p>
            <a:pPr>
              <a:lnSpc>
                <a:spcPct val="150000"/>
              </a:lnSpc>
            </a:pPr>
            <a:r>
              <a:rPr lang="en-US" sz="2800" dirty="0">
                <a:latin typeface="+mn-lt"/>
              </a:rPr>
              <a:t>Users should understand:</a:t>
            </a:r>
          </a:p>
          <a:p>
            <a:pPr>
              <a:lnSpc>
                <a:spcPct val="150000"/>
              </a:lnSpc>
            </a:pPr>
            <a:r>
              <a:rPr lang="en-US" sz="2800" dirty="0">
                <a:latin typeface="+mn-lt"/>
              </a:rPr>
              <a:t>- what the AI system does, </a:t>
            </a:r>
          </a:p>
          <a:p>
            <a:pPr>
              <a:lnSpc>
                <a:spcPct val="150000"/>
              </a:lnSpc>
            </a:pPr>
            <a:r>
              <a:rPr lang="en-US" sz="2800" dirty="0">
                <a:latin typeface="+mn-lt"/>
              </a:rPr>
              <a:t>- why decisions are made, </a:t>
            </a:r>
          </a:p>
          <a:p>
            <a:pPr>
              <a:lnSpc>
                <a:spcPct val="150000"/>
              </a:lnSpc>
            </a:pPr>
            <a:r>
              <a:rPr lang="en-US" sz="2800" dirty="0">
                <a:latin typeface="+mn-lt"/>
              </a:rPr>
              <a:t>- and how their information is used.</a:t>
            </a:r>
          </a:p>
        </p:txBody>
      </p:sp>
    </p:spTree>
    <p:extLst>
      <p:ext uri="{BB962C8B-B14F-4D97-AF65-F5344CB8AC3E}">
        <p14:creationId xmlns:p14="http://schemas.microsoft.com/office/powerpoint/2010/main" val="13184738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52C37-4B31-2142-E9A9-5932BE4B4EDD}"/>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4EA784DD-C43E-4251-BB9C-A22580CA758A}"/>
              </a:ext>
            </a:extLst>
          </p:cNvPr>
          <p:cNvSpPr>
            <a:spLocks noGrp="1"/>
          </p:cNvSpPr>
          <p:nvPr>
            <p:ph type="title"/>
          </p:nvPr>
        </p:nvSpPr>
        <p:spPr>
          <a:xfrm>
            <a:off x="558006" y="406262"/>
            <a:ext cx="8027988" cy="863600"/>
          </a:xfrm>
        </p:spPr>
        <p:txBody>
          <a:bodyPr>
            <a:normAutofit/>
          </a:bodyPr>
          <a:lstStyle/>
          <a:p>
            <a:pPr algn="ctr" eaLnBrk="1" fontAlgn="auto" hangingPunct="1">
              <a:spcAft>
                <a:spcPts val="0"/>
              </a:spcAft>
              <a:defRPr/>
            </a:pPr>
            <a:r>
              <a:rPr lang="en-AU" sz="4800" b="1" dirty="0">
                <a:solidFill>
                  <a:srgbClr val="00B0F0"/>
                </a:solidFill>
              </a:rPr>
              <a:t>Pre-Class Discussion</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81117F6A-CC05-C47B-810D-0E39C06B481B}"/>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141ED3F8-9827-7D2D-62DA-1F86FA8A1B9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57</a:t>
            </a:fld>
            <a:endParaRPr lang="en-US" altLang="en-US" sz="900">
              <a:solidFill>
                <a:srgbClr val="FFFFFF"/>
              </a:solidFill>
            </a:endParaRPr>
          </a:p>
        </p:txBody>
      </p:sp>
      <p:pic>
        <p:nvPicPr>
          <p:cNvPr id="22534" name="Picture 5">
            <a:extLst>
              <a:ext uri="{FF2B5EF4-FFF2-40B4-BE49-F238E27FC236}">
                <a16:creationId xmlns:a16="http://schemas.microsoft.com/office/drawing/2014/main" id="{BC65D651-4C24-5153-BEB7-1DE81E3871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FAFFB71F-7077-E430-46D6-605E6C4EC163}"/>
              </a:ext>
            </a:extLst>
          </p:cNvPr>
          <p:cNvSpPr txBox="1"/>
          <p:nvPr/>
        </p:nvSpPr>
        <p:spPr>
          <a:xfrm>
            <a:off x="0" y="1686535"/>
            <a:ext cx="9144000" cy="3257174"/>
          </a:xfrm>
          <a:prstGeom prst="rect">
            <a:avLst/>
          </a:prstGeom>
          <a:noFill/>
        </p:spPr>
        <p:txBody>
          <a:bodyPr wrap="square">
            <a:spAutoFit/>
          </a:bodyPr>
          <a:lstStyle/>
          <a:p>
            <a:pPr>
              <a:lnSpc>
                <a:spcPct val="150000"/>
              </a:lnSpc>
            </a:pPr>
            <a:r>
              <a:rPr lang="en-US" sz="2800" b="1" dirty="0">
                <a:latin typeface="+mn-lt"/>
              </a:rPr>
              <a:t>7. </a:t>
            </a:r>
            <a:r>
              <a:rPr lang="en-US" sz="2800" b="1" dirty="0" err="1">
                <a:latin typeface="+mn-lt"/>
              </a:rPr>
              <a:t>Organisations</a:t>
            </a:r>
            <a:r>
              <a:rPr lang="en-US" sz="2800" b="1" dirty="0">
                <a:latin typeface="+mn-lt"/>
              </a:rPr>
              <a:t> must be accountable</a:t>
            </a:r>
          </a:p>
          <a:p>
            <a:pPr>
              <a:lnSpc>
                <a:spcPct val="150000"/>
              </a:lnSpc>
            </a:pPr>
            <a:r>
              <a:rPr lang="en-US" sz="2800" dirty="0">
                <a:latin typeface="+mn-lt"/>
              </a:rPr>
              <a:t>Companies using AI should:</a:t>
            </a:r>
          </a:p>
          <a:p>
            <a:pPr>
              <a:lnSpc>
                <a:spcPct val="150000"/>
              </a:lnSpc>
            </a:pPr>
            <a:r>
              <a:rPr lang="en-US" sz="2800" dirty="0">
                <a:latin typeface="+mn-lt"/>
              </a:rPr>
              <a:t>- understand the risks, </a:t>
            </a:r>
          </a:p>
          <a:p>
            <a:pPr>
              <a:lnSpc>
                <a:spcPct val="150000"/>
              </a:lnSpc>
            </a:pPr>
            <a:r>
              <a:rPr lang="en-US" sz="2800" dirty="0">
                <a:latin typeface="+mn-lt"/>
              </a:rPr>
              <a:t>- manage ethical concerns, </a:t>
            </a:r>
          </a:p>
          <a:p>
            <a:pPr>
              <a:lnSpc>
                <a:spcPct val="150000"/>
              </a:lnSpc>
            </a:pPr>
            <a:r>
              <a:rPr lang="en-US" sz="2800" dirty="0">
                <a:latin typeface="+mn-lt"/>
              </a:rPr>
              <a:t>- and take responsibility for outcomes.</a:t>
            </a:r>
          </a:p>
        </p:txBody>
      </p:sp>
    </p:spTree>
    <p:extLst>
      <p:ext uri="{BB962C8B-B14F-4D97-AF65-F5344CB8AC3E}">
        <p14:creationId xmlns:p14="http://schemas.microsoft.com/office/powerpoint/2010/main" val="226571837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F93A5-B666-9B2C-EE6F-CE1A23F36A0E}"/>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E0CB5FCB-8461-724B-ADFD-6D581EDDADE6}"/>
              </a:ext>
            </a:extLst>
          </p:cNvPr>
          <p:cNvSpPr>
            <a:spLocks noGrp="1"/>
          </p:cNvSpPr>
          <p:nvPr>
            <p:ph type="title"/>
          </p:nvPr>
        </p:nvSpPr>
        <p:spPr>
          <a:xfrm>
            <a:off x="558006" y="406262"/>
            <a:ext cx="8027988" cy="863600"/>
          </a:xfrm>
        </p:spPr>
        <p:txBody>
          <a:bodyPr>
            <a:normAutofit/>
          </a:bodyPr>
          <a:lstStyle/>
          <a:p>
            <a:pPr algn="ctr" eaLnBrk="1" fontAlgn="auto" hangingPunct="1">
              <a:spcAft>
                <a:spcPts val="0"/>
              </a:spcAft>
              <a:defRPr/>
            </a:pPr>
            <a:r>
              <a:rPr lang="en-AU" sz="4800" b="1" dirty="0">
                <a:solidFill>
                  <a:srgbClr val="00B0F0"/>
                </a:solidFill>
              </a:rPr>
              <a:t>Pre-Class Discussion</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097C32B5-0CBC-B09A-0908-691A5BD4D0AC}"/>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8AB699B1-1AE5-0DA9-F95A-F8B3800E484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58</a:t>
            </a:fld>
            <a:endParaRPr lang="en-US" altLang="en-US" sz="900">
              <a:solidFill>
                <a:srgbClr val="FFFFFF"/>
              </a:solidFill>
            </a:endParaRPr>
          </a:p>
        </p:txBody>
      </p:sp>
      <p:pic>
        <p:nvPicPr>
          <p:cNvPr id="22534" name="Picture 5">
            <a:extLst>
              <a:ext uri="{FF2B5EF4-FFF2-40B4-BE49-F238E27FC236}">
                <a16:creationId xmlns:a16="http://schemas.microsoft.com/office/drawing/2014/main" id="{98469FB0-C403-0A1A-C795-4DE6A587F9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7519AE17-50AD-AC63-6791-B43410327EB1}"/>
              </a:ext>
            </a:extLst>
          </p:cNvPr>
          <p:cNvSpPr txBox="1"/>
          <p:nvPr/>
        </p:nvSpPr>
        <p:spPr>
          <a:xfrm>
            <a:off x="0" y="1686535"/>
            <a:ext cx="9144000" cy="2610843"/>
          </a:xfrm>
          <a:prstGeom prst="rect">
            <a:avLst/>
          </a:prstGeom>
          <a:noFill/>
        </p:spPr>
        <p:txBody>
          <a:bodyPr wrap="square">
            <a:spAutoFit/>
          </a:bodyPr>
          <a:lstStyle/>
          <a:p>
            <a:pPr>
              <a:lnSpc>
                <a:spcPct val="150000"/>
              </a:lnSpc>
            </a:pPr>
            <a:r>
              <a:rPr lang="en-US" sz="2800" b="1" dirty="0">
                <a:latin typeface="+mn-lt"/>
              </a:rPr>
              <a:t>8. Ethical guidelines are important</a:t>
            </a:r>
          </a:p>
          <a:p>
            <a:pPr>
              <a:lnSpc>
                <a:spcPct val="150000"/>
              </a:lnSpc>
            </a:pPr>
            <a:r>
              <a:rPr lang="en-US" sz="2800" dirty="0">
                <a:latin typeface="+mn-lt"/>
              </a:rPr>
              <a:t>The video explains that professionals developed AI ethics guidelines and a “Body of Knowledge (BOK)” to help </a:t>
            </a:r>
            <a:r>
              <a:rPr lang="en-US" sz="2800" dirty="0" err="1">
                <a:latin typeface="+mn-lt"/>
              </a:rPr>
              <a:t>organisations</a:t>
            </a:r>
            <a:r>
              <a:rPr lang="en-US" sz="2800" dirty="0">
                <a:latin typeface="+mn-lt"/>
              </a:rPr>
              <a:t> use AI responsibly.</a:t>
            </a:r>
          </a:p>
        </p:txBody>
      </p:sp>
    </p:spTree>
    <p:extLst>
      <p:ext uri="{BB962C8B-B14F-4D97-AF65-F5344CB8AC3E}">
        <p14:creationId xmlns:p14="http://schemas.microsoft.com/office/powerpoint/2010/main" val="105260730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FEA20-CC49-8DC1-76E7-E369DB44B573}"/>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63FDE562-E285-7D6B-B89E-49E646AD260C}"/>
              </a:ext>
            </a:extLst>
          </p:cNvPr>
          <p:cNvSpPr>
            <a:spLocks noGrp="1"/>
          </p:cNvSpPr>
          <p:nvPr>
            <p:ph type="title"/>
          </p:nvPr>
        </p:nvSpPr>
        <p:spPr>
          <a:xfrm>
            <a:off x="558006" y="406262"/>
            <a:ext cx="8027988" cy="863600"/>
          </a:xfrm>
        </p:spPr>
        <p:txBody>
          <a:bodyPr>
            <a:normAutofit/>
          </a:bodyPr>
          <a:lstStyle/>
          <a:p>
            <a:pPr algn="ctr" eaLnBrk="1" fontAlgn="auto" hangingPunct="1">
              <a:spcAft>
                <a:spcPts val="0"/>
              </a:spcAft>
              <a:defRPr/>
            </a:pPr>
            <a:r>
              <a:rPr lang="en-AU" sz="4800" b="1" dirty="0">
                <a:solidFill>
                  <a:srgbClr val="00B0F0"/>
                </a:solidFill>
              </a:rPr>
              <a:t>Pre-Class Discussion</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E218BCE5-07AE-B181-4279-6D6F63CCE1FD}"/>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90EECE85-80CD-7C7C-210B-42A0A883961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59</a:t>
            </a:fld>
            <a:endParaRPr lang="en-US" altLang="en-US" sz="900">
              <a:solidFill>
                <a:srgbClr val="FFFFFF"/>
              </a:solidFill>
            </a:endParaRPr>
          </a:p>
        </p:txBody>
      </p:sp>
      <p:pic>
        <p:nvPicPr>
          <p:cNvPr id="22534" name="Picture 5">
            <a:extLst>
              <a:ext uri="{FF2B5EF4-FFF2-40B4-BE49-F238E27FC236}">
                <a16:creationId xmlns:a16="http://schemas.microsoft.com/office/drawing/2014/main" id="{EE4AED92-FBCA-01E0-1DA6-5B4DCF3D04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46A5F9FE-ADE4-AAE9-F913-654A0FB34F70}"/>
              </a:ext>
            </a:extLst>
          </p:cNvPr>
          <p:cNvSpPr txBox="1"/>
          <p:nvPr/>
        </p:nvSpPr>
        <p:spPr>
          <a:xfrm>
            <a:off x="0" y="1686535"/>
            <a:ext cx="9144000" cy="3257174"/>
          </a:xfrm>
          <a:prstGeom prst="rect">
            <a:avLst/>
          </a:prstGeom>
          <a:noFill/>
        </p:spPr>
        <p:txBody>
          <a:bodyPr wrap="square">
            <a:spAutoFit/>
          </a:bodyPr>
          <a:lstStyle/>
          <a:p>
            <a:pPr>
              <a:lnSpc>
                <a:spcPct val="150000"/>
              </a:lnSpc>
            </a:pPr>
            <a:r>
              <a:rPr lang="en-US" sz="2800" b="1" dirty="0">
                <a:latin typeface="+mn-lt"/>
              </a:rPr>
              <a:t>9. Ethical AI builds trust</a:t>
            </a:r>
          </a:p>
          <a:p>
            <a:pPr>
              <a:lnSpc>
                <a:spcPct val="150000"/>
              </a:lnSpc>
            </a:pPr>
            <a:r>
              <a:rPr lang="en-US" sz="2800" dirty="0">
                <a:latin typeface="+mn-lt"/>
              </a:rPr>
              <a:t>When AI is used honestly, fairly, and responsibly:</a:t>
            </a:r>
          </a:p>
          <a:p>
            <a:pPr>
              <a:lnSpc>
                <a:spcPct val="150000"/>
              </a:lnSpc>
            </a:pPr>
            <a:r>
              <a:rPr lang="en-US" sz="2800" dirty="0">
                <a:latin typeface="+mn-lt"/>
              </a:rPr>
              <a:t>- users trust the technology more, </a:t>
            </a:r>
          </a:p>
          <a:p>
            <a:pPr>
              <a:lnSpc>
                <a:spcPct val="150000"/>
              </a:lnSpc>
            </a:pPr>
            <a:r>
              <a:rPr lang="en-US" sz="2800" dirty="0">
                <a:latin typeface="+mn-lt"/>
              </a:rPr>
              <a:t>- businesses improve their reputation, </a:t>
            </a:r>
          </a:p>
          <a:p>
            <a:pPr>
              <a:lnSpc>
                <a:spcPct val="150000"/>
              </a:lnSpc>
            </a:pPr>
            <a:r>
              <a:rPr lang="en-US" sz="2800" dirty="0">
                <a:latin typeface="+mn-lt"/>
              </a:rPr>
              <a:t>- and society benefits.</a:t>
            </a:r>
          </a:p>
        </p:txBody>
      </p:sp>
    </p:spTree>
    <p:extLst>
      <p:ext uri="{BB962C8B-B14F-4D97-AF65-F5344CB8AC3E}">
        <p14:creationId xmlns:p14="http://schemas.microsoft.com/office/powerpoint/2010/main" val="245373712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16C49-46EE-1E49-9099-E42CEE4D1077}"/>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E1F30D13-E02B-C577-1CBF-6CFA923390A0}"/>
              </a:ext>
            </a:extLst>
          </p:cNvPr>
          <p:cNvSpPr>
            <a:spLocks noGrp="1"/>
          </p:cNvSpPr>
          <p:nvPr>
            <p:ph type="title"/>
          </p:nvPr>
        </p:nvSpPr>
        <p:spPr>
          <a:xfrm>
            <a:off x="558006" y="406262"/>
            <a:ext cx="8027988" cy="863600"/>
          </a:xfrm>
        </p:spPr>
        <p:txBody>
          <a:bodyPr>
            <a:normAutofit/>
          </a:bodyPr>
          <a:lstStyle/>
          <a:p>
            <a:pPr algn="ctr" eaLnBrk="1" fontAlgn="auto" hangingPunct="1">
              <a:spcAft>
                <a:spcPts val="0"/>
              </a:spcAft>
              <a:defRPr/>
            </a:pPr>
            <a:r>
              <a:rPr lang="en-AU" sz="4800" b="1" dirty="0">
                <a:solidFill>
                  <a:srgbClr val="00B0F0"/>
                </a:solidFill>
              </a:rPr>
              <a:t>Pre-Class Discussion</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BB640722-F9BF-6DCC-A465-62E512C654F8}"/>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2825136C-6E67-8AB9-A8EF-41506F12C79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60</a:t>
            </a:fld>
            <a:endParaRPr lang="en-US" altLang="en-US" sz="900">
              <a:solidFill>
                <a:srgbClr val="FFFFFF"/>
              </a:solidFill>
            </a:endParaRPr>
          </a:p>
        </p:txBody>
      </p:sp>
      <p:pic>
        <p:nvPicPr>
          <p:cNvPr id="22534" name="Picture 5">
            <a:extLst>
              <a:ext uri="{FF2B5EF4-FFF2-40B4-BE49-F238E27FC236}">
                <a16:creationId xmlns:a16="http://schemas.microsoft.com/office/drawing/2014/main" id="{823F3582-169B-D2F5-9A91-0B6EE9D789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860DE372-2296-D45A-A0ED-BE9451661F29}"/>
              </a:ext>
            </a:extLst>
          </p:cNvPr>
          <p:cNvSpPr txBox="1"/>
          <p:nvPr/>
        </p:nvSpPr>
        <p:spPr>
          <a:xfrm>
            <a:off x="0" y="1686535"/>
            <a:ext cx="9144000" cy="5196166"/>
          </a:xfrm>
          <a:prstGeom prst="rect">
            <a:avLst/>
          </a:prstGeom>
          <a:noFill/>
        </p:spPr>
        <p:txBody>
          <a:bodyPr wrap="square">
            <a:spAutoFit/>
          </a:bodyPr>
          <a:lstStyle/>
          <a:p>
            <a:pPr>
              <a:lnSpc>
                <a:spcPct val="150000"/>
              </a:lnSpc>
            </a:pPr>
            <a:r>
              <a:rPr lang="en-US" sz="2800" b="1" dirty="0">
                <a:latin typeface="+mn-lt"/>
              </a:rPr>
              <a:t>10. Main lesson for IT students</a:t>
            </a:r>
          </a:p>
          <a:p>
            <a:pPr>
              <a:lnSpc>
                <a:spcPct val="150000"/>
              </a:lnSpc>
            </a:pPr>
            <a:r>
              <a:rPr lang="en-US" sz="2800" dirty="0">
                <a:latin typeface="+mn-lt"/>
              </a:rPr>
              <a:t>Technology should not only be smart and efficient. It should also be:</a:t>
            </a:r>
          </a:p>
          <a:p>
            <a:pPr>
              <a:lnSpc>
                <a:spcPct val="150000"/>
              </a:lnSpc>
            </a:pPr>
            <a:r>
              <a:rPr lang="en-US" sz="2800" dirty="0">
                <a:latin typeface="+mn-lt"/>
              </a:rPr>
              <a:t>- ethical, </a:t>
            </a:r>
          </a:p>
          <a:p>
            <a:pPr>
              <a:lnSpc>
                <a:spcPct val="150000"/>
              </a:lnSpc>
            </a:pPr>
            <a:r>
              <a:rPr lang="en-US" sz="2800" dirty="0">
                <a:latin typeface="+mn-lt"/>
              </a:rPr>
              <a:t>- fair, </a:t>
            </a:r>
          </a:p>
          <a:p>
            <a:pPr>
              <a:lnSpc>
                <a:spcPct val="150000"/>
              </a:lnSpc>
            </a:pPr>
            <a:r>
              <a:rPr lang="en-US" sz="2800" dirty="0">
                <a:latin typeface="+mn-lt"/>
              </a:rPr>
              <a:t>- transparent, </a:t>
            </a:r>
          </a:p>
          <a:p>
            <a:pPr>
              <a:lnSpc>
                <a:spcPct val="150000"/>
              </a:lnSpc>
            </a:pPr>
            <a:r>
              <a:rPr lang="en-US" sz="2800" dirty="0">
                <a:latin typeface="+mn-lt"/>
              </a:rPr>
              <a:t>- secure, </a:t>
            </a:r>
          </a:p>
          <a:p>
            <a:pPr>
              <a:lnSpc>
                <a:spcPct val="150000"/>
              </a:lnSpc>
            </a:pPr>
            <a:r>
              <a:rPr lang="en-US" sz="2800" dirty="0">
                <a:latin typeface="+mn-lt"/>
              </a:rPr>
              <a:t>- and helpful for society.</a:t>
            </a:r>
          </a:p>
        </p:txBody>
      </p:sp>
    </p:spTree>
    <p:extLst>
      <p:ext uri="{BB962C8B-B14F-4D97-AF65-F5344CB8AC3E}">
        <p14:creationId xmlns:p14="http://schemas.microsoft.com/office/powerpoint/2010/main" val="315173356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CDD48-02BC-E493-4D2C-645A65D65985}"/>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8C109885-5526-C77F-092E-DF7B17CA9EF4}"/>
              </a:ext>
            </a:extLst>
          </p:cNvPr>
          <p:cNvSpPr>
            <a:spLocks noGrp="1"/>
          </p:cNvSpPr>
          <p:nvPr>
            <p:ph type="title"/>
          </p:nvPr>
        </p:nvSpPr>
        <p:spPr>
          <a:xfrm>
            <a:off x="558006" y="406262"/>
            <a:ext cx="8027988" cy="863600"/>
          </a:xfrm>
        </p:spPr>
        <p:txBody>
          <a:bodyPr>
            <a:normAutofit/>
          </a:bodyPr>
          <a:lstStyle/>
          <a:p>
            <a:pPr algn="ctr" eaLnBrk="1" fontAlgn="auto" hangingPunct="1">
              <a:spcAft>
                <a:spcPts val="0"/>
              </a:spcAft>
              <a:defRPr/>
            </a:pPr>
            <a:r>
              <a:rPr lang="en-AU" b="1" dirty="0">
                <a:solidFill>
                  <a:srgbClr val="00B0F0"/>
                </a:solidFill>
              </a:rPr>
              <a:t>Discussion Questions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7A0382A4-74F6-E347-17D7-6217E544CB67}"/>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4B2BABDC-D3DB-C966-3A99-2B33BF6643D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61</a:t>
            </a:fld>
            <a:endParaRPr lang="en-US" altLang="en-US" sz="900">
              <a:solidFill>
                <a:srgbClr val="FFFFFF"/>
              </a:solidFill>
            </a:endParaRPr>
          </a:p>
        </p:txBody>
      </p:sp>
      <p:pic>
        <p:nvPicPr>
          <p:cNvPr id="22534" name="Picture 5">
            <a:extLst>
              <a:ext uri="{FF2B5EF4-FFF2-40B4-BE49-F238E27FC236}">
                <a16:creationId xmlns:a16="http://schemas.microsoft.com/office/drawing/2014/main" id="{2768C0E5-459C-707F-559A-2DDDED3FAF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C6F41D5E-5078-17DD-9167-0D936DEA804B}"/>
              </a:ext>
            </a:extLst>
          </p:cNvPr>
          <p:cNvSpPr txBox="1"/>
          <p:nvPr/>
        </p:nvSpPr>
        <p:spPr>
          <a:xfrm>
            <a:off x="0" y="1686535"/>
            <a:ext cx="9144000" cy="4549835"/>
          </a:xfrm>
          <a:prstGeom prst="rect">
            <a:avLst/>
          </a:prstGeom>
          <a:noFill/>
        </p:spPr>
        <p:txBody>
          <a:bodyPr wrap="square">
            <a:spAutoFit/>
          </a:bodyPr>
          <a:lstStyle/>
          <a:p>
            <a:pPr>
              <a:lnSpc>
                <a:spcPct val="150000"/>
              </a:lnSpc>
            </a:pPr>
            <a:r>
              <a:rPr lang="en-US" sz="2800" b="1" dirty="0">
                <a:latin typeface="+mn-lt"/>
              </a:rPr>
              <a:t>1. What is Artificial Intelligence (AI)?</a:t>
            </a:r>
          </a:p>
          <a:p>
            <a:pPr>
              <a:lnSpc>
                <a:spcPct val="150000"/>
              </a:lnSpc>
            </a:pPr>
            <a:r>
              <a:rPr lang="en-US" sz="2800" dirty="0">
                <a:latin typeface="+mn-lt"/>
              </a:rPr>
              <a:t>AI is technology that allows computers and systems to perform tasks that normally require human intelligence, such as decision-making or automation.</a:t>
            </a:r>
          </a:p>
          <a:p>
            <a:pPr>
              <a:lnSpc>
                <a:spcPct val="150000"/>
              </a:lnSpc>
            </a:pPr>
            <a:r>
              <a:rPr lang="en-US" sz="2800" b="1" dirty="0">
                <a:latin typeface="+mn-lt"/>
              </a:rPr>
              <a:t>2. How is AI used in daily life?</a:t>
            </a:r>
          </a:p>
          <a:p>
            <a:pPr>
              <a:lnSpc>
                <a:spcPct val="150000"/>
              </a:lnSpc>
            </a:pPr>
            <a:r>
              <a:rPr lang="en-US" sz="2800" dirty="0">
                <a:latin typeface="+mn-lt"/>
              </a:rPr>
              <a:t>AI is used in online shopping, customer support chatbots, recommendations, automation, and many business systems.</a:t>
            </a:r>
          </a:p>
        </p:txBody>
      </p:sp>
    </p:spTree>
    <p:extLst>
      <p:ext uri="{BB962C8B-B14F-4D97-AF65-F5344CB8AC3E}">
        <p14:creationId xmlns:p14="http://schemas.microsoft.com/office/powerpoint/2010/main" val="3237882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1000"/>
                                        <p:tgtEl>
                                          <p:spTgt spid="6">
                                            <p:txEl>
                                              <p:pRg st="1" end="1"/>
                                            </p:txEl>
                                          </p:spTgt>
                                        </p:tgtEl>
                                      </p:cBhvr>
                                    </p:animEffect>
                                    <p:anim calcmode="lin" valueType="num">
                                      <p:cBhvr>
                                        <p:cTn id="8"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xEl>
                                              <p:pRg st="3" end="3"/>
                                            </p:txEl>
                                          </p:spTgt>
                                        </p:tgtEl>
                                        <p:attrNameLst>
                                          <p:attrName>style.visibility</p:attrName>
                                        </p:attrNameLst>
                                      </p:cBhvr>
                                      <p:to>
                                        <p:strVal val="visible"/>
                                      </p:to>
                                    </p:set>
                                    <p:animEffect transition="in" filter="fade">
                                      <p:cBhvr>
                                        <p:cTn id="12" dur="1000"/>
                                        <p:tgtEl>
                                          <p:spTgt spid="6">
                                            <p:txEl>
                                              <p:pRg st="3" end="3"/>
                                            </p:txEl>
                                          </p:spTgt>
                                        </p:tgtEl>
                                      </p:cBhvr>
                                    </p:animEffect>
                                    <p:anim calcmode="lin" valueType="num">
                                      <p:cBhvr>
                                        <p:cTn id="13"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ECAC0-4B4C-32F6-3B24-355AC9BCD75D}"/>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C6ACBA4B-1EA8-04AB-65EB-2C51FC660487}"/>
              </a:ext>
            </a:extLst>
          </p:cNvPr>
          <p:cNvSpPr>
            <a:spLocks noGrp="1"/>
          </p:cNvSpPr>
          <p:nvPr>
            <p:ph type="title"/>
          </p:nvPr>
        </p:nvSpPr>
        <p:spPr>
          <a:xfrm>
            <a:off x="558006" y="406262"/>
            <a:ext cx="8027988" cy="863600"/>
          </a:xfrm>
        </p:spPr>
        <p:txBody>
          <a:bodyPr>
            <a:normAutofit/>
          </a:bodyPr>
          <a:lstStyle/>
          <a:p>
            <a:pPr algn="ctr" eaLnBrk="1" fontAlgn="auto" hangingPunct="1">
              <a:spcAft>
                <a:spcPts val="0"/>
              </a:spcAft>
              <a:defRPr/>
            </a:pPr>
            <a:r>
              <a:rPr lang="en-AU" b="1" dirty="0">
                <a:solidFill>
                  <a:srgbClr val="00B0F0"/>
                </a:solidFill>
              </a:rPr>
              <a:t>Discussion Questions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2E5BFB0C-94EB-1ECE-3120-370F33A84FFC}"/>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151A7854-BE52-671E-18AB-878E41CCB31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62</a:t>
            </a:fld>
            <a:endParaRPr lang="en-US" altLang="en-US" sz="900">
              <a:solidFill>
                <a:srgbClr val="FFFFFF"/>
              </a:solidFill>
            </a:endParaRPr>
          </a:p>
        </p:txBody>
      </p:sp>
      <p:pic>
        <p:nvPicPr>
          <p:cNvPr id="22534" name="Picture 5">
            <a:extLst>
              <a:ext uri="{FF2B5EF4-FFF2-40B4-BE49-F238E27FC236}">
                <a16:creationId xmlns:a16="http://schemas.microsoft.com/office/drawing/2014/main" id="{28EF5C3B-FC9D-80E2-6419-5FDA9F8ACF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79D5E770-EACA-0C03-D3D9-0495A89A772A}"/>
              </a:ext>
            </a:extLst>
          </p:cNvPr>
          <p:cNvSpPr txBox="1"/>
          <p:nvPr/>
        </p:nvSpPr>
        <p:spPr>
          <a:xfrm>
            <a:off x="0" y="1686535"/>
            <a:ext cx="9144000" cy="4549835"/>
          </a:xfrm>
          <a:prstGeom prst="rect">
            <a:avLst/>
          </a:prstGeom>
          <a:noFill/>
        </p:spPr>
        <p:txBody>
          <a:bodyPr wrap="square">
            <a:spAutoFit/>
          </a:bodyPr>
          <a:lstStyle/>
          <a:p>
            <a:pPr>
              <a:lnSpc>
                <a:spcPct val="150000"/>
              </a:lnSpc>
            </a:pPr>
            <a:r>
              <a:rPr lang="en-US" sz="2800" b="1" dirty="0">
                <a:latin typeface="+mn-lt"/>
              </a:rPr>
              <a:t>3. What are some benefits of AI for businesses?</a:t>
            </a:r>
          </a:p>
          <a:p>
            <a:pPr>
              <a:lnSpc>
                <a:spcPct val="150000"/>
              </a:lnSpc>
            </a:pPr>
            <a:r>
              <a:rPr lang="en-US" sz="2800" dirty="0">
                <a:latin typeface="+mn-lt"/>
              </a:rPr>
              <a:t>AI can improve productivity, automate repetitive tasks, improve customer experience, and save time.</a:t>
            </a:r>
          </a:p>
          <a:p>
            <a:pPr>
              <a:lnSpc>
                <a:spcPct val="150000"/>
              </a:lnSpc>
            </a:pPr>
            <a:r>
              <a:rPr lang="en-US" sz="2800" b="1" dirty="0">
                <a:latin typeface="+mn-lt"/>
              </a:rPr>
              <a:t>4. Why are AI ethics important?</a:t>
            </a:r>
          </a:p>
          <a:p>
            <a:pPr>
              <a:lnSpc>
                <a:spcPct val="150000"/>
              </a:lnSpc>
            </a:pPr>
            <a:r>
              <a:rPr lang="en-US" sz="2800" dirty="0">
                <a:latin typeface="+mn-lt"/>
              </a:rPr>
              <a:t>AI ethics are important because AI systems can create unfair decisions, privacy problems, or harm if they are not used responsibly.</a:t>
            </a:r>
          </a:p>
        </p:txBody>
      </p:sp>
    </p:spTree>
    <p:extLst>
      <p:ext uri="{BB962C8B-B14F-4D97-AF65-F5344CB8AC3E}">
        <p14:creationId xmlns:p14="http://schemas.microsoft.com/office/powerpoint/2010/main" val="4217223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1000"/>
                                        <p:tgtEl>
                                          <p:spTgt spid="6">
                                            <p:txEl>
                                              <p:pRg st="1" end="1"/>
                                            </p:txEl>
                                          </p:spTgt>
                                        </p:tgtEl>
                                      </p:cBhvr>
                                    </p:animEffect>
                                    <p:anim calcmode="lin" valueType="num">
                                      <p:cBhvr>
                                        <p:cTn id="8"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xEl>
                                              <p:pRg st="3" end="3"/>
                                            </p:txEl>
                                          </p:spTgt>
                                        </p:tgtEl>
                                        <p:attrNameLst>
                                          <p:attrName>style.visibility</p:attrName>
                                        </p:attrNameLst>
                                      </p:cBhvr>
                                      <p:to>
                                        <p:strVal val="visible"/>
                                      </p:to>
                                    </p:set>
                                    <p:animEffect transition="in" filter="fade">
                                      <p:cBhvr>
                                        <p:cTn id="12" dur="1000"/>
                                        <p:tgtEl>
                                          <p:spTgt spid="6">
                                            <p:txEl>
                                              <p:pRg st="3" end="3"/>
                                            </p:txEl>
                                          </p:spTgt>
                                        </p:tgtEl>
                                      </p:cBhvr>
                                    </p:animEffect>
                                    <p:anim calcmode="lin" valueType="num">
                                      <p:cBhvr>
                                        <p:cTn id="13"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BCFD6-0C69-F853-6EAF-2425EEA67C40}"/>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44EE2E20-10F1-961A-0815-5D43D70FC1B5}"/>
              </a:ext>
            </a:extLst>
          </p:cNvPr>
          <p:cNvSpPr>
            <a:spLocks noGrp="1"/>
          </p:cNvSpPr>
          <p:nvPr>
            <p:ph type="title"/>
          </p:nvPr>
        </p:nvSpPr>
        <p:spPr>
          <a:xfrm>
            <a:off x="558006" y="406262"/>
            <a:ext cx="8027988" cy="863600"/>
          </a:xfrm>
        </p:spPr>
        <p:txBody>
          <a:bodyPr>
            <a:normAutofit/>
          </a:bodyPr>
          <a:lstStyle/>
          <a:p>
            <a:pPr algn="ctr" eaLnBrk="1" fontAlgn="auto" hangingPunct="1">
              <a:spcAft>
                <a:spcPts val="0"/>
              </a:spcAft>
              <a:defRPr/>
            </a:pPr>
            <a:r>
              <a:rPr lang="en-AU" b="1" dirty="0">
                <a:solidFill>
                  <a:srgbClr val="00B0F0"/>
                </a:solidFill>
              </a:rPr>
              <a:t>Discussion Questions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0737EF12-FC16-557D-DAF0-03011A5D6C56}"/>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2D4B38D1-F6FD-5A5E-0435-CCCAAABEA59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63</a:t>
            </a:fld>
            <a:endParaRPr lang="en-US" altLang="en-US" sz="900">
              <a:solidFill>
                <a:srgbClr val="FFFFFF"/>
              </a:solidFill>
            </a:endParaRPr>
          </a:p>
        </p:txBody>
      </p:sp>
      <p:pic>
        <p:nvPicPr>
          <p:cNvPr id="22534" name="Picture 5">
            <a:extLst>
              <a:ext uri="{FF2B5EF4-FFF2-40B4-BE49-F238E27FC236}">
                <a16:creationId xmlns:a16="http://schemas.microsoft.com/office/drawing/2014/main" id="{C0595336-3DB7-7FA0-81A0-5A529CBBE7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C75FF998-9E30-0A1D-2046-0DA495115673}"/>
              </a:ext>
            </a:extLst>
          </p:cNvPr>
          <p:cNvSpPr txBox="1"/>
          <p:nvPr/>
        </p:nvSpPr>
        <p:spPr>
          <a:xfrm>
            <a:off x="0" y="1686535"/>
            <a:ext cx="9144000" cy="3903504"/>
          </a:xfrm>
          <a:prstGeom prst="rect">
            <a:avLst/>
          </a:prstGeom>
          <a:noFill/>
        </p:spPr>
        <p:txBody>
          <a:bodyPr wrap="square">
            <a:spAutoFit/>
          </a:bodyPr>
          <a:lstStyle/>
          <a:p>
            <a:pPr>
              <a:lnSpc>
                <a:spcPct val="150000"/>
              </a:lnSpc>
            </a:pPr>
            <a:r>
              <a:rPr lang="en-US" sz="2800" b="1" dirty="0">
                <a:latin typeface="+mn-lt"/>
              </a:rPr>
              <a:t>5. What does “human-</a:t>
            </a:r>
            <a:r>
              <a:rPr lang="en-US" sz="2800" b="1" dirty="0" err="1">
                <a:latin typeface="+mn-lt"/>
              </a:rPr>
              <a:t>centred</a:t>
            </a:r>
            <a:r>
              <a:rPr lang="en-US" sz="2800" b="1" dirty="0">
                <a:latin typeface="+mn-lt"/>
              </a:rPr>
              <a:t> AI” mean?</a:t>
            </a:r>
          </a:p>
          <a:p>
            <a:pPr>
              <a:lnSpc>
                <a:spcPct val="150000"/>
              </a:lnSpc>
            </a:pPr>
            <a:r>
              <a:rPr lang="en-US" sz="2800" dirty="0">
                <a:latin typeface="+mn-lt"/>
              </a:rPr>
              <a:t>It means AI should be designed to help people and improve quality of life rather than harm users.</a:t>
            </a:r>
          </a:p>
          <a:p>
            <a:pPr>
              <a:lnSpc>
                <a:spcPct val="150000"/>
              </a:lnSpc>
            </a:pPr>
            <a:r>
              <a:rPr lang="en-US" sz="2800" b="1" dirty="0">
                <a:latin typeface="+mn-lt"/>
              </a:rPr>
              <a:t>6. Why should AI systems be transparent?</a:t>
            </a:r>
          </a:p>
          <a:p>
            <a:pPr>
              <a:lnSpc>
                <a:spcPct val="150000"/>
              </a:lnSpc>
            </a:pPr>
            <a:r>
              <a:rPr lang="en-US" sz="2800" dirty="0">
                <a:latin typeface="+mn-lt"/>
              </a:rPr>
              <a:t>Users should understand how AI systems work and how decisions are made to build trust and accountability.</a:t>
            </a:r>
          </a:p>
        </p:txBody>
      </p:sp>
    </p:spTree>
    <p:extLst>
      <p:ext uri="{BB962C8B-B14F-4D97-AF65-F5344CB8AC3E}">
        <p14:creationId xmlns:p14="http://schemas.microsoft.com/office/powerpoint/2010/main" val="1527499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1000"/>
                                        <p:tgtEl>
                                          <p:spTgt spid="6">
                                            <p:txEl>
                                              <p:pRg st="1" end="1"/>
                                            </p:txEl>
                                          </p:spTgt>
                                        </p:tgtEl>
                                      </p:cBhvr>
                                    </p:animEffect>
                                    <p:anim calcmode="lin" valueType="num">
                                      <p:cBhvr>
                                        <p:cTn id="8"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xEl>
                                              <p:pRg st="3" end="3"/>
                                            </p:txEl>
                                          </p:spTgt>
                                        </p:tgtEl>
                                        <p:attrNameLst>
                                          <p:attrName>style.visibility</p:attrName>
                                        </p:attrNameLst>
                                      </p:cBhvr>
                                      <p:to>
                                        <p:strVal val="visible"/>
                                      </p:to>
                                    </p:set>
                                    <p:animEffect transition="in" filter="fade">
                                      <p:cBhvr>
                                        <p:cTn id="12" dur="1000"/>
                                        <p:tgtEl>
                                          <p:spTgt spid="6">
                                            <p:txEl>
                                              <p:pRg st="3" end="3"/>
                                            </p:txEl>
                                          </p:spTgt>
                                        </p:tgtEl>
                                      </p:cBhvr>
                                    </p:animEffect>
                                    <p:anim calcmode="lin" valueType="num">
                                      <p:cBhvr>
                                        <p:cTn id="13"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A94F6-A65B-B2A5-0603-CF9FC863F43F}"/>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8119EEDA-B31A-F0F6-F6C4-246A5B023D31}"/>
              </a:ext>
            </a:extLst>
          </p:cNvPr>
          <p:cNvSpPr>
            <a:spLocks noGrp="1"/>
          </p:cNvSpPr>
          <p:nvPr>
            <p:ph type="title"/>
          </p:nvPr>
        </p:nvSpPr>
        <p:spPr>
          <a:xfrm>
            <a:off x="558006" y="406262"/>
            <a:ext cx="8027988" cy="863600"/>
          </a:xfrm>
        </p:spPr>
        <p:txBody>
          <a:bodyPr>
            <a:normAutofit/>
          </a:bodyPr>
          <a:lstStyle/>
          <a:p>
            <a:pPr algn="ctr" eaLnBrk="1" fontAlgn="auto" hangingPunct="1">
              <a:spcAft>
                <a:spcPts val="0"/>
              </a:spcAft>
              <a:defRPr/>
            </a:pPr>
            <a:r>
              <a:rPr lang="en-AU" b="1" dirty="0">
                <a:solidFill>
                  <a:srgbClr val="00B0F0"/>
                </a:solidFill>
              </a:rPr>
              <a:t>Discussion Questions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D2886731-30CE-3B54-EDFF-529D08772046}"/>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AEC82384-B13E-72ED-224B-44A050176E5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64</a:t>
            </a:fld>
            <a:endParaRPr lang="en-US" altLang="en-US" sz="900">
              <a:solidFill>
                <a:srgbClr val="FFFFFF"/>
              </a:solidFill>
            </a:endParaRPr>
          </a:p>
        </p:txBody>
      </p:sp>
      <p:pic>
        <p:nvPicPr>
          <p:cNvPr id="22534" name="Picture 5">
            <a:extLst>
              <a:ext uri="{FF2B5EF4-FFF2-40B4-BE49-F238E27FC236}">
                <a16:creationId xmlns:a16="http://schemas.microsoft.com/office/drawing/2014/main" id="{EA335188-3004-87A0-0E78-D8EAAE9CA4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CEB840E5-909F-5811-615F-ED62C5CA0EFF}"/>
              </a:ext>
            </a:extLst>
          </p:cNvPr>
          <p:cNvSpPr txBox="1"/>
          <p:nvPr/>
        </p:nvSpPr>
        <p:spPr>
          <a:xfrm>
            <a:off x="0" y="1686535"/>
            <a:ext cx="9144000" cy="4549835"/>
          </a:xfrm>
          <a:prstGeom prst="rect">
            <a:avLst/>
          </a:prstGeom>
          <a:noFill/>
        </p:spPr>
        <p:txBody>
          <a:bodyPr wrap="square">
            <a:spAutoFit/>
          </a:bodyPr>
          <a:lstStyle/>
          <a:p>
            <a:pPr>
              <a:lnSpc>
                <a:spcPct val="150000"/>
              </a:lnSpc>
            </a:pPr>
            <a:r>
              <a:rPr lang="en-US" sz="2800" b="1" dirty="0">
                <a:latin typeface="+mn-lt"/>
              </a:rPr>
              <a:t>7. Who is responsible for ethical AI use?</a:t>
            </a:r>
          </a:p>
          <a:p>
            <a:pPr>
              <a:lnSpc>
                <a:spcPct val="150000"/>
              </a:lnSpc>
            </a:pPr>
            <a:r>
              <a:rPr lang="en-US" sz="2800" dirty="0" err="1">
                <a:latin typeface="+mn-lt"/>
              </a:rPr>
              <a:t>Organisations</a:t>
            </a:r>
            <a:r>
              <a:rPr lang="en-US" sz="2800" dirty="0">
                <a:latin typeface="+mn-lt"/>
              </a:rPr>
              <a:t>, developers, and managers are responsible for ensuring AI is used fairly, safely, and responsibly.</a:t>
            </a:r>
          </a:p>
          <a:p>
            <a:pPr>
              <a:lnSpc>
                <a:spcPct val="150000"/>
              </a:lnSpc>
            </a:pPr>
            <a:r>
              <a:rPr lang="en-US" sz="2800" b="1" dirty="0">
                <a:latin typeface="+mn-lt"/>
              </a:rPr>
              <a:t>8. How can NSW IT Support use AI ethically?</a:t>
            </a:r>
          </a:p>
          <a:p>
            <a:pPr>
              <a:lnSpc>
                <a:spcPct val="150000"/>
              </a:lnSpc>
            </a:pPr>
            <a:r>
              <a:rPr lang="en-US" sz="2800" dirty="0">
                <a:latin typeface="+mn-lt"/>
              </a:rPr>
              <a:t>NSW IT Support can use AI responsibly by protecting customer data, explaining AI decisions clearly, and ensuring systems are fair and secure.</a:t>
            </a:r>
          </a:p>
        </p:txBody>
      </p:sp>
    </p:spTree>
    <p:extLst>
      <p:ext uri="{BB962C8B-B14F-4D97-AF65-F5344CB8AC3E}">
        <p14:creationId xmlns:p14="http://schemas.microsoft.com/office/powerpoint/2010/main" val="1802065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1000"/>
                                        <p:tgtEl>
                                          <p:spTgt spid="6">
                                            <p:txEl>
                                              <p:pRg st="1" end="1"/>
                                            </p:txEl>
                                          </p:spTgt>
                                        </p:tgtEl>
                                      </p:cBhvr>
                                    </p:animEffect>
                                    <p:anim calcmode="lin" valueType="num">
                                      <p:cBhvr>
                                        <p:cTn id="8"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xEl>
                                              <p:pRg st="3" end="3"/>
                                            </p:txEl>
                                          </p:spTgt>
                                        </p:tgtEl>
                                        <p:attrNameLst>
                                          <p:attrName>style.visibility</p:attrName>
                                        </p:attrNameLst>
                                      </p:cBhvr>
                                      <p:to>
                                        <p:strVal val="visible"/>
                                      </p:to>
                                    </p:set>
                                    <p:animEffect transition="in" filter="fade">
                                      <p:cBhvr>
                                        <p:cTn id="12" dur="1000"/>
                                        <p:tgtEl>
                                          <p:spTgt spid="6">
                                            <p:txEl>
                                              <p:pRg st="3" end="3"/>
                                            </p:txEl>
                                          </p:spTgt>
                                        </p:tgtEl>
                                      </p:cBhvr>
                                    </p:animEffect>
                                    <p:anim calcmode="lin" valueType="num">
                                      <p:cBhvr>
                                        <p:cTn id="13"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4000" b="1" dirty="0">
                <a:solidFill>
                  <a:srgbClr val="00B0F0"/>
                </a:solidFill>
              </a:rPr>
              <a:t>Ethics of Emerging Technologies</a:t>
            </a:r>
            <a:endParaRPr lang="en-AU" altLang="en-US" sz="4000" b="1" dirty="0">
              <a:solidFill>
                <a:srgbClr val="00B0F0"/>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65</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669909DD-F270-7DB9-9934-ADDCEE7F7744}"/>
              </a:ext>
            </a:extLst>
          </p:cNvPr>
          <p:cNvSpPr txBox="1"/>
          <p:nvPr/>
        </p:nvSpPr>
        <p:spPr>
          <a:xfrm>
            <a:off x="3950664" y="2323569"/>
            <a:ext cx="4862172" cy="1933863"/>
          </a:xfrm>
          <a:prstGeom prst="rect">
            <a:avLst/>
          </a:prstGeom>
          <a:noFill/>
        </p:spPr>
        <p:txBody>
          <a:bodyPr wrap="square">
            <a:spAutoFit/>
          </a:bodyPr>
          <a:lstStyle/>
          <a:p>
            <a:pPr lvl="1">
              <a:lnSpc>
                <a:spcPct val="90000"/>
              </a:lnSpc>
              <a:spcBef>
                <a:spcPts val="1200"/>
              </a:spcBef>
              <a:spcAft>
                <a:spcPts val="200"/>
              </a:spcAft>
              <a:buClr>
                <a:schemeClr val="accent1"/>
              </a:buClr>
              <a:buSzPts val="1000"/>
              <a:tabLst>
                <a:tab pos="457200" algn="l"/>
              </a:tabLst>
            </a:pPr>
            <a:endParaRPr lang="en-AU" sz="2000" dirty="0">
              <a:solidFill>
                <a:schemeClr val="tx1">
                  <a:lumMod val="75000"/>
                  <a:lumOff val="25000"/>
                </a:schemeClr>
              </a:solidFill>
              <a:highlight>
                <a:srgbClr val="FFFFFF"/>
              </a:highlight>
              <a:latin typeface="+mn-lt"/>
              <a:cs typeface="+mn-cs"/>
            </a:endParaRPr>
          </a:p>
          <a:p>
            <a:pPr marL="800100" lvl="1"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sz="2000" b="1" dirty="0">
                <a:solidFill>
                  <a:schemeClr val="tx1">
                    <a:lumMod val="75000"/>
                    <a:lumOff val="25000"/>
                  </a:schemeClr>
                </a:solidFill>
                <a:highlight>
                  <a:srgbClr val="FFFFFF"/>
                </a:highlight>
                <a:latin typeface="+mn-lt"/>
                <a:cs typeface="+mn-cs"/>
              </a:rPr>
              <a:t>Emerging technologies </a:t>
            </a:r>
            <a:r>
              <a:rPr lang="en-AU" sz="2000" dirty="0">
                <a:solidFill>
                  <a:schemeClr val="tx1">
                    <a:lumMod val="75000"/>
                    <a:lumOff val="25000"/>
                  </a:schemeClr>
                </a:solidFill>
                <a:highlight>
                  <a:srgbClr val="FFFFFF"/>
                </a:highlight>
                <a:latin typeface="+mn-lt"/>
                <a:cs typeface="+mn-cs"/>
              </a:rPr>
              <a:t>encompass innovations that are advancing rapidly and have the potential to significantly impact various industries and societal norms.</a:t>
            </a:r>
          </a:p>
        </p:txBody>
      </p:sp>
      <p:pic>
        <p:nvPicPr>
          <p:cNvPr id="1026" name="Picture 2" descr="emerging technology services">
            <a:extLst>
              <a:ext uri="{FF2B5EF4-FFF2-40B4-BE49-F238E27FC236}">
                <a16:creationId xmlns:a16="http://schemas.microsoft.com/office/drawing/2014/main" id="{4143BDBF-3828-5BEB-6DBE-E066F5999E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501" y="2184086"/>
            <a:ext cx="4508499" cy="37855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550728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Ethics of Emerging Technologies (Cont.)</a:t>
            </a:r>
            <a:endParaRPr lang="en-AU" altLang="en-US" sz="3600" b="1" dirty="0">
              <a:solidFill>
                <a:srgbClr val="00B0F0"/>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66</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584AD1AD-26D9-2944-D7E9-92E44A9DB350}"/>
              </a:ext>
            </a:extLst>
          </p:cNvPr>
          <p:cNvSpPr txBox="1"/>
          <p:nvPr/>
        </p:nvSpPr>
        <p:spPr>
          <a:xfrm>
            <a:off x="160630" y="1831112"/>
            <a:ext cx="8390246" cy="3250121"/>
          </a:xfrm>
          <a:prstGeom prst="rect">
            <a:avLst/>
          </a:prstGeom>
          <a:noFill/>
        </p:spPr>
        <p:txBody>
          <a:bodyPr wrap="square">
            <a:spAutoFit/>
          </a:bodyPr>
          <a:lstStyle/>
          <a:p>
            <a:endParaRPr lang="en-AU" dirty="0"/>
          </a:p>
          <a:p>
            <a:pPr marL="485775" lvl="1" indent="-285750">
              <a:lnSpc>
                <a:spcPct val="90000"/>
              </a:lnSpc>
              <a:buClr>
                <a:schemeClr val="accent1"/>
              </a:buClr>
              <a:buFont typeface="Arial" panose="020B0604020202020204" pitchFamily="34" charset="0"/>
              <a:buChar char="•"/>
            </a:pPr>
            <a:r>
              <a:rPr lang="en-AU" sz="2400" b="1" dirty="0">
                <a:solidFill>
                  <a:schemeClr val="accent2">
                    <a:lumMod val="75000"/>
                  </a:schemeClr>
                </a:solidFill>
              </a:rPr>
              <a:t>Emerging technologies:</a:t>
            </a:r>
          </a:p>
          <a:p>
            <a:pPr marL="485775" lvl="1" indent="-285750">
              <a:lnSpc>
                <a:spcPct val="90000"/>
              </a:lnSpc>
              <a:buClr>
                <a:schemeClr val="accent1"/>
              </a:buClr>
              <a:buFont typeface="Arial" panose="020B0604020202020204" pitchFamily="34" charset="0"/>
              <a:buChar char="•"/>
            </a:pPr>
            <a:endParaRPr lang="en-AU" sz="2400" b="1" dirty="0">
              <a:solidFill>
                <a:schemeClr val="accent2">
                  <a:lumMod val="75000"/>
                </a:schemeClr>
              </a:solidFill>
            </a:endParaRPr>
          </a:p>
          <a:p>
            <a:pPr marL="942975" lvl="2" indent="-285750">
              <a:lnSpc>
                <a:spcPct val="90000"/>
              </a:lnSpc>
              <a:buClr>
                <a:schemeClr val="accent1"/>
              </a:buClr>
              <a:buFont typeface="Arial" panose="020B0604020202020204" pitchFamily="34" charset="0"/>
              <a:buChar char="•"/>
            </a:pPr>
            <a:r>
              <a:rPr lang="en-AU" sz="2000" b="1" dirty="0">
                <a:solidFill>
                  <a:schemeClr val="tx1">
                    <a:lumMod val="75000"/>
                    <a:lumOff val="25000"/>
                  </a:schemeClr>
                </a:solidFill>
                <a:highlight>
                  <a:srgbClr val="FFFFFF"/>
                </a:highlight>
                <a:latin typeface="+mn-lt"/>
                <a:cs typeface="+mn-cs"/>
              </a:rPr>
              <a:t>Artificial Intelligence (AI): </a:t>
            </a:r>
            <a:r>
              <a:rPr lang="en-AU" sz="2000" dirty="0">
                <a:solidFill>
                  <a:schemeClr val="tx1">
                    <a:lumMod val="75000"/>
                    <a:lumOff val="25000"/>
                  </a:schemeClr>
                </a:solidFill>
                <a:highlight>
                  <a:srgbClr val="FFFFFF"/>
                </a:highlight>
                <a:latin typeface="+mn-lt"/>
                <a:cs typeface="+mn-cs"/>
              </a:rPr>
              <a:t>Systems capable of autonomous decision-making, pattern recognition, and data analysis.</a:t>
            </a:r>
          </a:p>
          <a:p>
            <a:pPr marL="942975" lvl="2" indent="-285750">
              <a:lnSpc>
                <a:spcPct val="90000"/>
              </a:lnSpc>
              <a:buClr>
                <a:schemeClr val="accent1"/>
              </a:buClr>
              <a:buFont typeface="Arial" panose="020B0604020202020204" pitchFamily="34" charset="0"/>
              <a:buChar char="•"/>
            </a:pPr>
            <a:r>
              <a:rPr lang="en-AU" sz="2000" b="1" dirty="0">
                <a:solidFill>
                  <a:schemeClr val="tx1">
                    <a:lumMod val="75000"/>
                    <a:lumOff val="25000"/>
                  </a:schemeClr>
                </a:solidFill>
                <a:highlight>
                  <a:srgbClr val="FFFFFF"/>
                </a:highlight>
                <a:latin typeface="+mn-lt"/>
                <a:cs typeface="+mn-cs"/>
              </a:rPr>
              <a:t>Blockchain</a:t>
            </a:r>
            <a:r>
              <a:rPr lang="en-AU" sz="2000" dirty="0">
                <a:solidFill>
                  <a:schemeClr val="tx1">
                    <a:lumMod val="75000"/>
                    <a:lumOff val="25000"/>
                  </a:schemeClr>
                </a:solidFill>
                <a:highlight>
                  <a:srgbClr val="FFFFFF"/>
                </a:highlight>
                <a:latin typeface="+mn-lt"/>
                <a:cs typeface="+mn-cs"/>
              </a:rPr>
              <a:t>: Decentralised and secure ledger technology used for transparent transactions and smart contracts.</a:t>
            </a:r>
          </a:p>
          <a:p>
            <a:pPr marL="942975" lvl="2" indent="-285750">
              <a:lnSpc>
                <a:spcPct val="90000"/>
              </a:lnSpc>
              <a:buClr>
                <a:schemeClr val="accent1"/>
              </a:buClr>
              <a:buFont typeface="Arial" panose="020B0604020202020204" pitchFamily="34" charset="0"/>
              <a:buChar char="•"/>
            </a:pPr>
            <a:r>
              <a:rPr lang="en-AU" sz="2000" b="1" dirty="0">
                <a:solidFill>
                  <a:schemeClr val="tx1">
                    <a:lumMod val="75000"/>
                    <a:lumOff val="25000"/>
                  </a:schemeClr>
                </a:solidFill>
                <a:highlight>
                  <a:srgbClr val="FFFFFF"/>
                </a:highlight>
                <a:latin typeface="+mn-lt"/>
                <a:cs typeface="+mn-cs"/>
              </a:rPr>
              <a:t>Internet of Things (IoT): </a:t>
            </a:r>
            <a:r>
              <a:rPr lang="en-AU" sz="2000" dirty="0">
                <a:solidFill>
                  <a:schemeClr val="tx1">
                    <a:lumMod val="75000"/>
                    <a:lumOff val="25000"/>
                  </a:schemeClr>
                </a:solidFill>
                <a:highlight>
                  <a:srgbClr val="FFFFFF"/>
                </a:highlight>
                <a:latin typeface="+mn-lt"/>
                <a:cs typeface="+mn-cs"/>
              </a:rPr>
              <a:t>Interconnected devices and sensors that collect and exchange data to improve efficiency and convenience.</a:t>
            </a:r>
          </a:p>
          <a:p>
            <a:pPr marL="942975" lvl="2" indent="-285750">
              <a:lnSpc>
                <a:spcPct val="90000"/>
              </a:lnSpc>
              <a:buClr>
                <a:schemeClr val="accent1"/>
              </a:buClr>
              <a:buFont typeface="Arial" panose="020B0604020202020204" pitchFamily="34" charset="0"/>
              <a:buChar char="•"/>
            </a:pPr>
            <a:r>
              <a:rPr lang="en-AU" sz="2000" b="1" dirty="0">
                <a:solidFill>
                  <a:schemeClr val="tx1">
                    <a:lumMod val="75000"/>
                    <a:lumOff val="25000"/>
                  </a:schemeClr>
                </a:solidFill>
                <a:highlight>
                  <a:srgbClr val="FFFFFF"/>
                </a:highlight>
                <a:latin typeface="+mn-lt"/>
                <a:cs typeface="+mn-cs"/>
              </a:rPr>
              <a:t>Biotechnology: </a:t>
            </a:r>
            <a:r>
              <a:rPr lang="en-AU" sz="2000" dirty="0">
                <a:solidFill>
                  <a:schemeClr val="tx1">
                    <a:lumMod val="75000"/>
                    <a:lumOff val="25000"/>
                  </a:schemeClr>
                </a:solidFill>
                <a:highlight>
                  <a:srgbClr val="FFFFFF"/>
                </a:highlight>
                <a:latin typeface="+mn-lt"/>
                <a:cs typeface="+mn-cs"/>
              </a:rPr>
              <a:t>Advances in genetic engineering, personalised medicine, and agricultural biotechnology.</a:t>
            </a:r>
          </a:p>
        </p:txBody>
      </p:sp>
    </p:spTree>
    <p:extLst>
      <p:ext uri="{BB962C8B-B14F-4D97-AF65-F5344CB8AC3E}">
        <p14:creationId xmlns:p14="http://schemas.microsoft.com/office/powerpoint/2010/main" val="126673762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Ethics of Emerging Technologies (Cont.)</a:t>
            </a:r>
            <a:endParaRPr lang="en-AU" altLang="en-US" sz="3600" b="1" dirty="0">
              <a:solidFill>
                <a:srgbClr val="00B0F0"/>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67</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584AD1AD-26D9-2944-D7E9-92E44A9DB350}"/>
              </a:ext>
            </a:extLst>
          </p:cNvPr>
          <p:cNvSpPr txBox="1"/>
          <p:nvPr/>
        </p:nvSpPr>
        <p:spPr>
          <a:xfrm>
            <a:off x="160630" y="1831112"/>
            <a:ext cx="8353175" cy="3637919"/>
          </a:xfrm>
          <a:prstGeom prst="rect">
            <a:avLst/>
          </a:prstGeom>
          <a:noFill/>
        </p:spPr>
        <p:txBody>
          <a:bodyPr wrap="square">
            <a:spAutoFit/>
          </a:bodyPr>
          <a:lstStyle/>
          <a:p>
            <a:endParaRPr lang="en-AU" dirty="0"/>
          </a:p>
          <a:p>
            <a:pPr marL="485775" lvl="1" indent="-285750">
              <a:lnSpc>
                <a:spcPct val="90000"/>
              </a:lnSpc>
              <a:buClr>
                <a:schemeClr val="accent1"/>
              </a:buClr>
              <a:buFont typeface="Arial" panose="020B0604020202020204" pitchFamily="34" charset="0"/>
              <a:buChar char="•"/>
            </a:pPr>
            <a:r>
              <a:rPr lang="en-AU" sz="2400" b="1" dirty="0">
                <a:solidFill>
                  <a:schemeClr val="accent2">
                    <a:lumMod val="75000"/>
                  </a:schemeClr>
                </a:solidFill>
              </a:rPr>
              <a:t>Ethical Challenges:</a:t>
            </a:r>
          </a:p>
          <a:p>
            <a:pPr marL="485775" lvl="1" indent="-285750">
              <a:lnSpc>
                <a:spcPct val="90000"/>
              </a:lnSpc>
              <a:buClr>
                <a:schemeClr val="accent1"/>
              </a:buClr>
              <a:buFont typeface="Arial" panose="020B0604020202020204" pitchFamily="34" charset="0"/>
              <a:buChar char="•"/>
            </a:pPr>
            <a:endParaRPr lang="en-AU" sz="2400" b="1" dirty="0">
              <a:solidFill>
                <a:schemeClr val="accent2">
                  <a:lumMod val="75000"/>
                </a:schemeClr>
              </a:solidFill>
            </a:endParaRPr>
          </a:p>
          <a:p>
            <a:pPr marL="942975" lvl="2" indent="-285750">
              <a:lnSpc>
                <a:spcPct val="90000"/>
              </a:lnSpc>
              <a:buClr>
                <a:schemeClr val="accent1"/>
              </a:buClr>
              <a:buFont typeface="Arial" panose="020B0604020202020204" pitchFamily="34" charset="0"/>
              <a:buChar char="•"/>
            </a:pPr>
            <a:r>
              <a:rPr lang="en-AU" sz="2400" b="1" dirty="0">
                <a:solidFill>
                  <a:schemeClr val="tx1">
                    <a:lumMod val="75000"/>
                    <a:lumOff val="25000"/>
                  </a:schemeClr>
                </a:solidFill>
                <a:highlight>
                  <a:srgbClr val="FFFFFF"/>
                </a:highlight>
                <a:latin typeface="+mn-lt"/>
                <a:cs typeface="+mn-cs"/>
              </a:rPr>
              <a:t>Privacy and Data Security:</a:t>
            </a:r>
          </a:p>
          <a:p>
            <a:pPr marL="942975" lvl="2" indent="-285750">
              <a:lnSpc>
                <a:spcPct val="90000"/>
              </a:lnSpc>
              <a:buClr>
                <a:schemeClr val="accent1"/>
              </a:buClr>
              <a:buFont typeface="Arial" panose="020B0604020202020204" pitchFamily="34" charset="0"/>
              <a:buChar char="•"/>
            </a:pPr>
            <a:endParaRPr lang="en-AU" sz="2400" b="1" dirty="0">
              <a:solidFill>
                <a:schemeClr val="tx1">
                  <a:lumMod val="75000"/>
                  <a:lumOff val="25000"/>
                </a:schemeClr>
              </a:solidFill>
              <a:highlight>
                <a:srgbClr val="FFFFFF"/>
              </a:highlight>
              <a:latin typeface="+mn-lt"/>
              <a:cs typeface="+mn-cs"/>
            </a:endParaRPr>
          </a:p>
          <a:p>
            <a:pPr marL="1400175" lvl="3" indent="-285750">
              <a:lnSpc>
                <a:spcPct val="90000"/>
              </a:lnSpc>
              <a:buClr>
                <a:schemeClr val="accent1"/>
              </a:buClr>
              <a:buFont typeface="Arial" panose="020B0604020202020204" pitchFamily="34" charset="0"/>
              <a:buChar char="•"/>
            </a:pPr>
            <a:r>
              <a:rPr lang="en-AU" sz="2000" dirty="0">
                <a:solidFill>
                  <a:schemeClr val="tx1">
                    <a:lumMod val="75000"/>
                    <a:lumOff val="25000"/>
                  </a:schemeClr>
                </a:solidFill>
                <a:highlight>
                  <a:srgbClr val="FFFFFF"/>
                </a:highlight>
                <a:latin typeface="+mn-lt"/>
                <a:cs typeface="+mn-cs"/>
              </a:rPr>
              <a:t>Concerns over the collection, storage, and use of personal data by emerging technologies.</a:t>
            </a:r>
          </a:p>
          <a:p>
            <a:pPr marL="1400175" lvl="3" indent="-285750">
              <a:lnSpc>
                <a:spcPct val="90000"/>
              </a:lnSpc>
              <a:buClr>
                <a:schemeClr val="accent1"/>
              </a:buClr>
              <a:buFont typeface="Arial" panose="020B0604020202020204" pitchFamily="34" charset="0"/>
              <a:buChar char="•"/>
            </a:pPr>
            <a:r>
              <a:rPr lang="en-AU" sz="2000" dirty="0">
                <a:solidFill>
                  <a:schemeClr val="tx1">
                    <a:lumMod val="75000"/>
                    <a:lumOff val="25000"/>
                  </a:schemeClr>
                </a:solidFill>
                <a:highlight>
                  <a:srgbClr val="FFFFFF"/>
                </a:highlight>
                <a:latin typeface="+mn-lt"/>
                <a:cs typeface="+mn-cs"/>
              </a:rPr>
              <a:t>Risks of data breaches, unauthorised access, and misuse of sensitive information.</a:t>
            </a:r>
          </a:p>
          <a:p>
            <a:pPr marL="1114425" lvl="3">
              <a:lnSpc>
                <a:spcPct val="90000"/>
              </a:lnSpc>
              <a:buClr>
                <a:schemeClr val="accent1"/>
              </a:buClr>
            </a:pPr>
            <a:endParaRPr lang="en-AU" sz="2000" dirty="0">
              <a:solidFill>
                <a:schemeClr val="tx1">
                  <a:lumMod val="75000"/>
                  <a:lumOff val="25000"/>
                </a:schemeClr>
              </a:solidFill>
              <a:highlight>
                <a:srgbClr val="FFFFFF"/>
              </a:highlight>
              <a:latin typeface="+mn-lt"/>
              <a:cs typeface="+mn-cs"/>
            </a:endParaRPr>
          </a:p>
          <a:p>
            <a:pPr marL="1400175" lvl="3" indent="-285750">
              <a:lnSpc>
                <a:spcPct val="90000"/>
              </a:lnSpc>
              <a:buClr>
                <a:schemeClr val="accent1"/>
              </a:buClr>
              <a:buFont typeface="Arial" panose="020B0604020202020204" pitchFamily="34" charset="0"/>
              <a:buChar char="•"/>
            </a:pPr>
            <a:r>
              <a:rPr lang="en-AU" sz="2000" i="1" dirty="0">
                <a:solidFill>
                  <a:schemeClr val="tx1">
                    <a:lumMod val="75000"/>
                    <a:lumOff val="25000"/>
                  </a:schemeClr>
                </a:solidFill>
                <a:highlight>
                  <a:srgbClr val="FFFFFF"/>
                </a:highlight>
                <a:latin typeface="+mn-lt"/>
                <a:cs typeface="+mn-cs"/>
              </a:rPr>
              <a:t>Example: Use of facial recognition technology in public spaces and its implications for personal privacy and surveillance</a:t>
            </a:r>
            <a:r>
              <a:rPr lang="en-AU" sz="2000" b="1" i="1" dirty="0">
                <a:solidFill>
                  <a:schemeClr val="tx1">
                    <a:lumMod val="75000"/>
                    <a:lumOff val="25000"/>
                  </a:schemeClr>
                </a:solidFill>
                <a:highlight>
                  <a:srgbClr val="FFFFFF"/>
                </a:highlight>
                <a:latin typeface="+mn-lt"/>
                <a:cs typeface="+mn-cs"/>
              </a:rPr>
              <a:t>.</a:t>
            </a:r>
            <a:endParaRPr lang="en-AU" sz="2000" i="1" dirty="0">
              <a:solidFill>
                <a:schemeClr val="tx1">
                  <a:lumMod val="75000"/>
                  <a:lumOff val="25000"/>
                </a:schemeClr>
              </a:solidFill>
              <a:highlight>
                <a:srgbClr val="FFFFFF"/>
              </a:highlight>
              <a:latin typeface="+mn-lt"/>
              <a:cs typeface="+mn-cs"/>
            </a:endParaRPr>
          </a:p>
        </p:txBody>
      </p:sp>
    </p:spTree>
    <p:extLst>
      <p:ext uri="{BB962C8B-B14F-4D97-AF65-F5344CB8AC3E}">
        <p14:creationId xmlns:p14="http://schemas.microsoft.com/office/powerpoint/2010/main" val="3979443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Ethics of Emerging Technologies (Cont.)</a:t>
            </a:r>
            <a:endParaRPr lang="en-AU" altLang="en-US" sz="3600" b="1" dirty="0">
              <a:solidFill>
                <a:srgbClr val="00B0F0"/>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68</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584AD1AD-26D9-2944-D7E9-92E44A9DB350}"/>
              </a:ext>
            </a:extLst>
          </p:cNvPr>
          <p:cNvSpPr txBox="1"/>
          <p:nvPr/>
        </p:nvSpPr>
        <p:spPr>
          <a:xfrm>
            <a:off x="160630" y="1831112"/>
            <a:ext cx="8353175" cy="3305520"/>
          </a:xfrm>
          <a:prstGeom prst="rect">
            <a:avLst/>
          </a:prstGeom>
          <a:noFill/>
        </p:spPr>
        <p:txBody>
          <a:bodyPr wrap="square">
            <a:spAutoFit/>
          </a:bodyPr>
          <a:lstStyle/>
          <a:p>
            <a:endParaRPr lang="en-AU" dirty="0"/>
          </a:p>
          <a:p>
            <a:pPr marL="485775" lvl="1" indent="-285750">
              <a:lnSpc>
                <a:spcPct val="90000"/>
              </a:lnSpc>
              <a:buClr>
                <a:schemeClr val="accent1"/>
              </a:buClr>
              <a:buFont typeface="Arial" panose="020B0604020202020204" pitchFamily="34" charset="0"/>
              <a:buChar char="•"/>
            </a:pPr>
            <a:endParaRPr lang="en-AU" sz="2400" b="1" dirty="0">
              <a:solidFill>
                <a:schemeClr val="accent2">
                  <a:lumMod val="75000"/>
                </a:schemeClr>
              </a:solidFill>
            </a:endParaRPr>
          </a:p>
          <a:p>
            <a:pPr marL="942975" lvl="2" indent="-285750">
              <a:lnSpc>
                <a:spcPct val="90000"/>
              </a:lnSpc>
              <a:buClr>
                <a:schemeClr val="accent1"/>
              </a:buClr>
              <a:buFont typeface="Arial" panose="020B0604020202020204" pitchFamily="34" charset="0"/>
              <a:buChar char="•"/>
            </a:pPr>
            <a:r>
              <a:rPr lang="en-AU" sz="2400" b="1" dirty="0">
                <a:solidFill>
                  <a:schemeClr val="tx1">
                    <a:lumMod val="75000"/>
                    <a:lumOff val="25000"/>
                  </a:schemeClr>
                </a:solidFill>
                <a:highlight>
                  <a:srgbClr val="FFFFFF"/>
                </a:highlight>
                <a:latin typeface="+mn-lt"/>
                <a:cs typeface="+mn-cs"/>
              </a:rPr>
              <a:t>Bias and Fairness:</a:t>
            </a:r>
          </a:p>
          <a:p>
            <a:pPr marL="657225" lvl="2">
              <a:lnSpc>
                <a:spcPct val="90000"/>
              </a:lnSpc>
              <a:buClr>
                <a:schemeClr val="accent1"/>
              </a:buClr>
            </a:pPr>
            <a:endParaRPr lang="en-AU" sz="2400" b="1" dirty="0">
              <a:solidFill>
                <a:schemeClr val="tx1">
                  <a:lumMod val="75000"/>
                  <a:lumOff val="25000"/>
                </a:schemeClr>
              </a:solidFill>
              <a:highlight>
                <a:srgbClr val="FFFFFF"/>
              </a:highlight>
              <a:latin typeface="+mn-lt"/>
              <a:cs typeface="+mn-cs"/>
            </a:endParaRPr>
          </a:p>
          <a:p>
            <a:pPr marL="1400175" lvl="3" indent="-285750">
              <a:lnSpc>
                <a:spcPct val="90000"/>
              </a:lnSpc>
              <a:buClr>
                <a:schemeClr val="accent1"/>
              </a:buClr>
              <a:buFont typeface="Arial" panose="020B0604020202020204" pitchFamily="34" charset="0"/>
              <a:buChar char="•"/>
            </a:pPr>
            <a:r>
              <a:rPr lang="en-AU" sz="2000" dirty="0">
                <a:solidFill>
                  <a:schemeClr val="tx1">
                    <a:lumMod val="75000"/>
                    <a:lumOff val="25000"/>
                  </a:schemeClr>
                </a:solidFill>
                <a:highlight>
                  <a:srgbClr val="FFFFFF"/>
                </a:highlight>
                <a:latin typeface="+mn-lt"/>
                <a:cs typeface="+mn-cs"/>
              </a:rPr>
              <a:t>AI and machine learning algorithms can inherit biases from training data, leading to discriminatory outcomes.</a:t>
            </a:r>
          </a:p>
          <a:p>
            <a:pPr marL="1400175" lvl="3" indent="-285750">
              <a:lnSpc>
                <a:spcPct val="90000"/>
              </a:lnSpc>
              <a:buClr>
                <a:schemeClr val="accent1"/>
              </a:buClr>
              <a:buFont typeface="Arial" panose="020B0604020202020204" pitchFamily="34" charset="0"/>
              <a:buChar char="•"/>
            </a:pPr>
            <a:r>
              <a:rPr lang="en-AU" sz="2000" dirty="0">
                <a:solidFill>
                  <a:schemeClr val="tx1">
                    <a:lumMod val="75000"/>
                    <a:lumOff val="25000"/>
                  </a:schemeClr>
                </a:solidFill>
                <a:highlight>
                  <a:srgbClr val="FFFFFF"/>
                </a:highlight>
                <a:latin typeface="+mn-lt"/>
                <a:cs typeface="+mn-cs"/>
              </a:rPr>
              <a:t>Challenges in ensuring fairness and equity in algorithmic decision-making processes.</a:t>
            </a:r>
          </a:p>
          <a:p>
            <a:pPr marL="1114425" lvl="3">
              <a:lnSpc>
                <a:spcPct val="90000"/>
              </a:lnSpc>
              <a:buClr>
                <a:schemeClr val="accent1"/>
              </a:buClr>
            </a:pPr>
            <a:endParaRPr lang="en-AU" sz="2000" i="1" dirty="0">
              <a:solidFill>
                <a:schemeClr val="tx1">
                  <a:lumMod val="75000"/>
                  <a:lumOff val="25000"/>
                </a:schemeClr>
              </a:solidFill>
              <a:highlight>
                <a:srgbClr val="FFFFFF"/>
              </a:highlight>
              <a:latin typeface="+mn-lt"/>
              <a:cs typeface="+mn-cs"/>
            </a:endParaRPr>
          </a:p>
          <a:p>
            <a:pPr marL="1400175" lvl="3" indent="-285750">
              <a:lnSpc>
                <a:spcPct val="90000"/>
              </a:lnSpc>
              <a:buClr>
                <a:schemeClr val="accent1"/>
              </a:buClr>
              <a:buFont typeface="Arial" panose="020B0604020202020204" pitchFamily="34" charset="0"/>
              <a:buChar char="•"/>
            </a:pPr>
            <a:r>
              <a:rPr lang="en-AU" sz="2000" i="1" dirty="0">
                <a:solidFill>
                  <a:schemeClr val="tx1">
                    <a:lumMod val="75000"/>
                    <a:lumOff val="25000"/>
                  </a:schemeClr>
                </a:solidFill>
                <a:highlight>
                  <a:srgbClr val="FFFFFF"/>
                </a:highlight>
                <a:latin typeface="+mn-lt"/>
                <a:cs typeface="+mn-cs"/>
              </a:rPr>
              <a:t>Example: Bias in predictive policing algorithms impacting minority communities disproportionately.</a:t>
            </a:r>
          </a:p>
        </p:txBody>
      </p:sp>
    </p:spTree>
    <p:extLst>
      <p:ext uri="{BB962C8B-B14F-4D97-AF65-F5344CB8AC3E}">
        <p14:creationId xmlns:p14="http://schemas.microsoft.com/office/powerpoint/2010/main" val="285190527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Ethics of Emerging Technologies (Cont.)</a:t>
            </a:r>
            <a:endParaRPr lang="en-AU" altLang="en-US" sz="3600" b="1" dirty="0">
              <a:solidFill>
                <a:srgbClr val="00B0F0"/>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69</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584AD1AD-26D9-2944-D7E9-92E44A9DB350}"/>
              </a:ext>
            </a:extLst>
          </p:cNvPr>
          <p:cNvSpPr txBox="1"/>
          <p:nvPr/>
        </p:nvSpPr>
        <p:spPr>
          <a:xfrm>
            <a:off x="160630" y="1423339"/>
            <a:ext cx="8353175" cy="3582519"/>
          </a:xfrm>
          <a:prstGeom prst="rect">
            <a:avLst/>
          </a:prstGeom>
          <a:noFill/>
        </p:spPr>
        <p:txBody>
          <a:bodyPr wrap="square">
            <a:spAutoFit/>
          </a:bodyPr>
          <a:lstStyle/>
          <a:p>
            <a:endParaRPr lang="en-AU" dirty="0"/>
          </a:p>
          <a:p>
            <a:pPr marL="485775" lvl="1" indent="-285750">
              <a:lnSpc>
                <a:spcPct val="90000"/>
              </a:lnSpc>
              <a:buClr>
                <a:schemeClr val="accent1"/>
              </a:buClr>
              <a:buFont typeface="Arial" panose="020B0604020202020204" pitchFamily="34" charset="0"/>
              <a:buChar char="•"/>
            </a:pPr>
            <a:endParaRPr lang="en-AU" sz="2400" b="1" dirty="0">
              <a:solidFill>
                <a:schemeClr val="accent2">
                  <a:lumMod val="75000"/>
                </a:schemeClr>
              </a:solidFill>
            </a:endParaRPr>
          </a:p>
          <a:p>
            <a:pPr marL="942975" lvl="2" indent="-285750">
              <a:lnSpc>
                <a:spcPct val="90000"/>
              </a:lnSpc>
              <a:buClr>
                <a:schemeClr val="accent1"/>
              </a:buClr>
              <a:buFont typeface="Arial" panose="020B0604020202020204" pitchFamily="34" charset="0"/>
              <a:buChar char="•"/>
            </a:pPr>
            <a:r>
              <a:rPr lang="en-AU" sz="2400" b="1" dirty="0">
                <a:solidFill>
                  <a:schemeClr val="tx1">
                    <a:lumMod val="75000"/>
                    <a:lumOff val="25000"/>
                  </a:schemeClr>
                </a:solidFill>
                <a:highlight>
                  <a:srgbClr val="FFFFFF"/>
                </a:highlight>
                <a:latin typeface="+mn-lt"/>
                <a:cs typeface="+mn-cs"/>
              </a:rPr>
              <a:t>Autonomy and Accountability:</a:t>
            </a:r>
          </a:p>
          <a:p>
            <a:pPr marL="657225" lvl="2">
              <a:lnSpc>
                <a:spcPct val="90000"/>
              </a:lnSpc>
              <a:buClr>
                <a:schemeClr val="accent1"/>
              </a:buClr>
            </a:pPr>
            <a:endParaRPr lang="en-AU" sz="2400" b="1" dirty="0">
              <a:solidFill>
                <a:schemeClr val="tx1">
                  <a:lumMod val="75000"/>
                  <a:lumOff val="25000"/>
                </a:schemeClr>
              </a:solidFill>
              <a:highlight>
                <a:srgbClr val="FFFFFF"/>
              </a:highlight>
              <a:latin typeface="+mn-lt"/>
              <a:cs typeface="+mn-cs"/>
            </a:endParaRPr>
          </a:p>
          <a:p>
            <a:pPr marL="1400175" lvl="3" indent="-285750">
              <a:lnSpc>
                <a:spcPct val="90000"/>
              </a:lnSpc>
              <a:buClr>
                <a:schemeClr val="accent1"/>
              </a:buClr>
              <a:buFont typeface="Arial" panose="020B0604020202020204" pitchFamily="34" charset="0"/>
              <a:buChar char="•"/>
            </a:pPr>
            <a:r>
              <a:rPr lang="en-AU" sz="2000" dirty="0">
                <a:solidFill>
                  <a:schemeClr val="tx1">
                    <a:lumMod val="75000"/>
                    <a:lumOff val="25000"/>
                  </a:schemeClr>
                </a:solidFill>
                <a:highlight>
                  <a:srgbClr val="FFFFFF"/>
                </a:highlight>
                <a:latin typeface="+mn-lt"/>
                <a:cs typeface="+mn-cs"/>
              </a:rPr>
              <a:t>Autonomous technologies such as self-driving cars raise questions about responsibility and liability in case of accidents.</a:t>
            </a:r>
          </a:p>
          <a:p>
            <a:pPr marL="1400175" lvl="3" indent="-285750">
              <a:lnSpc>
                <a:spcPct val="90000"/>
              </a:lnSpc>
              <a:buClr>
                <a:schemeClr val="accent1"/>
              </a:buClr>
              <a:buFont typeface="Arial" panose="020B0604020202020204" pitchFamily="34" charset="0"/>
              <a:buChar char="•"/>
            </a:pPr>
            <a:r>
              <a:rPr lang="en-AU" sz="2000" dirty="0">
                <a:solidFill>
                  <a:schemeClr val="tx1">
                    <a:lumMod val="75000"/>
                    <a:lumOff val="25000"/>
                  </a:schemeClr>
                </a:solidFill>
                <a:highlight>
                  <a:srgbClr val="FFFFFF"/>
                </a:highlight>
                <a:latin typeface="+mn-lt"/>
                <a:cs typeface="+mn-cs"/>
              </a:rPr>
              <a:t>Challenges in defining legal and ethical frameworks for accountability in AI and robotics.</a:t>
            </a:r>
          </a:p>
          <a:p>
            <a:pPr marL="1114425" lvl="3">
              <a:lnSpc>
                <a:spcPct val="90000"/>
              </a:lnSpc>
              <a:buClr>
                <a:schemeClr val="accent1"/>
              </a:buClr>
            </a:pPr>
            <a:endParaRPr lang="en-AU" sz="2000" i="1" dirty="0">
              <a:solidFill>
                <a:schemeClr val="tx1">
                  <a:lumMod val="75000"/>
                  <a:lumOff val="25000"/>
                </a:schemeClr>
              </a:solidFill>
              <a:highlight>
                <a:srgbClr val="FFFFFF"/>
              </a:highlight>
              <a:latin typeface="+mn-lt"/>
              <a:cs typeface="+mn-cs"/>
            </a:endParaRPr>
          </a:p>
          <a:p>
            <a:pPr marL="1400175" lvl="3" indent="-285750">
              <a:lnSpc>
                <a:spcPct val="90000"/>
              </a:lnSpc>
              <a:buClr>
                <a:schemeClr val="accent1"/>
              </a:buClr>
              <a:buFont typeface="Arial" panose="020B0604020202020204" pitchFamily="34" charset="0"/>
              <a:buChar char="•"/>
            </a:pPr>
            <a:r>
              <a:rPr lang="en-AU" sz="2000" i="1" dirty="0">
                <a:solidFill>
                  <a:schemeClr val="tx1">
                    <a:lumMod val="75000"/>
                    <a:lumOff val="25000"/>
                  </a:schemeClr>
                </a:solidFill>
                <a:highlight>
                  <a:srgbClr val="FFFFFF"/>
                </a:highlight>
                <a:latin typeface="+mn-lt"/>
                <a:cs typeface="+mn-cs"/>
              </a:rPr>
              <a:t>Example: Ethical considerations in the deployment of autonomous weapon systems and their implications for international humanitarian law.</a:t>
            </a:r>
          </a:p>
        </p:txBody>
      </p:sp>
    </p:spTree>
    <p:extLst>
      <p:ext uri="{BB962C8B-B14F-4D97-AF65-F5344CB8AC3E}">
        <p14:creationId xmlns:p14="http://schemas.microsoft.com/office/powerpoint/2010/main" val="192817836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Ethics Decision-Making in Project Management</a:t>
            </a:r>
            <a:endParaRPr lang="en-AU" altLang="en-US" sz="3600" b="1" dirty="0">
              <a:solidFill>
                <a:srgbClr val="00B0F0"/>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70</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584AD1AD-26D9-2944-D7E9-92E44A9DB350}"/>
              </a:ext>
            </a:extLst>
          </p:cNvPr>
          <p:cNvSpPr txBox="1"/>
          <p:nvPr/>
        </p:nvSpPr>
        <p:spPr>
          <a:xfrm>
            <a:off x="160631" y="1831112"/>
            <a:ext cx="7846548" cy="2751522"/>
          </a:xfrm>
          <a:prstGeom prst="rect">
            <a:avLst/>
          </a:prstGeom>
          <a:noFill/>
        </p:spPr>
        <p:txBody>
          <a:bodyPr wrap="square">
            <a:spAutoFit/>
          </a:bodyPr>
          <a:lstStyle/>
          <a:p>
            <a:endParaRPr lang="en-AU" dirty="0"/>
          </a:p>
          <a:p>
            <a:pPr marL="485775" lvl="1" indent="-285750">
              <a:lnSpc>
                <a:spcPct val="90000"/>
              </a:lnSpc>
              <a:buClr>
                <a:schemeClr val="accent1"/>
              </a:buClr>
              <a:buFont typeface="Arial" panose="020B0604020202020204" pitchFamily="34" charset="0"/>
              <a:buChar char="•"/>
            </a:pPr>
            <a:r>
              <a:rPr lang="en-AU" sz="2400" b="1" dirty="0">
                <a:solidFill>
                  <a:schemeClr val="accent2">
                    <a:lumMod val="75000"/>
                  </a:schemeClr>
                </a:solidFill>
              </a:rPr>
              <a:t>Understanding Ethical Decision-Making</a:t>
            </a:r>
          </a:p>
          <a:p>
            <a:pPr marL="485775" lvl="1" indent="-285750">
              <a:lnSpc>
                <a:spcPct val="90000"/>
              </a:lnSpc>
              <a:buClr>
                <a:schemeClr val="accent1"/>
              </a:buClr>
              <a:buFont typeface="Arial" panose="020B0604020202020204" pitchFamily="34" charset="0"/>
              <a:buChar char="•"/>
            </a:pPr>
            <a:endParaRPr lang="en-AU" sz="2400" b="1" dirty="0">
              <a:solidFill>
                <a:schemeClr val="accent2">
                  <a:lumMod val="75000"/>
                </a:schemeClr>
              </a:solidFill>
            </a:endParaRPr>
          </a:p>
          <a:p>
            <a:pPr marL="942975" lvl="2" indent="-285750">
              <a:lnSpc>
                <a:spcPct val="90000"/>
              </a:lnSpc>
              <a:buClr>
                <a:schemeClr val="accent1"/>
              </a:buClr>
              <a:buFont typeface="Arial" panose="020B0604020202020204" pitchFamily="34" charset="0"/>
              <a:buChar char="•"/>
            </a:pPr>
            <a:r>
              <a:rPr lang="en-AU" sz="2400" b="1" dirty="0">
                <a:solidFill>
                  <a:schemeClr val="tx1">
                    <a:lumMod val="75000"/>
                    <a:lumOff val="25000"/>
                  </a:schemeClr>
                </a:solidFill>
                <a:highlight>
                  <a:srgbClr val="FFFFFF"/>
                </a:highlight>
                <a:latin typeface="+mn-lt"/>
                <a:cs typeface="+mn-cs"/>
              </a:rPr>
              <a:t>Definition and Importance</a:t>
            </a:r>
          </a:p>
          <a:p>
            <a:pPr marL="1400175" lvl="3" indent="-285750">
              <a:lnSpc>
                <a:spcPct val="90000"/>
              </a:lnSpc>
              <a:buClr>
                <a:schemeClr val="accent1"/>
              </a:buClr>
              <a:buFont typeface="Arial" panose="020B0604020202020204" pitchFamily="34" charset="0"/>
              <a:buChar char="•"/>
            </a:pPr>
            <a:r>
              <a:rPr lang="en-AU" sz="2000" dirty="0">
                <a:solidFill>
                  <a:schemeClr val="tx1">
                    <a:lumMod val="75000"/>
                    <a:lumOff val="25000"/>
                  </a:schemeClr>
                </a:solidFill>
                <a:highlight>
                  <a:srgbClr val="FFFFFF"/>
                </a:highlight>
                <a:latin typeface="+mn-lt"/>
                <a:cs typeface="+mn-cs"/>
              </a:rPr>
              <a:t>Ethical decision-making involves evaluating choices in terms of moral principles, fairness, and integrity.</a:t>
            </a:r>
          </a:p>
          <a:p>
            <a:pPr marL="1400175" lvl="3" indent="-285750">
              <a:lnSpc>
                <a:spcPct val="90000"/>
              </a:lnSpc>
              <a:buClr>
                <a:schemeClr val="accent1"/>
              </a:buClr>
              <a:buFont typeface="Arial" panose="020B0604020202020204" pitchFamily="34" charset="0"/>
              <a:buChar char="•"/>
            </a:pPr>
            <a:r>
              <a:rPr lang="en-AU" sz="2000" u="sng" dirty="0">
                <a:solidFill>
                  <a:schemeClr val="tx1">
                    <a:lumMod val="75000"/>
                    <a:lumOff val="25000"/>
                  </a:schemeClr>
                </a:solidFill>
                <a:highlight>
                  <a:srgbClr val="FFFFFF"/>
                </a:highlight>
                <a:latin typeface="+mn-lt"/>
                <a:cs typeface="+mn-cs"/>
              </a:rPr>
              <a:t>Importance</a:t>
            </a:r>
            <a:r>
              <a:rPr lang="en-AU" sz="2000" dirty="0">
                <a:solidFill>
                  <a:schemeClr val="tx1">
                    <a:lumMod val="75000"/>
                    <a:lumOff val="25000"/>
                  </a:schemeClr>
                </a:solidFill>
                <a:highlight>
                  <a:srgbClr val="FFFFFF"/>
                </a:highlight>
                <a:latin typeface="+mn-lt"/>
                <a:cs typeface="+mn-cs"/>
              </a:rPr>
              <a:t>: Ensures transparency, builds trust with stakeholders, and mitigates risks associated with unethical </a:t>
            </a:r>
            <a:r>
              <a:rPr lang="en-AU" sz="2000" dirty="0" err="1">
                <a:solidFill>
                  <a:schemeClr val="tx1">
                    <a:lumMod val="75000"/>
                    <a:lumOff val="25000"/>
                  </a:schemeClr>
                </a:solidFill>
                <a:highlight>
                  <a:srgbClr val="FFFFFF"/>
                </a:highlight>
                <a:latin typeface="+mn-lt"/>
                <a:cs typeface="+mn-cs"/>
              </a:rPr>
              <a:t>behavior</a:t>
            </a:r>
            <a:r>
              <a:rPr lang="en-AU" sz="2000" dirty="0">
                <a:solidFill>
                  <a:schemeClr val="tx1">
                    <a:lumMod val="75000"/>
                    <a:lumOff val="25000"/>
                  </a:schemeClr>
                </a:solidFill>
                <a:highlight>
                  <a:srgbClr val="FFFFFF"/>
                </a:highlight>
                <a:latin typeface="+mn-lt"/>
                <a:cs typeface="+mn-cs"/>
              </a:rPr>
              <a:t>.</a:t>
            </a:r>
            <a:endParaRPr lang="en-AU" i="1" dirty="0">
              <a:solidFill>
                <a:schemeClr val="tx1">
                  <a:lumMod val="75000"/>
                  <a:lumOff val="25000"/>
                </a:schemeClr>
              </a:solidFill>
              <a:highlight>
                <a:srgbClr val="FFFFFF"/>
              </a:highlight>
              <a:latin typeface="+mn-lt"/>
              <a:cs typeface="+mn-cs"/>
            </a:endParaRPr>
          </a:p>
        </p:txBody>
      </p:sp>
    </p:spTree>
    <p:extLst>
      <p:ext uri="{BB962C8B-B14F-4D97-AF65-F5344CB8AC3E}">
        <p14:creationId xmlns:p14="http://schemas.microsoft.com/office/powerpoint/2010/main" val="49529463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Ethics Decision-Making in Project Management</a:t>
            </a:r>
            <a:endParaRPr lang="en-AU" altLang="en-US" sz="3600" b="1" dirty="0">
              <a:solidFill>
                <a:srgbClr val="00B0F0"/>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71</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584AD1AD-26D9-2944-D7E9-92E44A9DB350}"/>
              </a:ext>
            </a:extLst>
          </p:cNvPr>
          <p:cNvSpPr txBox="1"/>
          <p:nvPr/>
        </p:nvSpPr>
        <p:spPr>
          <a:xfrm>
            <a:off x="160630" y="1486523"/>
            <a:ext cx="8856369" cy="4745915"/>
          </a:xfrm>
          <a:prstGeom prst="rect">
            <a:avLst/>
          </a:prstGeom>
          <a:noFill/>
        </p:spPr>
        <p:txBody>
          <a:bodyPr wrap="square">
            <a:spAutoFit/>
          </a:bodyPr>
          <a:lstStyle/>
          <a:p>
            <a:pPr marL="200025" lvl="1">
              <a:lnSpc>
                <a:spcPct val="90000"/>
              </a:lnSpc>
              <a:buClr>
                <a:schemeClr val="accent1"/>
              </a:buClr>
            </a:pPr>
            <a:endParaRPr lang="en-AU" sz="2400" b="1" dirty="0">
              <a:solidFill>
                <a:schemeClr val="accent2">
                  <a:lumMod val="75000"/>
                </a:schemeClr>
              </a:solidFill>
            </a:endParaRPr>
          </a:p>
          <a:p>
            <a:pPr marL="485775" lvl="1" indent="-285750">
              <a:lnSpc>
                <a:spcPct val="90000"/>
              </a:lnSpc>
              <a:buClr>
                <a:schemeClr val="accent1"/>
              </a:buClr>
              <a:buFont typeface="Arial" panose="020B0604020202020204" pitchFamily="34" charset="0"/>
              <a:buChar char="•"/>
            </a:pPr>
            <a:r>
              <a:rPr lang="en-AU" sz="2400" b="1" dirty="0">
                <a:solidFill>
                  <a:schemeClr val="accent2">
                    <a:lumMod val="75000"/>
                  </a:schemeClr>
                </a:solidFill>
              </a:rPr>
              <a:t>Key Components of Ethical Decision-Making</a:t>
            </a:r>
          </a:p>
          <a:p>
            <a:pPr marL="485775" lvl="1" indent="-285750">
              <a:lnSpc>
                <a:spcPct val="90000"/>
              </a:lnSpc>
              <a:buClr>
                <a:schemeClr val="accent1"/>
              </a:buClr>
              <a:buFont typeface="Arial" panose="020B0604020202020204" pitchFamily="34" charset="0"/>
              <a:buChar char="•"/>
            </a:pPr>
            <a:endParaRPr lang="en-AU" sz="2400" b="1" dirty="0">
              <a:solidFill>
                <a:schemeClr val="accent2">
                  <a:lumMod val="75000"/>
                </a:schemeClr>
              </a:solidFill>
            </a:endParaRPr>
          </a:p>
          <a:p>
            <a:pPr marL="942975" lvl="2" indent="-285750">
              <a:lnSpc>
                <a:spcPct val="90000"/>
              </a:lnSpc>
              <a:buClr>
                <a:schemeClr val="accent1"/>
              </a:buClr>
              <a:buFont typeface="Arial" panose="020B0604020202020204" pitchFamily="34" charset="0"/>
              <a:buChar char="•"/>
            </a:pPr>
            <a:r>
              <a:rPr lang="en-AU" sz="2200" b="1" dirty="0">
                <a:solidFill>
                  <a:schemeClr val="tx1">
                    <a:lumMod val="75000"/>
                    <a:lumOff val="25000"/>
                  </a:schemeClr>
                </a:solidFill>
                <a:highlight>
                  <a:srgbClr val="FFFFFF"/>
                </a:highlight>
                <a:latin typeface="+mn-lt"/>
                <a:cs typeface="+mn-cs"/>
              </a:rPr>
              <a:t>Identifying Ethical Issues:</a:t>
            </a:r>
          </a:p>
          <a:p>
            <a:pPr marL="1400175" lvl="3" indent="-285750">
              <a:lnSpc>
                <a:spcPct val="90000"/>
              </a:lnSpc>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Recognising situations where moral values or principles may be at stake.</a:t>
            </a:r>
          </a:p>
          <a:p>
            <a:pPr marL="1114425" lvl="3">
              <a:lnSpc>
                <a:spcPct val="90000"/>
              </a:lnSpc>
              <a:buClr>
                <a:schemeClr val="accent1"/>
              </a:buClr>
            </a:pPr>
            <a:endParaRPr lang="en-AU" dirty="0">
              <a:solidFill>
                <a:schemeClr val="tx1">
                  <a:lumMod val="75000"/>
                  <a:lumOff val="25000"/>
                </a:schemeClr>
              </a:solidFill>
              <a:highlight>
                <a:srgbClr val="FFFFFF"/>
              </a:highlight>
              <a:latin typeface="+mn-lt"/>
              <a:cs typeface="+mn-cs"/>
            </a:endParaRPr>
          </a:p>
          <a:p>
            <a:pPr marL="942975" lvl="2" indent="-285750">
              <a:lnSpc>
                <a:spcPct val="90000"/>
              </a:lnSpc>
              <a:buClr>
                <a:schemeClr val="accent1"/>
              </a:buClr>
              <a:buFont typeface="Arial" panose="020B0604020202020204" pitchFamily="34" charset="0"/>
              <a:buChar char="•"/>
            </a:pPr>
            <a:r>
              <a:rPr lang="en-AU" sz="2200" b="1" dirty="0">
                <a:solidFill>
                  <a:schemeClr val="tx1">
                    <a:lumMod val="75000"/>
                    <a:lumOff val="25000"/>
                  </a:schemeClr>
                </a:solidFill>
                <a:highlight>
                  <a:srgbClr val="FFFFFF"/>
                </a:highlight>
                <a:latin typeface="+mn-lt"/>
                <a:cs typeface="+mn-cs"/>
              </a:rPr>
              <a:t>Considering Stakeholder Interests:</a:t>
            </a:r>
          </a:p>
          <a:p>
            <a:pPr marL="1400175" lvl="3" indent="-285750">
              <a:lnSpc>
                <a:spcPct val="90000"/>
              </a:lnSpc>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Evaluating how decisions impact various stakeholders, including employees, customers, and the broader community.</a:t>
            </a:r>
          </a:p>
          <a:p>
            <a:pPr marL="1400175" lvl="3" indent="-285750">
              <a:lnSpc>
                <a:spcPct val="90000"/>
              </a:lnSpc>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Example: Assessing the environmental impact of project activities and stakeholders' concerns.</a:t>
            </a:r>
          </a:p>
          <a:p>
            <a:pPr marL="1114425" lvl="3">
              <a:lnSpc>
                <a:spcPct val="90000"/>
              </a:lnSpc>
              <a:buClr>
                <a:schemeClr val="accent1"/>
              </a:buClr>
            </a:pPr>
            <a:endParaRPr lang="en-AU" dirty="0">
              <a:solidFill>
                <a:schemeClr val="tx1">
                  <a:lumMod val="75000"/>
                  <a:lumOff val="25000"/>
                </a:schemeClr>
              </a:solidFill>
              <a:highlight>
                <a:srgbClr val="FFFFFF"/>
              </a:highlight>
              <a:latin typeface="+mn-lt"/>
              <a:cs typeface="+mn-cs"/>
            </a:endParaRPr>
          </a:p>
          <a:p>
            <a:pPr marL="942975" lvl="2" indent="-285750">
              <a:lnSpc>
                <a:spcPct val="90000"/>
              </a:lnSpc>
              <a:buClr>
                <a:schemeClr val="accent1"/>
              </a:buClr>
              <a:buFont typeface="Arial" panose="020B0604020202020204" pitchFamily="34" charset="0"/>
              <a:buChar char="•"/>
            </a:pPr>
            <a:r>
              <a:rPr lang="en-AU" sz="2200" b="1" dirty="0">
                <a:solidFill>
                  <a:schemeClr val="tx1">
                    <a:lumMod val="75000"/>
                    <a:lumOff val="25000"/>
                  </a:schemeClr>
                </a:solidFill>
                <a:highlight>
                  <a:srgbClr val="FFFFFF"/>
                </a:highlight>
                <a:latin typeface="+mn-lt"/>
                <a:cs typeface="+mn-cs"/>
              </a:rPr>
              <a:t>Applying Ethical Theories and Frameworks:</a:t>
            </a:r>
            <a:endParaRPr lang="en-AU" sz="2200" dirty="0">
              <a:solidFill>
                <a:schemeClr val="tx1">
                  <a:lumMod val="75000"/>
                  <a:lumOff val="25000"/>
                </a:schemeClr>
              </a:solidFill>
              <a:highlight>
                <a:srgbClr val="FFFFFF"/>
              </a:highlight>
              <a:latin typeface="+mn-lt"/>
              <a:cs typeface="+mn-cs"/>
            </a:endParaRPr>
          </a:p>
          <a:p>
            <a:pPr marL="1400175" lvl="3" indent="-285750">
              <a:lnSpc>
                <a:spcPct val="90000"/>
              </a:lnSpc>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Utilitarianism: Maximising overall benefit while minimising harm.</a:t>
            </a:r>
          </a:p>
          <a:p>
            <a:pPr marL="1400175" lvl="3" indent="-285750">
              <a:lnSpc>
                <a:spcPct val="90000"/>
              </a:lnSpc>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Deontology: Adhering to moral rules and principles regardless of outcomes.</a:t>
            </a:r>
          </a:p>
          <a:p>
            <a:pPr marL="1400175" lvl="3" indent="-285750">
              <a:lnSpc>
                <a:spcPct val="90000"/>
              </a:lnSpc>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Virtue Ethics: Emphasising character traits and ethical virtues in decision-making.</a:t>
            </a:r>
          </a:p>
        </p:txBody>
      </p:sp>
    </p:spTree>
    <p:extLst>
      <p:ext uri="{BB962C8B-B14F-4D97-AF65-F5344CB8AC3E}">
        <p14:creationId xmlns:p14="http://schemas.microsoft.com/office/powerpoint/2010/main" val="270631939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IT Governance and Compliance</a:t>
            </a:r>
            <a:endParaRPr lang="en-AU" altLang="en-US" sz="3600" b="1" dirty="0">
              <a:solidFill>
                <a:srgbClr val="00B0F0"/>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72</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2" name="Picture 2" descr="IT Management Prioritizing IT Assets - Dragon1">
            <a:extLst>
              <a:ext uri="{FF2B5EF4-FFF2-40B4-BE49-F238E27FC236}">
                <a16:creationId xmlns:a16="http://schemas.microsoft.com/office/drawing/2014/main" id="{636857D6-B6FF-F491-C646-959BFE0362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5880" y="1804168"/>
            <a:ext cx="7302843" cy="44177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808047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IT Governance and Compliance (cont.)</a:t>
            </a:r>
            <a:endParaRPr lang="en-AU" altLang="en-US" sz="3600" b="1" dirty="0">
              <a:solidFill>
                <a:srgbClr val="00B0F0"/>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73</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584AD1AD-26D9-2944-D7E9-92E44A9DB350}"/>
              </a:ext>
            </a:extLst>
          </p:cNvPr>
          <p:cNvSpPr txBox="1"/>
          <p:nvPr/>
        </p:nvSpPr>
        <p:spPr>
          <a:xfrm>
            <a:off x="63501" y="2069155"/>
            <a:ext cx="8808650" cy="3668697"/>
          </a:xfrm>
          <a:prstGeom prst="rect">
            <a:avLst/>
          </a:prstGeom>
          <a:noFill/>
        </p:spPr>
        <p:txBody>
          <a:bodyPr wrap="square">
            <a:spAutoFit/>
          </a:bodyPr>
          <a:lstStyle/>
          <a:p>
            <a:pPr marL="657225" lvl="2">
              <a:lnSpc>
                <a:spcPct val="90000"/>
              </a:lnSpc>
              <a:spcBef>
                <a:spcPts val="200"/>
              </a:spcBef>
              <a:spcAft>
                <a:spcPts val="400"/>
              </a:spcAft>
              <a:buClr>
                <a:schemeClr val="accent1"/>
              </a:buClr>
            </a:pPr>
            <a:r>
              <a:rPr lang="en-AU" sz="2200" b="1" dirty="0">
                <a:solidFill>
                  <a:schemeClr val="accent2">
                    <a:lumMod val="75000"/>
                  </a:schemeClr>
                </a:solidFill>
                <a:highlight>
                  <a:srgbClr val="FFFFFF"/>
                </a:highlight>
                <a:latin typeface="+mn-lt"/>
                <a:cs typeface="+mn-cs"/>
              </a:rPr>
              <a:t>IT governance and compliance </a:t>
            </a:r>
            <a:r>
              <a:rPr lang="en-AU" sz="2200" dirty="0">
                <a:solidFill>
                  <a:schemeClr val="tx1">
                    <a:lumMod val="75000"/>
                    <a:lumOff val="25000"/>
                  </a:schemeClr>
                </a:solidFill>
                <a:highlight>
                  <a:srgbClr val="FFFFFF"/>
                </a:highlight>
                <a:latin typeface="+mn-lt"/>
                <a:cs typeface="+mn-cs"/>
              </a:rPr>
              <a:t>play crucial roles in ensuring that organisations effectively manage their IT resources, align technology investments with business objectives, and adhere to regulatory requirements. </a:t>
            </a:r>
          </a:p>
          <a:p>
            <a:pPr marL="657225" lvl="2">
              <a:lnSpc>
                <a:spcPct val="90000"/>
              </a:lnSpc>
              <a:spcBef>
                <a:spcPts val="200"/>
              </a:spcBef>
              <a:spcAft>
                <a:spcPts val="400"/>
              </a:spcAft>
              <a:buClr>
                <a:schemeClr val="accent1"/>
              </a:buClr>
            </a:pPr>
            <a:endParaRPr lang="en-AU" sz="2400" dirty="0"/>
          </a:p>
          <a:p>
            <a:pPr marL="839788" lvl="2" indent="-182563">
              <a:lnSpc>
                <a:spcPct val="90000"/>
              </a:lnSpc>
              <a:spcBef>
                <a:spcPts val="200"/>
              </a:spcBef>
              <a:spcAft>
                <a:spcPts val="400"/>
              </a:spcAft>
              <a:buClr>
                <a:schemeClr val="accent1"/>
              </a:buClr>
              <a:buFont typeface="Arial" panose="020B0604020202020204" pitchFamily="34" charset="0"/>
              <a:buChar char="•"/>
            </a:pPr>
            <a:r>
              <a:rPr lang="en-AU" sz="2400" b="1" dirty="0">
                <a:solidFill>
                  <a:schemeClr val="tx1">
                    <a:lumMod val="75000"/>
                    <a:lumOff val="25000"/>
                  </a:schemeClr>
                </a:solidFill>
                <a:highlight>
                  <a:srgbClr val="FFFFFF"/>
                </a:highlight>
                <a:latin typeface="+mn-lt"/>
                <a:cs typeface="+mn-cs"/>
              </a:rPr>
              <a:t>Definition and Objectives:</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2000" b="1" dirty="0">
                <a:solidFill>
                  <a:schemeClr val="tx1">
                    <a:lumMod val="75000"/>
                    <a:lumOff val="25000"/>
                  </a:schemeClr>
                </a:solidFill>
                <a:highlight>
                  <a:srgbClr val="FFFFFF"/>
                </a:highlight>
                <a:latin typeface="+mn-lt"/>
                <a:cs typeface="+mn-cs"/>
              </a:rPr>
              <a:t>IT governance </a:t>
            </a:r>
            <a:r>
              <a:rPr lang="en-AU" sz="2000" dirty="0">
                <a:solidFill>
                  <a:schemeClr val="tx1">
                    <a:lumMod val="75000"/>
                    <a:lumOff val="25000"/>
                  </a:schemeClr>
                </a:solidFill>
                <a:highlight>
                  <a:srgbClr val="FFFFFF"/>
                </a:highlight>
                <a:latin typeface="+mn-lt"/>
                <a:cs typeface="+mn-cs"/>
              </a:rPr>
              <a:t>refers to the framework and processes that ensure IT supports and enables organisational strategies and goals.</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2000" b="1" u="sng" dirty="0">
                <a:solidFill>
                  <a:schemeClr val="tx1">
                    <a:lumMod val="75000"/>
                    <a:lumOff val="25000"/>
                  </a:schemeClr>
                </a:solidFill>
                <a:highlight>
                  <a:srgbClr val="FFFFFF"/>
                </a:highlight>
                <a:latin typeface="+mn-lt"/>
                <a:cs typeface="+mn-cs"/>
              </a:rPr>
              <a:t>Objectives: </a:t>
            </a:r>
            <a:r>
              <a:rPr lang="en-AU" sz="2000" dirty="0">
                <a:solidFill>
                  <a:schemeClr val="tx1">
                    <a:lumMod val="75000"/>
                    <a:lumOff val="25000"/>
                  </a:schemeClr>
                </a:solidFill>
                <a:highlight>
                  <a:srgbClr val="FFFFFF"/>
                </a:highlight>
                <a:latin typeface="+mn-lt"/>
                <a:cs typeface="+mn-cs"/>
              </a:rPr>
              <a:t>Enhance decision-making, manage risks, optimise resources, and ensure compliance with legal and regulatory requirements.</a:t>
            </a:r>
          </a:p>
        </p:txBody>
      </p:sp>
    </p:spTree>
    <p:extLst>
      <p:ext uri="{BB962C8B-B14F-4D97-AF65-F5344CB8AC3E}">
        <p14:creationId xmlns:p14="http://schemas.microsoft.com/office/powerpoint/2010/main" val="207583997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IT Governance and Compliance:</a:t>
            </a:r>
            <a:br>
              <a:rPr lang="en-AU" sz="3600" b="1" dirty="0">
                <a:solidFill>
                  <a:srgbClr val="00B0F0"/>
                </a:solidFill>
              </a:rPr>
            </a:br>
            <a:r>
              <a:rPr lang="en-AU" sz="3600" b="1" dirty="0">
                <a:solidFill>
                  <a:schemeClr val="accent2">
                    <a:lumMod val="75000"/>
                  </a:schemeClr>
                </a:solidFill>
              </a:rPr>
              <a:t>Key Components</a:t>
            </a:r>
            <a:endParaRPr lang="en-AU" altLang="en-US" sz="3600" b="1" dirty="0">
              <a:solidFill>
                <a:srgbClr val="00B0F0"/>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74</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584AD1AD-26D9-2944-D7E9-92E44A9DB350}"/>
              </a:ext>
            </a:extLst>
          </p:cNvPr>
          <p:cNvSpPr txBox="1"/>
          <p:nvPr/>
        </p:nvSpPr>
        <p:spPr>
          <a:xfrm>
            <a:off x="63501" y="2069155"/>
            <a:ext cx="8808650" cy="3954929"/>
          </a:xfrm>
          <a:prstGeom prst="rect">
            <a:avLst/>
          </a:prstGeom>
          <a:noFill/>
        </p:spPr>
        <p:txBody>
          <a:bodyPr wrap="square">
            <a:spAutoFit/>
          </a:bodyPr>
          <a:lstStyle/>
          <a:p>
            <a:pPr marL="657225" lvl="2">
              <a:lnSpc>
                <a:spcPct val="90000"/>
              </a:lnSpc>
              <a:spcBef>
                <a:spcPts val="200"/>
              </a:spcBef>
              <a:spcAft>
                <a:spcPts val="400"/>
              </a:spcAft>
              <a:buClr>
                <a:schemeClr val="accent1"/>
              </a:buClr>
            </a:pPr>
            <a:r>
              <a:rPr lang="en-AU" sz="2400" b="1" dirty="0">
                <a:solidFill>
                  <a:schemeClr val="accent2">
                    <a:lumMod val="75000"/>
                  </a:schemeClr>
                </a:solidFill>
              </a:rPr>
              <a:t>Key Components of IT Governance</a:t>
            </a:r>
          </a:p>
          <a:p>
            <a:pPr marL="657225" lvl="2">
              <a:lnSpc>
                <a:spcPct val="90000"/>
              </a:lnSpc>
              <a:spcBef>
                <a:spcPts val="200"/>
              </a:spcBef>
              <a:spcAft>
                <a:spcPts val="400"/>
              </a:spcAft>
              <a:buClr>
                <a:schemeClr val="accent1"/>
              </a:buClr>
            </a:pPr>
            <a:endParaRPr lang="en-AU" sz="2400" dirty="0"/>
          </a:p>
          <a:p>
            <a:pPr marL="839788" lvl="2" indent="-182563">
              <a:lnSpc>
                <a:spcPct val="90000"/>
              </a:lnSpc>
              <a:spcBef>
                <a:spcPts val="200"/>
              </a:spcBef>
              <a:spcAft>
                <a:spcPts val="400"/>
              </a:spcAft>
              <a:buClr>
                <a:schemeClr val="accent1"/>
              </a:buClr>
              <a:buFont typeface="Arial" panose="020B0604020202020204" pitchFamily="34" charset="0"/>
              <a:buChar char="•"/>
            </a:pPr>
            <a:r>
              <a:rPr lang="en-AU" sz="2400" b="1" dirty="0">
                <a:solidFill>
                  <a:schemeClr val="tx1">
                    <a:lumMod val="75000"/>
                    <a:lumOff val="25000"/>
                  </a:schemeClr>
                </a:solidFill>
                <a:highlight>
                  <a:srgbClr val="FFFFFF"/>
                </a:highlight>
                <a:latin typeface="+mn-lt"/>
                <a:cs typeface="+mn-cs"/>
              </a:rPr>
              <a:t>Strategic Alignment:</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2000" dirty="0">
                <a:solidFill>
                  <a:schemeClr val="tx1">
                    <a:lumMod val="75000"/>
                    <a:lumOff val="25000"/>
                  </a:schemeClr>
                </a:solidFill>
                <a:highlight>
                  <a:srgbClr val="FFFFFF"/>
                </a:highlight>
                <a:latin typeface="+mn-lt"/>
                <a:cs typeface="+mn-cs"/>
              </a:rPr>
              <a:t>Aligning IT strategies with business objectives to drive organisational success.</a:t>
            </a:r>
          </a:p>
          <a:p>
            <a:pPr marL="839788" lvl="2" indent="-182563">
              <a:lnSpc>
                <a:spcPct val="90000"/>
              </a:lnSpc>
              <a:spcBef>
                <a:spcPts val="200"/>
              </a:spcBef>
              <a:spcAft>
                <a:spcPts val="400"/>
              </a:spcAft>
              <a:buClr>
                <a:schemeClr val="accent1"/>
              </a:buClr>
              <a:buFont typeface="Arial" panose="020B0604020202020204" pitchFamily="34" charset="0"/>
              <a:buChar char="•"/>
            </a:pPr>
            <a:r>
              <a:rPr lang="en-AU" sz="2400" b="1" dirty="0">
                <a:solidFill>
                  <a:schemeClr val="tx1">
                    <a:lumMod val="75000"/>
                    <a:lumOff val="25000"/>
                  </a:schemeClr>
                </a:solidFill>
                <a:highlight>
                  <a:srgbClr val="FFFFFF"/>
                </a:highlight>
                <a:latin typeface="+mn-lt"/>
                <a:cs typeface="+mn-cs"/>
              </a:rPr>
              <a:t>Risk Management:</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2000" dirty="0">
                <a:solidFill>
                  <a:schemeClr val="tx1">
                    <a:lumMod val="75000"/>
                    <a:lumOff val="25000"/>
                  </a:schemeClr>
                </a:solidFill>
                <a:highlight>
                  <a:srgbClr val="FFFFFF"/>
                </a:highlight>
                <a:latin typeface="+mn-lt"/>
                <a:cs typeface="+mn-cs"/>
              </a:rPr>
              <a:t>Identifying, assessing, and mitigating IT-related risks to minimise potential impacts on business operations.</a:t>
            </a:r>
          </a:p>
          <a:p>
            <a:pPr marL="839788" lvl="2" indent="-182563">
              <a:lnSpc>
                <a:spcPct val="90000"/>
              </a:lnSpc>
              <a:spcBef>
                <a:spcPts val="200"/>
              </a:spcBef>
              <a:spcAft>
                <a:spcPts val="400"/>
              </a:spcAft>
              <a:buClr>
                <a:schemeClr val="accent1"/>
              </a:buClr>
              <a:buFont typeface="Arial" panose="020B0604020202020204" pitchFamily="34" charset="0"/>
              <a:buChar char="•"/>
            </a:pPr>
            <a:r>
              <a:rPr lang="en-AU" sz="2400" b="1" dirty="0">
                <a:solidFill>
                  <a:schemeClr val="tx1">
                    <a:lumMod val="75000"/>
                    <a:lumOff val="25000"/>
                  </a:schemeClr>
                </a:solidFill>
                <a:highlight>
                  <a:srgbClr val="FFFFFF"/>
                </a:highlight>
                <a:latin typeface="+mn-lt"/>
                <a:cs typeface="+mn-cs"/>
              </a:rPr>
              <a:t>Resource Management:</a:t>
            </a:r>
            <a:endParaRPr lang="en-AU" sz="2000" dirty="0">
              <a:solidFill>
                <a:schemeClr val="tx1">
                  <a:lumMod val="75000"/>
                  <a:lumOff val="25000"/>
                </a:schemeClr>
              </a:solidFill>
              <a:highlight>
                <a:srgbClr val="FFFFFF"/>
              </a:highlight>
              <a:latin typeface="+mn-lt"/>
              <a:cs typeface="+mn-cs"/>
            </a:endParaRP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2000" dirty="0">
                <a:solidFill>
                  <a:schemeClr val="tx1">
                    <a:lumMod val="75000"/>
                    <a:lumOff val="25000"/>
                  </a:schemeClr>
                </a:solidFill>
                <a:highlight>
                  <a:srgbClr val="FFFFFF"/>
                </a:highlight>
                <a:latin typeface="+mn-lt"/>
                <a:cs typeface="+mn-cs"/>
              </a:rPr>
              <a:t>Efficiently allocating IT resources, including budgets, infrastructure, and personnel.</a:t>
            </a:r>
          </a:p>
        </p:txBody>
      </p:sp>
    </p:spTree>
    <p:extLst>
      <p:ext uri="{BB962C8B-B14F-4D97-AF65-F5344CB8AC3E}">
        <p14:creationId xmlns:p14="http://schemas.microsoft.com/office/powerpoint/2010/main" val="35944948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IT Governance and Compliance:</a:t>
            </a:r>
            <a:br>
              <a:rPr lang="en-AU" sz="3600" b="1" dirty="0">
                <a:solidFill>
                  <a:srgbClr val="00B0F0"/>
                </a:solidFill>
              </a:rPr>
            </a:br>
            <a:r>
              <a:rPr lang="en-AU" sz="3600" b="1" dirty="0">
                <a:solidFill>
                  <a:schemeClr val="accent2">
                    <a:lumMod val="75000"/>
                  </a:schemeClr>
                </a:solidFill>
              </a:rPr>
              <a:t>Frameworks</a:t>
            </a:r>
            <a:endParaRPr lang="en-AU" altLang="en-US" sz="3600" b="1" dirty="0">
              <a:solidFill>
                <a:srgbClr val="00B0F0"/>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75</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584AD1AD-26D9-2944-D7E9-92E44A9DB350}"/>
              </a:ext>
            </a:extLst>
          </p:cNvPr>
          <p:cNvSpPr txBox="1"/>
          <p:nvPr/>
        </p:nvSpPr>
        <p:spPr>
          <a:xfrm>
            <a:off x="63501" y="2069155"/>
            <a:ext cx="8808650" cy="3114699"/>
          </a:xfrm>
          <a:prstGeom prst="rect">
            <a:avLst/>
          </a:prstGeom>
          <a:noFill/>
        </p:spPr>
        <p:txBody>
          <a:bodyPr wrap="square">
            <a:spAutoFit/>
          </a:bodyPr>
          <a:lstStyle/>
          <a:p>
            <a:pPr marL="657225" lvl="2">
              <a:lnSpc>
                <a:spcPct val="90000"/>
              </a:lnSpc>
              <a:spcBef>
                <a:spcPts val="200"/>
              </a:spcBef>
              <a:spcAft>
                <a:spcPts val="400"/>
              </a:spcAft>
              <a:buClr>
                <a:schemeClr val="accent1"/>
              </a:buClr>
            </a:pPr>
            <a:r>
              <a:rPr lang="en-AU" sz="2400" b="1" dirty="0">
                <a:solidFill>
                  <a:schemeClr val="accent2">
                    <a:lumMod val="75000"/>
                  </a:schemeClr>
                </a:solidFill>
              </a:rPr>
              <a:t>Frameworks for IT Governance</a:t>
            </a:r>
          </a:p>
          <a:p>
            <a:pPr marL="657225" lvl="2">
              <a:lnSpc>
                <a:spcPct val="90000"/>
              </a:lnSpc>
              <a:spcBef>
                <a:spcPts val="200"/>
              </a:spcBef>
              <a:spcAft>
                <a:spcPts val="400"/>
              </a:spcAft>
              <a:buClr>
                <a:schemeClr val="accent1"/>
              </a:buClr>
            </a:pPr>
            <a:endParaRPr lang="en-AU" sz="2400" dirty="0"/>
          </a:p>
          <a:p>
            <a:pPr marL="839788" lvl="2" indent="-182563">
              <a:lnSpc>
                <a:spcPct val="90000"/>
              </a:lnSpc>
              <a:spcBef>
                <a:spcPts val="200"/>
              </a:spcBef>
              <a:spcAft>
                <a:spcPts val="400"/>
              </a:spcAft>
              <a:buClr>
                <a:schemeClr val="accent1"/>
              </a:buClr>
              <a:buFont typeface="Arial" panose="020B0604020202020204" pitchFamily="34" charset="0"/>
              <a:buChar char="•"/>
            </a:pPr>
            <a:r>
              <a:rPr lang="en-AU" sz="2400" b="1" dirty="0">
                <a:solidFill>
                  <a:schemeClr val="tx1">
                    <a:lumMod val="75000"/>
                    <a:lumOff val="25000"/>
                  </a:schemeClr>
                </a:solidFill>
                <a:highlight>
                  <a:srgbClr val="FFFFFF"/>
                </a:highlight>
                <a:latin typeface="+mn-lt"/>
                <a:cs typeface="+mn-cs"/>
              </a:rPr>
              <a:t>COBIT (Control Objectives for Information and Related Technologies)</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2000" dirty="0">
                <a:solidFill>
                  <a:schemeClr val="tx1">
                    <a:lumMod val="75000"/>
                    <a:lumOff val="25000"/>
                  </a:schemeClr>
                </a:solidFill>
                <a:highlight>
                  <a:srgbClr val="FFFFFF"/>
                </a:highlight>
                <a:latin typeface="+mn-lt"/>
                <a:cs typeface="+mn-cs"/>
              </a:rPr>
              <a:t>Framework developed by ISACA (Information Systems Audit and Control Association) for governance and management of enterprise IT.</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2000" dirty="0">
                <a:solidFill>
                  <a:schemeClr val="tx1">
                    <a:lumMod val="75000"/>
                    <a:lumOff val="25000"/>
                  </a:schemeClr>
                </a:solidFill>
                <a:highlight>
                  <a:srgbClr val="FFFFFF"/>
                </a:highlight>
                <a:latin typeface="+mn-lt"/>
                <a:cs typeface="+mn-cs"/>
              </a:rPr>
              <a:t>Focuses on aligning IT with business objectives, managing risks, and ensuring compliance through defined control objectives and maturity models.</a:t>
            </a:r>
            <a:endParaRPr lang="en-AU" dirty="0">
              <a:solidFill>
                <a:schemeClr val="tx1">
                  <a:lumMod val="75000"/>
                  <a:lumOff val="25000"/>
                </a:schemeClr>
              </a:solidFill>
              <a:highlight>
                <a:srgbClr val="FFFFFF"/>
              </a:highlight>
              <a:latin typeface="+mn-lt"/>
              <a:cs typeface="+mn-cs"/>
            </a:endParaRPr>
          </a:p>
        </p:txBody>
      </p:sp>
    </p:spTree>
    <p:extLst>
      <p:ext uri="{BB962C8B-B14F-4D97-AF65-F5344CB8AC3E}">
        <p14:creationId xmlns:p14="http://schemas.microsoft.com/office/powerpoint/2010/main" val="379836701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IT Governance and Compliance:</a:t>
            </a:r>
            <a:br>
              <a:rPr lang="en-AU" sz="3600" b="1" dirty="0">
                <a:solidFill>
                  <a:srgbClr val="00B0F0"/>
                </a:solidFill>
              </a:rPr>
            </a:br>
            <a:r>
              <a:rPr lang="en-AU" sz="3600" b="1" dirty="0">
                <a:solidFill>
                  <a:schemeClr val="accent2">
                    <a:lumMod val="75000"/>
                  </a:schemeClr>
                </a:solidFill>
              </a:rPr>
              <a:t>Frameworks (cont.)</a:t>
            </a:r>
            <a:endParaRPr lang="en-AU" altLang="en-US" sz="3600" b="1" dirty="0">
              <a:solidFill>
                <a:srgbClr val="00B0F0"/>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76</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42" name="Picture 10" descr="Control Objectives for Information and Related Technologies (COBIT ...">
            <a:extLst>
              <a:ext uri="{FF2B5EF4-FFF2-40B4-BE49-F238E27FC236}">
                <a16:creationId xmlns:a16="http://schemas.microsoft.com/office/drawing/2014/main" id="{011A19C7-0B80-C465-6BE7-45670AECFB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9920" y="1799437"/>
            <a:ext cx="6336035" cy="45223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895279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IT Governance and Compliance:</a:t>
            </a:r>
            <a:br>
              <a:rPr lang="en-AU" sz="3600" b="1" dirty="0">
                <a:solidFill>
                  <a:srgbClr val="00B0F0"/>
                </a:solidFill>
              </a:rPr>
            </a:br>
            <a:r>
              <a:rPr lang="en-AU" sz="3600" b="1" dirty="0">
                <a:solidFill>
                  <a:schemeClr val="accent2">
                    <a:lumMod val="75000"/>
                  </a:schemeClr>
                </a:solidFill>
              </a:rPr>
              <a:t>Frameworks (cont.)</a:t>
            </a:r>
            <a:endParaRPr lang="en-AU" altLang="en-US" sz="3600" b="1" dirty="0">
              <a:solidFill>
                <a:srgbClr val="00B0F0"/>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77</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584AD1AD-26D9-2944-D7E9-92E44A9DB350}"/>
              </a:ext>
            </a:extLst>
          </p:cNvPr>
          <p:cNvSpPr txBox="1"/>
          <p:nvPr/>
        </p:nvSpPr>
        <p:spPr>
          <a:xfrm>
            <a:off x="63501" y="2069155"/>
            <a:ext cx="8808650" cy="2289858"/>
          </a:xfrm>
          <a:prstGeom prst="rect">
            <a:avLst/>
          </a:prstGeom>
          <a:noFill/>
        </p:spPr>
        <p:txBody>
          <a:bodyPr wrap="square">
            <a:spAutoFit/>
          </a:bodyPr>
          <a:lstStyle/>
          <a:p>
            <a:pPr marL="839788" lvl="2" indent="-182563">
              <a:lnSpc>
                <a:spcPct val="90000"/>
              </a:lnSpc>
              <a:spcBef>
                <a:spcPts val="200"/>
              </a:spcBef>
              <a:spcAft>
                <a:spcPts val="400"/>
              </a:spcAft>
              <a:buClr>
                <a:schemeClr val="accent1"/>
              </a:buClr>
              <a:buFont typeface="Arial" panose="020B0604020202020204" pitchFamily="34" charset="0"/>
              <a:buChar char="•"/>
            </a:pPr>
            <a:r>
              <a:rPr lang="en-AU" sz="2400" b="1" dirty="0">
                <a:solidFill>
                  <a:schemeClr val="tx1">
                    <a:lumMod val="75000"/>
                    <a:lumOff val="25000"/>
                  </a:schemeClr>
                </a:solidFill>
                <a:highlight>
                  <a:srgbClr val="FFFFFF"/>
                </a:highlight>
                <a:latin typeface="+mn-lt"/>
                <a:cs typeface="+mn-cs"/>
              </a:rPr>
              <a:t>ITIL (Information Technology Infrastructure Library)</a:t>
            </a:r>
          </a:p>
          <a:p>
            <a:pPr marL="1296988" lvl="3" indent="-182563">
              <a:lnSpc>
                <a:spcPct val="90000"/>
              </a:lnSpc>
              <a:spcBef>
                <a:spcPts val="200"/>
              </a:spcBef>
              <a:spcAft>
                <a:spcPts val="400"/>
              </a:spcAft>
              <a:buClr>
                <a:schemeClr val="accent1"/>
              </a:buClr>
              <a:buFont typeface="Arial" panose="020B0604020202020204" pitchFamily="34" charset="0"/>
              <a:buChar char="•"/>
            </a:pPr>
            <a:endParaRPr lang="en-AU" dirty="0">
              <a:solidFill>
                <a:schemeClr val="tx1">
                  <a:lumMod val="75000"/>
                  <a:lumOff val="25000"/>
                </a:schemeClr>
              </a:solidFill>
              <a:highlight>
                <a:srgbClr val="FFFFFF"/>
              </a:highlight>
              <a:latin typeface="+mn-lt"/>
              <a:cs typeface="+mn-cs"/>
            </a:endParaRP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2000" dirty="0">
                <a:solidFill>
                  <a:schemeClr val="tx1">
                    <a:lumMod val="75000"/>
                    <a:lumOff val="25000"/>
                  </a:schemeClr>
                </a:solidFill>
                <a:highlight>
                  <a:srgbClr val="FFFFFF"/>
                </a:highlight>
                <a:latin typeface="+mn-lt"/>
                <a:cs typeface="+mn-cs"/>
              </a:rPr>
              <a:t>Set of best practices for IT service management (ITSM) that emphasises service delivery, customer satisfaction, and continual improvement.</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2000" dirty="0">
                <a:solidFill>
                  <a:schemeClr val="tx1">
                    <a:lumMod val="75000"/>
                    <a:lumOff val="25000"/>
                  </a:schemeClr>
                </a:solidFill>
                <a:highlight>
                  <a:srgbClr val="FFFFFF"/>
                </a:highlight>
                <a:latin typeface="+mn-lt"/>
                <a:cs typeface="+mn-cs"/>
              </a:rPr>
              <a:t>Helps organisations align IT services with business needs and improve overall service quality and efficiency.</a:t>
            </a:r>
          </a:p>
        </p:txBody>
      </p:sp>
    </p:spTree>
    <p:extLst>
      <p:ext uri="{BB962C8B-B14F-4D97-AF65-F5344CB8AC3E}">
        <p14:creationId xmlns:p14="http://schemas.microsoft.com/office/powerpoint/2010/main" val="424694247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IT Governance and Compliance:</a:t>
            </a:r>
            <a:br>
              <a:rPr lang="en-AU" sz="3600" b="1" dirty="0">
                <a:solidFill>
                  <a:srgbClr val="00B0F0"/>
                </a:solidFill>
              </a:rPr>
            </a:br>
            <a:r>
              <a:rPr lang="en-AU" sz="3600" b="1" dirty="0">
                <a:solidFill>
                  <a:schemeClr val="accent2">
                    <a:lumMod val="75000"/>
                  </a:schemeClr>
                </a:solidFill>
              </a:rPr>
              <a:t>Frameworks (cont.)</a:t>
            </a:r>
            <a:endParaRPr lang="en-AU" altLang="en-US" sz="3600" b="1" dirty="0">
              <a:solidFill>
                <a:srgbClr val="00B0F0"/>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78</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584AD1AD-26D9-2944-D7E9-92E44A9DB350}"/>
              </a:ext>
            </a:extLst>
          </p:cNvPr>
          <p:cNvSpPr txBox="1"/>
          <p:nvPr/>
        </p:nvSpPr>
        <p:spPr>
          <a:xfrm>
            <a:off x="63501" y="2069155"/>
            <a:ext cx="8808650" cy="750975"/>
          </a:xfrm>
          <a:prstGeom prst="rect">
            <a:avLst/>
          </a:prstGeom>
          <a:noFill/>
        </p:spPr>
        <p:txBody>
          <a:bodyPr wrap="square">
            <a:spAutoFit/>
          </a:bodyPr>
          <a:lstStyle/>
          <a:p>
            <a:pPr marL="839788" lvl="2" indent="-182563">
              <a:lnSpc>
                <a:spcPct val="90000"/>
              </a:lnSpc>
              <a:spcBef>
                <a:spcPts val="200"/>
              </a:spcBef>
              <a:spcAft>
                <a:spcPts val="400"/>
              </a:spcAft>
              <a:buClr>
                <a:schemeClr val="accent1"/>
              </a:buClr>
              <a:buFont typeface="Arial" panose="020B0604020202020204" pitchFamily="34" charset="0"/>
              <a:buChar char="•"/>
            </a:pPr>
            <a:r>
              <a:rPr lang="en-AU" sz="2400" b="1" dirty="0">
                <a:solidFill>
                  <a:schemeClr val="tx1">
                    <a:lumMod val="75000"/>
                    <a:lumOff val="25000"/>
                  </a:schemeClr>
                </a:solidFill>
                <a:highlight>
                  <a:srgbClr val="FFFFFF"/>
                </a:highlight>
                <a:latin typeface="+mn-lt"/>
                <a:cs typeface="+mn-cs"/>
              </a:rPr>
              <a:t>IT service management:</a:t>
            </a:r>
          </a:p>
          <a:p>
            <a:pPr marL="1296988" lvl="3" indent="-182563">
              <a:lnSpc>
                <a:spcPct val="90000"/>
              </a:lnSpc>
              <a:spcBef>
                <a:spcPts val="200"/>
              </a:spcBef>
              <a:spcAft>
                <a:spcPts val="400"/>
              </a:spcAft>
              <a:buClr>
                <a:schemeClr val="accent1"/>
              </a:buClr>
              <a:buFont typeface="Arial" panose="020B0604020202020204" pitchFamily="34" charset="0"/>
              <a:buChar char="•"/>
            </a:pPr>
            <a:endParaRPr lang="en-AU" dirty="0">
              <a:solidFill>
                <a:schemeClr val="tx1">
                  <a:lumMod val="75000"/>
                  <a:lumOff val="25000"/>
                </a:schemeClr>
              </a:solidFill>
              <a:highlight>
                <a:srgbClr val="FFFFFF"/>
              </a:highlight>
              <a:latin typeface="+mn-lt"/>
              <a:cs typeface="+mn-cs"/>
            </a:endParaRPr>
          </a:p>
        </p:txBody>
      </p:sp>
      <p:pic>
        <p:nvPicPr>
          <p:cNvPr id="19458" name="Picture 2" descr="WHAT IS ITSM PROCESS? – ITSM Docs - ITSM Documents &amp; Templates">
            <a:extLst>
              <a:ext uri="{FF2B5EF4-FFF2-40B4-BE49-F238E27FC236}">
                <a16:creationId xmlns:a16="http://schemas.microsoft.com/office/drawing/2014/main" id="{90949F6D-72ED-036F-B750-EDF8559415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3487" y="2444641"/>
            <a:ext cx="3889032" cy="38242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508872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IT Governance and Compliance:</a:t>
            </a:r>
            <a:br>
              <a:rPr lang="en-AU" sz="3600" b="1" dirty="0">
                <a:solidFill>
                  <a:srgbClr val="00B0F0"/>
                </a:solidFill>
              </a:rPr>
            </a:br>
            <a:r>
              <a:rPr lang="en-AU" sz="3600" b="1" dirty="0">
                <a:solidFill>
                  <a:schemeClr val="accent2">
                    <a:lumMod val="75000"/>
                  </a:schemeClr>
                </a:solidFill>
              </a:rPr>
              <a:t>IT Compliance and Regulatory Requirements</a:t>
            </a:r>
            <a:endParaRPr lang="en-AU" altLang="en-US" sz="3600" b="1" dirty="0">
              <a:solidFill>
                <a:srgbClr val="00B0F0"/>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79</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584AD1AD-26D9-2944-D7E9-92E44A9DB350}"/>
              </a:ext>
            </a:extLst>
          </p:cNvPr>
          <p:cNvSpPr txBox="1"/>
          <p:nvPr/>
        </p:nvSpPr>
        <p:spPr>
          <a:xfrm>
            <a:off x="63501" y="2069155"/>
            <a:ext cx="8240240" cy="3059299"/>
          </a:xfrm>
          <a:prstGeom prst="rect">
            <a:avLst/>
          </a:prstGeom>
          <a:noFill/>
        </p:spPr>
        <p:txBody>
          <a:bodyPr wrap="square">
            <a:spAutoFit/>
          </a:bodyPr>
          <a:lstStyle/>
          <a:p>
            <a:pPr marL="657225" lvl="2" indent="-182563">
              <a:lnSpc>
                <a:spcPct val="90000"/>
              </a:lnSpc>
              <a:spcBef>
                <a:spcPts val="200"/>
              </a:spcBef>
              <a:spcAft>
                <a:spcPts val="400"/>
              </a:spcAft>
              <a:buClr>
                <a:schemeClr val="accent1"/>
              </a:buClr>
              <a:buFont typeface="Arial" panose="020B0604020202020204" pitchFamily="34" charset="0"/>
              <a:buChar char="•"/>
            </a:pPr>
            <a:r>
              <a:rPr lang="en-AU" sz="2400" b="1" dirty="0">
                <a:solidFill>
                  <a:schemeClr val="accent2">
                    <a:lumMod val="75000"/>
                  </a:schemeClr>
                </a:solidFill>
              </a:rPr>
              <a:t>IT Compliance and Regulatory Requirements</a:t>
            </a:r>
          </a:p>
          <a:p>
            <a:pPr marL="474662" lvl="2">
              <a:lnSpc>
                <a:spcPct val="90000"/>
              </a:lnSpc>
              <a:spcBef>
                <a:spcPts val="200"/>
              </a:spcBef>
              <a:spcAft>
                <a:spcPts val="400"/>
              </a:spcAft>
              <a:buClr>
                <a:schemeClr val="accent1"/>
              </a:buClr>
            </a:pPr>
            <a:endParaRPr lang="en-AU" sz="2400" b="1" dirty="0">
              <a:solidFill>
                <a:schemeClr val="accent2">
                  <a:lumMod val="75000"/>
                </a:schemeClr>
              </a:solidFill>
            </a:endParaRPr>
          </a:p>
          <a:p>
            <a:pPr marL="839788" lvl="2" indent="-182563">
              <a:lnSpc>
                <a:spcPct val="90000"/>
              </a:lnSpc>
              <a:spcBef>
                <a:spcPts val="200"/>
              </a:spcBef>
              <a:spcAft>
                <a:spcPts val="400"/>
              </a:spcAft>
              <a:buClr>
                <a:schemeClr val="accent1"/>
              </a:buClr>
              <a:buFont typeface="Arial" panose="020B0604020202020204" pitchFamily="34" charset="0"/>
              <a:buChar char="•"/>
            </a:pPr>
            <a:r>
              <a:rPr lang="en-AU" sz="2400" b="1" dirty="0">
                <a:solidFill>
                  <a:schemeClr val="tx1">
                    <a:lumMod val="75000"/>
                    <a:lumOff val="25000"/>
                  </a:schemeClr>
                </a:solidFill>
                <a:highlight>
                  <a:srgbClr val="FFFFFF"/>
                </a:highlight>
                <a:latin typeface="+mn-lt"/>
                <a:cs typeface="+mn-cs"/>
              </a:rPr>
              <a:t>Overview of Compliance Standards</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2000" dirty="0">
                <a:solidFill>
                  <a:schemeClr val="tx1">
                    <a:lumMod val="75000"/>
                    <a:lumOff val="25000"/>
                  </a:schemeClr>
                </a:solidFill>
                <a:highlight>
                  <a:srgbClr val="FFFFFF"/>
                </a:highlight>
                <a:latin typeface="+mn-lt"/>
                <a:cs typeface="+mn-cs"/>
              </a:rPr>
              <a:t>Global and industry-specific regulations that impact IT operations, such as GDPR (General Data Protection Regulation), HIPAA (Health Insurance Portability and Accountability Act), and PCI DSS (Payment Card Industry Data Security Standard).</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2000" dirty="0">
                <a:solidFill>
                  <a:schemeClr val="tx1">
                    <a:lumMod val="75000"/>
                    <a:lumOff val="25000"/>
                  </a:schemeClr>
                </a:solidFill>
                <a:highlight>
                  <a:srgbClr val="FFFFFF"/>
                </a:highlight>
                <a:latin typeface="+mn-lt"/>
                <a:cs typeface="+mn-cs"/>
              </a:rPr>
              <a:t>Compliance requirements vary based on organisational location, industry, and the type of data handled.</a:t>
            </a:r>
          </a:p>
        </p:txBody>
      </p:sp>
    </p:spTree>
    <p:extLst>
      <p:ext uri="{BB962C8B-B14F-4D97-AF65-F5344CB8AC3E}">
        <p14:creationId xmlns:p14="http://schemas.microsoft.com/office/powerpoint/2010/main" val="64057367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200" b="1" dirty="0">
                <a:solidFill>
                  <a:srgbClr val="00B0F0"/>
                </a:solidFill>
              </a:rPr>
              <a:t>IT Governance and Compliance:</a:t>
            </a:r>
            <a:br>
              <a:rPr lang="en-AU" sz="3200" b="1" dirty="0">
                <a:solidFill>
                  <a:srgbClr val="00B0F0"/>
                </a:solidFill>
              </a:rPr>
            </a:br>
            <a:r>
              <a:rPr lang="en-AU" sz="3200" b="1" dirty="0">
                <a:solidFill>
                  <a:schemeClr val="accent2">
                    <a:lumMod val="75000"/>
                  </a:schemeClr>
                </a:solidFill>
              </a:rPr>
              <a:t>IT Compliance and Regulatory Requirements (cont.)</a:t>
            </a:r>
            <a:endParaRPr lang="en-AU" altLang="en-US" sz="3200" b="1" dirty="0">
              <a:solidFill>
                <a:srgbClr val="00B0F0"/>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80</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584AD1AD-26D9-2944-D7E9-92E44A9DB350}"/>
              </a:ext>
            </a:extLst>
          </p:cNvPr>
          <p:cNvSpPr txBox="1"/>
          <p:nvPr/>
        </p:nvSpPr>
        <p:spPr>
          <a:xfrm>
            <a:off x="63501" y="2069155"/>
            <a:ext cx="8079602" cy="2649956"/>
          </a:xfrm>
          <a:prstGeom prst="rect">
            <a:avLst/>
          </a:prstGeom>
          <a:noFill/>
        </p:spPr>
        <p:txBody>
          <a:bodyPr wrap="square">
            <a:spAutoFit/>
          </a:bodyPr>
          <a:lstStyle/>
          <a:p>
            <a:pPr marL="839788" lvl="2" indent="-182563">
              <a:lnSpc>
                <a:spcPct val="90000"/>
              </a:lnSpc>
              <a:spcBef>
                <a:spcPts val="200"/>
              </a:spcBef>
              <a:spcAft>
                <a:spcPts val="400"/>
              </a:spcAft>
              <a:buClr>
                <a:schemeClr val="accent1"/>
              </a:buClr>
              <a:buFont typeface="Arial" panose="020B0604020202020204" pitchFamily="34" charset="0"/>
              <a:buChar char="•"/>
            </a:pPr>
            <a:r>
              <a:rPr lang="en-AU" sz="2400" b="1" dirty="0">
                <a:solidFill>
                  <a:schemeClr val="tx1">
                    <a:lumMod val="75000"/>
                    <a:lumOff val="25000"/>
                  </a:schemeClr>
                </a:solidFill>
                <a:highlight>
                  <a:srgbClr val="FFFFFF"/>
                </a:highlight>
                <a:latin typeface="+mn-lt"/>
                <a:cs typeface="+mn-cs"/>
              </a:rPr>
              <a:t>Challenges and Strategies for Compliance</a:t>
            </a:r>
          </a:p>
          <a:p>
            <a:pPr marL="657225" lvl="2">
              <a:lnSpc>
                <a:spcPct val="90000"/>
              </a:lnSpc>
              <a:spcBef>
                <a:spcPts val="200"/>
              </a:spcBef>
              <a:spcAft>
                <a:spcPts val="400"/>
              </a:spcAft>
              <a:buClr>
                <a:schemeClr val="accent1"/>
              </a:buClr>
            </a:pPr>
            <a:endParaRPr lang="en-AU" sz="2400" b="1" dirty="0">
              <a:solidFill>
                <a:schemeClr val="tx1">
                  <a:lumMod val="75000"/>
                  <a:lumOff val="25000"/>
                </a:schemeClr>
              </a:solidFill>
              <a:highlight>
                <a:srgbClr val="FFFFFF"/>
              </a:highlight>
              <a:latin typeface="+mn-lt"/>
              <a:cs typeface="+mn-cs"/>
            </a:endParaRP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2000" dirty="0">
                <a:solidFill>
                  <a:schemeClr val="tx1">
                    <a:lumMod val="75000"/>
                    <a:lumOff val="25000"/>
                  </a:schemeClr>
                </a:solidFill>
                <a:highlight>
                  <a:srgbClr val="FFFFFF"/>
                </a:highlight>
                <a:latin typeface="+mn-lt"/>
                <a:cs typeface="+mn-cs"/>
              </a:rPr>
              <a:t>Challenges include keeping up with evolving regulations, ensuring data privacy, and implementing effective security measures.</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2000" dirty="0">
                <a:solidFill>
                  <a:schemeClr val="tx1">
                    <a:lumMod val="75000"/>
                    <a:lumOff val="25000"/>
                  </a:schemeClr>
                </a:solidFill>
                <a:highlight>
                  <a:srgbClr val="FFFFFF"/>
                </a:highlight>
                <a:latin typeface="+mn-lt"/>
                <a:cs typeface="+mn-cs"/>
              </a:rPr>
              <a:t>Strategies involve conducting regular audits, maintaining documentation, and integrating compliance into organisational processes and IT systems.</a:t>
            </a:r>
          </a:p>
        </p:txBody>
      </p:sp>
    </p:spTree>
    <p:extLst>
      <p:ext uri="{BB962C8B-B14F-4D97-AF65-F5344CB8AC3E}">
        <p14:creationId xmlns:p14="http://schemas.microsoft.com/office/powerpoint/2010/main" val="317779469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200" b="1" dirty="0">
                <a:solidFill>
                  <a:srgbClr val="00B0F0"/>
                </a:solidFill>
              </a:rPr>
              <a:t>Managing Stakeholder Expectations and Relationships</a:t>
            </a:r>
            <a:endParaRPr lang="en-AU" altLang="en-US" sz="3200" b="1" dirty="0">
              <a:solidFill>
                <a:srgbClr val="00B0F0"/>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81</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584AD1AD-26D9-2944-D7E9-92E44A9DB350}"/>
              </a:ext>
            </a:extLst>
          </p:cNvPr>
          <p:cNvSpPr txBox="1"/>
          <p:nvPr/>
        </p:nvSpPr>
        <p:spPr>
          <a:xfrm>
            <a:off x="63500" y="2291576"/>
            <a:ext cx="8623299" cy="2816156"/>
          </a:xfrm>
          <a:prstGeom prst="rect">
            <a:avLst/>
          </a:prstGeom>
          <a:noFill/>
        </p:spPr>
        <p:txBody>
          <a:bodyPr wrap="square">
            <a:spAutoFit/>
          </a:bodyPr>
          <a:lstStyle/>
          <a:p>
            <a:pPr marL="657225" lvl="2">
              <a:lnSpc>
                <a:spcPct val="90000"/>
              </a:lnSpc>
              <a:spcBef>
                <a:spcPts val="200"/>
              </a:spcBef>
              <a:spcAft>
                <a:spcPts val="400"/>
              </a:spcAft>
              <a:buClr>
                <a:schemeClr val="accent1"/>
              </a:buClr>
            </a:pPr>
            <a:r>
              <a:rPr lang="en-AU" sz="2400" b="1" dirty="0">
                <a:solidFill>
                  <a:schemeClr val="accent2">
                    <a:lumMod val="75000"/>
                  </a:schemeClr>
                </a:solidFill>
                <a:highlight>
                  <a:srgbClr val="FFFFFF"/>
                </a:highlight>
                <a:latin typeface="+mn-lt"/>
                <a:cs typeface="+mn-cs"/>
              </a:rPr>
              <a:t>Effective stakeholder management </a:t>
            </a:r>
            <a:r>
              <a:rPr lang="en-AU" sz="2400" dirty="0">
                <a:solidFill>
                  <a:schemeClr val="tx1">
                    <a:lumMod val="75000"/>
                    <a:lumOff val="25000"/>
                  </a:schemeClr>
                </a:solidFill>
                <a:highlight>
                  <a:srgbClr val="FFFFFF"/>
                </a:highlight>
                <a:latin typeface="+mn-lt"/>
                <a:cs typeface="+mn-cs"/>
              </a:rPr>
              <a:t>is crucial for the success of IT projects, ensuring alignment between project goals and stakeholder expectations while fostering positive relationships.</a:t>
            </a:r>
          </a:p>
          <a:p>
            <a:pPr marL="657225" lvl="2">
              <a:lnSpc>
                <a:spcPct val="90000"/>
              </a:lnSpc>
              <a:spcBef>
                <a:spcPts val="200"/>
              </a:spcBef>
              <a:spcAft>
                <a:spcPts val="400"/>
              </a:spcAft>
              <a:buClr>
                <a:schemeClr val="accent1"/>
              </a:buClr>
            </a:pPr>
            <a:endParaRPr lang="en-AU" sz="2400" dirty="0">
              <a:solidFill>
                <a:schemeClr val="tx1">
                  <a:lumMod val="75000"/>
                  <a:lumOff val="25000"/>
                </a:schemeClr>
              </a:solidFill>
              <a:highlight>
                <a:srgbClr val="FFFFFF"/>
              </a:highlight>
              <a:latin typeface="+mn-lt"/>
              <a:cs typeface="+mn-cs"/>
            </a:endParaRP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2100" b="1" dirty="0">
                <a:solidFill>
                  <a:schemeClr val="accent2">
                    <a:lumMod val="75000"/>
                  </a:schemeClr>
                </a:solidFill>
                <a:highlight>
                  <a:srgbClr val="FFFFFF"/>
                </a:highlight>
                <a:latin typeface="+mn-lt"/>
                <a:cs typeface="+mn-cs"/>
              </a:rPr>
              <a:t>Stakeholders </a:t>
            </a:r>
            <a:r>
              <a:rPr lang="en-AU" sz="2100" dirty="0">
                <a:solidFill>
                  <a:schemeClr val="tx1">
                    <a:lumMod val="75000"/>
                    <a:lumOff val="25000"/>
                  </a:schemeClr>
                </a:solidFill>
                <a:highlight>
                  <a:srgbClr val="FFFFFF"/>
                </a:highlight>
                <a:latin typeface="+mn-lt"/>
                <a:cs typeface="+mn-cs"/>
              </a:rPr>
              <a:t>are individuals or groups who have a vested interest in the outcomes of the project.</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2100" i="1" dirty="0">
                <a:solidFill>
                  <a:schemeClr val="tx1">
                    <a:lumMod val="75000"/>
                    <a:lumOff val="25000"/>
                  </a:schemeClr>
                </a:solidFill>
                <a:highlight>
                  <a:srgbClr val="FFFFFF"/>
                </a:highlight>
                <a:latin typeface="+mn-lt"/>
                <a:cs typeface="+mn-cs"/>
              </a:rPr>
              <a:t>Examples: Clients, end-users, project team members, executives, regulatory bodies.</a:t>
            </a:r>
          </a:p>
        </p:txBody>
      </p:sp>
    </p:spTree>
    <p:extLst>
      <p:ext uri="{BB962C8B-B14F-4D97-AF65-F5344CB8AC3E}">
        <p14:creationId xmlns:p14="http://schemas.microsoft.com/office/powerpoint/2010/main" val="388081736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200" b="1" dirty="0">
                <a:solidFill>
                  <a:srgbClr val="00B0F0"/>
                </a:solidFill>
              </a:rPr>
              <a:t>Managing Stakeholder Expectations and Relationships:</a:t>
            </a:r>
            <a:br>
              <a:rPr lang="en-AU" sz="3200" b="1" dirty="0">
                <a:solidFill>
                  <a:srgbClr val="00B0F0"/>
                </a:solidFill>
              </a:rPr>
            </a:br>
            <a:r>
              <a:rPr lang="en-AU" sz="3200" b="1" dirty="0">
                <a:solidFill>
                  <a:schemeClr val="accent2">
                    <a:lumMod val="75000"/>
                  </a:schemeClr>
                </a:solidFill>
                <a:highlight>
                  <a:srgbClr val="FFFFFF"/>
                </a:highlight>
                <a:latin typeface="+mn-lt"/>
                <a:cs typeface="+mn-cs"/>
              </a:rPr>
              <a:t>Understanding Stakeholder Management</a:t>
            </a:r>
            <a:endParaRPr lang="en-AU" altLang="en-US" sz="3200" b="1" dirty="0">
              <a:solidFill>
                <a:srgbClr val="00B0F0"/>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82</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584AD1AD-26D9-2944-D7E9-92E44A9DB350}"/>
              </a:ext>
            </a:extLst>
          </p:cNvPr>
          <p:cNvSpPr txBox="1"/>
          <p:nvPr/>
        </p:nvSpPr>
        <p:spPr>
          <a:xfrm>
            <a:off x="63500" y="2069155"/>
            <a:ext cx="8697441" cy="3899529"/>
          </a:xfrm>
          <a:prstGeom prst="rect">
            <a:avLst/>
          </a:prstGeom>
          <a:noFill/>
        </p:spPr>
        <p:txBody>
          <a:bodyPr wrap="square">
            <a:spAutoFit/>
          </a:bodyPr>
          <a:lstStyle/>
          <a:p>
            <a:pPr marL="839788" lvl="2" indent="-182563">
              <a:lnSpc>
                <a:spcPct val="90000"/>
              </a:lnSpc>
              <a:spcBef>
                <a:spcPts val="200"/>
              </a:spcBef>
              <a:spcAft>
                <a:spcPts val="400"/>
              </a:spcAft>
              <a:buClr>
                <a:schemeClr val="accent1"/>
              </a:buClr>
              <a:buFont typeface="Arial" panose="020B0604020202020204" pitchFamily="34" charset="0"/>
              <a:buChar char="•"/>
            </a:pPr>
            <a:r>
              <a:rPr lang="en-AU" sz="2400" b="1" dirty="0">
                <a:solidFill>
                  <a:schemeClr val="accent2">
                    <a:lumMod val="75000"/>
                  </a:schemeClr>
                </a:solidFill>
                <a:highlight>
                  <a:srgbClr val="FFFFFF"/>
                </a:highlight>
                <a:latin typeface="+mn-lt"/>
                <a:cs typeface="+mn-cs"/>
              </a:rPr>
              <a:t>Understanding Stakeholder Management</a:t>
            </a:r>
            <a:endParaRPr lang="en-AU" sz="2400" b="1" dirty="0">
              <a:solidFill>
                <a:schemeClr val="tx1">
                  <a:lumMod val="75000"/>
                  <a:lumOff val="25000"/>
                </a:schemeClr>
              </a:solidFill>
              <a:highlight>
                <a:srgbClr val="FFFFFF"/>
              </a:highlight>
              <a:latin typeface="+mn-lt"/>
              <a:cs typeface="+mn-cs"/>
            </a:endParaRP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2000" b="1" dirty="0">
                <a:solidFill>
                  <a:schemeClr val="tx1">
                    <a:lumMod val="75000"/>
                    <a:lumOff val="25000"/>
                  </a:schemeClr>
                </a:solidFill>
                <a:highlight>
                  <a:srgbClr val="FFFFFF"/>
                </a:highlight>
                <a:latin typeface="+mn-lt"/>
                <a:cs typeface="+mn-cs"/>
              </a:rPr>
              <a:t>Stakeholder Identification and Analysis</a:t>
            </a:r>
            <a:endParaRPr lang="en-AU" sz="2000" dirty="0">
              <a:solidFill>
                <a:schemeClr val="tx1">
                  <a:lumMod val="75000"/>
                  <a:lumOff val="25000"/>
                </a:schemeClr>
              </a:solidFill>
              <a:highlight>
                <a:srgbClr val="FFFFFF"/>
              </a:highlight>
              <a:latin typeface="+mn-lt"/>
              <a:cs typeface="+mn-cs"/>
            </a:endParaRPr>
          </a:p>
          <a:p>
            <a:pPr marL="1754188" lvl="4" indent="-182563">
              <a:lnSpc>
                <a:spcPct val="90000"/>
              </a:lnSpc>
              <a:spcBef>
                <a:spcPts val="200"/>
              </a:spcBef>
              <a:spcAft>
                <a:spcPts val="400"/>
              </a:spcAft>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Process of identifying stakeholders and analysing their needs, expectations, influence, and potential impact on the project.</a:t>
            </a:r>
          </a:p>
          <a:p>
            <a:pPr marL="1754188" lvl="4" indent="-182563">
              <a:lnSpc>
                <a:spcPct val="90000"/>
              </a:lnSpc>
              <a:spcBef>
                <a:spcPts val="200"/>
              </a:spcBef>
              <a:spcAft>
                <a:spcPts val="400"/>
              </a:spcAft>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Techniques: Stakeholder mapping, interviews, surveys, and workshops to gather insights and feedback.</a:t>
            </a:r>
          </a:p>
          <a:p>
            <a:pPr marL="1571625" lvl="4">
              <a:lnSpc>
                <a:spcPct val="90000"/>
              </a:lnSpc>
              <a:spcBef>
                <a:spcPts val="200"/>
              </a:spcBef>
              <a:spcAft>
                <a:spcPts val="400"/>
              </a:spcAft>
              <a:buClr>
                <a:schemeClr val="accent1"/>
              </a:buClr>
            </a:pPr>
            <a:endParaRPr lang="en-AU" sz="2000" dirty="0">
              <a:solidFill>
                <a:schemeClr val="tx1">
                  <a:lumMod val="75000"/>
                  <a:lumOff val="25000"/>
                </a:schemeClr>
              </a:solidFill>
              <a:highlight>
                <a:srgbClr val="FFFFFF"/>
              </a:highlight>
              <a:latin typeface="+mn-lt"/>
              <a:cs typeface="+mn-cs"/>
            </a:endParaRP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2000" b="1" dirty="0">
                <a:solidFill>
                  <a:schemeClr val="tx1">
                    <a:lumMod val="75000"/>
                    <a:lumOff val="25000"/>
                  </a:schemeClr>
                </a:solidFill>
                <a:highlight>
                  <a:srgbClr val="FFFFFF"/>
                </a:highlight>
                <a:latin typeface="+mn-lt"/>
                <a:cs typeface="+mn-cs"/>
              </a:rPr>
              <a:t>Types of Stakeholders</a:t>
            </a:r>
            <a:endParaRPr lang="en-AU" sz="2000" dirty="0">
              <a:solidFill>
                <a:schemeClr val="tx1">
                  <a:lumMod val="75000"/>
                  <a:lumOff val="25000"/>
                </a:schemeClr>
              </a:solidFill>
              <a:highlight>
                <a:srgbClr val="FFFFFF"/>
              </a:highlight>
              <a:latin typeface="+mn-lt"/>
              <a:cs typeface="+mn-cs"/>
            </a:endParaRPr>
          </a:p>
          <a:p>
            <a:pPr marL="1754188" lvl="4" indent="-182563">
              <a:lnSpc>
                <a:spcPct val="90000"/>
              </a:lnSpc>
              <a:spcBef>
                <a:spcPts val="200"/>
              </a:spcBef>
              <a:spcAft>
                <a:spcPts val="400"/>
              </a:spcAft>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Internal stakeholders: Employees, project team members, and management within the organisation.</a:t>
            </a:r>
          </a:p>
          <a:p>
            <a:pPr marL="1754188" lvl="4" indent="-182563">
              <a:lnSpc>
                <a:spcPct val="90000"/>
              </a:lnSpc>
              <a:spcBef>
                <a:spcPts val="200"/>
              </a:spcBef>
              <a:spcAft>
                <a:spcPts val="400"/>
              </a:spcAft>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External stakeholders: Clients, customers, suppliers, regulatory agencies, and the broader community.</a:t>
            </a:r>
          </a:p>
        </p:txBody>
      </p:sp>
    </p:spTree>
    <p:extLst>
      <p:ext uri="{BB962C8B-B14F-4D97-AF65-F5344CB8AC3E}">
        <p14:creationId xmlns:p14="http://schemas.microsoft.com/office/powerpoint/2010/main" val="5436946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200" b="1" dirty="0">
                <a:solidFill>
                  <a:srgbClr val="00B0F0"/>
                </a:solidFill>
              </a:rPr>
              <a:t>Managing Stakeholder Expectations and Relationships:</a:t>
            </a:r>
            <a:br>
              <a:rPr lang="en-AU" sz="3200" b="1" dirty="0">
                <a:solidFill>
                  <a:srgbClr val="00B0F0"/>
                </a:solidFill>
              </a:rPr>
            </a:br>
            <a:r>
              <a:rPr lang="en-AU" sz="3200" b="1" dirty="0">
                <a:solidFill>
                  <a:schemeClr val="accent2">
                    <a:lumMod val="75000"/>
                  </a:schemeClr>
                </a:solidFill>
                <a:highlight>
                  <a:srgbClr val="FFFFFF"/>
                </a:highlight>
                <a:latin typeface="+mn-lt"/>
                <a:cs typeface="+mn-cs"/>
              </a:rPr>
              <a:t>Strategies</a:t>
            </a:r>
            <a:endParaRPr lang="en-AU" altLang="en-US" sz="3200" b="1" dirty="0">
              <a:solidFill>
                <a:schemeClr val="accent2">
                  <a:lumMod val="75000"/>
                </a:schemeClr>
              </a:solidFill>
              <a:highlight>
                <a:srgbClr val="FFFFFF"/>
              </a:highlight>
              <a:latin typeface="+mn-lt"/>
              <a:cs typeface="+mn-cs"/>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83</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584AD1AD-26D9-2944-D7E9-92E44A9DB350}"/>
              </a:ext>
            </a:extLst>
          </p:cNvPr>
          <p:cNvSpPr txBox="1"/>
          <p:nvPr/>
        </p:nvSpPr>
        <p:spPr>
          <a:xfrm>
            <a:off x="63500" y="2069155"/>
            <a:ext cx="8697441" cy="3921073"/>
          </a:xfrm>
          <a:prstGeom prst="rect">
            <a:avLst/>
          </a:prstGeom>
          <a:noFill/>
        </p:spPr>
        <p:txBody>
          <a:bodyPr wrap="square">
            <a:spAutoFit/>
          </a:bodyPr>
          <a:lstStyle/>
          <a:p>
            <a:pPr marL="839788" lvl="2" indent="-182563">
              <a:lnSpc>
                <a:spcPct val="90000"/>
              </a:lnSpc>
              <a:spcBef>
                <a:spcPts val="200"/>
              </a:spcBef>
              <a:spcAft>
                <a:spcPts val="400"/>
              </a:spcAft>
              <a:buClr>
                <a:schemeClr val="accent1"/>
              </a:buClr>
              <a:buFont typeface="Arial" panose="020B0604020202020204" pitchFamily="34" charset="0"/>
              <a:buChar char="•"/>
            </a:pPr>
            <a:r>
              <a:rPr lang="en-AU" sz="2400" b="1" dirty="0">
                <a:solidFill>
                  <a:schemeClr val="accent2">
                    <a:lumMod val="75000"/>
                  </a:schemeClr>
                </a:solidFill>
                <a:highlight>
                  <a:srgbClr val="FFFFFF"/>
                </a:highlight>
                <a:latin typeface="+mn-lt"/>
                <a:cs typeface="+mn-cs"/>
              </a:rPr>
              <a:t>Strategies for Managing Stakeholder Expectations</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2000" b="1" dirty="0">
                <a:solidFill>
                  <a:schemeClr val="tx1">
                    <a:lumMod val="75000"/>
                    <a:lumOff val="25000"/>
                  </a:schemeClr>
                </a:solidFill>
                <a:highlight>
                  <a:srgbClr val="FFFFFF"/>
                </a:highlight>
                <a:latin typeface="+mn-lt"/>
                <a:cs typeface="+mn-cs"/>
              </a:rPr>
              <a:t>Clear Communication</a:t>
            </a:r>
          </a:p>
          <a:p>
            <a:pPr marL="1754188" lvl="4" indent="-182563">
              <a:lnSpc>
                <a:spcPct val="90000"/>
              </a:lnSpc>
              <a:spcBef>
                <a:spcPts val="200"/>
              </a:spcBef>
              <a:spcAft>
                <a:spcPts val="400"/>
              </a:spcAft>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Establishing open and transparent communication channels to keep stakeholders informed and engaged throughout the project lifecycle.</a:t>
            </a:r>
          </a:p>
          <a:p>
            <a:pPr marL="1296988" lvl="3" indent="-182563">
              <a:lnSpc>
                <a:spcPct val="90000"/>
              </a:lnSpc>
              <a:spcBef>
                <a:spcPts val="200"/>
              </a:spcBef>
              <a:spcAft>
                <a:spcPts val="400"/>
              </a:spcAft>
              <a:buClr>
                <a:schemeClr val="accent1"/>
              </a:buClr>
              <a:buFont typeface="Arial" panose="020B0604020202020204" pitchFamily="34" charset="0"/>
              <a:buChar char="•"/>
            </a:pPr>
            <a:endParaRPr lang="en-AU" sz="2000" b="1" dirty="0">
              <a:solidFill>
                <a:schemeClr val="tx1">
                  <a:lumMod val="75000"/>
                  <a:lumOff val="25000"/>
                </a:schemeClr>
              </a:solidFill>
              <a:highlight>
                <a:srgbClr val="FFFFFF"/>
              </a:highlight>
              <a:latin typeface="+mn-lt"/>
              <a:cs typeface="+mn-cs"/>
            </a:endParaRP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2000" b="1" dirty="0">
                <a:solidFill>
                  <a:schemeClr val="tx1">
                    <a:lumMod val="75000"/>
                    <a:lumOff val="25000"/>
                  </a:schemeClr>
                </a:solidFill>
                <a:highlight>
                  <a:srgbClr val="FFFFFF"/>
                </a:highlight>
                <a:latin typeface="+mn-lt"/>
                <a:cs typeface="+mn-cs"/>
              </a:rPr>
              <a:t>Setting Realistic Expectations</a:t>
            </a:r>
          </a:p>
          <a:p>
            <a:pPr marL="1754188" lvl="4" indent="-182563">
              <a:lnSpc>
                <a:spcPct val="90000"/>
              </a:lnSpc>
              <a:spcBef>
                <a:spcPts val="200"/>
              </a:spcBef>
              <a:spcAft>
                <a:spcPts val="400"/>
              </a:spcAft>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Managing expectations by defining project scope, objectives, timelines, and deliverables clearly.</a:t>
            </a:r>
          </a:p>
          <a:p>
            <a:pPr marL="1296988" lvl="3" indent="-182563">
              <a:lnSpc>
                <a:spcPct val="90000"/>
              </a:lnSpc>
              <a:spcBef>
                <a:spcPts val="200"/>
              </a:spcBef>
              <a:spcAft>
                <a:spcPts val="400"/>
              </a:spcAft>
              <a:buClr>
                <a:schemeClr val="accent1"/>
              </a:buClr>
              <a:buFont typeface="Arial" panose="020B0604020202020204" pitchFamily="34" charset="0"/>
              <a:buChar char="•"/>
            </a:pPr>
            <a:endParaRPr lang="en-AU" sz="2000" b="1" dirty="0">
              <a:solidFill>
                <a:schemeClr val="tx1">
                  <a:lumMod val="75000"/>
                  <a:lumOff val="25000"/>
                </a:schemeClr>
              </a:solidFill>
              <a:highlight>
                <a:srgbClr val="FFFFFF"/>
              </a:highlight>
              <a:latin typeface="+mn-lt"/>
              <a:cs typeface="+mn-cs"/>
            </a:endParaRP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2000" b="1" dirty="0">
                <a:solidFill>
                  <a:schemeClr val="tx1">
                    <a:lumMod val="75000"/>
                    <a:lumOff val="25000"/>
                  </a:schemeClr>
                </a:solidFill>
                <a:highlight>
                  <a:srgbClr val="FFFFFF"/>
                </a:highlight>
                <a:latin typeface="+mn-lt"/>
                <a:cs typeface="+mn-cs"/>
              </a:rPr>
              <a:t>Addressing Stakeholder Concerns</a:t>
            </a:r>
          </a:p>
          <a:p>
            <a:pPr marL="1754188" lvl="4" indent="-182563">
              <a:lnSpc>
                <a:spcPct val="90000"/>
              </a:lnSpc>
              <a:spcBef>
                <a:spcPts val="200"/>
              </a:spcBef>
              <a:spcAft>
                <a:spcPts val="400"/>
              </a:spcAft>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Proactively identifying and addressing stakeholder concerns and issues as they arise.</a:t>
            </a:r>
          </a:p>
        </p:txBody>
      </p:sp>
    </p:spTree>
    <p:extLst>
      <p:ext uri="{BB962C8B-B14F-4D97-AF65-F5344CB8AC3E}">
        <p14:creationId xmlns:p14="http://schemas.microsoft.com/office/powerpoint/2010/main" val="13293564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200" b="1" dirty="0">
                <a:solidFill>
                  <a:srgbClr val="00B0F0"/>
                </a:solidFill>
              </a:rPr>
              <a:t>Managing Stakeholder Expectations and Relationships:</a:t>
            </a:r>
            <a:br>
              <a:rPr lang="en-AU" sz="3200" b="1" dirty="0">
                <a:solidFill>
                  <a:srgbClr val="00B0F0"/>
                </a:solidFill>
              </a:rPr>
            </a:br>
            <a:r>
              <a:rPr lang="en-AU" sz="3200" b="1" dirty="0">
                <a:solidFill>
                  <a:schemeClr val="accent2">
                    <a:lumMod val="75000"/>
                  </a:schemeClr>
                </a:solidFill>
                <a:highlight>
                  <a:srgbClr val="FFFFFF"/>
                </a:highlight>
                <a:latin typeface="+mn-lt"/>
                <a:cs typeface="+mn-cs"/>
              </a:rPr>
              <a:t>Building Relationships</a:t>
            </a:r>
            <a:endParaRPr lang="en-AU" altLang="en-US" sz="3200" b="1" dirty="0">
              <a:solidFill>
                <a:schemeClr val="accent2">
                  <a:lumMod val="75000"/>
                </a:schemeClr>
              </a:solidFill>
              <a:highlight>
                <a:srgbClr val="FFFFFF"/>
              </a:highlight>
              <a:latin typeface="+mn-lt"/>
              <a:cs typeface="+mn-cs"/>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84</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584AD1AD-26D9-2944-D7E9-92E44A9DB350}"/>
              </a:ext>
            </a:extLst>
          </p:cNvPr>
          <p:cNvSpPr txBox="1"/>
          <p:nvPr/>
        </p:nvSpPr>
        <p:spPr>
          <a:xfrm>
            <a:off x="63500" y="2069155"/>
            <a:ext cx="8697441" cy="3782574"/>
          </a:xfrm>
          <a:prstGeom prst="rect">
            <a:avLst/>
          </a:prstGeom>
          <a:noFill/>
        </p:spPr>
        <p:txBody>
          <a:bodyPr wrap="square">
            <a:spAutoFit/>
          </a:bodyPr>
          <a:lstStyle/>
          <a:p>
            <a:pPr marL="839788" lvl="2" indent="-182563">
              <a:lnSpc>
                <a:spcPct val="90000"/>
              </a:lnSpc>
              <a:spcBef>
                <a:spcPts val="200"/>
              </a:spcBef>
              <a:spcAft>
                <a:spcPts val="400"/>
              </a:spcAft>
              <a:buClr>
                <a:schemeClr val="accent1"/>
              </a:buClr>
              <a:buFont typeface="Arial" panose="020B0604020202020204" pitchFamily="34" charset="0"/>
              <a:buChar char="•"/>
            </a:pPr>
            <a:r>
              <a:rPr lang="en-AU" sz="2400" b="1" dirty="0">
                <a:solidFill>
                  <a:schemeClr val="accent2">
                    <a:lumMod val="75000"/>
                  </a:schemeClr>
                </a:solidFill>
                <a:highlight>
                  <a:srgbClr val="FFFFFF"/>
                </a:highlight>
                <a:latin typeface="+mn-lt"/>
                <a:cs typeface="+mn-cs"/>
              </a:rPr>
              <a:t>Building and Sustaining Stakeholder Relationships</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2000" b="1" dirty="0">
                <a:solidFill>
                  <a:schemeClr val="tx1">
                    <a:lumMod val="75000"/>
                    <a:lumOff val="25000"/>
                  </a:schemeClr>
                </a:solidFill>
                <a:highlight>
                  <a:srgbClr val="FFFFFF"/>
                </a:highlight>
                <a:latin typeface="+mn-lt"/>
                <a:cs typeface="+mn-cs"/>
              </a:rPr>
              <a:t>Building Trust and Credibility</a:t>
            </a:r>
          </a:p>
          <a:p>
            <a:pPr marL="1754188" lvl="4" indent="-182563">
              <a:lnSpc>
                <a:spcPct val="90000"/>
              </a:lnSpc>
              <a:spcBef>
                <a:spcPts val="200"/>
              </a:spcBef>
              <a:spcAft>
                <a:spcPts val="400"/>
              </a:spcAft>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Demonstrating competence, integrity, and reliability in project delivery.</a:t>
            </a:r>
          </a:p>
          <a:p>
            <a:pPr marL="1296988" lvl="3" indent="-182563">
              <a:lnSpc>
                <a:spcPct val="90000"/>
              </a:lnSpc>
              <a:spcBef>
                <a:spcPts val="200"/>
              </a:spcBef>
              <a:spcAft>
                <a:spcPts val="400"/>
              </a:spcAft>
              <a:buClr>
                <a:schemeClr val="accent1"/>
              </a:buClr>
              <a:buFont typeface="Arial" panose="020B0604020202020204" pitchFamily="34" charset="0"/>
              <a:buChar char="•"/>
            </a:pPr>
            <a:endParaRPr lang="en-AU" sz="2000" b="1" dirty="0">
              <a:solidFill>
                <a:schemeClr val="tx1">
                  <a:lumMod val="75000"/>
                  <a:lumOff val="25000"/>
                </a:schemeClr>
              </a:solidFill>
              <a:highlight>
                <a:srgbClr val="FFFFFF"/>
              </a:highlight>
              <a:latin typeface="+mn-lt"/>
              <a:cs typeface="+mn-cs"/>
            </a:endParaRP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2000" b="1" dirty="0">
                <a:solidFill>
                  <a:schemeClr val="tx1">
                    <a:lumMod val="75000"/>
                    <a:lumOff val="25000"/>
                  </a:schemeClr>
                </a:solidFill>
                <a:highlight>
                  <a:srgbClr val="FFFFFF"/>
                </a:highlight>
                <a:latin typeface="+mn-lt"/>
                <a:cs typeface="+mn-cs"/>
              </a:rPr>
              <a:t>Tailoring Communication Styles</a:t>
            </a:r>
          </a:p>
          <a:p>
            <a:pPr marL="1754188" lvl="4" indent="-182563">
              <a:lnSpc>
                <a:spcPct val="90000"/>
              </a:lnSpc>
              <a:spcBef>
                <a:spcPts val="200"/>
              </a:spcBef>
              <a:spcAft>
                <a:spcPts val="400"/>
              </a:spcAft>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Adapting communication styles and methods to meet the preferences and cultural backgrounds of diverse stakeholders.</a:t>
            </a:r>
          </a:p>
          <a:p>
            <a:pPr marL="1296988" lvl="3" indent="-182563">
              <a:lnSpc>
                <a:spcPct val="90000"/>
              </a:lnSpc>
              <a:spcBef>
                <a:spcPts val="200"/>
              </a:spcBef>
              <a:spcAft>
                <a:spcPts val="400"/>
              </a:spcAft>
              <a:buClr>
                <a:schemeClr val="accent1"/>
              </a:buClr>
              <a:buFont typeface="Arial" panose="020B0604020202020204" pitchFamily="34" charset="0"/>
              <a:buChar char="•"/>
            </a:pPr>
            <a:endParaRPr lang="en-AU" sz="2000" b="1" dirty="0">
              <a:solidFill>
                <a:schemeClr val="tx1">
                  <a:lumMod val="75000"/>
                  <a:lumOff val="25000"/>
                </a:schemeClr>
              </a:solidFill>
              <a:highlight>
                <a:srgbClr val="FFFFFF"/>
              </a:highlight>
              <a:latin typeface="+mn-lt"/>
              <a:cs typeface="+mn-cs"/>
            </a:endParaRP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2000" b="1" dirty="0">
                <a:solidFill>
                  <a:schemeClr val="tx1">
                    <a:lumMod val="75000"/>
                    <a:lumOff val="25000"/>
                  </a:schemeClr>
                </a:solidFill>
                <a:highlight>
                  <a:srgbClr val="FFFFFF"/>
                </a:highlight>
                <a:latin typeface="+mn-lt"/>
                <a:cs typeface="+mn-cs"/>
              </a:rPr>
              <a:t>Managing Expectations During Change</a:t>
            </a:r>
          </a:p>
          <a:p>
            <a:pPr marL="1754188" lvl="4" indent="-182563">
              <a:lnSpc>
                <a:spcPct val="90000"/>
              </a:lnSpc>
              <a:spcBef>
                <a:spcPts val="200"/>
              </a:spcBef>
              <a:spcAft>
                <a:spcPts val="400"/>
              </a:spcAft>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Effectively managing stakeholder expectations during project changes or unexpected challenges.</a:t>
            </a:r>
          </a:p>
        </p:txBody>
      </p:sp>
    </p:spTree>
    <p:extLst>
      <p:ext uri="{BB962C8B-B14F-4D97-AF65-F5344CB8AC3E}">
        <p14:creationId xmlns:p14="http://schemas.microsoft.com/office/powerpoint/2010/main" val="383452095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Group Discussion Case Stud</a:t>
            </a:r>
            <a:r>
              <a:rPr lang="en-US" altLang="zh-CN" sz="3600" b="1" dirty="0">
                <a:solidFill>
                  <a:srgbClr val="00B0F0"/>
                </a:solidFill>
              </a:rPr>
              <a:t>y </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276045" y="1831112"/>
            <a:ext cx="8643668" cy="4321533"/>
          </a:xfrm>
        </p:spPr>
        <p:txBody>
          <a:bodyPr/>
          <a:lstStyle/>
          <a:p>
            <a:pPr marL="0" indent="0">
              <a:buNone/>
            </a:pPr>
            <a:r>
              <a:rPr lang="en-AU" sz="2400" b="1" dirty="0">
                <a:solidFill>
                  <a:schemeClr val="accent2">
                    <a:lumMod val="75000"/>
                  </a:schemeClr>
                </a:solidFill>
              </a:rPr>
              <a:t>Scenario: Implementation of AI-Powered Customer Service Chatbot</a:t>
            </a:r>
          </a:p>
          <a:p>
            <a:pPr marL="0" indent="0">
              <a:buNone/>
            </a:pPr>
            <a:r>
              <a:rPr lang="en-AU" dirty="0"/>
              <a:t>A multinational retail corporation is implementing an AI-powered customer service chatbot to enhance customer support efficiency and responsiveness. The chatbot utilises natural language processing (NLP) to handle customer inquiries, provide product recommendations, and process orders autonomously. The project aims to improve customer satisfaction and operational efficiency across global markets. </a:t>
            </a:r>
          </a:p>
          <a:p>
            <a:pPr marL="0" indent="0">
              <a:buNone/>
            </a:pPr>
            <a:r>
              <a:rPr lang="en-AU" b="1" dirty="0"/>
              <a:t>Questions:</a:t>
            </a:r>
          </a:p>
          <a:p>
            <a:pPr>
              <a:buFont typeface="+mj-lt"/>
              <a:buAutoNum type="arabicPeriod"/>
            </a:pPr>
            <a:r>
              <a:rPr lang="en-AU" sz="1800" dirty="0"/>
              <a:t>What are some ethical concerns associated with implementing an AI-powered customer service chatbot?</a:t>
            </a:r>
          </a:p>
          <a:p>
            <a:pPr>
              <a:buFont typeface="+mj-lt"/>
              <a:buAutoNum type="arabicPeriod"/>
            </a:pPr>
            <a:r>
              <a:rPr lang="en-AU" sz="1800" dirty="0"/>
              <a:t>How can stakeholders' expectations be managed during the implementation of AI technology in customer service?</a:t>
            </a:r>
          </a:p>
          <a:p>
            <a:pPr>
              <a:buFont typeface="+mj-lt"/>
              <a:buAutoNum type="arabicPeriod"/>
            </a:pPr>
            <a:r>
              <a:rPr lang="en-AU" sz="1800" dirty="0"/>
              <a:t>What are some management challenges involved in deploying AI technology like a customer service chatbot?</a:t>
            </a:r>
            <a:endParaRPr lang="en-AU" dirty="0"/>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85</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6806674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Case Study: Discussion Points</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373332" y="1878232"/>
            <a:ext cx="8251684" cy="4321533"/>
          </a:xfrm>
        </p:spPr>
        <p:txBody>
          <a:bodyPr/>
          <a:lstStyle/>
          <a:p>
            <a:pPr>
              <a:buFont typeface="+mj-lt"/>
              <a:buAutoNum type="arabicPeriod"/>
            </a:pPr>
            <a:r>
              <a:rPr lang="en-AU" sz="2400" b="1" dirty="0">
                <a:solidFill>
                  <a:schemeClr val="accent2">
                    <a:lumMod val="75000"/>
                  </a:schemeClr>
                </a:solidFill>
              </a:rPr>
              <a:t>What are some ethical concerns associated with implementing an AI-powered customer service chatbot?</a:t>
            </a:r>
          </a:p>
          <a:p>
            <a:pPr marL="0" indent="0">
              <a:buNone/>
            </a:pPr>
            <a:endParaRPr lang="en-AU" sz="2400" dirty="0"/>
          </a:p>
          <a:p>
            <a:pPr marL="942975" lvl="2" indent="-285750" defTabSz="457200">
              <a:spcBef>
                <a:spcPct val="0"/>
              </a:spcBef>
              <a:spcAft>
                <a:spcPct val="0"/>
              </a:spcAft>
              <a:buFont typeface="Arial" panose="020B0604020202020204" pitchFamily="34" charset="0"/>
              <a:buChar char="•"/>
            </a:pPr>
            <a:r>
              <a:rPr lang="en-AU" sz="2000" b="1" dirty="0">
                <a:solidFill>
                  <a:schemeClr val="tx1">
                    <a:lumMod val="75000"/>
                    <a:lumOff val="25000"/>
                  </a:schemeClr>
                </a:solidFill>
                <a:highlight>
                  <a:srgbClr val="FFFFFF"/>
                </a:highlight>
              </a:rPr>
              <a:t>Privacy Concerns: </a:t>
            </a:r>
            <a:r>
              <a:rPr lang="en-AU" sz="2000" dirty="0">
                <a:solidFill>
                  <a:schemeClr val="tx1">
                    <a:lumMod val="75000"/>
                    <a:lumOff val="25000"/>
                  </a:schemeClr>
                </a:solidFill>
                <a:highlight>
                  <a:srgbClr val="FFFFFF"/>
                </a:highlight>
              </a:rPr>
              <a:t>The chatbot collects and processes customer data, including personal information and purchasing </a:t>
            </a:r>
            <a:r>
              <a:rPr lang="en-AU" sz="2000" dirty="0" err="1">
                <a:solidFill>
                  <a:schemeClr val="tx1">
                    <a:lumMod val="75000"/>
                    <a:lumOff val="25000"/>
                  </a:schemeClr>
                </a:solidFill>
                <a:highlight>
                  <a:srgbClr val="FFFFFF"/>
                </a:highlight>
              </a:rPr>
              <a:t>behavior</a:t>
            </a:r>
            <a:r>
              <a:rPr lang="en-AU" sz="2000" dirty="0">
                <a:solidFill>
                  <a:schemeClr val="tx1">
                    <a:lumMod val="75000"/>
                    <a:lumOff val="25000"/>
                  </a:schemeClr>
                </a:solidFill>
                <a:highlight>
                  <a:srgbClr val="FFFFFF"/>
                </a:highlight>
              </a:rPr>
              <a:t>. Ensuring data privacy and obtaining consent for data usage are critical to comply with regulations like GDPR.</a:t>
            </a:r>
          </a:p>
          <a:p>
            <a:pPr marL="942975" lvl="2" indent="-285750" defTabSz="457200">
              <a:spcBef>
                <a:spcPct val="0"/>
              </a:spcBef>
              <a:spcAft>
                <a:spcPct val="0"/>
              </a:spcAft>
              <a:buFont typeface="Arial" panose="020B0604020202020204" pitchFamily="34" charset="0"/>
              <a:buChar char="•"/>
            </a:pPr>
            <a:r>
              <a:rPr lang="en-AU" sz="2000" b="1" dirty="0">
                <a:solidFill>
                  <a:schemeClr val="tx1">
                    <a:lumMod val="75000"/>
                    <a:lumOff val="25000"/>
                  </a:schemeClr>
                </a:solidFill>
                <a:highlight>
                  <a:srgbClr val="FFFFFF"/>
                </a:highlight>
              </a:rPr>
              <a:t>Bias in AI: </a:t>
            </a:r>
            <a:r>
              <a:rPr lang="en-AU" sz="2000" dirty="0">
                <a:solidFill>
                  <a:schemeClr val="tx1">
                    <a:lumMod val="75000"/>
                    <a:lumOff val="25000"/>
                  </a:schemeClr>
                </a:solidFill>
                <a:highlight>
                  <a:srgbClr val="FFFFFF"/>
                </a:highlight>
              </a:rPr>
              <a:t>Potential biases in the chatbot’s algorithms could result in unfair treatment of customers based on demographics or purchase history.</a:t>
            </a:r>
          </a:p>
          <a:p>
            <a:pPr marL="942975" lvl="2" indent="-285750" defTabSz="457200">
              <a:spcBef>
                <a:spcPct val="0"/>
              </a:spcBef>
              <a:spcAft>
                <a:spcPct val="0"/>
              </a:spcAft>
              <a:buFont typeface="Arial" panose="020B0604020202020204" pitchFamily="34" charset="0"/>
              <a:buChar char="•"/>
            </a:pPr>
            <a:r>
              <a:rPr lang="en-AU" sz="2000" b="1" dirty="0">
                <a:solidFill>
                  <a:schemeClr val="tx1">
                    <a:lumMod val="75000"/>
                    <a:lumOff val="25000"/>
                  </a:schemeClr>
                </a:solidFill>
                <a:highlight>
                  <a:srgbClr val="FFFFFF"/>
                </a:highlight>
              </a:rPr>
              <a:t>Transparency: </a:t>
            </a:r>
            <a:r>
              <a:rPr lang="en-AU" sz="2000" dirty="0">
                <a:solidFill>
                  <a:schemeClr val="tx1">
                    <a:lumMod val="75000"/>
                    <a:lumOff val="25000"/>
                  </a:schemeClr>
                </a:solidFill>
                <a:highlight>
                  <a:srgbClr val="FFFFFF"/>
                </a:highlight>
              </a:rPr>
              <a:t>Customers should be informed when interacting with AI versus human agents to maintain transparency and trust.</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86</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5069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3555">
                                            <p:txEl>
                                              <p:pRg st="2" end="2"/>
                                            </p:txEl>
                                          </p:spTgt>
                                        </p:tgtEl>
                                        <p:attrNameLst>
                                          <p:attrName>style.visibility</p:attrName>
                                        </p:attrNameLst>
                                      </p:cBhvr>
                                      <p:to>
                                        <p:strVal val="visible"/>
                                      </p:to>
                                    </p:set>
                                    <p:animEffect transition="in" filter="fade">
                                      <p:cBhvr>
                                        <p:cTn id="7" dur="1000"/>
                                        <p:tgtEl>
                                          <p:spTgt spid="23555">
                                            <p:txEl>
                                              <p:pRg st="2" end="2"/>
                                            </p:txEl>
                                          </p:spTgt>
                                        </p:tgtEl>
                                      </p:cBhvr>
                                    </p:animEffect>
                                    <p:anim calcmode="lin" valueType="num">
                                      <p:cBhvr>
                                        <p:cTn id="8" dur="1000" fill="hold"/>
                                        <p:tgtEl>
                                          <p:spTgt spid="2355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23555">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3555">
                                            <p:txEl>
                                              <p:pRg st="3" end="3"/>
                                            </p:txEl>
                                          </p:spTgt>
                                        </p:tgtEl>
                                        <p:attrNameLst>
                                          <p:attrName>style.visibility</p:attrName>
                                        </p:attrNameLst>
                                      </p:cBhvr>
                                      <p:to>
                                        <p:strVal val="visible"/>
                                      </p:to>
                                    </p:set>
                                    <p:animEffect transition="in" filter="fade">
                                      <p:cBhvr>
                                        <p:cTn id="12" dur="1000"/>
                                        <p:tgtEl>
                                          <p:spTgt spid="23555">
                                            <p:txEl>
                                              <p:pRg st="3" end="3"/>
                                            </p:txEl>
                                          </p:spTgt>
                                        </p:tgtEl>
                                      </p:cBhvr>
                                    </p:animEffect>
                                    <p:anim calcmode="lin" valueType="num">
                                      <p:cBhvr>
                                        <p:cTn id="13" dur="1000" fill="hold"/>
                                        <p:tgtEl>
                                          <p:spTgt spid="23555">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23555">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3555">
                                            <p:txEl>
                                              <p:pRg st="4" end="4"/>
                                            </p:txEl>
                                          </p:spTgt>
                                        </p:tgtEl>
                                        <p:attrNameLst>
                                          <p:attrName>style.visibility</p:attrName>
                                        </p:attrNameLst>
                                      </p:cBhvr>
                                      <p:to>
                                        <p:strVal val="visible"/>
                                      </p:to>
                                    </p:set>
                                    <p:animEffect transition="in" filter="fade">
                                      <p:cBhvr>
                                        <p:cTn id="17" dur="1000"/>
                                        <p:tgtEl>
                                          <p:spTgt spid="23555">
                                            <p:txEl>
                                              <p:pRg st="4" end="4"/>
                                            </p:txEl>
                                          </p:spTgt>
                                        </p:tgtEl>
                                      </p:cBhvr>
                                    </p:animEffect>
                                    <p:anim calcmode="lin" valueType="num">
                                      <p:cBhvr>
                                        <p:cTn id="18" dur="1000" fill="hold"/>
                                        <p:tgtEl>
                                          <p:spTgt spid="23555">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23555">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Case Study: Discussion Points</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373332" y="1991750"/>
            <a:ext cx="8288754" cy="4321533"/>
          </a:xfrm>
        </p:spPr>
        <p:txBody>
          <a:bodyPr/>
          <a:lstStyle/>
          <a:p>
            <a:pPr marL="0" indent="0">
              <a:buNone/>
            </a:pPr>
            <a:r>
              <a:rPr lang="en-AU" sz="2400" b="1" dirty="0">
                <a:solidFill>
                  <a:schemeClr val="accent2">
                    <a:lumMod val="75000"/>
                  </a:schemeClr>
                </a:solidFill>
              </a:rPr>
              <a:t>2. How can stakeholders' expectations be managed during the implementation of AI technology in customer service?</a:t>
            </a:r>
          </a:p>
          <a:p>
            <a:pPr marL="0" indent="0">
              <a:buNone/>
            </a:pPr>
            <a:endParaRPr lang="en-AU" sz="2400" b="1" dirty="0">
              <a:solidFill>
                <a:schemeClr val="accent1">
                  <a:lumMod val="75000"/>
                </a:schemeClr>
              </a:solidFill>
            </a:endParaRPr>
          </a:p>
          <a:p>
            <a:pPr marL="942975" lvl="2" indent="-285750" defTabSz="457200">
              <a:spcBef>
                <a:spcPct val="0"/>
              </a:spcBef>
              <a:spcAft>
                <a:spcPct val="0"/>
              </a:spcAft>
              <a:buFont typeface="Arial" panose="020B0604020202020204" pitchFamily="34" charset="0"/>
              <a:buChar char="•"/>
            </a:pPr>
            <a:r>
              <a:rPr lang="en-AU" sz="2000" dirty="0">
                <a:solidFill>
                  <a:schemeClr val="tx1">
                    <a:lumMod val="75000"/>
                    <a:lumOff val="25000"/>
                  </a:schemeClr>
                </a:solidFill>
                <a:highlight>
                  <a:srgbClr val="FFFFFF"/>
                </a:highlight>
              </a:rPr>
              <a:t>Regular communication about the capabilities and limitations of the AI chatbot.</a:t>
            </a:r>
          </a:p>
          <a:p>
            <a:pPr marL="942975" lvl="2" indent="-285750" defTabSz="457200">
              <a:spcBef>
                <a:spcPct val="0"/>
              </a:spcBef>
              <a:spcAft>
                <a:spcPct val="0"/>
              </a:spcAft>
              <a:buFont typeface="Arial" panose="020B0604020202020204" pitchFamily="34" charset="0"/>
              <a:buChar char="•"/>
            </a:pPr>
            <a:r>
              <a:rPr lang="en-AU" sz="2000" dirty="0">
                <a:solidFill>
                  <a:schemeClr val="tx1">
                    <a:lumMod val="75000"/>
                    <a:lumOff val="25000"/>
                  </a:schemeClr>
                </a:solidFill>
                <a:highlight>
                  <a:srgbClr val="FFFFFF"/>
                </a:highlight>
              </a:rPr>
              <a:t>Addressing concerns and feedback from stakeholders through surveys and feedback mechanisms.</a:t>
            </a:r>
          </a:p>
          <a:p>
            <a:pPr marL="942975" lvl="2" indent="-285750" defTabSz="457200">
              <a:spcBef>
                <a:spcPct val="0"/>
              </a:spcBef>
              <a:spcAft>
                <a:spcPct val="0"/>
              </a:spcAft>
              <a:buFont typeface="Arial" panose="020B0604020202020204" pitchFamily="34" charset="0"/>
              <a:buChar char="•"/>
            </a:pPr>
            <a:r>
              <a:rPr lang="en-AU" sz="2000" dirty="0">
                <a:solidFill>
                  <a:schemeClr val="tx1">
                    <a:lumMod val="75000"/>
                    <a:lumOff val="25000"/>
                  </a:schemeClr>
                </a:solidFill>
                <a:highlight>
                  <a:srgbClr val="FFFFFF"/>
                </a:highlight>
              </a:rPr>
              <a:t>Providing training to employees on how to work alongside AI systems to maintain customer satisfaction.</a:t>
            </a:r>
            <a:endParaRPr lang="en-AU" sz="2800" dirty="0"/>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87</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7852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3555">
                                            <p:txEl>
                                              <p:pRg st="2" end="2"/>
                                            </p:txEl>
                                          </p:spTgt>
                                        </p:tgtEl>
                                        <p:attrNameLst>
                                          <p:attrName>style.visibility</p:attrName>
                                        </p:attrNameLst>
                                      </p:cBhvr>
                                      <p:to>
                                        <p:strVal val="visible"/>
                                      </p:to>
                                    </p:set>
                                    <p:animEffect transition="in" filter="fade">
                                      <p:cBhvr>
                                        <p:cTn id="7" dur="1000"/>
                                        <p:tgtEl>
                                          <p:spTgt spid="23555">
                                            <p:txEl>
                                              <p:pRg st="2" end="2"/>
                                            </p:txEl>
                                          </p:spTgt>
                                        </p:tgtEl>
                                      </p:cBhvr>
                                    </p:animEffect>
                                    <p:anim calcmode="lin" valueType="num">
                                      <p:cBhvr>
                                        <p:cTn id="8" dur="1000" fill="hold"/>
                                        <p:tgtEl>
                                          <p:spTgt spid="2355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23555">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3555">
                                            <p:txEl>
                                              <p:pRg st="3" end="3"/>
                                            </p:txEl>
                                          </p:spTgt>
                                        </p:tgtEl>
                                        <p:attrNameLst>
                                          <p:attrName>style.visibility</p:attrName>
                                        </p:attrNameLst>
                                      </p:cBhvr>
                                      <p:to>
                                        <p:strVal val="visible"/>
                                      </p:to>
                                    </p:set>
                                    <p:animEffect transition="in" filter="fade">
                                      <p:cBhvr>
                                        <p:cTn id="12" dur="1000"/>
                                        <p:tgtEl>
                                          <p:spTgt spid="23555">
                                            <p:txEl>
                                              <p:pRg st="3" end="3"/>
                                            </p:txEl>
                                          </p:spTgt>
                                        </p:tgtEl>
                                      </p:cBhvr>
                                    </p:animEffect>
                                    <p:anim calcmode="lin" valueType="num">
                                      <p:cBhvr>
                                        <p:cTn id="13" dur="1000" fill="hold"/>
                                        <p:tgtEl>
                                          <p:spTgt spid="23555">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23555">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3555">
                                            <p:txEl>
                                              <p:pRg st="4" end="4"/>
                                            </p:txEl>
                                          </p:spTgt>
                                        </p:tgtEl>
                                        <p:attrNameLst>
                                          <p:attrName>style.visibility</p:attrName>
                                        </p:attrNameLst>
                                      </p:cBhvr>
                                      <p:to>
                                        <p:strVal val="visible"/>
                                      </p:to>
                                    </p:set>
                                    <p:animEffect transition="in" filter="fade">
                                      <p:cBhvr>
                                        <p:cTn id="17" dur="1000"/>
                                        <p:tgtEl>
                                          <p:spTgt spid="23555">
                                            <p:txEl>
                                              <p:pRg st="4" end="4"/>
                                            </p:txEl>
                                          </p:spTgt>
                                        </p:tgtEl>
                                      </p:cBhvr>
                                    </p:animEffect>
                                    <p:anim calcmode="lin" valueType="num">
                                      <p:cBhvr>
                                        <p:cTn id="18" dur="1000" fill="hold"/>
                                        <p:tgtEl>
                                          <p:spTgt spid="23555">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23555">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Case Study: Discussion Points</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436831" y="2138005"/>
            <a:ext cx="8398250" cy="4321533"/>
          </a:xfrm>
        </p:spPr>
        <p:txBody>
          <a:bodyPr/>
          <a:lstStyle/>
          <a:p>
            <a:pPr marL="0" indent="0">
              <a:buNone/>
            </a:pPr>
            <a:r>
              <a:rPr lang="en-AU" sz="2400" b="1" dirty="0">
                <a:solidFill>
                  <a:schemeClr val="accent1">
                    <a:lumMod val="75000"/>
                  </a:schemeClr>
                </a:solidFill>
              </a:rPr>
              <a:t>3.</a:t>
            </a:r>
            <a:r>
              <a:rPr lang="en-AU" sz="2400" dirty="0"/>
              <a:t> </a:t>
            </a:r>
            <a:r>
              <a:rPr lang="en-AU" sz="2400" b="1" dirty="0">
                <a:solidFill>
                  <a:schemeClr val="accent2">
                    <a:lumMod val="75000"/>
                  </a:schemeClr>
                </a:solidFill>
              </a:rPr>
              <a:t>What are some management challenges involved in deploying AI technology like a customer service chatbot?</a:t>
            </a:r>
          </a:p>
          <a:p>
            <a:pPr marL="942975" lvl="2" indent="-285750" defTabSz="457200">
              <a:spcBef>
                <a:spcPct val="0"/>
              </a:spcBef>
              <a:spcAft>
                <a:spcPct val="0"/>
              </a:spcAft>
              <a:buFont typeface="Arial" panose="020B0604020202020204" pitchFamily="34" charset="0"/>
              <a:buChar char="•"/>
            </a:pPr>
            <a:endParaRPr lang="en-AU" sz="2400" dirty="0">
              <a:solidFill>
                <a:schemeClr val="tx1">
                  <a:lumMod val="75000"/>
                  <a:lumOff val="25000"/>
                </a:schemeClr>
              </a:solidFill>
              <a:highlight>
                <a:srgbClr val="FFFFFF"/>
              </a:highlight>
            </a:endParaRPr>
          </a:p>
          <a:p>
            <a:pPr marL="942975" lvl="2" indent="-285750" defTabSz="457200">
              <a:spcBef>
                <a:spcPct val="0"/>
              </a:spcBef>
              <a:spcAft>
                <a:spcPct val="0"/>
              </a:spcAft>
              <a:buFont typeface="Arial" panose="020B0604020202020204" pitchFamily="34" charset="0"/>
              <a:buChar char="•"/>
            </a:pPr>
            <a:r>
              <a:rPr lang="en-AU" sz="2000" dirty="0">
                <a:solidFill>
                  <a:schemeClr val="tx1">
                    <a:lumMod val="75000"/>
                    <a:lumOff val="25000"/>
                  </a:schemeClr>
                </a:solidFill>
                <a:highlight>
                  <a:srgbClr val="FFFFFF"/>
                </a:highlight>
              </a:rPr>
              <a:t>Balancing project timelines with ethical considerations and testing phases.</a:t>
            </a:r>
          </a:p>
          <a:p>
            <a:pPr marL="942975" lvl="2" indent="-285750" defTabSz="457200">
              <a:spcBef>
                <a:spcPct val="0"/>
              </a:spcBef>
              <a:spcAft>
                <a:spcPct val="0"/>
              </a:spcAft>
              <a:buFont typeface="Arial" panose="020B0604020202020204" pitchFamily="34" charset="0"/>
              <a:buChar char="•"/>
            </a:pPr>
            <a:r>
              <a:rPr lang="en-AU" sz="2000" dirty="0">
                <a:solidFill>
                  <a:schemeClr val="tx1">
                    <a:lumMod val="75000"/>
                    <a:lumOff val="25000"/>
                  </a:schemeClr>
                </a:solidFill>
                <a:highlight>
                  <a:srgbClr val="FFFFFF"/>
                </a:highlight>
              </a:rPr>
              <a:t>Ensuring compliance with data privacy regulations such as GDPR.</a:t>
            </a:r>
          </a:p>
          <a:p>
            <a:pPr marL="942975" lvl="2" indent="-285750" defTabSz="457200">
              <a:spcBef>
                <a:spcPct val="0"/>
              </a:spcBef>
              <a:spcAft>
                <a:spcPct val="0"/>
              </a:spcAft>
              <a:buFont typeface="Arial" panose="020B0604020202020204" pitchFamily="34" charset="0"/>
              <a:buChar char="•"/>
            </a:pPr>
            <a:r>
              <a:rPr lang="en-AU" sz="2000" dirty="0">
                <a:solidFill>
                  <a:schemeClr val="tx1">
                    <a:lumMod val="75000"/>
                    <a:lumOff val="25000"/>
                  </a:schemeClr>
                </a:solidFill>
                <a:highlight>
                  <a:srgbClr val="FFFFFF"/>
                </a:highlight>
              </a:rPr>
              <a:t>Mitigating risks associated with technical failures and maintaining customer trust.</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88</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82706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3555">
                                            <p:txEl>
                                              <p:pRg st="2" end="2"/>
                                            </p:txEl>
                                          </p:spTgt>
                                        </p:tgtEl>
                                        <p:attrNameLst>
                                          <p:attrName>style.visibility</p:attrName>
                                        </p:attrNameLst>
                                      </p:cBhvr>
                                      <p:to>
                                        <p:strVal val="visible"/>
                                      </p:to>
                                    </p:set>
                                    <p:animEffect transition="in" filter="fade">
                                      <p:cBhvr>
                                        <p:cTn id="7" dur="1000"/>
                                        <p:tgtEl>
                                          <p:spTgt spid="23555">
                                            <p:txEl>
                                              <p:pRg st="2" end="2"/>
                                            </p:txEl>
                                          </p:spTgt>
                                        </p:tgtEl>
                                      </p:cBhvr>
                                    </p:animEffect>
                                    <p:anim calcmode="lin" valueType="num">
                                      <p:cBhvr>
                                        <p:cTn id="8" dur="1000" fill="hold"/>
                                        <p:tgtEl>
                                          <p:spTgt spid="2355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23555">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3555">
                                            <p:txEl>
                                              <p:pRg st="3" end="3"/>
                                            </p:txEl>
                                          </p:spTgt>
                                        </p:tgtEl>
                                        <p:attrNameLst>
                                          <p:attrName>style.visibility</p:attrName>
                                        </p:attrNameLst>
                                      </p:cBhvr>
                                      <p:to>
                                        <p:strVal val="visible"/>
                                      </p:to>
                                    </p:set>
                                    <p:animEffect transition="in" filter="fade">
                                      <p:cBhvr>
                                        <p:cTn id="12" dur="1000"/>
                                        <p:tgtEl>
                                          <p:spTgt spid="23555">
                                            <p:txEl>
                                              <p:pRg st="3" end="3"/>
                                            </p:txEl>
                                          </p:spTgt>
                                        </p:tgtEl>
                                      </p:cBhvr>
                                    </p:animEffect>
                                    <p:anim calcmode="lin" valueType="num">
                                      <p:cBhvr>
                                        <p:cTn id="13" dur="1000" fill="hold"/>
                                        <p:tgtEl>
                                          <p:spTgt spid="23555">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23555">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3555">
                                            <p:txEl>
                                              <p:pRg st="4" end="4"/>
                                            </p:txEl>
                                          </p:spTgt>
                                        </p:tgtEl>
                                        <p:attrNameLst>
                                          <p:attrName>style.visibility</p:attrName>
                                        </p:attrNameLst>
                                      </p:cBhvr>
                                      <p:to>
                                        <p:strVal val="visible"/>
                                      </p:to>
                                    </p:set>
                                    <p:animEffect transition="in" filter="fade">
                                      <p:cBhvr>
                                        <p:cTn id="17" dur="1000"/>
                                        <p:tgtEl>
                                          <p:spTgt spid="23555">
                                            <p:txEl>
                                              <p:pRg st="4" end="4"/>
                                            </p:txEl>
                                          </p:spTgt>
                                        </p:tgtEl>
                                      </p:cBhvr>
                                    </p:animEffect>
                                    <p:anim calcmode="lin" valueType="num">
                                      <p:cBhvr>
                                        <p:cTn id="18" dur="1000" fill="hold"/>
                                        <p:tgtEl>
                                          <p:spTgt spid="23555">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23555">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altLang="en-US" sz="3600" b="1" dirty="0">
                <a:solidFill>
                  <a:srgbClr val="00B0F0"/>
                </a:solidFill>
              </a:rPr>
              <a:t>Summary</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89</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3">
            <a:extLst>
              <a:ext uri="{FF2B5EF4-FFF2-40B4-BE49-F238E27FC236}">
                <a16:creationId xmlns:a16="http://schemas.microsoft.com/office/drawing/2014/main" id="{5535D9B4-5465-735A-B05F-0A38735FF53B}"/>
              </a:ext>
            </a:extLst>
          </p:cNvPr>
          <p:cNvSpPr>
            <a:spLocks noGrp="1" noChangeArrowheads="1"/>
          </p:cNvSpPr>
          <p:nvPr>
            <p:ph idx="1"/>
          </p:nvPr>
        </p:nvSpPr>
        <p:spPr bwMode="auto">
          <a:xfrm>
            <a:off x="222423" y="1749786"/>
            <a:ext cx="8921578" cy="41970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endParaRPr lang="en-AU" sz="1800" dirty="0"/>
          </a:p>
          <a:p>
            <a:pPr>
              <a:buFont typeface="Arial" panose="020B0604020202020204" pitchFamily="34" charset="0"/>
              <a:buChar char="•"/>
            </a:pPr>
            <a:r>
              <a:rPr lang="en-AU" sz="1800" b="1" dirty="0"/>
              <a:t>Ethical and management issues in IT projects </a:t>
            </a:r>
            <a:r>
              <a:rPr lang="en-AU" sz="1800" dirty="0"/>
              <a:t>encompass a range of considerations crucial to project success and stakeholder trust.</a:t>
            </a:r>
          </a:p>
          <a:p>
            <a:pPr>
              <a:buFont typeface="Arial" panose="020B0604020202020204" pitchFamily="34" charset="0"/>
              <a:buChar char="•"/>
            </a:pPr>
            <a:r>
              <a:rPr lang="en-AU" sz="1800" b="1" dirty="0"/>
              <a:t>Ethical Considerations:</a:t>
            </a:r>
          </a:p>
          <a:p>
            <a:pPr lvl="1">
              <a:buFont typeface="Arial" panose="020B0604020202020204" pitchFamily="34" charset="0"/>
              <a:buChar char="•"/>
            </a:pPr>
            <a:r>
              <a:rPr lang="en-AU" sz="1700" dirty="0"/>
              <a:t>Privacy concerns surrounding data collection and usage in AI and technology implementations.</a:t>
            </a:r>
          </a:p>
          <a:p>
            <a:pPr lvl="1">
              <a:buFont typeface="Arial" panose="020B0604020202020204" pitchFamily="34" charset="0"/>
              <a:buChar char="•"/>
            </a:pPr>
            <a:r>
              <a:rPr lang="en-AU" sz="1700" dirty="0"/>
              <a:t>Addressing biases in AI algorithms to ensure fair treatment and decision-making.</a:t>
            </a:r>
          </a:p>
          <a:p>
            <a:pPr lvl="1">
              <a:buFont typeface="Arial" panose="020B0604020202020204" pitchFamily="34" charset="0"/>
              <a:buChar char="•"/>
            </a:pPr>
            <a:r>
              <a:rPr lang="en-AU" sz="1700" dirty="0"/>
              <a:t>Transparency in technology adoption to maintain trust and accountability.</a:t>
            </a:r>
          </a:p>
          <a:p>
            <a:pPr>
              <a:buFont typeface="Arial" panose="020B0604020202020204" pitchFamily="34" charset="0"/>
              <a:buChar char="•"/>
            </a:pPr>
            <a:r>
              <a:rPr lang="en-AU" sz="1800" b="1" dirty="0"/>
              <a:t>Management Challenges:</a:t>
            </a:r>
          </a:p>
          <a:p>
            <a:pPr lvl="1">
              <a:buFont typeface="Arial" panose="020B0604020202020204" pitchFamily="34" charset="0"/>
              <a:buChar char="•"/>
            </a:pPr>
            <a:r>
              <a:rPr lang="en-AU" sz="1700" dirty="0"/>
              <a:t>Balancing project timelines with rigorous testing and ethical guidelines to deliver high-quality outcomes.</a:t>
            </a:r>
          </a:p>
          <a:p>
            <a:pPr lvl="1">
              <a:buFont typeface="Arial" panose="020B0604020202020204" pitchFamily="34" charset="0"/>
              <a:buChar char="•"/>
            </a:pPr>
            <a:r>
              <a:rPr lang="en-AU" sz="1700" dirty="0"/>
              <a:t>Managing stakeholder expectations through clear communication and feedback mechanisms.</a:t>
            </a:r>
          </a:p>
          <a:p>
            <a:pPr lvl="1">
              <a:buFont typeface="Arial" panose="020B0604020202020204" pitchFamily="34" charset="0"/>
              <a:buChar char="•"/>
            </a:pPr>
            <a:r>
              <a:rPr lang="en-AU" sz="1700" dirty="0"/>
              <a:t>Mitigating risks such as technical failures and regulatory compliance issues during project implementation.</a:t>
            </a:r>
          </a:p>
        </p:txBody>
      </p:sp>
    </p:spTree>
    <p:extLst>
      <p:ext uri="{BB962C8B-B14F-4D97-AF65-F5344CB8AC3E}">
        <p14:creationId xmlns:p14="http://schemas.microsoft.com/office/powerpoint/2010/main" val="264622789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US" altLang="zh-CN" sz="3600" b="1" dirty="0">
                <a:solidFill>
                  <a:srgbClr val="00B0F0"/>
                </a:solidFill>
              </a:rPr>
              <a:t>Q&amp;A</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250166" y="3127488"/>
            <a:ext cx="8643668" cy="2191204"/>
          </a:xfrm>
        </p:spPr>
        <p:txBody>
          <a:bodyPr/>
          <a:lstStyle/>
          <a:p>
            <a:pPr marL="0" indent="0" algn="ctr" eaLnBrk="1" hangingPunct="1">
              <a:buClr>
                <a:schemeClr val="hlink"/>
              </a:buClr>
              <a:buNone/>
            </a:pPr>
            <a:r>
              <a:rPr lang="en-US" altLang="zh-CN" sz="4000" dirty="0"/>
              <a:t>Question?</a:t>
            </a:r>
            <a:endParaRPr lang="en-US" altLang="en-US" sz="4000" dirty="0"/>
          </a:p>
          <a:p>
            <a:pPr marL="0" indent="0" algn="ctr" eaLnBrk="1" hangingPunct="1">
              <a:buClr>
                <a:schemeClr val="hlink"/>
              </a:buClr>
              <a:buNone/>
            </a:pPr>
            <a:endParaRPr lang="en-US" altLang="en-US" sz="4000" dirty="0"/>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90</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6656750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Placeholder 2">
            <a:extLst>
              <a:ext uri="{FF2B5EF4-FFF2-40B4-BE49-F238E27FC236}">
                <a16:creationId xmlns:a16="http://schemas.microsoft.com/office/drawing/2014/main" id="{7011D958-7B17-483C-B07B-1B379F607C55}"/>
              </a:ext>
            </a:extLst>
          </p:cNvPr>
          <p:cNvSpPr>
            <a:spLocks noGrp="1" noChangeArrowheads="1"/>
          </p:cNvSpPr>
          <p:nvPr>
            <p:ph type="body" sz="quarter" idx="13"/>
          </p:nvPr>
        </p:nvSpPr>
        <p:spPr>
          <a:xfrm>
            <a:off x="642938" y="920262"/>
            <a:ext cx="8066087" cy="3788019"/>
          </a:xfrm>
        </p:spPr>
        <p:txBody>
          <a:bodyPr anchor="ctr">
            <a:normAutofit fontScale="92500" lnSpcReduction="10000"/>
          </a:bodyPr>
          <a:lstStyle/>
          <a:p>
            <a:pPr eaLnBrk="1" hangingPunct="1">
              <a:spcBef>
                <a:spcPts val="600"/>
              </a:spcBef>
              <a:spcAft>
                <a:spcPts val="2400"/>
              </a:spcAft>
            </a:pPr>
            <a:r>
              <a:rPr lang="en-AU" altLang="en-US" sz="5400" dirty="0">
                <a:solidFill>
                  <a:schemeClr val="accent2"/>
                </a:solidFill>
              </a:rPr>
              <a:t>Week 10 Workshop :</a:t>
            </a:r>
          </a:p>
          <a:p>
            <a:pPr eaLnBrk="1" hangingPunct="1">
              <a:spcBef>
                <a:spcPts val="600"/>
              </a:spcBef>
              <a:spcAft>
                <a:spcPts val="2400"/>
              </a:spcAft>
            </a:pPr>
            <a:r>
              <a:rPr lang="en-AU" sz="5400" dirty="0">
                <a:solidFill>
                  <a:schemeClr val="accent2"/>
                </a:solidFill>
              </a:rPr>
              <a:t>Ethical and Management Issues in IT Projects</a:t>
            </a:r>
          </a:p>
          <a:p>
            <a:pPr algn="ctr" eaLnBrk="1" hangingPunct="1">
              <a:spcBef>
                <a:spcPts val="600"/>
              </a:spcBef>
              <a:spcAft>
                <a:spcPts val="2400"/>
              </a:spcAft>
            </a:pPr>
            <a:r>
              <a:rPr lang="en-AU" altLang="en-US" sz="7100" dirty="0">
                <a:solidFill>
                  <a:srgbClr val="0070C0"/>
                </a:solidFill>
              </a:rPr>
              <a:t>ICT502</a:t>
            </a:r>
          </a:p>
        </p:txBody>
      </p:sp>
      <p:pic>
        <p:nvPicPr>
          <p:cNvPr id="18435" name="Picture 2">
            <a:extLst>
              <a:ext uri="{FF2B5EF4-FFF2-40B4-BE49-F238E27FC236}">
                <a16:creationId xmlns:a16="http://schemas.microsoft.com/office/drawing/2014/main" id="{7E97EA98-FA21-47E9-AAAB-D57D85BF5D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6" name="Footer Placeholder 1">
            <a:extLst>
              <a:ext uri="{FF2B5EF4-FFF2-40B4-BE49-F238E27FC236}">
                <a16:creationId xmlns:a16="http://schemas.microsoft.com/office/drawing/2014/main" id="{B585785C-A56D-4F54-80A4-ABEA8B982C83}"/>
              </a:ext>
            </a:extLst>
          </p:cNvPr>
          <p:cNvSpPr txBox="1">
            <a:spLocks noChangeArrowheads="1"/>
          </p:cNvSpPr>
          <p:nvPr/>
        </p:nvSpPr>
        <p:spPr bwMode="auto">
          <a:xfrm>
            <a:off x="2765425" y="6459538"/>
            <a:ext cx="3616325"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Calibri" panose="020F0502020204030204" pitchFamily="34" charset="0"/>
              </a:defRPr>
            </a:lvl1pPr>
            <a:lvl2pPr marL="382588" indent="-182563">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Calibri" panose="020F0502020204030204" pitchFamily="34" charset="0"/>
              </a:defRPr>
            </a:lvl2pPr>
            <a:lvl3pPr marL="566738"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3pPr>
            <a:lvl4pPr marL="749300"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4pPr>
            <a:lvl5pPr marL="931863"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5pPr>
            <a:lvl6pPr marL="13890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6pPr>
            <a:lvl7pPr marL="18462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7pPr>
            <a:lvl8pPr marL="23034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8pPr>
            <a:lvl9pPr marL="27606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9p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18437" name="Slide Number Placeholder 3">
            <a:extLst>
              <a:ext uri="{FF2B5EF4-FFF2-40B4-BE49-F238E27FC236}">
                <a16:creationId xmlns:a16="http://schemas.microsoft.com/office/drawing/2014/main" id="{24A2BABC-6B4A-40B3-94BC-37C96408B1C0}"/>
              </a:ext>
            </a:extLst>
          </p:cNvPr>
          <p:cNvSpPr txBox="1">
            <a:spLocks noChangeArrowheads="1"/>
          </p:cNvSpPr>
          <p:nvPr/>
        </p:nvSpPr>
        <p:spPr bwMode="auto">
          <a:xfrm>
            <a:off x="7424738" y="6459538"/>
            <a:ext cx="9842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Calibri" panose="020F0502020204030204" pitchFamily="34" charset="0"/>
              </a:defRPr>
            </a:lvl1pPr>
            <a:lvl2pPr marL="382588" indent="-182563">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Calibri" panose="020F0502020204030204" pitchFamily="34" charset="0"/>
              </a:defRPr>
            </a:lvl2pPr>
            <a:lvl3pPr marL="566738"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3pPr>
            <a:lvl4pPr marL="749300"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4pPr>
            <a:lvl5pPr marL="931863"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5pPr>
            <a:lvl6pPr marL="13890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6pPr>
            <a:lvl7pPr marL="18462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7pPr>
            <a:lvl8pPr marL="23034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8pPr>
            <a:lvl9pPr marL="27606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9pPr>
          </a:lstStyle>
          <a:p>
            <a:pPr algn="r">
              <a:lnSpc>
                <a:spcPct val="100000"/>
              </a:lnSpc>
              <a:spcBef>
                <a:spcPct val="0"/>
              </a:spcBef>
              <a:spcAft>
                <a:spcPct val="0"/>
              </a:spcAft>
              <a:buClrTx/>
              <a:buSzTx/>
              <a:buFontTx/>
              <a:buNone/>
            </a:pPr>
            <a:fld id="{6A713114-2FAF-491F-A5D9-97598AEF03A7}" type="slidenum">
              <a:rPr lang="en-US" altLang="en-US" sz="900">
                <a:solidFill>
                  <a:schemeClr val="bg1"/>
                </a:solidFill>
                <a:latin typeface="Arial" panose="020B0604020202020204" pitchFamily="34" charset="0"/>
              </a:rPr>
              <a:pPr algn="r">
                <a:lnSpc>
                  <a:spcPct val="100000"/>
                </a:lnSpc>
                <a:spcBef>
                  <a:spcPct val="0"/>
                </a:spcBef>
                <a:spcAft>
                  <a:spcPct val="0"/>
                </a:spcAft>
                <a:buClrTx/>
                <a:buSzTx/>
                <a:buFontTx/>
                <a:buNone/>
              </a:pPr>
              <a:t>91</a:t>
            </a:fld>
            <a:endParaRPr lang="en-US" altLang="en-US" sz="1000">
              <a:solidFill>
                <a:schemeClr val="bg1"/>
              </a:solidFill>
              <a:latin typeface="Arial" panose="020B0604020202020204" pitchFamily="34" charset="0"/>
            </a:endParaRPr>
          </a:p>
        </p:txBody>
      </p:sp>
    </p:spTree>
    <p:extLst>
      <p:ext uri="{BB962C8B-B14F-4D97-AF65-F5344CB8AC3E}">
        <p14:creationId xmlns:p14="http://schemas.microsoft.com/office/powerpoint/2010/main" val="406220355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A2E8118-8989-4D83-B0B6-3780317E104A}"/>
              </a:ext>
            </a:extLst>
          </p:cNvPr>
          <p:cNvSpPr>
            <a:spLocks noGrp="1"/>
          </p:cNvSpPr>
          <p:nvPr>
            <p:ph type="title"/>
          </p:nvPr>
        </p:nvSpPr>
        <p:spPr>
          <a:xfrm>
            <a:off x="539750" y="612775"/>
            <a:ext cx="8027988" cy="863600"/>
          </a:xfrm>
        </p:spPr>
        <p:txBody>
          <a:bodyPr>
            <a:noAutofit/>
          </a:bodyPr>
          <a:lstStyle/>
          <a:p>
            <a:pPr algn="ctr" eaLnBrk="1" fontAlgn="auto" hangingPunct="1">
              <a:spcAft>
                <a:spcPts val="0"/>
              </a:spcAft>
              <a:defRPr/>
            </a:pPr>
            <a:r>
              <a:rPr lang="en-AU" sz="3200" b="1" dirty="0">
                <a:solidFill>
                  <a:schemeClr val="accent2"/>
                </a:solidFill>
              </a:rPr>
              <a:t>The ethics of information technology</a:t>
            </a:r>
            <a:endParaRPr lang="en-AU" altLang="en-US" sz="3200" b="1" dirty="0">
              <a:solidFill>
                <a:schemeClr val="accent2"/>
              </a:solidFill>
            </a:endParaRPr>
          </a:p>
        </p:txBody>
      </p:sp>
      <p:sp>
        <p:nvSpPr>
          <p:cNvPr id="3" name="Content Placeholder 2">
            <a:extLst>
              <a:ext uri="{FF2B5EF4-FFF2-40B4-BE49-F238E27FC236}">
                <a16:creationId xmlns:a16="http://schemas.microsoft.com/office/drawing/2014/main" id="{47E3A1D5-959A-49F9-AB1B-63563D526DDF}"/>
              </a:ext>
            </a:extLst>
          </p:cNvPr>
          <p:cNvSpPr>
            <a:spLocks noGrp="1" noChangeArrowheads="1"/>
          </p:cNvSpPr>
          <p:nvPr>
            <p:ph idx="1"/>
          </p:nvPr>
        </p:nvSpPr>
        <p:spPr>
          <a:xfrm>
            <a:off x="318477" y="1841063"/>
            <a:ext cx="8698523" cy="4043800"/>
          </a:xfrm>
        </p:spPr>
        <p:txBody>
          <a:bodyPr/>
          <a:lstStyle/>
          <a:p>
            <a:pPr marL="90488" lvl="1" indent="-90488">
              <a:spcBef>
                <a:spcPts val="1200"/>
              </a:spcBef>
              <a:spcAft>
                <a:spcPts val="200"/>
              </a:spcAft>
              <a:buSzPct val="100000"/>
              <a:buFont typeface="Arial" panose="020B0604020202020204" pitchFamily="34" charset="0"/>
              <a:buChar char="•"/>
            </a:pPr>
            <a:r>
              <a:rPr lang="en-AU" sz="2000" b="1" dirty="0"/>
              <a:t>Some of the major ethical issues faced by Information Technology (IT) are:</a:t>
            </a:r>
          </a:p>
          <a:p>
            <a:pPr lvl="1">
              <a:buFont typeface="Arial" panose="020B0604020202020204" pitchFamily="34" charset="0"/>
              <a:buChar char="•"/>
            </a:pPr>
            <a:endParaRPr lang="en-AU" dirty="0"/>
          </a:p>
          <a:p>
            <a:pPr lvl="1">
              <a:buFont typeface="Arial" panose="020B0604020202020204" pitchFamily="34" charset="0"/>
              <a:buChar char="•"/>
            </a:pPr>
            <a:r>
              <a:rPr lang="en-AU" sz="2000" dirty="0"/>
              <a:t>1. Personal Privacy</a:t>
            </a:r>
          </a:p>
          <a:p>
            <a:pPr lvl="1">
              <a:buFont typeface="Arial" panose="020B0604020202020204" pitchFamily="34" charset="0"/>
              <a:buChar char="•"/>
            </a:pPr>
            <a:r>
              <a:rPr lang="en-AU" sz="2000" dirty="0"/>
              <a:t>2. Access Right</a:t>
            </a:r>
          </a:p>
          <a:p>
            <a:pPr lvl="1">
              <a:buFont typeface="Arial" panose="020B0604020202020204" pitchFamily="34" charset="0"/>
              <a:buChar char="•"/>
            </a:pPr>
            <a:r>
              <a:rPr lang="en-AU" sz="2000" dirty="0"/>
              <a:t>3. Harmful Actions</a:t>
            </a:r>
          </a:p>
          <a:p>
            <a:pPr lvl="1">
              <a:buFont typeface="Arial" panose="020B0604020202020204" pitchFamily="34" charset="0"/>
              <a:buChar char="•"/>
            </a:pPr>
            <a:r>
              <a:rPr lang="en-AU" sz="2000" dirty="0"/>
              <a:t>4. Patents</a:t>
            </a:r>
          </a:p>
          <a:p>
            <a:pPr lvl="1">
              <a:buFont typeface="Arial" panose="020B0604020202020204" pitchFamily="34" charset="0"/>
              <a:buChar char="•"/>
            </a:pPr>
            <a:r>
              <a:rPr lang="en-AU" sz="2000" dirty="0"/>
              <a:t>5. Copyright</a:t>
            </a:r>
          </a:p>
          <a:p>
            <a:pPr lvl="1">
              <a:buFont typeface="Arial" panose="020B0604020202020204" pitchFamily="34" charset="0"/>
              <a:buChar char="•"/>
            </a:pPr>
            <a:r>
              <a:rPr lang="en-AU" sz="2000" dirty="0"/>
              <a:t>6. Trade Secrets</a:t>
            </a:r>
          </a:p>
          <a:p>
            <a:pPr lvl="1">
              <a:buFont typeface="Arial" panose="020B0604020202020204" pitchFamily="34" charset="0"/>
              <a:buChar char="•"/>
            </a:pPr>
            <a:r>
              <a:rPr lang="en-AU" sz="2000" dirty="0"/>
              <a:t>7. Liability</a:t>
            </a:r>
          </a:p>
          <a:p>
            <a:pPr lvl="1">
              <a:buFont typeface="Arial" panose="020B0604020202020204" pitchFamily="34" charset="0"/>
              <a:buChar char="•"/>
            </a:pPr>
            <a:r>
              <a:rPr lang="en-AU" sz="2000" dirty="0"/>
              <a:t>8. Piracy</a:t>
            </a:r>
          </a:p>
        </p:txBody>
      </p:sp>
      <p:sp>
        <p:nvSpPr>
          <p:cNvPr id="2" name="Footer Placeholder 1">
            <a:extLst>
              <a:ext uri="{FF2B5EF4-FFF2-40B4-BE49-F238E27FC236}">
                <a16:creationId xmlns:a16="http://schemas.microsoft.com/office/drawing/2014/main" id="{888A6C54-4984-4FE2-A1F7-5E325BF9B63A}"/>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0485" name="Slide Number Placeholder 3">
            <a:extLst>
              <a:ext uri="{FF2B5EF4-FFF2-40B4-BE49-F238E27FC236}">
                <a16:creationId xmlns:a16="http://schemas.microsoft.com/office/drawing/2014/main" id="{8175A72A-0461-4916-970D-5B68915483E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66E39B-1EF4-414B-B69D-68241CCB3A7A}" type="slidenum">
              <a:rPr lang="en-US" altLang="en-US" sz="900" smtClean="0">
                <a:solidFill>
                  <a:srgbClr val="FFFFFF"/>
                </a:solidFill>
              </a:rPr>
              <a:pPr/>
              <a:t>92</a:t>
            </a:fld>
            <a:endParaRPr lang="en-US" altLang="en-US" sz="900">
              <a:solidFill>
                <a:srgbClr val="FFFFFF"/>
              </a:solidFill>
            </a:endParaRPr>
          </a:p>
        </p:txBody>
      </p:sp>
      <p:pic>
        <p:nvPicPr>
          <p:cNvPr id="20486" name="Picture 5">
            <a:extLst>
              <a:ext uri="{FF2B5EF4-FFF2-40B4-BE49-F238E27FC236}">
                <a16:creationId xmlns:a16="http://schemas.microsoft.com/office/drawing/2014/main" id="{B099342E-B11F-456B-BC89-8A3ACDD1CD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Picture 1" descr="page2image2758544">
            <a:extLst>
              <a:ext uri="{FF2B5EF4-FFF2-40B4-BE49-F238E27FC236}">
                <a16:creationId xmlns:a16="http://schemas.microsoft.com/office/drawing/2014/main" id="{F3B360EF-CFFC-D0F2-0D14-3B48A4D371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3568700" cy="901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169051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A2E8118-8989-4D83-B0B6-3780317E104A}"/>
              </a:ext>
            </a:extLst>
          </p:cNvPr>
          <p:cNvSpPr>
            <a:spLocks noGrp="1"/>
          </p:cNvSpPr>
          <p:nvPr>
            <p:ph type="title"/>
          </p:nvPr>
        </p:nvSpPr>
        <p:spPr>
          <a:xfrm>
            <a:off x="539750" y="612775"/>
            <a:ext cx="8027988" cy="863600"/>
          </a:xfrm>
        </p:spPr>
        <p:txBody>
          <a:bodyPr>
            <a:noAutofit/>
          </a:bodyPr>
          <a:lstStyle/>
          <a:p>
            <a:pPr algn="ctr" eaLnBrk="1" fontAlgn="auto" hangingPunct="1">
              <a:spcAft>
                <a:spcPts val="0"/>
              </a:spcAft>
              <a:defRPr/>
            </a:pPr>
            <a:r>
              <a:rPr lang="en-AU" sz="3200" b="1" dirty="0">
                <a:solidFill>
                  <a:schemeClr val="accent2"/>
                </a:solidFill>
              </a:rPr>
              <a:t>The ethics of information technology (cont.)</a:t>
            </a:r>
            <a:endParaRPr lang="en-AU" altLang="en-US" sz="3200" b="1" dirty="0">
              <a:solidFill>
                <a:schemeClr val="accent2"/>
              </a:solidFill>
            </a:endParaRPr>
          </a:p>
        </p:txBody>
      </p:sp>
      <p:sp>
        <p:nvSpPr>
          <p:cNvPr id="2" name="Footer Placeholder 1">
            <a:extLst>
              <a:ext uri="{FF2B5EF4-FFF2-40B4-BE49-F238E27FC236}">
                <a16:creationId xmlns:a16="http://schemas.microsoft.com/office/drawing/2014/main" id="{888A6C54-4984-4FE2-A1F7-5E325BF9B63A}"/>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0485" name="Slide Number Placeholder 3">
            <a:extLst>
              <a:ext uri="{FF2B5EF4-FFF2-40B4-BE49-F238E27FC236}">
                <a16:creationId xmlns:a16="http://schemas.microsoft.com/office/drawing/2014/main" id="{8175A72A-0461-4916-970D-5B68915483E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66E39B-1EF4-414B-B69D-68241CCB3A7A}" type="slidenum">
              <a:rPr lang="en-US" altLang="en-US" sz="900" smtClean="0">
                <a:solidFill>
                  <a:srgbClr val="FFFFFF"/>
                </a:solidFill>
              </a:rPr>
              <a:pPr/>
              <a:t>93</a:t>
            </a:fld>
            <a:endParaRPr lang="en-US" altLang="en-US" sz="900">
              <a:solidFill>
                <a:srgbClr val="FFFFFF"/>
              </a:solidFill>
            </a:endParaRPr>
          </a:p>
        </p:txBody>
      </p:sp>
      <p:pic>
        <p:nvPicPr>
          <p:cNvPr id="20486" name="Picture 5">
            <a:extLst>
              <a:ext uri="{FF2B5EF4-FFF2-40B4-BE49-F238E27FC236}">
                <a16:creationId xmlns:a16="http://schemas.microsoft.com/office/drawing/2014/main" id="{B099342E-B11F-456B-BC89-8A3ACDD1CD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Picture 1" descr="page2image2758544">
            <a:extLst>
              <a:ext uri="{FF2B5EF4-FFF2-40B4-BE49-F238E27FC236}">
                <a16:creationId xmlns:a16="http://schemas.microsoft.com/office/drawing/2014/main" id="{F3B360EF-CFFC-D0F2-0D14-3B48A4D371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3568700" cy="90170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Ethical Considerations in Technology: Navigating the Digital ...">
            <a:extLst>
              <a:ext uri="{FF2B5EF4-FFF2-40B4-BE49-F238E27FC236}">
                <a16:creationId xmlns:a16="http://schemas.microsoft.com/office/drawing/2014/main" id="{B436A113-0907-4BB1-8A9F-DCAA33F31729}"/>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2029303" y="1841500"/>
            <a:ext cx="5638437" cy="43199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77447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A2E8118-8989-4D83-B0B6-3780317E104A}"/>
              </a:ext>
            </a:extLst>
          </p:cNvPr>
          <p:cNvSpPr>
            <a:spLocks noGrp="1"/>
          </p:cNvSpPr>
          <p:nvPr>
            <p:ph type="title"/>
          </p:nvPr>
        </p:nvSpPr>
        <p:spPr>
          <a:xfrm>
            <a:off x="539750" y="612775"/>
            <a:ext cx="8027988" cy="863600"/>
          </a:xfrm>
        </p:spPr>
        <p:txBody>
          <a:bodyPr>
            <a:noAutofit/>
          </a:bodyPr>
          <a:lstStyle/>
          <a:p>
            <a:pPr algn="ctr" eaLnBrk="1" fontAlgn="auto" hangingPunct="1">
              <a:spcAft>
                <a:spcPts val="0"/>
              </a:spcAft>
              <a:defRPr/>
            </a:pPr>
            <a:r>
              <a:rPr lang="en-AU" sz="3200" b="1" dirty="0">
                <a:solidFill>
                  <a:schemeClr val="accent2"/>
                </a:solidFill>
              </a:rPr>
              <a:t>Ethical Considerations in Big Data</a:t>
            </a:r>
            <a:endParaRPr lang="en-AU" altLang="en-US" sz="3200" b="1" dirty="0">
              <a:solidFill>
                <a:schemeClr val="accent2"/>
              </a:solidFill>
            </a:endParaRPr>
          </a:p>
        </p:txBody>
      </p:sp>
      <p:sp>
        <p:nvSpPr>
          <p:cNvPr id="3" name="Content Placeholder 2">
            <a:extLst>
              <a:ext uri="{FF2B5EF4-FFF2-40B4-BE49-F238E27FC236}">
                <a16:creationId xmlns:a16="http://schemas.microsoft.com/office/drawing/2014/main" id="{47E3A1D5-959A-49F9-AB1B-63563D526DDF}"/>
              </a:ext>
            </a:extLst>
          </p:cNvPr>
          <p:cNvSpPr>
            <a:spLocks noGrp="1" noChangeArrowheads="1"/>
          </p:cNvSpPr>
          <p:nvPr>
            <p:ph idx="1"/>
          </p:nvPr>
        </p:nvSpPr>
        <p:spPr>
          <a:xfrm>
            <a:off x="318477" y="1841063"/>
            <a:ext cx="8698523" cy="4043800"/>
          </a:xfrm>
        </p:spPr>
        <p:txBody>
          <a:bodyPr/>
          <a:lstStyle/>
          <a:p>
            <a:pPr marL="90488" lvl="1" indent="-90488">
              <a:spcBef>
                <a:spcPts val="1200"/>
              </a:spcBef>
              <a:spcAft>
                <a:spcPts val="200"/>
              </a:spcAft>
              <a:buSzPct val="100000"/>
              <a:buFont typeface="Arial" panose="020B0604020202020204" pitchFamily="34" charset="0"/>
              <a:buChar char="•"/>
            </a:pPr>
            <a:r>
              <a:rPr lang="en-AU" sz="2000" b="1" dirty="0">
                <a:solidFill>
                  <a:schemeClr val="accent2">
                    <a:lumMod val="75000"/>
                  </a:schemeClr>
                </a:solidFill>
              </a:rPr>
              <a:t>Ethical considerations in the realm of Big Data </a:t>
            </a:r>
            <a:r>
              <a:rPr lang="en-AU" sz="2000" dirty="0"/>
              <a:t>are increasingly crucial as data-driven technologies shape various aspects of society. Understanding these ethical dimensions is essential for ensuring responsible use of data and maintaining trust in data-driven innovations.</a:t>
            </a:r>
          </a:p>
          <a:p>
            <a:pPr marL="0" lvl="1" indent="0">
              <a:spcBef>
                <a:spcPts val="1200"/>
              </a:spcBef>
              <a:spcAft>
                <a:spcPts val="200"/>
              </a:spcAft>
              <a:buSzPct val="100000"/>
              <a:buNone/>
            </a:pPr>
            <a:endParaRPr lang="en-AU" sz="2000" dirty="0"/>
          </a:p>
          <a:p>
            <a:pPr marL="274638" lvl="2" indent="-90488">
              <a:spcBef>
                <a:spcPts val="1200"/>
              </a:spcBef>
              <a:spcAft>
                <a:spcPts val="200"/>
              </a:spcAft>
              <a:buSzPct val="100000"/>
              <a:buFont typeface="Arial" panose="020B0604020202020204" pitchFamily="34" charset="0"/>
              <a:buChar char="•"/>
            </a:pPr>
            <a:r>
              <a:rPr lang="en-AU" sz="1800" b="1" dirty="0"/>
              <a:t>Privacy: </a:t>
            </a:r>
            <a:r>
              <a:rPr lang="en-AU" sz="1800" dirty="0"/>
              <a:t>Protection of personal data from intrusive collection and analysis.</a:t>
            </a:r>
          </a:p>
          <a:p>
            <a:pPr marL="274638" lvl="2" indent="-90488">
              <a:spcBef>
                <a:spcPts val="1200"/>
              </a:spcBef>
              <a:spcAft>
                <a:spcPts val="200"/>
              </a:spcAft>
              <a:buSzPct val="100000"/>
              <a:buFont typeface="Arial" panose="020B0604020202020204" pitchFamily="34" charset="0"/>
              <a:buChar char="•"/>
            </a:pPr>
            <a:r>
              <a:rPr lang="en-AU" sz="1800" b="1" dirty="0"/>
              <a:t>Bias: </a:t>
            </a:r>
            <a:r>
              <a:rPr lang="en-AU" sz="1800" dirty="0"/>
              <a:t>Mitigating biases in algorithms to ensure fairness in decision-making.</a:t>
            </a:r>
          </a:p>
          <a:p>
            <a:pPr marL="274638" lvl="2" indent="-90488">
              <a:spcBef>
                <a:spcPts val="1200"/>
              </a:spcBef>
              <a:spcAft>
                <a:spcPts val="200"/>
              </a:spcAft>
              <a:buSzPct val="100000"/>
              <a:buFont typeface="Arial" panose="020B0604020202020204" pitchFamily="34" charset="0"/>
              <a:buChar char="•"/>
            </a:pPr>
            <a:r>
              <a:rPr lang="en-AU" sz="1800" b="1" dirty="0"/>
              <a:t>Transparency: </a:t>
            </a:r>
            <a:r>
              <a:rPr lang="en-AU" sz="1800" dirty="0"/>
              <a:t>Establishing clear processes for data handling to uphold accountability.</a:t>
            </a:r>
          </a:p>
          <a:p>
            <a:pPr marL="274638" lvl="2" indent="-90488">
              <a:spcBef>
                <a:spcPts val="1200"/>
              </a:spcBef>
              <a:spcAft>
                <a:spcPts val="200"/>
              </a:spcAft>
              <a:buSzPct val="100000"/>
              <a:buFont typeface="Arial" panose="020B0604020202020204" pitchFamily="34" charset="0"/>
              <a:buChar char="•"/>
            </a:pPr>
            <a:r>
              <a:rPr lang="en-AU" sz="1800" b="1" dirty="0"/>
              <a:t>Security: </a:t>
            </a:r>
            <a:r>
              <a:rPr lang="en-AU" sz="1800" dirty="0"/>
              <a:t>Ensuring robust cybersecurity measures to prevent data breaches and protect sensitive information.</a:t>
            </a:r>
          </a:p>
        </p:txBody>
      </p:sp>
      <p:sp>
        <p:nvSpPr>
          <p:cNvPr id="2" name="Footer Placeholder 1">
            <a:extLst>
              <a:ext uri="{FF2B5EF4-FFF2-40B4-BE49-F238E27FC236}">
                <a16:creationId xmlns:a16="http://schemas.microsoft.com/office/drawing/2014/main" id="{888A6C54-4984-4FE2-A1F7-5E325BF9B63A}"/>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0485" name="Slide Number Placeholder 3">
            <a:extLst>
              <a:ext uri="{FF2B5EF4-FFF2-40B4-BE49-F238E27FC236}">
                <a16:creationId xmlns:a16="http://schemas.microsoft.com/office/drawing/2014/main" id="{8175A72A-0461-4916-970D-5B68915483E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66E39B-1EF4-414B-B69D-68241CCB3A7A}" type="slidenum">
              <a:rPr lang="en-US" altLang="en-US" sz="900" smtClean="0">
                <a:solidFill>
                  <a:srgbClr val="FFFFFF"/>
                </a:solidFill>
              </a:rPr>
              <a:pPr/>
              <a:t>94</a:t>
            </a:fld>
            <a:endParaRPr lang="en-US" altLang="en-US" sz="900">
              <a:solidFill>
                <a:srgbClr val="FFFFFF"/>
              </a:solidFill>
            </a:endParaRPr>
          </a:p>
        </p:txBody>
      </p:sp>
      <p:pic>
        <p:nvPicPr>
          <p:cNvPr id="20486" name="Picture 5">
            <a:extLst>
              <a:ext uri="{FF2B5EF4-FFF2-40B4-BE49-F238E27FC236}">
                <a16:creationId xmlns:a16="http://schemas.microsoft.com/office/drawing/2014/main" id="{B099342E-B11F-456B-BC89-8A3ACDD1CD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Picture 1" descr="page2image2758544">
            <a:extLst>
              <a:ext uri="{FF2B5EF4-FFF2-40B4-BE49-F238E27FC236}">
                <a16:creationId xmlns:a16="http://schemas.microsoft.com/office/drawing/2014/main" id="{F3B360EF-CFFC-D0F2-0D14-3B48A4D371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3568700" cy="901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811498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A2E8118-8989-4D83-B0B6-3780317E104A}"/>
              </a:ext>
            </a:extLst>
          </p:cNvPr>
          <p:cNvSpPr>
            <a:spLocks noGrp="1"/>
          </p:cNvSpPr>
          <p:nvPr>
            <p:ph type="title"/>
          </p:nvPr>
        </p:nvSpPr>
        <p:spPr>
          <a:xfrm>
            <a:off x="539750" y="612775"/>
            <a:ext cx="8027988" cy="863600"/>
          </a:xfrm>
        </p:spPr>
        <p:txBody>
          <a:bodyPr>
            <a:noAutofit/>
          </a:bodyPr>
          <a:lstStyle/>
          <a:p>
            <a:pPr algn="ctr" eaLnBrk="1" fontAlgn="auto" hangingPunct="1">
              <a:spcAft>
                <a:spcPts val="0"/>
              </a:spcAft>
              <a:defRPr/>
            </a:pPr>
            <a:r>
              <a:rPr lang="en-AU" sz="3200" b="1" dirty="0">
                <a:solidFill>
                  <a:schemeClr val="accent2"/>
                </a:solidFill>
              </a:rPr>
              <a:t>Ethical Considerations in Big Data</a:t>
            </a:r>
            <a:endParaRPr lang="en-AU" altLang="en-US" sz="3200" b="1" dirty="0">
              <a:solidFill>
                <a:schemeClr val="accent2"/>
              </a:solidFill>
            </a:endParaRPr>
          </a:p>
        </p:txBody>
      </p:sp>
      <p:sp>
        <p:nvSpPr>
          <p:cNvPr id="3" name="Content Placeholder 2">
            <a:extLst>
              <a:ext uri="{FF2B5EF4-FFF2-40B4-BE49-F238E27FC236}">
                <a16:creationId xmlns:a16="http://schemas.microsoft.com/office/drawing/2014/main" id="{47E3A1D5-959A-49F9-AB1B-63563D526DDF}"/>
              </a:ext>
            </a:extLst>
          </p:cNvPr>
          <p:cNvSpPr>
            <a:spLocks noGrp="1" noChangeArrowheads="1"/>
          </p:cNvSpPr>
          <p:nvPr>
            <p:ph idx="1"/>
          </p:nvPr>
        </p:nvSpPr>
        <p:spPr>
          <a:xfrm>
            <a:off x="318477" y="1841063"/>
            <a:ext cx="8698523" cy="4043800"/>
          </a:xfrm>
        </p:spPr>
        <p:txBody>
          <a:bodyPr/>
          <a:lstStyle/>
          <a:p>
            <a:pPr lvl="1">
              <a:buFont typeface="Arial" panose="020B0604020202020204" pitchFamily="34" charset="0"/>
              <a:buChar char="•"/>
            </a:pPr>
            <a:r>
              <a:rPr lang="en-AU" b="1" dirty="0"/>
              <a:t>Consent</a:t>
            </a:r>
            <a:r>
              <a:rPr lang="en-AU" dirty="0"/>
              <a:t>: Empowering individuals with informed consent over data usage.</a:t>
            </a:r>
          </a:p>
          <a:p>
            <a:pPr marL="200025" lvl="1" indent="0">
              <a:buNone/>
            </a:pPr>
            <a:endParaRPr lang="en-AU" dirty="0"/>
          </a:p>
          <a:p>
            <a:pPr lvl="1">
              <a:buFont typeface="Arial" panose="020B0604020202020204" pitchFamily="34" charset="0"/>
              <a:buChar char="•"/>
            </a:pPr>
            <a:r>
              <a:rPr lang="en-AU" b="1" dirty="0"/>
              <a:t>Ownership</a:t>
            </a:r>
            <a:r>
              <a:rPr lang="en-AU" dirty="0"/>
              <a:t>: Defining rights and responsibilities regarding data ownership and stewardship.</a:t>
            </a:r>
          </a:p>
          <a:p>
            <a:pPr marL="200025" lvl="1" indent="0">
              <a:buNone/>
            </a:pPr>
            <a:endParaRPr lang="en-AU" dirty="0"/>
          </a:p>
          <a:p>
            <a:pPr lvl="1">
              <a:buFont typeface="Arial" panose="020B0604020202020204" pitchFamily="34" charset="0"/>
              <a:buChar char="•"/>
            </a:pPr>
            <a:r>
              <a:rPr lang="en-AU" b="1" dirty="0"/>
              <a:t>Long-Term Impact</a:t>
            </a:r>
            <a:r>
              <a:rPr lang="en-AU" dirty="0"/>
              <a:t>: Considering societal implications of data practices on future generations.</a:t>
            </a:r>
          </a:p>
          <a:p>
            <a:pPr marL="200025" lvl="1" indent="0">
              <a:buNone/>
            </a:pPr>
            <a:endParaRPr lang="en-AU" dirty="0"/>
          </a:p>
          <a:p>
            <a:pPr lvl="1">
              <a:buFont typeface="Arial" panose="020B0604020202020204" pitchFamily="34" charset="0"/>
              <a:buChar char="•"/>
            </a:pPr>
            <a:r>
              <a:rPr lang="en-AU" b="1" dirty="0"/>
              <a:t>Environmental Responsibility</a:t>
            </a:r>
            <a:r>
              <a:rPr lang="en-AU" dirty="0"/>
              <a:t>: Minimising the environmental footprint of data infrastructure and operations.</a:t>
            </a:r>
          </a:p>
        </p:txBody>
      </p:sp>
      <p:sp>
        <p:nvSpPr>
          <p:cNvPr id="2" name="Footer Placeholder 1">
            <a:extLst>
              <a:ext uri="{FF2B5EF4-FFF2-40B4-BE49-F238E27FC236}">
                <a16:creationId xmlns:a16="http://schemas.microsoft.com/office/drawing/2014/main" id="{888A6C54-4984-4FE2-A1F7-5E325BF9B63A}"/>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0485" name="Slide Number Placeholder 3">
            <a:extLst>
              <a:ext uri="{FF2B5EF4-FFF2-40B4-BE49-F238E27FC236}">
                <a16:creationId xmlns:a16="http://schemas.microsoft.com/office/drawing/2014/main" id="{8175A72A-0461-4916-970D-5B68915483E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66E39B-1EF4-414B-B69D-68241CCB3A7A}" type="slidenum">
              <a:rPr lang="en-US" altLang="en-US" sz="900" smtClean="0">
                <a:solidFill>
                  <a:srgbClr val="FFFFFF"/>
                </a:solidFill>
              </a:rPr>
              <a:pPr/>
              <a:t>95</a:t>
            </a:fld>
            <a:endParaRPr lang="en-US" altLang="en-US" sz="900">
              <a:solidFill>
                <a:srgbClr val="FFFFFF"/>
              </a:solidFill>
            </a:endParaRPr>
          </a:p>
        </p:txBody>
      </p:sp>
      <p:pic>
        <p:nvPicPr>
          <p:cNvPr id="20486" name="Picture 5">
            <a:extLst>
              <a:ext uri="{FF2B5EF4-FFF2-40B4-BE49-F238E27FC236}">
                <a16:creationId xmlns:a16="http://schemas.microsoft.com/office/drawing/2014/main" id="{B099342E-B11F-456B-BC89-8A3ACDD1CD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Picture 1" descr="page2image2758544">
            <a:extLst>
              <a:ext uri="{FF2B5EF4-FFF2-40B4-BE49-F238E27FC236}">
                <a16:creationId xmlns:a16="http://schemas.microsoft.com/office/drawing/2014/main" id="{F3B360EF-CFFC-D0F2-0D14-3B48A4D371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3568700" cy="901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856272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A2E8118-8989-4D83-B0B6-3780317E104A}"/>
              </a:ext>
            </a:extLst>
          </p:cNvPr>
          <p:cNvSpPr>
            <a:spLocks noGrp="1"/>
          </p:cNvSpPr>
          <p:nvPr>
            <p:ph type="title"/>
          </p:nvPr>
        </p:nvSpPr>
        <p:spPr>
          <a:xfrm>
            <a:off x="342900" y="612775"/>
            <a:ext cx="8224838" cy="863600"/>
          </a:xfrm>
        </p:spPr>
        <p:txBody>
          <a:bodyPr>
            <a:noAutofit/>
          </a:bodyPr>
          <a:lstStyle/>
          <a:p>
            <a:pPr algn="ctr" eaLnBrk="1" fontAlgn="auto" hangingPunct="1">
              <a:spcAft>
                <a:spcPts val="0"/>
              </a:spcAft>
              <a:defRPr/>
            </a:pPr>
            <a:r>
              <a:rPr lang="en-AU" altLang="en-US" sz="3200" b="1" dirty="0">
                <a:solidFill>
                  <a:schemeClr val="accent2"/>
                </a:solidFill>
              </a:rPr>
              <a:t>Video: </a:t>
            </a:r>
            <a:r>
              <a:rPr lang="en-AU" sz="3200" b="1" dirty="0">
                <a:solidFill>
                  <a:schemeClr val="accent2"/>
                </a:solidFill>
              </a:rPr>
              <a:t>How to Manage Difficult Stakeholders</a:t>
            </a:r>
            <a:endParaRPr lang="en-AU" altLang="en-US" sz="3200" b="1" dirty="0">
              <a:solidFill>
                <a:schemeClr val="accent2"/>
              </a:solidFill>
            </a:endParaRPr>
          </a:p>
        </p:txBody>
      </p:sp>
      <p:sp>
        <p:nvSpPr>
          <p:cNvPr id="3" name="Content Placeholder 2">
            <a:extLst>
              <a:ext uri="{FF2B5EF4-FFF2-40B4-BE49-F238E27FC236}">
                <a16:creationId xmlns:a16="http://schemas.microsoft.com/office/drawing/2014/main" id="{47E3A1D5-959A-49F9-AB1B-63563D526DDF}"/>
              </a:ext>
            </a:extLst>
          </p:cNvPr>
          <p:cNvSpPr>
            <a:spLocks noGrp="1" noChangeArrowheads="1"/>
          </p:cNvSpPr>
          <p:nvPr>
            <p:ph idx="1"/>
          </p:nvPr>
        </p:nvSpPr>
        <p:spPr>
          <a:xfrm>
            <a:off x="539750" y="1836738"/>
            <a:ext cx="8299450" cy="4043800"/>
          </a:xfrm>
        </p:spPr>
        <p:txBody>
          <a:bodyPr/>
          <a:lstStyle/>
          <a:p>
            <a:endParaRPr lang="en-AU" sz="2200" dirty="0"/>
          </a:p>
          <a:p>
            <a:r>
              <a:rPr lang="en-AU" sz="2800" dirty="0"/>
              <a:t>Have you been dealing with stakeholder challenges? (Watch in 11 minutes)</a:t>
            </a:r>
          </a:p>
          <a:p>
            <a:r>
              <a:rPr lang="en-AU" sz="1800" b="0" i="0" u="none" strike="noStrike" baseline="0" dirty="0">
                <a:highlight>
                  <a:srgbClr val="93E3FF"/>
                </a:highlight>
                <a:latin typeface="Century Gothic" panose="020B0502020202020204" pitchFamily="34" charset="0"/>
              </a:rPr>
              <a:t>Watch this video to learn </a:t>
            </a:r>
            <a:r>
              <a:rPr lang="en-AU" sz="1800" dirty="0">
                <a:highlight>
                  <a:srgbClr val="93E3FF"/>
                </a:highlight>
                <a:latin typeface="Century Gothic" panose="020B0502020202020204" pitchFamily="34" charset="0"/>
              </a:rPr>
              <a:t>:</a:t>
            </a:r>
          </a:p>
          <a:p>
            <a:r>
              <a:rPr lang="en-AU" sz="1800" dirty="0">
                <a:solidFill>
                  <a:srgbClr val="131313"/>
                </a:solidFill>
                <a:latin typeface="Roboto" panose="02000000000000000000" pitchFamily="2" charset="0"/>
                <a:hlinkClick r:id="rId2"/>
              </a:rPr>
              <a:t>https://www.youtube.com/watch?v=NaGhBpfZLzg</a:t>
            </a:r>
            <a:endParaRPr lang="en-AU" sz="1800" dirty="0">
              <a:solidFill>
                <a:srgbClr val="131313"/>
              </a:solidFill>
              <a:latin typeface="Roboto" panose="02000000000000000000" pitchFamily="2" charset="0"/>
            </a:endParaRPr>
          </a:p>
          <a:p>
            <a:pPr marL="0" indent="0">
              <a:buNone/>
            </a:pPr>
            <a:endParaRPr lang="en-AU" sz="1600" dirty="0">
              <a:solidFill>
                <a:srgbClr val="131313"/>
              </a:solidFill>
              <a:latin typeface="Roboto" panose="02000000000000000000" pitchFamily="2" charset="0"/>
            </a:endParaRPr>
          </a:p>
        </p:txBody>
      </p:sp>
      <p:sp>
        <p:nvSpPr>
          <p:cNvPr id="2" name="Footer Placeholder 1">
            <a:extLst>
              <a:ext uri="{FF2B5EF4-FFF2-40B4-BE49-F238E27FC236}">
                <a16:creationId xmlns:a16="http://schemas.microsoft.com/office/drawing/2014/main" id="{888A6C54-4984-4FE2-A1F7-5E325BF9B63A}"/>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0485" name="Slide Number Placeholder 3">
            <a:extLst>
              <a:ext uri="{FF2B5EF4-FFF2-40B4-BE49-F238E27FC236}">
                <a16:creationId xmlns:a16="http://schemas.microsoft.com/office/drawing/2014/main" id="{8175A72A-0461-4916-970D-5B68915483E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66E39B-1EF4-414B-B69D-68241CCB3A7A}" type="slidenum">
              <a:rPr lang="en-US" altLang="en-US" sz="900" smtClean="0">
                <a:solidFill>
                  <a:srgbClr val="FFFFFF"/>
                </a:solidFill>
              </a:rPr>
              <a:pPr/>
              <a:t>96</a:t>
            </a:fld>
            <a:endParaRPr lang="en-US" altLang="en-US" sz="900">
              <a:solidFill>
                <a:srgbClr val="FFFFFF"/>
              </a:solidFill>
            </a:endParaRPr>
          </a:p>
        </p:txBody>
      </p:sp>
      <p:pic>
        <p:nvPicPr>
          <p:cNvPr id="20486" name="Picture 5">
            <a:extLst>
              <a:ext uri="{FF2B5EF4-FFF2-40B4-BE49-F238E27FC236}">
                <a16:creationId xmlns:a16="http://schemas.microsoft.com/office/drawing/2014/main" id="{B099342E-B11F-456B-BC89-8A3ACDD1CD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Picture 1" descr="page2image2758544">
            <a:extLst>
              <a:ext uri="{FF2B5EF4-FFF2-40B4-BE49-F238E27FC236}">
                <a16:creationId xmlns:a16="http://schemas.microsoft.com/office/drawing/2014/main" id="{F3B360EF-CFFC-D0F2-0D14-3B48A4D371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3568700" cy="9017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1A1CE9C4-9FA1-DA62-BA5A-AAD3F5A0FC7D}"/>
              </a:ext>
            </a:extLst>
          </p:cNvPr>
          <p:cNvPicPr>
            <a:picLocks noChangeAspect="1"/>
          </p:cNvPicPr>
          <p:nvPr/>
        </p:nvPicPr>
        <p:blipFill>
          <a:blip r:embed="rId5"/>
          <a:srcRect l="2439" t="25610" r="40976" b="10650"/>
          <a:stretch>
            <a:fillRect/>
          </a:stretch>
        </p:blipFill>
        <p:spPr>
          <a:xfrm>
            <a:off x="4650058" y="4010546"/>
            <a:ext cx="4493941" cy="2847453"/>
          </a:xfrm>
          <a:prstGeom prst="rect">
            <a:avLst/>
          </a:prstGeom>
        </p:spPr>
      </p:pic>
    </p:spTree>
    <p:extLst>
      <p:ext uri="{BB962C8B-B14F-4D97-AF65-F5344CB8AC3E}">
        <p14:creationId xmlns:p14="http://schemas.microsoft.com/office/powerpoint/2010/main" val="270674690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B81C46-17F1-6058-E6B7-88FC2B495069}"/>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53D3E82A-4F67-6E1E-C592-8D2137838FA0}"/>
              </a:ext>
            </a:extLst>
          </p:cNvPr>
          <p:cNvSpPr>
            <a:spLocks noGrp="1"/>
          </p:cNvSpPr>
          <p:nvPr>
            <p:ph type="title"/>
          </p:nvPr>
        </p:nvSpPr>
        <p:spPr>
          <a:xfrm>
            <a:off x="342900" y="612775"/>
            <a:ext cx="8224838" cy="863600"/>
          </a:xfrm>
        </p:spPr>
        <p:txBody>
          <a:bodyPr>
            <a:noAutofit/>
          </a:bodyPr>
          <a:lstStyle/>
          <a:p>
            <a:pPr algn="ctr" eaLnBrk="1" fontAlgn="auto" hangingPunct="1">
              <a:spcAft>
                <a:spcPts val="0"/>
              </a:spcAft>
              <a:defRPr/>
            </a:pPr>
            <a:r>
              <a:rPr lang="en-AU" altLang="en-US" sz="3200" b="1" dirty="0">
                <a:solidFill>
                  <a:schemeClr val="accent2"/>
                </a:solidFill>
              </a:rPr>
              <a:t>Video: </a:t>
            </a:r>
            <a:r>
              <a:rPr lang="en-AU" sz="3200" b="1" dirty="0">
                <a:solidFill>
                  <a:schemeClr val="accent2"/>
                </a:solidFill>
              </a:rPr>
              <a:t>How to Manage Difficult Stakeholders</a:t>
            </a:r>
            <a:endParaRPr lang="en-AU" altLang="en-US" sz="3200" b="1" dirty="0">
              <a:solidFill>
                <a:schemeClr val="accent2"/>
              </a:solidFill>
            </a:endParaRPr>
          </a:p>
        </p:txBody>
      </p:sp>
      <p:sp>
        <p:nvSpPr>
          <p:cNvPr id="2" name="Footer Placeholder 1">
            <a:extLst>
              <a:ext uri="{FF2B5EF4-FFF2-40B4-BE49-F238E27FC236}">
                <a16:creationId xmlns:a16="http://schemas.microsoft.com/office/drawing/2014/main" id="{A9F3E54B-B124-53FB-F8D6-507952E8CEAE}"/>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0485" name="Slide Number Placeholder 3">
            <a:extLst>
              <a:ext uri="{FF2B5EF4-FFF2-40B4-BE49-F238E27FC236}">
                <a16:creationId xmlns:a16="http://schemas.microsoft.com/office/drawing/2014/main" id="{C4104D30-6D1A-6793-63AF-4038EF732DB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66E39B-1EF4-414B-B69D-68241CCB3A7A}" type="slidenum">
              <a:rPr lang="en-US" altLang="en-US" sz="900" smtClean="0">
                <a:solidFill>
                  <a:srgbClr val="FFFFFF"/>
                </a:solidFill>
              </a:rPr>
              <a:pPr/>
              <a:t>97</a:t>
            </a:fld>
            <a:endParaRPr lang="en-US" altLang="en-US" sz="900">
              <a:solidFill>
                <a:srgbClr val="FFFFFF"/>
              </a:solidFill>
            </a:endParaRPr>
          </a:p>
        </p:txBody>
      </p:sp>
      <p:pic>
        <p:nvPicPr>
          <p:cNvPr id="20486" name="Picture 5">
            <a:extLst>
              <a:ext uri="{FF2B5EF4-FFF2-40B4-BE49-F238E27FC236}">
                <a16:creationId xmlns:a16="http://schemas.microsoft.com/office/drawing/2014/main" id="{848FB5B5-DCEB-7C01-7D93-88B1D2EF67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Picture 1" descr="page2image2758544">
            <a:extLst>
              <a:ext uri="{FF2B5EF4-FFF2-40B4-BE49-F238E27FC236}">
                <a16:creationId xmlns:a16="http://schemas.microsoft.com/office/drawing/2014/main" id="{06A689E2-5FD1-E375-919F-B09D43ED29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3568700" cy="9017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5AD1744-AF04-E7C0-F371-4239C704BACE}"/>
              </a:ext>
            </a:extLst>
          </p:cNvPr>
          <p:cNvSpPr txBox="1"/>
          <p:nvPr/>
        </p:nvSpPr>
        <p:spPr>
          <a:xfrm>
            <a:off x="0" y="1803608"/>
            <a:ext cx="9144000" cy="5021055"/>
          </a:xfrm>
          <a:prstGeom prst="rect">
            <a:avLst/>
          </a:prstGeom>
          <a:noFill/>
        </p:spPr>
        <p:txBody>
          <a:bodyPr wrap="square">
            <a:spAutoFit/>
          </a:bodyPr>
          <a:lstStyle/>
          <a:p>
            <a:pPr>
              <a:lnSpc>
                <a:spcPct val="150000"/>
              </a:lnSpc>
              <a:buNone/>
            </a:pPr>
            <a:r>
              <a:rPr lang="en-US" sz="2400" b="1" dirty="0">
                <a:latin typeface="+mn-lt"/>
              </a:rPr>
              <a:t>Key lessons/messages from the video: Managing Difficult Stakeholders</a:t>
            </a:r>
          </a:p>
          <a:p>
            <a:pPr>
              <a:lnSpc>
                <a:spcPct val="150000"/>
              </a:lnSpc>
              <a:buNone/>
            </a:pPr>
            <a:r>
              <a:rPr lang="en-US" sz="2400" b="1" dirty="0">
                <a:latin typeface="+mn-lt"/>
              </a:rPr>
              <a:t>1. Difficult stakeholders are common in projects</a:t>
            </a:r>
          </a:p>
          <a:p>
            <a:pPr>
              <a:lnSpc>
                <a:spcPct val="150000"/>
              </a:lnSpc>
              <a:buNone/>
            </a:pPr>
            <a:r>
              <a:rPr lang="en-US" sz="2400" dirty="0">
                <a:latin typeface="+mn-lt"/>
              </a:rPr>
              <a:t>Almost every project has:</a:t>
            </a:r>
          </a:p>
          <a:p>
            <a:pPr>
              <a:lnSpc>
                <a:spcPct val="150000"/>
              </a:lnSpc>
            </a:pPr>
            <a:r>
              <a:rPr lang="en-US" sz="2400" dirty="0">
                <a:latin typeface="+mn-lt"/>
              </a:rPr>
              <a:t>- disagreements, </a:t>
            </a:r>
          </a:p>
          <a:p>
            <a:pPr>
              <a:lnSpc>
                <a:spcPct val="150000"/>
              </a:lnSpc>
            </a:pPr>
            <a:r>
              <a:rPr lang="en-US" sz="2400" dirty="0">
                <a:latin typeface="+mn-lt"/>
              </a:rPr>
              <a:t>- challenging people, </a:t>
            </a:r>
          </a:p>
          <a:p>
            <a:pPr>
              <a:lnSpc>
                <a:spcPct val="150000"/>
              </a:lnSpc>
            </a:pPr>
            <a:r>
              <a:rPr lang="en-US" sz="2400" dirty="0">
                <a:latin typeface="+mn-lt"/>
              </a:rPr>
              <a:t>- communication problems, </a:t>
            </a:r>
          </a:p>
          <a:p>
            <a:pPr>
              <a:lnSpc>
                <a:spcPct val="150000"/>
              </a:lnSpc>
            </a:pPr>
            <a:r>
              <a:rPr lang="en-US" sz="2400" dirty="0">
                <a:latin typeface="+mn-lt"/>
              </a:rPr>
              <a:t>- or difficult stakeholders. </a:t>
            </a:r>
          </a:p>
          <a:p>
            <a:pPr>
              <a:lnSpc>
                <a:spcPct val="150000"/>
              </a:lnSpc>
              <a:buNone/>
            </a:pPr>
            <a:r>
              <a:rPr lang="en-US" sz="2400" dirty="0">
                <a:latin typeface="+mn-lt"/>
              </a:rPr>
              <a:t>Project managers must learn how to manage these situations professionally.</a:t>
            </a:r>
          </a:p>
        </p:txBody>
      </p:sp>
    </p:spTree>
    <p:extLst>
      <p:ext uri="{BB962C8B-B14F-4D97-AF65-F5344CB8AC3E}">
        <p14:creationId xmlns:p14="http://schemas.microsoft.com/office/powerpoint/2010/main" val="227796892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A0E46-5AB0-4F0B-7D2B-57DE8D1038DB}"/>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F423D5AB-A9CD-7094-0E6C-1EA4ABB98D05}"/>
              </a:ext>
            </a:extLst>
          </p:cNvPr>
          <p:cNvSpPr>
            <a:spLocks noGrp="1"/>
          </p:cNvSpPr>
          <p:nvPr>
            <p:ph type="title"/>
          </p:nvPr>
        </p:nvSpPr>
        <p:spPr>
          <a:xfrm>
            <a:off x="342900" y="612775"/>
            <a:ext cx="8224838" cy="863600"/>
          </a:xfrm>
        </p:spPr>
        <p:txBody>
          <a:bodyPr>
            <a:noAutofit/>
          </a:bodyPr>
          <a:lstStyle/>
          <a:p>
            <a:pPr algn="ctr" eaLnBrk="1" fontAlgn="auto" hangingPunct="1">
              <a:spcAft>
                <a:spcPts val="0"/>
              </a:spcAft>
              <a:defRPr/>
            </a:pPr>
            <a:r>
              <a:rPr lang="en-AU" altLang="en-US" sz="3200" b="1" dirty="0">
                <a:solidFill>
                  <a:schemeClr val="accent2"/>
                </a:solidFill>
              </a:rPr>
              <a:t>Video: </a:t>
            </a:r>
            <a:r>
              <a:rPr lang="en-AU" sz="3200" b="1" dirty="0">
                <a:solidFill>
                  <a:schemeClr val="accent2"/>
                </a:solidFill>
              </a:rPr>
              <a:t>How to Manage Difficult Stakeholders</a:t>
            </a:r>
            <a:endParaRPr lang="en-AU" altLang="en-US" sz="3200" b="1" dirty="0">
              <a:solidFill>
                <a:schemeClr val="accent2"/>
              </a:solidFill>
            </a:endParaRPr>
          </a:p>
        </p:txBody>
      </p:sp>
      <p:sp>
        <p:nvSpPr>
          <p:cNvPr id="2" name="Footer Placeholder 1">
            <a:extLst>
              <a:ext uri="{FF2B5EF4-FFF2-40B4-BE49-F238E27FC236}">
                <a16:creationId xmlns:a16="http://schemas.microsoft.com/office/drawing/2014/main" id="{91B4430C-A854-D5E7-5C6E-C237E28221A8}"/>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0485" name="Slide Number Placeholder 3">
            <a:extLst>
              <a:ext uri="{FF2B5EF4-FFF2-40B4-BE49-F238E27FC236}">
                <a16:creationId xmlns:a16="http://schemas.microsoft.com/office/drawing/2014/main" id="{4533710D-E8AC-E8D2-DC06-26F658C7DFD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66E39B-1EF4-414B-B69D-68241CCB3A7A}" type="slidenum">
              <a:rPr lang="en-US" altLang="en-US" sz="900" smtClean="0">
                <a:solidFill>
                  <a:srgbClr val="FFFFFF"/>
                </a:solidFill>
              </a:rPr>
              <a:pPr/>
              <a:t>98</a:t>
            </a:fld>
            <a:endParaRPr lang="en-US" altLang="en-US" sz="900">
              <a:solidFill>
                <a:srgbClr val="FFFFFF"/>
              </a:solidFill>
            </a:endParaRPr>
          </a:p>
        </p:txBody>
      </p:sp>
      <p:pic>
        <p:nvPicPr>
          <p:cNvPr id="20486" name="Picture 5">
            <a:extLst>
              <a:ext uri="{FF2B5EF4-FFF2-40B4-BE49-F238E27FC236}">
                <a16:creationId xmlns:a16="http://schemas.microsoft.com/office/drawing/2014/main" id="{0D459D7A-694F-9555-97DC-8FA46E4E97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Picture 1" descr="page2image2758544">
            <a:extLst>
              <a:ext uri="{FF2B5EF4-FFF2-40B4-BE49-F238E27FC236}">
                <a16:creationId xmlns:a16="http://schemas.microsoft.com/office/drawing/2014/main" id="{E51617A8-A13B-002B-B126-89B7DE852A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3568700" cy="9017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5AC4260C-0307-B1E2-4A20-34D85100A092}"/>
              </a:ext>
            </a:extLst>
          </p:cNvPr>
          <p:cNvSpPr txBox="1"/>
          <p:nvPr/>
        </p:nvSpPr>
        <p:spPr>
          <a:xfrm>
            <a:off x="0" y="1803608"/>
            <a:ext cx="9144000" cy="3913059"/>
          </a:xfrm>
          <a:prstGeom prst="rect">
            <a:avLst/>
          </a:prstGeom>
          <a:noFill/>
        </p:spPr>
        <p:txBody>
          <a:bodyPr wrap="square">
            <a:spAutoFit/>
          </a:bodyPr>
          <a:lstStyle/>
          <a:p>
            <a:pPr>
              <a:lnSpc>
                <a:spcPct val="150000"/>
              </a:lnSpc>
            </a:pPr>
            <a:r>
              <a:rPr lang="en-US" sz="2400" b="1" dirty="0">
                <a:latin typeface="+mn-lt"/>
              </a:rPr>
              <a:t>2. Set expectations early</a:t>
            </a:r>
          </a:p>
          <a:p>
            <a:pPr>
              <a:lnSpc>
                <a:spcPct val="150000"/>
              </a:lnSpc>
            </a:pPr>
            <a:r>
              <a:rPr lang="en-US" sz="2400" dirty="0">
                <a:latin typeface="+mn-lt"/>
              </a:rPr>
              <a:t>At the beginning of the project:</a:t>
            </a:r>
          </a:p>
          <a:p>
            <a:pPr>
              <a:lnSpc>
                <a:spcPct val="150000"/>
              </a:lnSpc>
            </a:pPr>
            <a:r>
              <a:rPr lang="en-US" sz="2400" dirty="0">
                <a:latin typeface="+mn-lt"/>
              </a:rPr>
              <a:t>- explain roles, </a:t>
            </a:r>
          </a:p>
          <a:p>
            <a:pPr>
              <a:lnSpc>
                <a:spcPct val="150000"/>
              </a:lnSpc>
            </a:pPr>
            <a:r>
              <a:rPr lang="en-US" sz="2400" dirty="0">
                <a:latin typeface="+mn-lt"/>
              </a:rPr>
              <a:t>- responsibilities, </a:t>
            </a:r>
          </a:p>
          <a:p>
            <a:pPr>
              <a:lnSpc>
                <a:spcPct val="150000"/>
              </a:lnSpc>
            </a:pPr>
            <a:r>
              <a:rPr lang="en-US" sz="2400" dirty="0">
                <a:latin typeface="+mn-lt"/>
              </a:rPr>
              <a:t>- meeting </a:t>
            </a:r>
            <a:r>
              <a:rPr lang="en-US" sz="2400" dirty="0" err="1">
                <a:latin typeface="+mn-lt"/>
              </a:rPr>
              <a:t>behaviour</a:t>
            </a:r>
            <a:r>
              <a:rPr lang="en-US" sz="2400" dirty="0">
                <a:latin typeface="+mn-lt"/>
              </a:rPr>
              <a:t>, </a:t>
            </a:r>
          </a:p>
          <a:p>
            <a:pPr>
              <a:lnSpc>
                <a:spcPct val="150000"/>
              </a:lnSpc>
            </a:pPr>
            <a:r>
              <a:rPr lang="en-US" sz="2400" dirty="0">
                <a:latin typeface="+mn-lt"/>
              </a:rPr>
              <a:t>- and communication expectations. </a:t>
            </a:r>
          </a:p>
          <a:p>
            <a:pPr>
              <a:lnSpc>
                <a:spcPct val="150000"/>
              </a:lnSpc>
            </a:pPr>
            <a:r>
              <a:rPr lang="en-US" sz="2400" dirty="0">
                <a:latin typeface="+mn-lt"/>
              </a:rPr>
              <a:t>This helps reduce confusion and conflict later.</a:t>
            </a:r>
          </a:p>
        </p:txBody>
      </p:sp>
    </p:spTree>
    <p:extLst>
      <p:ext uri="{BB962C8B-B14F-4D97-AF65-F5344CB8AC3E}">
        <p14:creationId xmlns:p14="http://schemas.microsoft.com/office/powerpoint/2010/main" val="197180973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3AE75-11AB-9A41-C0D5-0E38C30C1724}"/>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BC46401E-F985-DAD1-9E77-48F5E6DCAADE}"/>
              </a:ext>
            </a:extLst>
          </p:cNvPr>
          <p:cNvSpPr>
            <a:spLocks noGrp="1"/>
          </p:cNvSpPr>
          <p:nvPr>
            <p:ph type="title"/>
          </p:nvPr>
        </p:nvSpPr>
        <p:spPr>
          <a:xfrm>
            <a:off x="342900" y="612775"/>
            <a:ext cx="8224838" cy="863600"/>
          </a:xfrm>
        </p:spPr>
        <p:txBody>
          <a:bodyPr>
            <a:noAutofit/>
          </a:bodyPr>
          <a:lstStyle/>
          <a:p>
            <a:pPr algn="ctr" eaLnBrk="1" fontAlgn="auto" hangingPunct="1">
              <a:spcAft>
                <a:spcPts val="0"/>
              </a:spcAft>
              <a:defRPr/>
            </a:pPr>
            <a:r>
              <a:rPr lang="en-AU" altLang="en-US" sz="3200" b="1" dirty="0">
                <a:solidFill>
                  <a:schemeClr val="accent2"/>
                </a:solidFill>
              </a:rPr>
              <a:t>Video: </a:t>
            </a:r>
            <a:r>
              <a:rPr lang="en-AU" sz="3200" b="1" dirty="0">
                <a:solidFill>
                  <a:schemeClr val="accent2"/>
                </a:solidFill>
              </a:rPr>
              <a:t>How to Manage Difficult Stakeholders</a:t>
            </a:r>
            <a:endParaRPr lang="en-AU" altLang="en-US" sz="3200" b="1" dirty="0">
              <a:solidFill>
                <a:schemeClr val="accent2"/>
              </a:solidFill>
            </a:endParaRPr>
          </a:p>
        </p:txBody>
      </p:sp>
      <p:sp>
        <p:nvSpPr>
          <p:cNvPr id="2" name="Footer Placeholder 1">
            <a:extLst>
              <a:ext uri="{FF2B5EF4-FFF2-40B4-BE49-F238E27FC236}">
                <a16:creationId xmlns:a16="http://schemas.microsoft.com/office/drawing/2014/main" id="{F7223372-CD93-F5FD-B3AB-C335B88B1A4A}"/>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0485" name="Slide Number Placeholder 3">
            <a:extLst>
              <a:ext uri="{FF2B5EF4-FFF2-40B4-BE49-F238E27FC236}">
                <a16:creationId xmlns:a16="http://schemas.microsoft.com/office/drawing/2014/main" id="{1492EEA6-23CA-67C0-CEB6-B45A34F2653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66E39B-1EF4-414B-B69D-68241CCB3A7A}" type="slidenum">
              <a:rPr lang="en-US" altLang="en-US" sz="900" smtClean="0">
                <a:solidFill>
                  <a:srgbClr val="FFFFFF"/>
                </a:solidFill>
              </a:rPr>
              <a:pPr/>
              <a:t>99</a:t>
            </a:fld>
            <a:endParaRPr lang="en-US" altLang="en-US" sz="900">
              <a:solidFill>
                <a:srgbClr val="FFFFFF"/>
              </a:solidFill>
            </a:endParaRPr>
          </a:p>
        </p:txBody>
      </p:sp>
      <p:pic>
        <p:nvPicPr>
          <p:cNvPr id="20486" name="Picture 5">
            <a:extLst>
              <a:ext uri="{FF2B5EF4-FFF2-40B4-BE49-F238E27FC236}">
                <a16:creationId xmlns:a16="http://schemas.microsoft.com/office/drawing/2014/main" id="{D15375CE-55C3-69C2-7A85-2FBCD987C5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Picture 1" descr="page2image2758544">
            <a:extLst>
              <a:ext uri="{FF2B5EF4-FFF2-40B4-BE49-F238E27FC236}">
                <a16:creationId xmlns:a16="http://schemas.microsoft.com/office/drawing/2014/main" id="{2F9C499D-C53A-D9D9-3F37-7BE96EB697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3568700" cy="9017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A1DA4E9A-687B-16AC-899A-76DCD02793D2}"/>
              </a:ext>
            </a:extLst>
          </p:cNvPr>
          <p:cNvSpPr txBox="1"/>
          <p:nvPr/>
        </p:nvSpPr>
        <p:spPr>
          <a:xfrm>
            <a:off x="0" y="1803608"/>
            <a:ext cx="9144000" cy="3903504"/>
          </a:xfrm>
          <a:prstGeom prst="rect">
            <a:avLst/>
          </a:prstGeom>
          <a:noFill/>
        </p:spPr>
        <p:txBody>
          <a:bodyPr wrap="square">
            <a:spAutoFit/>
          </a:bodyPr>
          <a:lstStyle/>
          <a:p>
            <a:pPr>
              <a:lnSpc>
                <a:spcPct val="150000"/>
              </a:lnSpc>
            </a:pPr>
            <a:r>
              <a:rPr lang="en-US" sz="2800" b="1" dirty="0">
                <a:latin typeface="+mn-lt"/>
              </a:rPr>
              <a:t>3. Use project documents clearly</a:t>
            </a:r>
          </a:p>
          <a:p>
            <a:pPr>
              <a:lnSpc>
                <a:spcPct val="150000"/>
              </a:lnSpc>
            </a:pPr>
            <a:r>
              <a:rPr lang="en-US" sz="2800" dirty="0">
                <a:latin typeface="+mn-lt"/>
              </a:rPr>
              <a:t>Important documents like:</a:t>
            </a:r>
          </a:p>
          <a:p>
            <a:pPr>
              <a:lnSpc>
                <a:spcPct val="150000"/>
              </a:lnSpc>
            </a:pPr>
            <a:r>
              <a:rPr lang="en-US" sz="2800" dirty="0">
                <a:latin typeface="+mn-lt"/>
              </a:rPr>
              <a:t>- project charters, </a:t>
            </a:r>
          </a:p>
          <a:p>
            <a:pPr>
              <a:lnSpc>
                <a:spcPct val="150000"/>
              </a:lnSpc>
            </a:pPr>
            <a:r>
              <a:rPr lang="en-US" sz="2800" dirty="0">
                <a:latin typeface="+mn-lt"/>
              </a:rPr>
              <a:t>- meeting rules, </a:t>
            </a:r>
          </a:p>
          <a:p>
            <a:pPr>
              <a:lnSpc>
                <a:spcPct val="150000"/>
              </a:lnSpc>
            </a:pPr>
            <a:r>
              <a:rPr lang="en-US" sz="2800" dirty="0">
                <a:latin typeface="+mn-lt"/>
              </a:rPr>
              <a:t>- and project agreements </a:t>
            </a:r>
          </a:p>
          <a:p>
            <a:pPr>
              <a:lnSpc>
                <a:spcPct val="150000"/>
              </a:lnSpc>
            </a:pPr>
            <a:r>
              <a:rPr lang="en-US" sz="2800" dirty="0">
                <a:latin typeface="+mn-lt"/>
              </a:rPr>
              <a:t>should clearly explain expectations and responsibilities.</a:t>
            </a:r>
          </a:p>
        </p:txBody>
      </p:sp>
    </p:spTree>
    <p:extLst>
      <p:ext uri="{BB962C8B-B14F-4D97-AF65-F5344CB8AC3E}">
        <p14:creationId xmlns:p14="http://schemas.microsoft.com/office/powerpoint/2010/main" val="148358031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96B0F-C15C-1710-F664-FB9DA51D5F07}"/>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FA35E867-52A7-0232-9912-F43D1988D74D}"/>
              </a:ext>
            </a:extLst>
          </p:cNvPr>
          <p:cNvSpPr>
            <a:spLocks noGrp="1"/>
          </p:cNvSpPr>
          <p:nvPr>
            <p:ph type="title"/>
          </p:nvPr>
        </p:nvSpPr>
        <p:spPr>
          <a:xfrm>
            <a:off x="342900" y="612775"/>
            <a:ext cx="8224838" cy="863600"/>
          </a:xfrm>
        </p:spPr>
        <p:txBody>
          <a:bodyPr>
            <a:noAutofit/>
          </a:bodyPr>
          <a:lstStyle/>
          <a:p>
            <a:pPr algn="ctr" eaLnBrk="1" fontAlgn="auto" hangingPunct="1">
              <a:spcAft>
                <a:spcPts val="0"/>
              </a:spcAft>
              <a:defRPr/>
            </a:pPr>
            <a:r>
              <a:rPr lang="en-AU" altLang="en-US" sz="3200" b="1" dirty="0">
                <a:solidFill>
                  <a:schemeClr val="accent2"/>
                </a:solidFill>
              </a:rPr>
              <a:t>Video: </a:t>
            </a:r>
            <a:r>
              <a:rPr lang="en-AU" sz="3200" b="1" dirty="0">
                <a:solidFill>
                  <a:schemeClr val="accent2"/>
                </a:solidFill>
              </a:rPr>
              <a:t>How to Manage Difficult Stakeholders</a:t>
            </a:r>
            <a:endParaRPr lang="en-AU" altLang="en-US" sz="3200" b="1" dirty="0">
              <a:solidFill>
                <a:schemeClr val="accent2"/>
              </a:solidFill>
            </a:endParaRPr>
          </a:p>
        </p:txBody>
      </p:sp>
      <p:sp>
        <p:nvSpPr>
          <p:cNvPr id="2" name="Footer Placeholder 1">
            <a:extLst>
              <a:ext uri="{FF2B5EF4-FFF2-40B4-BE49-F238E27FC236}">
                <a16:creationId xmlns:a16="http://schemas.microsoft.com/office/drawing/2014/main" id="{C83103F8-7FEF-CB5B-6026-003DA7B57512}"/>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0485" name="Slide Number Placeholder 3">
            <a:extLst>
              <a:ext uri="{FF2B5EF4-FFF2-40B4-BE49-F238E27FC236}">
                <a16:creationId xmlns:a16="http://schemas.microsoft.com/office/drawing/2014/main" id="{86B2981C-8029-ED6B-E9E6-6EFBFD50B87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66E39B-1EF4-414B-B69D-68241CCB3A7A}" type="slidenum">
              <a:rPr lang="en-US" altLang="en-US" sz="900" smtClean="0">
                <a:solidFill>
                  <a:srgbClr val="FFFFFF"/>
                </a:solidFill>
              </a:rPr>
              <a:pPr/>
              <a:t>100</a:t>
            </a:fld>
            <a:endParaRPr lang="en-US" altLang="en-US" sz="900">
              <a:solidFill>
                <a:srgbClr val="FFFFFF"/>
              </a:solidFill>
            </a:endParaRPr>
          </a:p>
        </p:txBody>
      </p:sp>
      <p:pic>
        <p:nvPicPr>
          <p:cNvPr id="20486" name="Picture 5">
            <a:extLst>
              <a:ext uri="{FF2B5EF4-FFF2-40B4-BE49-F238E27FC236}">
                <a16:creationId xmlns:a16="http://schemas.microsoft.com/office/drawing/2014/main" id="{F8CFB28C-0E93-3726-B5D6-FB56B246B0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Picture 1" descr="page2image2758544">
            <a:extLst>
              <a:ext uri="{FF2B5EF4-FFF2-40B4-BE49-F238E27FC236}">
                <a16:creationId xmlns:a16="http://schemas.microsoft.com/office/drawing/2014/main" id="{32D1C5B5-3EDF-9004-51AA-15074BB541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3568700" cy="9017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B06F0A5-DDD1-28D2-1B60-F13BF032182D}"/>
              </a:ext>
            </a:extLst>
          </p:cNvPr>
          <p:cNvSpPr txBox="1"/>
          <p:nvPr/>
        </p:nvSpPr>
        <p:spPr>
          <a:xfrm>
            <a:off x="0" y="1803608"/>
            <a:ext cx="9144000" cy="3903504"/>
          </a:xfrm>
          <a:prstGeom prst="rect">
            <a:avLst/>
          </a:prstGeom>
          <a:noFill/>
        </p:spPr>
        <p:txBody>
          <a:bodyPr wrap="square">
            <a:spAutoFit/>
          </a:bodyPr>
          <a:lstStyle/>
          <a:p>
            <a:pPr>
              <a:lnSpc>
                <a:spcPct val="150000"/>
              </a:lnSpc>
            </a:pPr>
            <a:r>
              <a:rPr lang="en-US" sz="2800" b="1" dirty="0">
                <a:latin typeface="+mn-lt"/>
              </a:rPr>
              <a:t>4. Follow up on agreed </a:t>
            </a:r>
            <a:r>
              <a:rPr lang="en-US" sz="2800" b="1" dirty="0" err="1">
                <a:latin typeface="+mn-lt"/>
              </a:rPr>
              <a:t>behaviour</a:t>
            </a:r>
            <a:endParaRPr lang="en-US" sz="2800" b="1" dirty="0">
              <a:latin typeface="+mn-lt"/>
            </a:endParaRPr>
          </a:p>
          <a:p>
            <a:pPr>
              <a:lnSpc>
                <a:spcPct val="150000"/>
              </a:lnSpc>
            </a:pPr>
            <a:r>
              <a:rPr lang="en-US" sz="2800" dirty="0">
                <a:latin typeface="+mn-lt"/>
              </a:rPr>
              <a:t>Rules only work if they are enforced.</a:t>
            </a:r>
          </a:p>
          <a:p>
            <a:pPr>
              <a:lnSpc>
                <a:spcPct val="150000"/>
              </a:lnSpc>
            </a:pPr>
            <a:r>
              <a:rPr lang="en-US" sz="2800" dirty="0">
                <a:latin typeface="+mn-lt"/>
              </a:rPr>
              <a:t>If someone behaves inappropriately:</a:t>
            </a:r>
          </a:p>
          <a:p>
            <a:pPr>
              <a:lnSpc>
                <a:spcPct val="150000"/>
              </a:lnSpc>
            </a:pPr>
            <a:r>
              <a:rPr lang="en-US" sz="2800" dirty="0">
                <a:latin typeface="+mn-lt"/>
              </a:rPr>
              <a:t>- speak with them professionally, </a:t>
            </a:r>
          </a:p>
          <a:p>
            <a:pPr>
              <a:lnSpc>
                <a:spcPct val="150000"/>
              </a:lnSpc>
            </a:pPr>
            <a:r>
              <a:rPr lang="en-US" sz="2800" dirty="0">
                <a:latin typeface="+mn-lt"/>
              </a:rPr>
              <a:t>- refer to agreed project expectations, </a:t>
            </a:r>
          </a:p>
          <a:p>
            <a:pPr>
              <a:lnSpc>
                <a:spcPct val="150000"/>
              </a:lnSpc>
            </a:pPr>
            <a:r>
              <a:rPr lang="en-US" sz="2800" dirty="0">
                <a:latin typeface="+mn-lt"/>
              </a:rPr>
              <a:t>- and discuss the issue calmly.</a:t>
            </a:r>
          </a:p>
        </p:txBody>
      </p:sp>
    </p:spTree>
    <p:extLst>
      <p:ext uri="{BB962C8B-B14F-4D97-AF65-F5344CB8AC3E}">
        <p14:creationId xmlns:p14="http://schemas.microsoft.com/office/powerpoint/2010/main" val="36774026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B7833-4F6C-C1CF-E723-20C0A53BEA4C}"/>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5C0DDB32-6A74-087B-B277-662BAEFDD349}"/>
              </a:ext>
            </a:extLst>
          </p:cNvPr>
          <p:cNvSpPr>
            <a:spLocks noGrp="1"/>
          </p:cNvSpPr>
          <p:nvPr>
            <p:ph type="title"/>
          </p:nvPr>
        </p:nvSpPr>
        <p:spPr>
          <a:xfrm>
            <a:off x="342900" y="612775"/>
            <a:ext cx="8224838" cy="863600"/>
          </a:xfrm>
        </p:spPr>
        <p:txBody>
          <a:bodyPr>
            <a:noAutofit/>
          </a:bodyPr>
          <a:lstStyle/>
          <a:p>
            <a:pPr algn="ctr" eaLnBrk="1" fontAlgn="auto" hangingPunct="1">
              <a:spcAft>
                <a:spcPts val="0"/>
              </a:spcAft>
              <a:defRPr/>
            </a:pPr>
            <a:r>
              <a:rPr lang="en-AU" altLang="en-US" sz="3200" b="1" dirty="0">
                <a:solidFill>
                  <a:schemeClr val="accent2"/>
                </a:solidFill>
              </a:rPr>
              <a:t>Video: </a:t>
            </a:r>
            <a:r>
              <a:rPr lang="en-AU" sz="3200" b="1" dirty="0">
                <a:solidFill>
                  <a:schemeClr val="accent2"/>
                </a:solidFill>
              </a:rPr>
              <a:t>How to Manage Difficult Stakeholders</a:t>
            </a:r>
            <a:endParaRPr lang="en-AU" altLang="en-US" sz="3200" b="1" dirty="0">
              <a:solidFill>
                <a:schemeClr val="accent2"/>
              </a:solidFill>
            </a:endParaRPr>
          </a:p>
        </p:txBody>
      </p:sp>
      <p:sp>
        <p:nvSpPr>
          <p:cNvPr id="2" name="Footer Placeholder 1">
            <a:extLst>
              <a:ext uri="{FF2B5EF4-FFF2-40B4-BE49-F238E27FC236}">
                <a16:creationId xmlns:a16="http://schemas.microsoft.com/office/drawing/2014/main" id="{C886BC96-8DA6-FDD0-FA69-6377E13EBF10}"/>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0485" name="Slide Number Placeholder 3">
            <a:extLst>
              <a:ext uri="{FF2B5EF4-FFF2-40B4-BE49-F238E27FC236}">
                <a16:creationId xmlns:a16="http://schemas.microsoft.com/office/drawing/2014/main" id="{E0F37E97-E98D-CBEA-E731-E390FAA4824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66E39B-1EF4-414B-B69D-68241CCB3A7A}" type="slidenum">
              <a:rPr lang="en-US" altLang="en-US" sz="900" smtClean="0">
                <a:solidFill>
                  <a:srgbClr val="FFFFFF"/>
                </a:solidFill>
              </a:rPr>
              <a:pPr/>
              <a:t>101</a:t>
            </a:fld>
            <a:endParaRPr lang="en-US" altLang="en-US" sz="900">
              <a:solidFill>
                <a:srgbClr val="FFFFFF"/>
              </a:solidFill>
            </a:endParaRPr>
          </a:p>
        </p:txBody>
      </p:sp>
      <p:pic>
        <p:nvPicPr>
          <p:cNvPr id="20486" name="Picture 5">
            <a:extLst>
              <a:ext uri="{FF2B5EF4-FFF2-40B4-BE49-F238E27FC236}">
                <a16:creationId xmlns:a16="http://schemas.microsoft.com/office/drawing/2014/main" id="{A3DE9DF4-A3CC-4C3B-A527-21907473D1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Picture 1" descr="page2image2758544">
            <a:extLst>
              <a:ext uri="{FF2B5EF4-FFF2-40B4-BE49-F238E27FC236}">
                <a16:creationId xmlns:a16="http://schemas.microsoft.com/office/drawing/2014/main" id="{BCFBDFAB-6C69-74B8-DF54-6F912C08F1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3568700" cy="9017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B700589A-52DE-0C3A-7FBA-01152A85CFAD}"/>
              </a:ext>
            </a:extLst>
          </p:cNvPr>
          <p:cNvSpPr txBox="1"/>
          <p:nvPr/>
        </p:nvSpPr>
        <p:spPr>
          <a:xfrm>
            <a:off x="0" y="1803608"/>
            <a:ext cx="9144000" cy="5196166"/>
          </a:xfrm>
          <a:prstGeom prst="rect">
            <a:avLst/>
          </a:prstGeom>
          <a:solidFill>
            <a:schemeClr val="bg1"/>
          </a:solidFill>
        </p:spPr>
        <p:txBody>
          <a:bodyPr wrap="square">
            <a:spAutoFit/>
          </a:bodyPr>
          <a:lstStyle/>
          <a:p>
            <a:pPr>
              <a:lnSpc>
                <a:spcPct val="150000"/>
              </a:lnSpc>
            </a:pPr>
            <a:r>
              <a:rPr lang="en-US" sz="2800" b="1" dirty="0">
                <a:latin typeface="+mn-lt"/>
              </a:rPr>
              <a:t>5. Find the real cause of problems</a:t>
            </a:r>
          </a:p>
          <a:p>
            <a:pPr>
              <a:lnSpc>
                <a:spcPct val="150000"/>
              </a:lnSpc>
            </a:pPr>
            <a:r>
              <a:rPr lang="en-US" sz="2800" dirty="0">
                <a:latin typeface="+mn-lt"/>
              </a:rPr>
              <a:t>Do not assume why someone is difficult.</a:t>
            </a:r>
          </a:p>
          <a:p>
            <a:pPr>
              <a:lnSpc>
                <a:spcPct val="150000"/>
              </a:lnSpc>
            </a:pPr>
            <a:r>
              <a:rPr lang="en-US" sz="2800" dirty="0">
                <a:latin typeface="+mn-lt"/>
              </a:rPr>
              <a:t>The real problem could be:</a:t>
            </a:r>
          </a:p>
          <a:p>
            <a:pPr>
              <a:lnSpc>
                <a:spcPct val="150000"/>
              </a:lnSpc>
            </a:pPr>
            <a:r>
              <a:rPr lang="en-US" sz="2800" dirty="0">
                <a:latin typeface="+mn-lt"/>
              </a:rPr>
              <a:t>- misunderstanding, </a:t>
            </a:r>
          </a:p>
          <a:p>
            <a:pPr>
              <a:lnSpc>
                <a:spcPct val="150000"/>
              </a:lnSpc>
            </a:pPr>
            <a:r>
              <a:rPr lang="en-US" sz="2800" dirty="0">
                <a:latin typeface="+mn-lt"/>
              </a:rPr>
              <a:t>- poor communication, </a:t>
            </a:r>
          </a:p>
          <a:p>
            <a:pPr>
              <a:lnSpc>
                <a:spcPct val="150000"/>
              </a:lnSpc>
            </a:pPr>
            <a:r>
              <a:rPr lang="en-US" sz="2800" dirty="0">
                <a:latin typeface="+mn-lt"/>
              </a:rPr>
              <a:t>- hidden concerns, </a:t>
            </a:r>
          </a:p>
          <a:p>
            <a:pPr>
              <a:lnSpc>
                <a:spcPct val="150000"/>
              </a:lnSpc>
            </a:pPr>
            <a:r>
              <a:rPr lang="en-US" sz="2800" dirty="0">
                <a:latin typeface="+mn-lt"/>
              </a:rPr>
              <a:t>- stress, </a:t>
            </a:r>
          </a:p>
          <a:p>
            <a:pPr>
              <a:lnSpc>
                <a:spcPct val="150000"/>
              </a:lnSpc>
            </a:pPr>
            <a:r>
              <a:rPr lang="en-US" sz="2800" dirty="0">
                <a:latin typeface="+mn-lt"/>
              </a:rPr>
              <a:t>- or disagreement about project decisions.</a:t>
            </a:r>
          </a:p>
        </p:txBody>
      </p:sp>
    </p:spTree>
    <p:extLst>
      <p:ext uri="{BB962C8B-B14F-4D97-AF65-F5344CB8AC3E}">
        <p14:creationId xmlns:p14="http://schemas.microsoft.com/office/powerpoint/2010/main" val="315465275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561A82-AD7E-91C9-3807-0B19E47D6C0A}"/>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37B320B4-5C0A-3580-4715-908A1A301CF0}"/>
              </a:ext>
            </a:extLst>
          </p:cNvPr>
          <p:cNvSpPr>
            <a:spLocks noGrp="1"/>
          </p:cNvSpPr>
          <p:nvPr>
            <p:ph type="title"/>
          </p:nvPr>
        </p:nvSpPr>
        <p:spPr>
          <a:xfrm>
            <a:off x="342900" y="612775"/>
            <a:ext cx="8224838" cy="863600"/>
          </a:xfrm>
        </p:spPr>
        <p:txBody>
          <a:bodyPr>
            <a:noAutofit/>
          </a:bodyPr>
          <a:lstStyle/>
          <a:p>
            <a:pPr algn="ctr" eaLnBrk="1" fontAlgn="auto" hangingPunct="1">
              <a:spcAft>
                <a:spcPts val="0"/>
              </a:spcAft>
              <a:defRPr/>
            </a:pPr>
            <a:r>
              <a:rPr lang="en-AU" altLang="en-US" sz="3200" b="1" dirty="0">
                <a:solidFill>
                  <a:schemeClr val="accent2"/>
                </a:solidFill>
              </a:rPr>
              <a:t>Video: </a:t>
            </a:r>
            <a:r>
              <a:rPr lang="en-AU" sz="3200" b="1" dirty="0">
                <a:solidFill>
                  <a:schemeClr val="accent2"/>
                </a:solidFill>
              </a:rPr>
              <a:t>How to Manage Difficult Stakeholders</a:t>
            </a:r>
            <a:endParaRPr lang="en-AU" altLang="en-US" sz="3200" b="1" dirty="0">
              <a:solidFill>
                <a:schemeClr val="accent2"/>
              </a:solidFill>
            </a:endParaRPr>
          </a:p>
        </p:txBody>
      </p:sp>
      <p:sp>
        <p:nvSpPr>
          <p:cNvPr id="2" name="Footer Placeholder 1">
            <a:extLst>
              <a:ext uri="{FF2B5EF4-FFF2-40B4-BE49-F238E27FC236}">
                <a16:creationId xmlns:a16="http://schemas.microsoft.com/office/drawing/2014/main" id="{E68B50E1-A4E3-9EE5-049C-EA8B2B697C10}"/>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0485" name="Slide Number Placeholder 3">
            <a:extLst>
              <a:ext uri="{FF2B5EF4-FFF2-40B4-BE49-F238E27FC236}">
                <a16:creationId xmlns:a16="http://schemas.microsoft.com/office/drawing/2014/main" id="{12C224CD-6DF7-8F16-FB33-AB34326D4FD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66E39B-1EF4-414B-B69D-68241CCB3A7A}" type="slidenum">
              <a:rPr lang="en-US" altLang="en-US" sz="900" smtClean="0">
                <a:solidFill>
                  <a:srgbClr val="FFFFFF"/>
                </a:solidFill>
              </a:rPr>
              <a:pPr/>
              <a:t>102</a:t>
            </a:fld>
            <a:endParaRPr lang="en-US" altLang="en-US" sz="900">
              <a:solidFill>
                <a:srgbClr val="FFFFFF"/>
              </a:solidFill>
            </a:endParaRPr>
          </a:p>
        </p:txBody>
      </p:sp>
      <p:pic>
        <p:nvPicPr>
          <p:cNvPr id="20486" name="Picture 5">
            <a:extLst>
              <a:ext uri="{FF2B5EF4-FFF2-40B4-BE49-F238E27FC236}">
                <a16:creationId xmlns:a16="http://schemas.microsoft.com/office/drawing/2014/main" id="{497EF565-6AD7-5BC7-0B81-999E8F1D15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Picture 1" descr="page2image2758544">
            <a:extLst>
              <a:ext uri="{FF2B5EF4-FFF2-40B4-BE49-F238E27FC236}">
                <a16:creationId xmlns:a16="http://schemas.microsoft.com/office/drawing/2014/main" id="{8DFD180B-5176-EBB1-5029-2DD4A8E8F7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3568700" cy="9017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26CC10D-C169-EB9F-8E77-89D8852E757A}"/>
              </a:ext>
            </a:extLst>
          </p:cNvPr>
          <p:cNvSpPr txBox="1"/>
          <p:nvPr/>
        </p:nvSpPr>
        <p:spPr>
          <a:xfrm>
            <a:off x="0" y="1803608"/>
            <a:ext cx="9144000" cy="2610843"/>
          </a:xfrm>
          <a:prstGeom prst="rect">
            <a:avLst/>
          </a:prstGeom>
          <a:solidFill>
            <a:schemeClr val="bg1"/>
          </a:solidFill>
        </p:spPr>
        <p:txBody>
          <a:bodyPr wrap="square">
            <a:spAutoFit/>
          </a:bodyPr>
          <a:lstStyle/>
          <a:p>
            <a:pPr>
              <a:lnSpc>
                <a:spcPct val="150000"/>
              </a:lnSpc>
            </a:pPr>
            <a:r>
              <a:rPr lang="en-US" sz="2800" b="1" dirty="0">
                <a:latin typeface="+mn-lt"/>
              </a:rPr>
              <a:t>6. Use the “5 Whys” technique</a:t>
            </a:r>
          </a:p>
          <a:p>
            <a:pPr>
              <a:lnSpc>
                <a:spcPct val="150000"/>
              </a:lnSpc>
            </a:pPr>
            <a:r>
              <a:rPr lang="en-US" sz="2800" dirty="0">
                <a:latin typeface="+mn-lt"/>
              </a:rPr>
              <a:t>Keep asking “Why?” to identify the root cause of the issue.</a:t>
            </a:r>
          </a:p>
          <a:p>
            <a:pPr>
              <a:lnSpc>
                <a:spcPct val="150000"/>
              </a:lnSpc>
            </a:pPr>
            <a:r>
              <a:rPr lang="en-US" sz="2800" dirty="0">
                <a:latin typeface="+mn-lt"/>
              </a:rPr>
              <a:t>This helps uncover the real problem instead of only seeing surface-level complaints.</a:t>
            </a:r>
          </a:p>
        </p:txBody>
      </p:sp>
    </p:spTree>
    <p:extLst>
      <p:ext uri="{BB962C8B-B14F-4D97-AF65-F5344CB8AC3E}">
        <p14:creationId xmlns:p14="http://schemas.microsoft.com/office/powerpoint/2010/main" val="360171316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BA7BD0-C96F-7308-82F7-1D364490D4DC}"/>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B6963D3F-BB15-E2EC-99E5-152CB758F180}"/>
              </a:ext>
            </a:extLst>
          </p:cNvPr>
          <p:cNvSpPr>
            <a:spLocks noGrp="1"/>
          </p:cNvSpPr>
          <p:nvPr>
            <p:ph type="title"/>
          </p:nvPr>
        </p:nvSpPr>
        <p:spPr>
          <a:xfrm>
            <a:off x="342900" y="612775"/>
            <a:ext cx="8224838" cy="863600"/>
          </a:xfrm>
        </p:spPr>
        <p:txBody>
          <a:bodyPr>
            <a:noAutofit/>
          </a:bodyPr>
          <a:lstStyle/>
          <a:p>
            <a:pPr algn="ctr" eaLnBrk="1" fontAlgn="auto" hangingPunct="1">
              <a:spcAft>
                <a:spcPts val="0"/>
              </a:spcAft>
              <a:defRPr/>
            </a:pPr>
            <a:r>
              <a:rPr lang="en-AU" altLang="en-US" sz="3200" b="1" dirty="0">
                <a:solidFill>
                  <a:schemeClr val="accent2"/>
                </a:solidFill>
              </a:rPr>
              <a:t>Video: </a:t>
            </a:r>
            <a:r>
              <a:rPr lang="en-AU" sz="3200" b="1" dirty="0">
                <a:solidFill>
                  <a:schemeClr val="accent2"/>
                </a:solidFill>
              </a:rPr>
              <a:t>How to Manage Difficult Stakeholders</a:t>
            </a:r>
            <a:endParaRPr lang="en-AU" altLang="en-US" sz="3200" b="1" dirty="0">
              <a:solidFill>
                <a:schemeClr val="accent2"/>
              </a:solidFill>
            </a:endParaRPr>
          </a:p>
        </p:txBody>
      </p:sp>
      <p:sp>
        <p:nvSpPr>
          <p:cNvPr id="2" name="Footer Placeholder 1">
            <a:extLst>
              <a:ext uri="{FF2B5EF4-FFF2-40B4-BE49-F238E27FC236}">
                <a16:creationId xmlns:a16="http://schemas.microsoft.com/office/drawing/2014/main" id="{2BB55E74-4ADF-2860-A1C1-662100D0A5FE}"/>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0485" name="Slide Number Placeholder 3">
            <a:extLst>
              <a:ext uri="{FF2B5EF4-FFF2-40B4-BE49-F238E27FC236}">
                <a16:creationId xmlns:a16="http://schemas.microsoft.com/office/drawing/2014/main" id="{8ABA08E3-66B2-8C23-762B-892119FB5C7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66E39B-1EF4-414B-B69D-68241CCB3A7A}" type="slidenum">
              <a:rPr lang="en-US" altLang="en-US" sz="900" smtClean="0">
                <a:solidFill>
                  <a:srgbClr val="FFFFFF"/>
                </a:solidFill>
              </a:rPr>
              <a:pPr/>
              <a:t>103</a:t>
            </a:fld>
            <a:endParaRPr lang="en-US" altLang="en-US" sz="900">
              <a:solidFill>
                <a:srgbClr val="FFFFFF"/>
              </a:solidFill>
            </a:endParaRPr>
          </a:p>
        </p:txBody>
      </p:sp>
      <p:pic>
        <p:nvPicPr>
          <p:cNvPr id="20486" name="Picture 5">
            <a:extLst>
              <a:ext uri="{FF2B5EF4-FFF2-40B4-BE49-F238E27FC236}">
                <a16:creationId xmlns:a16="http://schemas.microsoft.com/office/drawing/2014/main" id="{95D1D36D-FDAC-A574-F714-8823F0329A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Picture 1" descr="page2image2758544">
            <a:extLst>
              <a:ext uri="{FF2B5EF4-FFF2-40B4-BE49-F238E27FC236}">
                <a16:creationId xmlns:a16="http://schemas.microsoft.com/office/drawing/2014/main" id="{527FCF5E-650A-1AC0-661C-01DD3DF787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3568700" cy="9017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BBF166C0-B7E1-663F-4080-5AA3A1E7F847}"/>
              </a:ext>
            </a:extLst>
          </p:cNvPr>
          <p:cNvSpPr txBox="1"/>
          <p:nvPr/>
        </p:nvSpPr>
        <p:spPr>
          <a:xfrm>
            <a:off x="0" y="1803608"/>
            <a:ext cx="9144000" cy="3903504"/>
          </a:xfrm>
          <a:prstGeom prst="rect">
            <a:avLst/>
          </a:prstGeom>
          <a:solidFill>
            <a:schemeClr val="bg1"/>
          </a:solidFill>
        </p:spPr>
        <p:txBody>
          <a:bodyPr wrap="square">
            <a:spAutoFit/>
          </a:bodyPr>
          <a:lstStyle/>
          <a:p>
            <a:pPr>
              <a:lnSpc>
                <a:spcPct val="150000"/>
              </a:lnSpc>
            </a:pPr>
            <a:r>
              <a:rPr lang="en-US" sz="2800" b="1" dirty="0">
                <a:latin typeface="+mn-lt"/>
              </a:rPr>
              <a:t>7. Stay calm and listen</a:t>
            </a:r>
          </a:p>
          <a:p>
            <a:pPr>
              <a:lnSpc>
                <a:spcPct val="150000"/>
              </a:lnSpc>
            </a:pPr>
            <a:r>
              <a:rPr lang="en-US" sz="2800" dirty="0">
                <a:latin typeface="+mn-lt"/>
              </a:rPr>
              <a:t>Good project managers:</a:t>
            </a:r>
          </a:p>
          <a:p>
            <a:pPr>
              <a:lnSpc>
                <a:spcPct val="150000"/>
              </a:lnSpc>
            </a:pPr>
            <a:r>
              <a:rPr lang="en-US" sz="2800" dirty="0">
                <a:latin typeface="+mn-lt"/>
              </a:rPr>
              <a:t>- stay professional, </a:t>
            </a:r>
          </a:p>
          <a:p>
            <a:pPr>
              <a:lnSpc>
                <a:spcPct val="150000"/>
              </a:lnSpc>
            </a:pPr>
            <a:r>
              <a:rPr lang="en-US" sz="2800" dirty="0">
                <a:latin typeface="+mn-lt"/>
              </a:rPr>
              <a:t>- listen carefully, </a:t>
            </a:r>
          </a:p>
          <a:p>
            <a:pPr>
              <a:lnSpc>
                <a:spcPct val="150000"/>
              </a:lnSpc>
            </a:pPr>
            <a:r>
              <a:rPr lang="en-US" sz="2800" dirty="0">
                <a:latin typeface="+mn-lt"/>
              </a:rPr>
              <a:t>- avoid emotional reactions, </a:t>
            </a:r>
          </a:p>
          <a:p>
            <a:pPr>
              <a:lnSpc>
                <a:spcPct val="150000"/>
              </a:lnSpc>
            </a:pPr>
            <a:r>
              <a:rPr lang="en-US" sz="2800" dirty="0">
                <a:latin typeface="+mn-lt"/>
              </a:rPr>
              <a:t>- and try to understand stakeholder concerns.</a:t>
            </a:r>
          </a:p>
        </p:txBody>
      </p:sp>
    </p:spTree>
    <p:extLst>
      <p:ext uri="{BB962C8B-B14F-4D97-AF65-F5344CB8AC3E}">
        <p14:creationId xmlns:p14="http://schemas.microsoft.com/office/powerpoint/2010/main" val="219926261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52EC6-2877-8020-171C-0677615753F4}"/>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A293D7CA-C93A-7AF4-ACAC-6BF6480AA710}"/>
              </a:ext>
            </a:extLst>
          </p:cNvPr>
          <p:cNvSpPr>
            <a:spLocks noGrp="1"/>
          </p:cNvSpPr>
          <p:nvPr>
            <p:ph type="title"/>
          </p:nvPr>
        </p:nvSpPr>
        <p:spPr>
          <a:xfrm>
            <a:off x="342900" y="612775"/>
            <a:ext cx="8224838" cy="863600"/>
          </a:xfrm>
        </p:spPr>
        <p:txBody>
          <a:bodyPr>
            <a:noAutofit/>
          </a:bodyPr>
          <a:lstStyle/>
          <a:p>
            <a:pPr algn="ctr" eaLnBrk="1" fontAlgn="auto" hangingPunct="1">
              <a:spcAft>
                <a:spcPts val="0"/>
              </a:spcAft>
              <a:defRPr/>
            </a:pPr>
            <a:r>
              <a:rPr lang="en-AU" altLang="en-US" sz="3200" b="1" dirty="0">
                <a:solidFill>
                  <a:schemeClr val="accent2"/>
                </a:solidFill>
              </a:rPr>
              <a:t>Video: </a:t>
            </a:r>
            <a:r>
              <a:rPr lang="en-AU" sz="3200" b="1" dirty="0">
                <a:solidFill>
                  <a:schemeClr val="accent2"/>
                </a:solidFill>
              </a:rPr>
              <a:t>How to Manage Difficult Stakeholders</a:t>
            </a:r>
            <a:endParaRPr lang="en-AU" altLang="en-US" sz="3200" b="1" dirty="0">
              <a:solidFill>
                <a:schemeClr val="accent2"/>
              </a:solidFill>
            </a:endParaRPr>
          </a:p>
        </p:txBody>
      </p:sp>
      <p:sp>
        <p:nvSpPr>
          <p:cNvPr id="2" name="Footer Placeholder 1">
            <a:extLst>
              <a:ext uri="{FF2B5EF4-FFF2-40B4-BE49-F238E27FC236}">
                <a16:creationId xmlns:a16="http://schemas.microsoft.com/office/drawing/2014/main" id="{13ED6744-DD52-2337-D317-2299EC9F791E}"/>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0485" name="Slide Number Placeholder 3">
            <a:extLst>
              <a:ext uri="{FF2B5EF4-FFF2-40B4-BE49-F238E27FC236}">
                <a16:creationId xmlns:a16="http://schemas.microsoft.com/office/drawing/2014/main" id="{9CFA4BA2-ED4E-0D84-77FD-17592F41931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66E39B-1EF4-414B-B69D-68241CCB3A7A}" type="slidenum">
              <a:rPr lang="en-US" altLang="en-US" sz="900" smtClean="0">
                <a:solidFill>
                  <a:srgbClr val="FFFFFF"/>
                </a:solidFill>
              </a:rPr>
              <a:pPr/>
              <a:t>104</a:t>
            </a:fld>
            <a:endParaRPr lang="en-US" altLang="en-US" sz="900">
              <a:solidFill>
                <a:srgbClr val="FFFFFF"/>
              </a:solidFill>
            </a:endParaRPr>
          </a:p>
        </p:txBody>
      </p:sp>
      <p:pic>
        <p:nvPicPr>
          <p:cNvPr id="20486" name="Picture 5">
            <a:extLst>
              <a:ext uri="{FF2B5EF4-FFF2-40B4-BE49-F238E27FC236}">
                <a16:creationId xmlns:a16="http://schemas.microsoft.com/office/drawing/2014/main" id="{17AA097C-03B6-F9CF-098D-8099187CEC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Picture 1" descr="page2image2758544">
            <a:extLst>
              <a:ext uri="{FF2B5EF4-FFF2-40B4-BE49-F238E27FC236}">
                <a16:creationId xmlns:a16="http://schemas.microsoft.com/office/drawing/2014/main" id="{4E1F5720-36AB-B444-134E-71A212FFC6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3568700" cy="9017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B0653047-F32A-A543-EF54-1D241DEA0C24}"/>
              </a:ext>
            </a:extLst>
          </p:cNvPr>
          <p:cNvSpPr txBox="1"/>
          <p:nvPr/>
        </p:nvSpPr>
        <p:spPr>
          <a:xfrm>
            <a:off x="0" y="1803608"/>
            <a:ext cx="9144000" cy="3257174"/>
          </a:xfrm>
          <a:prstGeom prst="rect">
            <a:avLst/>
          </a:prstGeom>
          <a:solidFill>
            <a:schemeClr val="bg1"/>
          </a:solidFill>
        </p:spPr>
        <p:txBody>
          <a:bodyPr wrap="square">
            <a:spAutoFit/>
          </a:bodyPr>
          <a:lstStyle/>
          <a:p>
            <a:pPr>
              <a:lnSpc>
                <a:spcPct val="150000"/>
              </a:lnSpc>
            </a:pPr>
            <a:r>
              <a:rPr lang="en-US" sz="2800" b="1" dirty="0">
                <a:latin typeface="+mn-lt"/>
              </a:rPr>
              <a:t>8. Do not accept abusive </a:t>
            </a:r>
            <a:r>
              <a:rPr lang="en-US" sz="2800" b="1" dirty="0" err="1">
                <a:latin typeface="+mn-lt"/>
              </a:rPr>
              <a:t>behaviour</a:t>
            </a:r>
            <a:endParaRPr lang="en-US" sz="2800" b="1" dirty="0">
              <a:latin typeface="+mn-lt"/>
            </a:endParaRPr>
          </a:p>
          <a:p>
            <a:pPr>
              <a:lnSpc>
                <a:spcPct val="150000"/>
              </a:lnSpc>
            </a:pPr>
            <a:r>
              <a:rPr lang="en-US" sz="2800" dirty="0">
                <a:latin typeface="+mn-lt"/>
              </a:rPr>
              <a:t>Listening is important, but abuse is not acceptable.</a:t>
            </a:r>
          </a:p>
          <a:p>
            <a:pPr>
              <a:lnSpc>
                <a:spcPct val="150000"/>
              </a:lnSpc>
            </a:pPr>
            <a:r>
              <a:rPr lang="en-US" sz="2800" dirty="0">
                <a:latin typeface="+mn-lt"/>
              </a:rPr>
              <a:t>If someone becomes abusive:</a:t>
            </a:r>
          </a:p>
          <a:p>
            <a:pPr>
              <a:lnSpc>
                <a:spcPct val="150000"/>
              </a:lnSpc>
            </a:pPr>
            <a:r>
              <a:rPr lang="en-US" sz="2800" dirty="0">
                <a:latin typeface="+mn-lt"/>
              </a:rPr>
              <a:t>- stop the conversation, </a:t>
            </a:r>
          </a:p>
          <a:p>
            <a:pPr>
              <a:lnSpc>
                <a:spcPct val="150000"/>
              </a:lnSpc>
            </a:pPr>
            <a:r>
              <a:rPr lang="en-US" sz="2800" dirty="0">
                <a:latin typeface="+mn-lt"/>
              </a:rPr>
              <a:t>- and continue later professionally.</a:t>
            </a:r>
          </a:p>
        </p:txBody>
      </p:sp>
    </p:spTree>
    <p:extLst>
      <p:ext uri="{BB962C8B-B14F-4D97-AF65-F5344CB8AC3E}">
        <p14:creationId xmlns:p14="http://schemas.microsoft.com/office/powerpoint/2010/main" val="95683146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A504A-6BD2-647C-EE8D-64FA05A424CC}"/>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F742FDD6-731B-90A7-A8E3-ADF8E7ADB3C7}"/>
              </a:ext>
            </a:extLst>
          </p:cNvPr>
          <p:cNvSpPr>
            <a:spLocks noGrp="1"/>
          </p:cNvSpPr>
          <p:nvPr>
            <p:ph type="title"/>
          </p:nvPr>
        </p:nvSpPr>
        <p:spPr>
          <a:xfrm>
            <a:off x="342900" y="612775"/>
            <a:ext cx="8224838" cy="863600"/>
          </a:xfrm>
        </p:spPr>
        <p:txBody>
          <a:bodyPr>
            <a:noAutofit/>
          </a:bodyPr>
          <a:lstStyle/>
          <a:p>
            <a:pPr algn="ctr" eaLnBrk="1" fontAlgn="auto" hangingPunct="1">
              <a:spcAft>
                <a:spcPts val="0"/>
              </a:spcAft>
              <a:defRPr/>
            </a:pPr>
            <a:r>
              <a:rPr lang="en-AU" altLang="en-US" sz="3200" b="1" dirty="0">
                <a:solidFill>
                  <a:schemeClr val="accent2"/>
                </a:solidFill>
              </a:rPr>
              <a:t>Video: </a:t>
            </a:r>
            <a:r>
              <a:rPr lang="en-AU" sz="3200" b="1" dirty="0">
                <a:solidFill>
                  <a:schemeClr val="accent2"/>
                </a:solidFill>
              </a:rPr>
              <a:t>How to Manage Difficult Stakeholders</a:t>
            </a:r>
            <a:endParaRPr lang="en-AU" altLang="en-US" sz="3200" b="1" dirty="0">
              <a:solidFill>
                <a:schemeClr val="accent2"/>
              </a:solidFill>
            </a:endParaRPr>
          </a:p>
        </p:txBody>
      </p:sp>
      <p:sp>
        <p:nvSpPr>
          <p:cNvPr id="2" name="Footer Placeholder 1">
            <a:extLst>
              <a:ext uri="{FF2B5EF4-FFF2-40B4-BE49-F238E27FC236}">
                <a16:creationId xmlns:a16="http://schemas.microsoft.com/office/drawing/2014/main" id="{2E200029-CC59-B069-A744-C39ABA1C5F3A}"/>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0485" name="Slide Number Placeholder 3">
            <a:extLst>
              <a:ext uri="{FF2B5EF4-FFF2-40B4-BE49-F238E27FC236}">
                <a16:creationId xmlns:a16="http://schemas.microsoft.com/office/drawing/2014/main" id="{287FCF6D-9E15-3AC6-696C-E3415F08DEC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66E39B-1EF4-414B-B69D-68241CCB3A7A}" type="slidenum">
              <a:rPr lang="en-US" altLang="en-US" sz="900" smtClean="0">
                <a:solidFill>
                  <a:srgbClr val="FFFFFF"/>
                </a:solidFill>
              </a:rPr>
              <a:pPr/>
              <a:t>105</a:t>
            </a:fld>
            <a:endParaRPr lang="en-US" altLang="en-US" sz="900">
              <a:solidFill>
                <a:srgbClr val="FFFFFF"/>
              </a:solidFill>
            </a:endParaRPr>
          </a:p>
        </p:txBody>
      </p:sp>
      <p:pic>
        <p:nvPicPr>
          <p:cNvPr id="20486" name="Picture 5">
            <a:extLst>
              <a:ext uri="{FF2B5EF4-FFF2-40B4-BE49-F238E27FC236}">
                <a16:creationId xmlns:a16="http://schemas.microsoft.com/office/drawing/2014/main" id="{DB34C0CC-9773-199F-3BA9-DAE9589914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Picture 1" descr="page2image2758544">
            <a:extLst>
              <a:ext uri="{FF2B5EF4-FFF2-40B4-BE49-F238E27FC236}">
                <a16:creationId xmlns:a16="http://schemas.microsoft.com/office/drawing/2014/main" id="{FAE1BECB-307C-CE18-D741-01B1C1296E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3568700" cy="9017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A031ABD8-2A74-E710-E119-CA0E54F62EF9}"/>
              </a:ext>
            </a:extLst>
          </p:cNvPr>
          <p:cNvSpPr txBox="1"/>
          <p:nvPr/>
        </p:nvSpPr>
        <p:spPr>
          <a:xfrm>
            <a:off x="0" y="1803608"/>
            <a:ext cx="9144000" cy="3903504"/>
          </a:xfrm>
          <a:prstGeom prst="rect">
            <a:avLst/>
          </a:prstGeom>
          <a:solidFill>
            <a:schemeClr val="bg1"/>
          </a:solidFill>
        </p:spPr>
        <p:txBody>
          <a:bodyPr wrap="square">
            <a:spAutoFit/>
          </a:bodyPr>
          <a:lstStyle/>
          <a:p>
            <a:pPr>
              <a:lnSpc>
                <a:spcPct val="150000"/>
              </a:lnSpc>
            </a:pPr>
            <a:r>
              <a:rPr lang="en-US" sz="2800" b="1" dirty="0">
                <a:latin typeface="+mn-lt"/>
              </a:rPr>
              <a:t>9. Make stakeholders feel heard</a:t>
            </a:r>
          </a:p>
          <a:p>
            <a:pPr>
              <a:lnSpc>
                <a:spcPct val="150000"/>
              </a:lnSpc>
            </a:pPr>
            <a:r>
              <a:rPr lang="en-US" sz="2800" dirty="0">
                <a:latin typeface="+mn-lt"/>
              </a:rPr>
              <a:t>People become less angry when they feel listened to.</a:t>
            </a:r>
          </a:p>
          <a:p>
            <a:pPr>
              <a:lnSpc>
                <a:spcPct val="150000"/>
              </a:lnSpc>
            </a:pPr>
            <a:r>
              <a:rPr lang="en-US" sz="2800" dirty="0">
                <a:latin typeface="+mn-lt"/>
              </a:rPr>
              <a:t>Repeating back their concerns helps build trust and understanding.</a:t>
            </a:r>
          </a:p>
          <a:p>
            <a:pPr>
              <a:lnSpc>
                <a:spcPct val="150000"/>
              </a:lnSpc>
            </a:pPr>
            <a:r>
              <a:rPr lang="en-US" sz="2800" dirty="0">
                <a:latin typeface="+mn-lt"/>
              </a:rPr>
              <a:t>Example:</a:t>
            </a:r>
          </a:p>
          <a:p>
            <a:pPr>
              <a:lnSpc>
                <a:spcPct val="150000"/>
              </a:lnSpc>
            </a:pPr>
            <a:r>
              <a:rPr lang="en-US" sz="2800" dirty="0">
                <a:latin typeface="+mn-lt"/>
              </a:rPr>
              <a:t>“If I understand correctly, your concern is…”</a:t>
            </a:r>
          </a:p>
        </p:txBody>
      </p:sp>
    </p:spTree>
    <p:extLst>
      <p:ext uri="{BB962C8B-B14F-4D97-AF65-F5344CB8AC3E}">
        <p14:creationId xmlns:p14="http://schemas.microsoft.com/office/powerpoint/2010/main" val="39549866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B5092-0123-D04C-E540-221703CC699E}"/>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38BA9EF9-AEA2-0CF4-005B-F866C8604076}"/>
              </a:ext>
            </a:extLst>
          </p:cNvPr>
          <p:cNvSpPr>
            <a:spLocks noGrp="1"/>
          </p:cNvSpPr>
          <p:nvPr>
            <p:ph type="title"/>
          </p:nvPr>
        </p:nvSpPr>
        <p:spPr>
          <a:xfrm>
            <a:off x="342900" y="612775"/>
            <a:ext cx="8224838" cy="863600"/>
          </a:xfrm>
        </p:spPr>
        <p:txBody>
          <a:bodyPr>
            <a:noAutofit/>
          </a:bodyPr>
          <a:lstStyle/>
          <a:p>
            <a:pPr algn="ctr" eaLnBrk="1" fontAlgn="auto" hangingPunct="1">
              <a:spcAft>
                <a:spcPts val="0"/>
              </a:spcAft>
              <a:defRPr/>
            </a:pPr>
            <a:r>
              <a:rPr lang="en-AU" altLang="en-US" sz="3200" b="1" dirty="0">
                <a:solidFill>
                  <a:schemeClr val="accent2"/>
                </a:solidFill>
              </a:rPr>
              <a:t>Video: </a:t>
            </a:r>
            <a:r>
              <a:rPr lang="en-AU" sz="3200" b="1" dirty="0">
                <a:solidFill>
                  <a:schemeClr val="accent2"/>
                </a:solidFill>
              </a:rPr>
              <a:t>How to Manage Difficult Stakeholders</a:t>
            </a:r>
            <a:endParaRPr lang="en-AU" altLang="en-US" sz="3200" b="1" dirty="0">
              <a:solidFill>
                <a:schemeClr val="accent2"/>
              </a:solidFill>
            </a:endParaRPr>
          </a:p>
        </p:txBody>
      </p:sp>
      <p:sp>
        <p:nvSpPr>
          <p:cNvPr id="2" name="Footer Placeholder 1">
            <a:extLst>
              <a:ext uri="{FF2B5EF4-FFF2-40B4-BE49-F238E27FC236}">
                <a16:creationId xmlns:a16="http://schemas.microsoft.com/office/drawing/2014/main" id="{4B4D0E79-8D75-7BF6-2A73-A75539E60B74}"/>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0485" name="Slide Number Placeholder 3">
            <a:extLst>
              <a:ext uri="{FF2B5EF4-FFF2-40B4-BE49-F238E27FC236}">
                <a16:creationId xmlns:a16="http://schemas.microsoft.com/office/drawing/2014/main" id="{F54C9E92-F15D-E4D7-60EC-DB79EA9A756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66E39B-1EF4-414B-B69D-68241CCB3A7A}" type="slidenum">
              <a:rPr lang="en-US" altLang="en-US" sz="900" smtClean="0">
                <a:solidFill>
                  <a:srgbClr val="FFFFFF"/>
                </a:solidFill>
              </a:rPr>
              <a:pPr/>
              <a:t>106</a:t>
            </a:fld>
            <a:endParaRPr lang="en-US" altLang="en-US" sz="900">
              <a:solidFill>
                <a:srgbClr val="FFFFFF"/>
              </a:solidFill>
            </a:endParaRPr>
          </a:p>
        </p:txBody>
      </p:sp>
      <p:pic>
        <p:nvPicPr>
          <p:cNvPr id="20486" name="Picture 5">
            <a:extLst>
              <a:ext uri="{FF2B5EF4-FFF2-40B4-BE49-F238E27FC236}">
                <a16:creationId xmlns:a16="http://schemas.microsoft.com/office/drawing/2014/main" id="{DAB12C33-F476-3A4A-D644-F9B5813367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Picture 1" descr="page2image2758544">
            <a:extLst>
              <a:ext uri="{FF2B5EF4-FFF2-40B4-BE49-F238E27FC236}">
                <a16:creationId xmlns:a16="http://schemas.microsoft.com/office/drawing/2014/main" id="{30AEBB96-93BD-CD16-8CFB-1A9174CF70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3568700" cy="9017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D4755A1-7FB4-5D04-3DD1-8757CCCC2EAB}"/>
              </a:ext>
            </a:extLst>
          </p:cNvPr>
          <p:cNvSpPr txBox="1"/>
          <p:nvPr/>
        </p:nvSpPr>
        <p:spPr>
          <a:xfrm>
            <a:off x="0" y="1803608"/>
            <a:ext cx="9144000" cy="3903504"/>
          </a:xfrm>
          <a:prstGeom prst="rect">
            <a:avLst/>
          </a:prstGeom>
          <a:solidFill>
            <a:schemeClr val="bg1"/>
          </a:solidFill>
        </p:spPr>
        <p:txBody>
          <a:bodyPr wrap="square">
            <a:spAutoFit/>
          </a:bodyPr>
          <a:lstStyle/>
          <a:p>
            <a:pPr>
              <a:lnSpc>
                <a:spcPct val="150000"/>
              </a:lnSpc>
            </a:pPr>
            <a:r>
              <a:rPr lang="en-US" sz="2800" b="1" dirty="0">
                <a:latin typeface="+mn-lt"/>
              </a:rPr>
              <a:t>10. Find common ground</a:t>
            </a:r>
          </a:p>
          <a:p>
            <a:pPr>
              <a:lnSpc>
                <a:spcPct val="150000"/>
              </a:lnSpc>
            </a:pPr>
            <a:r>
              <a:rPr lang="en-US" sz="2800" dirty="0">
                <a:latin typeface="+mn-lt"/>
              </a:rPr>
              <a:t>Even difficult stakeholders usually want project success.</a:t>
            </a:r>
          </a:p>
          <a:p>
            <a:pPr>
              <a:lnSpc>
                <a:spcPct val="150000"/>
              </a:lnSpc>
            </a:pPr>
            <a:r>
              <a:rPr lang="en-US" sz="2800" dirty="0">
                <a:latin typeface="+mn-lt"/>
              </a:rPr>
              <a:t>Focus on:</a:t>
            </a:r>
          </a:p>
          <a:p>
            <a:pPr>
              <a:lnSpc>
                <a:spcPct val="150000"/>
              </a:lnSpc>
            </a:pPr>
            <a:r>
              <a:rPr lang="en-US" sz="2800" dirty="0">
                <a:latin typeface="+mn-lt"/>
              </a:rPr>
              <a:t>- shared goals, </a:t>
            </a:r>
          </a:p>
          <a:p>
            <a:pPr>
              <a:lnSpc>
                <a:spcPct val="150000"/>
              </a:lnSpc>
            </a:pPr>
            <a:r>
              <a:rPr lang="en-US" sz="2800" dirty="0">
                <a:latin typeface="+mn-lt"/>
              </a:rPr>
              <a:t>- project scope, </a:t>
            </a:r>
          </a:p>
          <a:p>
            <a:pPr>
              <a:lnSpc>
                <a:spcPct val="150000"/>
              </a:lnSpc>
            </a:pPr>
            <a:r>
              <a:rPr lang="en-US" sz="2800" dirty="0">
                <a:latin typeface="+mn-lt"/>
              </a:rPr>
              <a:t>- and business objectives.</a:t>
            </a:r>
          </a:p>
        </p:txBody>
      </p:sp>
    </p:spTree>
    <p:extLst>
      <p:ext uri="{BB962C8B-B14F-4D97-AF65-F5344CB8AC3E}">
        <p14:creationId xmlns:p14="http://schemas.microsoft.com/office/powerpoint/2010/main" val="40007520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62B0A-4004-60DA-B096-1827F8B50EB2}"/>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972236F4-AB7A-151A-CB12-B4B483DAF2FB}"/>
              </a:ext>
            </a:extLst>
          </p:cNvPr>
          <p:cNvSpPr>
            <a:spLocks noGrp="1"/>
          </p:cNvSpPr>
          <p:nvPr>
            <p:ph type="title"/>
          </p:nvPr>
        </p:nvSpPr>
        <p:spPr>
          <a:xfrm>
            <a:off x="342900" y="612775"/>
            <a:ext cx="8224838" cy="863600"/>
          </a:xfrm>
        </p:spPr>
        <p:txBody>
          <a:bodyPr>
            <a:noAutofit/>
          </a:bodyPr>
          <a:lstStyle/>
          <a:p>
            <a:pPr algn="ctr" eaLnBrk="1" fontAlgn="auto" hangingPunct="1">
              <a:spcAft>
                <a:spcPts val="0"/>
              </a:spcAft>
              <a:defRPr/>
            </a:pPr>
            <a:r>
              <a:rPr lang="en-AU" altLang="en-US" sz="3200" b="1" dirty="0">
                <a:solidFill>
                  <a:schemeClr val="accent2"/>
                </a:solidFill>
              </a:rPr>
              <a:t>Video: </a:t>
            </a:r>
            <a:r>
              <a:rPr lang="en-AU" sz="3200" b="1" dirty="0">
                <a:solidFill>
                  <a:schemeClr val="accent2"/>
                </a:solidFill>
              </a:rPr>
              <a:t>How to Manage Difficult Stakeholders</a:t>
            </a:r>
            <a:endParaRPr lang="en-AU" altLang="en-US" sz="3200" b="1" dirty="0">
              <a:solidFill>
                <a:schemeClr val="accent2"/>
              </a:solidFill>
            </a:endParaRPr>
          </a:p>
        </p:txBody>
      </p:sp>
      <p:sp>
        <p:nvSpPr>
          <p:cNvPr id="2" name="Footer Placeholder 1">
            <a:extLst>
              <a:ext uri="{FF2B5EF4-FFF2-40B4-BE49-F238E27FC236}">
                <a16:creationId xmlns:a16="http://schemas.microsoft.com/office/drawing/2014/main" id="{04985204-3FCF-E271-EC6B-A60DD324AA3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0485" name="Slide Number Placeholder 3">
            <a:extLst>
              <a:ext uri="{FF2B5EF4-FFF2-40B4-BE49-F238E27FC236}">
                <a16:creationId xmlns:a16="http://schemas.microsoft.com/office/drawing/2014/main" id="{397F4761-82C4-F4F8-F65C-CE4A29EA7A6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66E39B-1EF4-414B-B69D-68241CCB3A7A}" type="slidenum">
              <a:rPr lang="en-US" altLang="en-US" sz="900" smtClean="0">
                <a:solidFill>
                  <a:srgbClr val="FFFFFF"/>
                </a:solidFill>
              </a:rPr>
              <a:pPr/>
              <a:t>107</a:t>
            </a:fld>
            <a:endParaRPr lang="en-US" altLang="en-US" sz="900">
              <a:solidFill>
                <a:srgbClr val="FFFFFF"/>
              </a:solidFill>
            </a:endParaRPr>
          </a:p>
        </p:txBody>
      </p:sp>
      <p:pic>
        <p:nvPicPr>
          <p:cNvPr id="20486" name="Picture 5">
            <a:extLst>
              <a:ext uri="{FF2B5EF4-FFF2-40B4-BE49-F238E27FC236}">
                <a16:creationId xmlns:a16="http://schemas.microsoft.com/office/drawing/2014/main" id="{8E3BF234-64AB-5FB8-33B4-0E97BDA09B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Picture 1" descr="page2image2758544">
            <a:extLst>
              <a:ext uri="{FF2B5EF4-FFF2-40B4-BE49-F238E27FC236}">
                <a16:creationId xmlns:a16="http://schemas.microsoft.com/office/drawing/2014/main" id="{B41BDE96-940B-01EA-1BC1-FDC3923B81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3568700" cy="9017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D5CD1B7E-87B9-06F7-B052-F29C0B0B8FD9}"/>
              </a:ext>
            </a:extLst>
          </p:cNvPr>
          <p:cNvSpPr txBox="1"/>
          <p:nvPr/>
        </p:nvSpPr>
        <p:spPr>
          <a:xfrm>
            <a:off x="0" y="1803608"/>
            <a:ext cx="9144000" cy="2610843"/>
          </a:xfrm>
          <a:prstGeom prst="rect">
            <a:avLst/>
          </a:prstGeom>
          <a:solidFill>
            <a:schemeClr val="bg1"/>
          </a:solidFill>
        </p:spPr>
        <p:txBody>
          <a:bodyPr wrap="square">
            <a:spAutoFit/>
          </a:bodyPr>
          <a:lstStyle/>
          <a:p>
            <a:pPr>
              <a:lnSpc>
                <a:spcPct val="150000"/>
              </a:lnSpc>
            </a:pPr>
            <a:r>
              <a:rPr lang="en-US" sz="2800" b="1" dirty="0">
                <a:latin typeface="+mn-lt"/>
              </a:rPr>
              <a:t>11. Address issues early</a:t>
            </a:r>
          </a:p>
          <a:p>
            <a:pPr>
              <a:lnSpc>
                <a:spcPct val="150000"/>
              </a:lnSpc>
            </a:pPr>
            <a:r>
              <a:rPr lang="en-US" sz="2800" dirty="0">
                <a:latin typeface="+mn-lt"/>
              </a:rPr>
              <a:t>Ignoring problems usually makes them worse.</a:t>
            </a:r>
          </a:p>
          <a:p>
            <a:pPr>
              <a:lnSpc>
                <a:spcPct val="150000"/>
              </a:lnSpc>
            </a:pPr>
            <a:r>
              <a:rPr lang="en-US" sz="2800" dirty="0">
                <a:latin typeface="+mn-lt"/>
              </a:rPr>
              <a:t>Project managers should deal with conflicts quickly and professionally.</a:t>
            </a:r>
          </a:p>
        </p:txBody>
      </p:sp>
    </p:spTree>
    <p:extLst>
      <p:ext uri="{BB962C8B-B14F-4D97-AF65-F5344CB8AC3E}">
        <p14:creationId xmlns:p14="http://schemas.microsoft.com/office/powerpoint/2010/main" val="266051603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850A0-D6B5-A403-E254-F9400F270C98}"/>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746E2D34-6826-E5F6-5A6C-CB407CAF1BD8}"/>
              </a:ext>
            </a:extLst>
          </p:cNvPr>
          <p:cNvSpPr>
            <a:spLocks noGrp="1"/>
          </p:cNvSpPr>
          <p:nvPr>
            <p:ph type="title"/>
          </p:nvPr>
        </p:nvSpPr>
        <p:spPr>
          <a:xfrm>
            <a:off x="342900" y="612775"/>
            <a:ext cx="8224838" cy="863600"/>
          </a:xfrm>
        </p:spPr>
        <p:txBody>
          <a:bodyPr>
            <a:noAutofit/>
          </a:bodyPr>
          <a:lstStyle/>
          <a:p>
            <a:pPr algn="ctr" eaLnBrk="1" fontAlgn="auto" hangingPunct="1">
              <a:spcAft>
                <a:spcPts val="0"/>
              </a:spcAft>
              <a:defRPr/>
            </a:pPr>
            <a:r>
              <a:rPr lang="en-AU" altLang="en-US" sz="3200" b="1" dirty="0">
                <a:solidFill>
                  <a:schemeClr val="accent2"/>
                </a:solidFill>
              </a:rPr>
              <a:t>Video: </a:t>
            </a:r>
            <a:r>
              <a:rPr lang="en-AU" sz="3200" b="1" dirty="0">
                <a:solidFill>
                  <a:schemeClr val="accent2"/>
                </a:solidFill>
              </a:rPr>
              <a:t>How to Manage Difficult Stakeholders</a:t>
            </a:r>
            <a:endParaRPr lang="en-AU" altLang="en-US" sz="3200" b="1" dirty="0">
              <a:solidFill>
                <a:schemeClr val="accent2"/>
              </a:solidFill>
            </a:endParaRPr>
          </a:p>
        </p:txBody>
      </p:sp>
      <p:sp>
        <p:nvSpPr>
          <p:cNvPr id="2" name="Footer Placeholder 1">
            <a:extLst>
              <a:ext uri="{FF2B5EF4-FFF2-40B4-BE49-F238E27FC236}">
                <a16:creationId xmlns:a16="http://schemas.microsoft.com/office/drawing/2014/main" id="{FE6AAD15-3199-967F-C9DE-D52C70998747}"/>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0485" name="Slide Number Placeholder 3">
            <a:extLst>
              <a:ext uri="{FF2B5EF4-FFF2-40B4-BE49-F238E27FC236}">
                <a16:creationId xmlns:a16="http://schemas.microsoft.com/office/drawing/2014/main" id="{F24C9C8C-6373-E82A-FAC7-F6BF7664DEE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66E39B-1EF4-414B-B69D-68241CCB3A7A}" type="slidenum">
              <a:rPr lang="en-US" altLang="en-US" sz="900" smtClean="0">
                <a:solidFill>
                  <a:srgbClr val="FFFFFF"/>
                </a:solidFill>
              </a:rPr>
              <a:pPr/>
              <a:t>108</a:t>
            </a:fld>
            <a:endParaRPr lang="en-US" altLang="en-US" sz="900">
              <a:solidFill>
                <a:srgbClr val="FFFFFF"/>
              </a:solidFill>
            </a:endParaRPr>
          </a:p>
        </p:txBody>
      </p:sp>
      <p:pic>
        <p:nvPicPr>
          <p:cNvPr id="20486" name="Picture 5">
            <a:extLst>
              <a:ext uri="{FF2B5EF4-FFF2-40B4-BE49-F238E27FC236}">
                <a16:creationId xmlns:a16="http://schemas.microsoft.com/office/drawing/2014/main" id="{2ED0D364-D432-CCEC-5ECB-89B62B5A43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Picture 1" descr="page2image2758544">
            <a:extLst>
              <a:ext uri="{FF2B5EF4-FFF2-40B4-BE49-F238E27FC236}">
                <a16:creationId xmlns:a16="http://schemas.microsoft.com/office/drawing/2014/main" id="{0EA10EB1-4B2A-C5EE-580D-4AA1980DF7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3568700" cy="9017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92A625DC-BEBA-13AC-02BC-8593EA49BE3C}"/>
              </a:ext>
            </a:extLst>
          </p:cNvPr>
          <p:cNvSpPr txBox="1"/>
          <p:nvPr/>
        </p:nvSpPr>
        <p:spPr>
          <a:xfrm>
            <a:off x="0" y="1803608"/>
            <a:ext cx="9144000" cy="3903504"/>
          </a:xfrm>
          <a:prstGeom prst="rect">
            <a:avLst/>
          </a:prstGeom>
          <a:solidFill>
            <a:schemeClr val="bg1"/>
          </a:solidFill>
        </p:spPr>
        <p:txBody>
          <a:bodyPr wrap="square">
            <a:spAutoFit/>
          </a:bodyPr>
          <a:lstStyle/>
          <a:p>
            <a:pPr>
              <a:lnSpc>
                <a:spcPct val="150000"/>
              </a:lnSpc>
            </a:pPr>
            <a:r>
              <a:rPr lang="en-US" sz="2800" b="1" dirty="0">
                <a:latin typeface="+mn-lt"/>
              </a:rPr>
              <a:t>12. Compromise can help projects succeed</a:t>
            </a:r>
          </a:p>
          <a:p>
            <a:pPr>
              <a:lnSpc>
                <a:spcPct val="150000"/>
              </a:lnSpc>
            </a:pPr>
            <a:r>
              <a:rPr lang="en-US" sz="2800" dirty="0">
                <a:latin typeface="+mn-lt"/>
              </a:rPr>
              <a:t>Compromise is not weakness.</a:t>
            </a:r>
          </a:p>
          <a:p>
            <a:pPr>
              <a:lnSpc>
                <a:spcPct val="150000"/>
              </a:lnSpc>
            </a:pPr>
            <a:r>
              <a:rPr lang="en-US" sz="2800" dirty="0">
                <a:latin typeface="+mn-lt"/>
              </a:rPr>
              <a:t>Sometimes small adjustments:</a:t>
            </a:r>
          </a:p>
          <a:p>
            <a:pPr>
              <a:lnSpc>
                <a:spcPct val="150000"/>
              </a:lnSpc>
            </a:pPr>
            <a:r>
              <a:rPr lang="en-US" sz="2800" dirty="0">
                <a:latin typeface="+mn-lt"/>
              </a:rPr>
              <a:t>- improve teamwork, </a:t>
            </a:r>
          </a:p>
          <a:p>
            <a:pPr>
              <a:lnSpc>
                <a:spcPct val="150000"/>
              </a:lnSpc>
            </a:pPr>
            <a:r>
              <a:rPr lang="en-US" sz="2800" dirty="0">
                <a:latin typeface="+mn-lt"/>
              </a:rPr>
              <a:t>- reduce conflict, </a:t>
            </a:r>
          </a:p>
          <a:p>
            <a:pPr>
              <a:lnSpc>
                <a:spcPct val="150000"/>
              </a:lnSpc>
            </a:pPr>
            <a:r>
              <a:rPr lang="en-US" sz="2800" dirty="0">
                <a:latin typeface="+mn-lt"/>
              </a:rPr>
              <a:t>- and help stakeholders support the project.</a:t>
            </a:r>
          </a:p>
        </p:txBody>
      </p:sp>
    </p:spTree>
    <p:extLst>
      <p:ext uri="{BB962C8B-B14F-4D97-AF65-F5344CB8AC3E}">
        <p14:creationId xmlns:p14="http://schemas.microsoft.com/office/powerpoint/2010/main" val="48156399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600756-DDFD-BA15-F666-1AA5B6D8E32F}"/>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EC79A7C9-DE0E-A042-0290-37967AC8864D}"/>
              </a:ext>
            </a:extLst>
          </p:cNvPr>
          <p:cNvSpPr>
            <a:spLocks noGrp="1"/>
          </p:cNvSpPr>
          <p:nvPr>
            <p:ph type="title"/>
          </p:nvPr>
        </p:nvSpPr>
        <p:spPr>
          <a:xfrm>
            <a:off x="342900" y="612775"/>
            <a:ext cx="8224838" cy="863600"/>
          </a:xfrm>
        </p:spPr>
        <p:txBody>
          <a:bodyPr>
            <a:noAutofit/>
          </a:bodyPr>
          <a:lstStyle/>
          <a:p>
            <a:pPr algn="ctr" eaLnBrk="1" fontAlgn="auto" hangingPunct="1">
              <a:spcAft>
                <a:spcPts val="0"/>
              </a:spcAft>
              <a:defRPr/>
            </a:pPr>
            <a:r>
              <a:rPr lang="en-AU" altLang="en-US" sz="3200" b="1" dirty="0">
                <a:solidFill>
                  <a:schemeClr val="accent2"/>
                </a:solidFill>
              </a:rPr>
              <a:t>Video: </a:t>
            </a:r>
            <a:r>
              <a:rPr lang="en-AU" sz="3200" b="1" dirty="0">
                <a:solidFill>
                  <a:schemeClr val="accent2"/>
                </a:solidFill>
              </a:rPr>
              <a:t>How to Manage Difficult Stakeholders</a:t>
            </a:r>
            <a:endParaRPr lang="en-AU" altLang="en-US" sz="3200" b="1" dirty="0">
              <a:solidFill>
                <a:schemeClr val="accent2"/>
              </a:solidFill>
            </a:endParaRPr>
          </a:p>
        </p:txBody>
      </p:sp>
      <p:sp>
        <p:nvSpPr>
          <p:cNvPr id="2" name="Footer Placeholder 1">
            <a:extLst>
              <a:ext uri="{FF2B5EF4-FFF2-40B4-BE49-F238E27FC236}">
                <a16:creationId xmlns:a16="http://schemas.microsoft.com/office/drawing/2014/main" id="{B34F2771-2635-C30F-53FE-0A741F09115D}"/>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0485" name="Slide Number Placeholder 3">
            <a:extLst>
              <a:ext uri="{FF2B5EF4-FFF2-40B4-BE49-F238E27FC236}">
                <a16:creationId xmlns:a16="http://schemas.microsoft.com/office/drawing/2014/main" id="{0A79785B-32F1-88C0-316E-2276B0BB722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66E39B-1EF4-414B-B69D-68241CCB3A7A}" type="slidenum">
              <a:rPr lang="en-US" altLang="en-US" sz="900" smtClean="0">
                <a:solidFill>
                  <a:srgbClr val="FFFFFF"/>
                </a:solidFill>
              </a:rPr>
              <a:pPr/>
              <a:t>109</a:t>
            </a:fld>
            <a:endParaRPr lang="en-US" altLang="en-US" sz="900">
              <a:solidFill>
                <a:srgbClr val="FFFFFF"/>
              </a:solidFill>
            </a:endParaRPr>
          </a:p>
        </p:txBody>
      </p:sp>
      <p:pic>
        <p:nvPicPr>
          <p:cNvPr id="20486" name="Picture 5">
            <a:extLst>
              <a:ext uri="{FF2B5EF4-FFF2-40B4-BE49-F238E27FC236}">
                <a16:creationId xmlns:a16="http://schemas.microsoft.com/office/drawing/2014/main" id="{B0E0FEA7-23CA-FD84-3832-313A78706B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Picture 1" descr="page2image2758544">
            <a:extLst>
              <a:ext uri="{FF2B5EF4-FFF2-40B4-BE49-F238E27FC236}">
                <a16:creationId xmlns:a16="http://schemas.microsoft.com/office/drawing/2014/main" id="{2B0A83A4-4903-EE90-8796-AB5A497505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3568700" cy="9017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561D65F1-4D9C-D7FF-FBF0-29483C9999E8}"/>
              </a:ext>
            </a:extLst>
          </p:cNvPr>
          <p:cNvSpPr txBox="1"/>
          <p:nvPr/>
        </p:nvSpPr>
        <p:spPr>
          <a:xfrm>
            <a:off x="0" y="1803608"/>
            <a:ext cx="9144000" cy="4549835"/>
          </a:xfrm>
          <a:prstGeom prst="rect">
            <a:avLst/>
          </a:prstGeom>
          <a:solidFill>
            <a:schemeClr val="bg1"/>
          </a:solidFill>
        </p:spPr>
        <p:txBody>
          <a:bodyPr wrap="square">
            <a:spAutoFit/>
          </a:bodyPr>
          <a:lstStyle/>
          <a:p>
            <a:pPr>
              <a:lnSpc>
                <a:spcPct val="150000"/>
              </a:lnSpc>
            </a:pPr>
            <a:r>
              <a:rPr lang="en-US" sz="2800" b="1" dirty="0">
                <a:latin typeface="+mn-lt"/>
              </a:rPr>
              <a:t>13. Main lesson</a:t>
            </a:r>
          </a:p>
          <a:p>
            <a:pPr>
              <a:lnSpc>
                <a:spcPct val="150000"/>
              </a:lnSpc>
            </a:pPr>
            <a:r>
              <a:rPr lang="en-US" sz="2800" dirty="0">
                <a:latin typeface="+mn-lt"/>
              </a:rPr>
              <a:t>A good project manager is not only focused on tasks and deadlines. They must also:</a:t>
            </a:r>
          </a:p>
          <a:p>
            <a:pPr>
              <a:lnSpc>
                <a:spcPct val="150000"/>
              </a:lnSpc>
            </a:pPr>
            <a:r>
              <a:rPr lang="en-US" sz="2800" dirty="0">
                <a:latin typeface="+mn-lt"/>
              </a:rPr>
              <a:t>- communicate well, </a:t>
            </a:r>
          </a:p>
          <a:p>
            <a:pPr>
              <a:lnSpc>
                <a:spcPct val="150000"/>
              </a:lnSpc>
            </a:pPr>
            <a:r>
              <a:rPr lang="en-US" sz="2800" dirty="0">
                <a:latin typeface="+mn-lt"/>
              </a:rPr>
              <a:t>- manage relationships, </a:t>
            </a:r>
          </a:p>
          <a:p>
            <a:pPr>
              <a:lnSpc>
                <a:spcPct val="150000"/>
              </a:lnSpc>
            </a:pPr>
            <a:r>
              <a:rPr lang="en-US" sz="2800" dirty="0">
                <a:latin typeface="+mn-lt"/>
              </a:rPr>
              <a:t>- listen carefully, </a:t>
            </a:r>
          </a:p>
          <a:p>
            <a:pPr>
              <a:lnSpc>
                <a:spcPct val="150000"/>
              </a:lnSpc>
            </a:pPr>
            <a:r>
              <a:rPr lang="en-US" sz="2800" dirty="0">
                <a:latin typeface="+mn-lt"/>
              </a:rPr>
              <a:t>- and handle conflicts professionally.</a:t>
            </a:r>
          </a:p>
        </p:txBody>
      </p:sp>
    </p:spTree>
    <p:extLst>
      <p:ext uri="{BB962C8B-B14F-4D97-AF65-F5344CB8AC3E}">
        <p14:creationId xmlns:p14="http://schemas.microsoft.com/office/powerpoint/2010/main" val="340465341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24DDC-DD1C-8FB3-CFA0-67A59C9B0635}"/>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79F85E77-7945-5203-C652-59EE85851A59}"/>
              </a:ext>
            </a:extLst>
          </p:cNvPr>
          <p:cNvSpPr>
            <a:spLocks noGrp="1"/>
          </p:cNvSpPr>
          <p:nvPr>
            <p:ph type="title"/>
          </p:nvPr>
        </p:nvSpPr>
        <p:spPr>
          <a:xfrm>
            <a:off x="342900" y="612775"/>
            <a:ext cx="8224838" cy="863600"/>
          </a:xfrm>
        </p:spPr>
        <p:txBody>
          <a:bodyPr>
            <a:noAutofit/>
          </a:bodyPr>
          <a:lstStyle/>
          <a:p>
            <a:pPr algn="ctr" eaLnBrk="1" fontAlgn="auto" hangingPunct="1">
              <a:spcAft>
                <a:spcPts val="0"/>
              </a:spcAft>
              <a:defRPr/>
            </a:pPr>
            <a:r>
              <a:rPr lang="en-AU" altLang="en-US" sz="3200" b="1" dirty="0">
                <a:solidFill>
                  <a:schemeClr val="accent2"/>
                </a:solidFill>
              </a:rPr>
              <a:t>Discussion Questions</a:t>
            </a:r>
          </a:p>
        </p:txBody>
      </p:sp>
      <p:sp>
        <p:nvSpPr>
          <p:cNvPr id="2" name="Footer Placeholder 1">
            <a:extLst>
              <a:ext uri="{FF2B5EF4-FFF2-40B4-BE49-F238E27FC236}">
                <a16:creationId xmlns:a16="http://schemas.microsoft.com/office/drawing/2014/main" id="{1033E1E0-B936-F303-3745-163A0F318AB0}"/>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0485" name="Slide Number Placeholder 3">
            <a:extLst>
              <a:ext uri="{FF2B5EF4-FFF2-40B4-BE49-F238E27FC236}">
                <a16:creationId xmlns:a16="http://schemas.microsoft.com/office/drawing/2014/main" id="{E736A8F1-D581-8B0F-A268-91C4571DB98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66E39B-1EF4-414B-B69D-68241CCB3A7A}" type="slidenum">
              <a:rPr lang="en-US" altLang="en-US" sz="900" smtClean="0">
                <a:solidFill>
                  <a:srgbClr val="FFFFFF"/>
                </a:solidFill>
              </a:rPr>
              <a:pPr/>
              <a:t>110</a:t>
            </a:fld>
            <a:endParaRPr lang="en-US" altLang="en-US" sz="900">
              <a:solidFill>
                <a:srgbClr val="FFFFFF"/>
              </a:solidFill>
            </a:endParaRPr>
          </a:p>
        </p:txBody>
      </p:sp>
      <p:pic>
        <p:nvPicPr>
          <p:cNvPr id="20486" name="Picture 5">
            <a:extLst>
              <a:ext uri="{FF2B5EF4-FFF2-40B4-BE49-F238E27FC236}">
                <a16:creationId xmlns:a16="http://schemas.microsoft.com/office/drawing/2014/main" id="{BCA91320-9CEF-CD08-6BFE-CABF9D3972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Picture 1" descr="page2image2758544">
            <a:extLst>
              <a:ext uri="{FF2B5EF4-FFF2-40B4-BE49-F238E27FC236}">
                <a16:creationId xmlns:a16="http://schemas.microsoft.com/office/drawing/2014/main" id="{64A2B1F0-C6CA-D586-CDD5-4D3D57B636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3568700" cy="9017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C1159AD-0907-92D0-B1C2-A3DE50248063}"/>
              </a:ext>
            </a:extLst>
          </p:cNvPr>
          <p:cNvSpPr txBox="1"/>
          <p:nvPr/>
        </p:nvSpPr>
        <p:spPr>
          <a:xfrm>
            <a:off x="0" y="1803608"/>
            <a:ext cx="9144000" cy="3903504"/>
          </a:xfrm>
          <a:prstGeom prst="rect">
            <a:avLst/>
          </a:prstGeom>
          <a:solidFill>
            <a:schemeClr val="bg1"/>
          </a:solidFill>
        </p:spPr>
        <p:txBody>
          <a:bodyPr wrap="square">
            <a:spAutoFit/>
          </a:bodyPr>
          <a:lstStyle/>
          <a:p>
            <a:pPr marL="514350" indent="-514350">
              <a:lnSpc>
                <a:spcPct val="150000"/>
              </a:lnSpc>
              <a:buAutoNum type="arabicPeriod"/>
            </a:pPr>
            <a:r>
              <a:rPr lang="en-US" sz="2800" b="1" dirty="0">
                <a:latin typeface="+mn-lt"/>
              </a:rPr>
              <a:t>Who is considered a stakeholder in a project?</a:t>
            </a:r>
          </a:p>
          <a:p>
            <a:pPr>
              <a:lnSpc>
                <a:spcPct val="150000"/>
              </a:lnSpc>
            </a:pPr>
            <a:r>
              <a:rPr lang="en-US" sz="2800" dirty="0">
                <a:latin typeface="+mn-lt"/>
              </a:rPr>
              <a:t>A stakeholder is anyone involved in or affected by the project, such as team members, managers, clients, sponsors, or users.</a:t>
            </a:r>
          </a:p>
          <a:p>
            <a:pPr>
              <a:lnSpc>
                <a:spcPct val="150000"/>
              </a:lnSpc>
            </a:pPr>
            <a:r>
              <a:rPr lang="en-US" sz="2800" b="1" dirty="0">
                <a:latin typeface="+mn-lt"/>
              </a:rPr>
              <a:t>2. Why is it important to set expectations early?</a:t>
            </a:r>
          </a:p>
          <a:p>
            <a:pPr>
              <a:lnSpc>
                <a:spcPct val="150000"/>
              </a:lnSpc>
            </a:pPr>
            <a:r>
              <a:rPr lang="en-US" sz="2800" dirty="0">
                <a:latin typeface="+mn-lt"/>
              </a:rPr>
              <a:t>Clear expectations help reduce misunderstandings, confusion, and conflict during the project.</a:t>
            </a:r>
          </a:p>
        </p:txBody>
      </p:sp>
    </p:spTree>
    <p:extLst>
      <p:ext uri="{BB962C8B-B14F-4D97-AF65-F5344CB8AC3E}">
        <p14:creationId xmlns:p14="http://schemas.microsoft.com/office/powerpoint/2010/main" val="862805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1000"/>
                                        <p:tgtEl>
                                          <p:spTgt spid="7">
                                            <p:txEl>
                                              <p:pRg st="1" end="1"/>
                                            </p:txEl>
                                          </p:spTgt>
                                        </p:tgtEl>
                                      </p:cBhvr>
                                    </p:animEffect>
                                    <p:anim calcmode="lin" valueType="num">
                                      <p:cBhvr>
                                        <p:cTn id="8"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3" end="3"/>
                                            </p:txEl>
                                          </p:spTgt>
                                        </p:tgtEl>
                                        <p:attrNameLst>
                                          <p:attrName>style.visibility</p:attrName>
                                        </p:attrNameLst>
                                      </p:cBhvr>
                                      <p:to>
                                        <p:strVal val="visible"/>
                                      </p:to>
                                    </p:set>
                                    <p:animEffect transition="in" filter="fade">
                                      <p:cBhvr>
                                        <p:cTn id="12" dur="1000"/>
                                        <p:tgtEl>
                                          <p:spTgt spid="7">
                                            <p:txEl>
                                              <p:pRg st="3" end="3"/>
                                            </p:txEl>
                                          </p:spTgt>
                                        </p:tgtEl>
                                      </p:cBhvr>
                                    </p:animEffect>
                                    <p:anim calcmode="lin" valueType="num">
                                      <p:cBhvr>
                                        <p:cTn id="13"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C2BB6-997F-68DA-27E5-C98FA97CE1AE}"/>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282B490F-5EEC-250A-1F68-95F22D45A159}"/>
              </a:ext>
            </a:extLst>
          </p:cNvPr>
          <p:cNvSpPr>
            <a:spLocks noGrp="1"/>
          </p:cNvSpPr>
          <p:nvPr>
            <p:ph type="title"/>
          </p:nvPr>
        </p:nvSpPr>
        <p:spPr>
          <a:xfrm>
            <a:off x="342900" y="612775"/>
            <a:ext cx="8224838" cy="863600"/>
          </a:xfrm>
        </p:spPr>
        <p:txBody>
          <a:bodyPr>
            <a:noAutofit/>
          </a:bodyPr>
          <a:lstStyle/>
          <a:p>
            <a:pPr algn="ctr" eaLnBrk="1" fontAlgn="auto" hangingPunct="1">
              <a:spcAft>
                <a:spcPts val="0"/>
              </a:spcAft>
              <a:defRPr/>
            </a:pPr>
            <a:r>
              <a:rPr lang="en-AU" altLang="en-US" sz="3200" b="1" dirty="0">
                <a:solidFill>
                  <a:schemeClr val="accent2"/>
                </a:solidFill>
              </a:rPr>
              <a:t>Discussion Questions</a:t>
            </a:r>
          </a:p>
        </p:txBody>
      </p:sp>
      <p:sp>
        <p:nvSpPr>
          <p:cNvPr id="2" name="Footer Placeholder 1">
            <a:extLst>
              <a:ext uri="{FF2B5EF4-FFF2-40B4-BE49-F238E27FC236}">
                <a16:creationId xmlns:a16="http://schemas.microsoft.com/office/drawing/2014/main" id="{35182B54-366E-8165-572F-2487F8C72D2B}"/>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0485" name="Slide Number Placeholder 3">
            <a:extLst>
              <a:ext uri="{FF2B5EF4-FFF2-40B4-BE49-F238E27FC236}">
                <a16:creationId xmlns:a16="http://schemas.microsoft.com/office/drawing/2014/main" id="{F0D8329C-7E9E-71C0-E850-E72416AE442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66E39B-1EF4-414B-B69D-68241CCB3A7A}" type="slidenum">
              <a:rPr lang="en-US" altLang="en-US" sz="900" smtClean="0">
                <a:solidFill>
                  <a:srgbClr val="FFFFFF"/>
                </a:solidFill>
              </a:rPr>
              <a:pPr/>
              <a:t>111</a:t>
            </a:fld>
            <a:endParaRPr lang="en-US" altLang="en-US" sz="900">
              <a:solidFill>
                <a:srgbClr val="FFFFFF"/>
              </a:solidFill>
            </a:endParaRPr>
          </a:p>
        </p:txBody>
      </p:sp>
      <p:pic>
        <p:nvPicPr>
          <p:cNvPr id="20486" name="Picture 5">
            <a:extLst>
              <a:ext uri="{FF2B5EF4-FFF2-40B4-BE49-F238E27FC236}">
                <a16:creationId xmlns:a16="http://schemas.microsoft.com/office/drawing/2014/main" id="{0D1A9DA7-2665-FAF2-E2DE-939F22B5A8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Picture 1" descr="page2image2758544">
            <a:extLst>
              <a:ext uri="{FF2B5EF4-FFF2-40B4-BE49-F238E27FC236}">
                <a16:creationId xmlns:a16="http://schemas.microsoft.com/office/drawing/2014/main" id="{966AEB1B-CBB4-72FF-7ADE-395544D56A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3568700" cy="9017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9DA83809-B798-7076-C238-1452C3828588}"/>
              </a:ext>
            </a:extLst>
          </p:cNvPr>
          <p:cNvSpPr txBox="1"/>
          <p:nvPr/>
        </p:nvSpPr>
        <p:spPr>
          <a:xfrm>
            <a:off x="0" y="1803608"/>
            <a:ext cx="9144000" cy="4549835"/>
          </a:xfrm>
          <a:prstGeom prst="rect">
            <a:avLst/>
          </a:prstGeom>
          <a:solidFill>
            <a:schemeClr val="bg1"/>
          </a:solidFill>
        </p:spPr>
        <p:txBody>
          <a:bodyPr wrap="square">
            <a:spAutoFit/>
          </a:bodyPr>
          <a:lstStyle/>
          <a:p>
            <a:pPr>
              <a:lnSpc>
                <a:spcPct val="150000"/>
              </a:lnSpc>
            </a:pPr>
            <a:r>
              <a:rPr lang="en-US" sz="2800" b="1" dirty="0">
                <a:latin typeface="+mn-lt"/>
              </a:rPr>
              <a:t>3. What is the purpose of the project charter?</a:t>
            </a:r>
          </a:p>
          <a:p>
            <a:pPr>
              <a:lnSpc>
                <a:spcPct val="150000"/>
              </a:lnSpc>
            </a:pPr>
            <a:r>
              <a:rPr lang="en-US" sz="2800" dirty="0">
                <a:latin typeface="+mn-lt"/>
              </a:rPr>
              <a:t>The project charter explains project goals, responsibilities, expectations, and agreed rules for stakeholders.</a:t>
            </a:r>
          </a:p>
          <a:p>
            <a:pPr>
              <a:lnSpc>
                <a:spcPct val="150000"/>
              </a:lnSpc>
            </a:pPr>
            <a:r>
              <a:rPr lang="en-US" sz="2800" b="1" dirty="0">
                <a:latin typeface="+mn-lt"/>
              </a:rPr>
              <a:t>4. Why should project managers listen carefully to stakeholders?</a:t>
            </a:r>
          </a:p>
          <a:p>
            <a:pPr>
              <a:lnSpc>
                <a:spcPct val="150000"/>
              </a:lnSpc>
            </a:pPr>
            <a:r>
              <a:rPr lang="en-US" sz="2800" dirty="0">
                <a:latin typeface="+mn-lt"/>
              </a:rPr>
              <a:t>Listening helps project managers understand concerns, reduce conflict, and build trust.</a:t>
            </a:r>
          </a:p>
        </p:txBody>
      </p:sp>
    </p:spTree>
    <p:extLst>
      <p:ext uri="{BB962C8B-B14F-4D97-AF65-F5344CB8AC3E}">
        <p14:creationId xmlns:p14="http://schemas.microsoft.com/office/powerpoint/2010/main" val="1287978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1000"/>
                                        <p:tgtEl>
                                          <p:spTgt spid="7">
                                            <p:txEl>
                                              <p:pRg st="1" end="1"/>
                                            </p:txEl>
                                          </p:spTgt>
                                        </p:tgtEl>
                                      </p:cBhvr>
                                    </p:animEffect>
                                    <p:anim calcmode="lin" valueType="num">
                                      <p:cBhvr>
                                        <p:cTn id="8"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3" end="3"/>
                                            </p:txEl>
                                          </p:spTgt>
                                        </p:tgtEl>
                                        <p:attrNameLst>
                                          <p:attrName>style.visibility</p:attrName>
                                        </p:attrNameLst>
                                      </p:cBhvr>
                                      <p:to>
                                        <p:strVal val="visible"/>
                                      </p:to>
                                    </p:set>
                                    <p:animEffect transition="in" filter="fade">
                                      <p:cBhvr>
                                        <p:cTn id="12" dur="1000"/>
                                        <p:tgtEl>
                                          <p:spTgt spid="7">
                                            <p:txEl>
                                              <p:pRg st="3" end="3"/>
                                            </p:txEl>
                                          </p:spTgt>
                                        </p:tgtEl>
                                      </p:cBhvr>
                                    </p:animEffect>
                                    <p:anim calcmode="lin" valueType="num">
                                      <p:cBhvr>
                                        <p:cTn id="13"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95DCB-AB08-200C-1066-ADF078D5E5B0}"/>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9DE40291-03E7-A1D0-AFD1-D1B1CD39343F}"/>
              </a:ext>
            </a:extLst>
          </p:cNvPr>
          <p:cNvSpPr>
            <a:spLocks noGrp="1"/>
          </p:cNvSpPr>
          <p:nvPr>
            <p:ph type="title"/>
          </p:nvPr>
        </p:nvSpPr>
        <p:spPr>
          <a:xfrm>
            <a:off x="342900" y="612775"/>
            <a:ext cx="8224838" cy="863600"/>
          </a:xfrm>
        </p:spPr>
        <p:txBody>
          <a:bodyPr>
            <a:noAutofit/>
          </a:bodyPr>
          <a:lstStyle/>
          <a:p>
            <a:pPr algn="ctr" eaLnBrk="1" fontAlgn="auto" hangingPunct="1">
              <a:spcAft>
                <a:spcPts val="0"/>
              </a:spcAft>
              <a:defRPr/>
            </a:pPr>
            <a:r>
              <a:rPr lang="en-AU" altLang="en-US" sz="3200" b="1" dirty="0">
                <a:solidFill>
                  <a:schemeClr val="accent2"/>
                </a:solidFill>
              </a:rPr>
              <a:t>Discussion Questions</a:t>
            </a:r>
          </a:p>
        </p:txBody>
      </p:sp>
      <p:sp>
        <p:nvSpPr>
          <p:cNvPr id="2" name="Footer Placeholder 1">
            <a:extLst>
              <a:ext uri="{FF2B5EF4-FFF2-40B4-BE49-F238E27FC236}">
                <a16:creationId xmlns:a16="http://schemas.microsoft.com/office/drawing/2014/main" id="{640D1A7C-375C-D9B0-1DC7-02BAA6C1492D}"/>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0485" name="Slide Number Placeholder 3">
            <a:extLst>
              <a:ext uri="{FF2B5EF4-FFF2-40B4-BE49-F238E27FC236}">
                <a16:creationId xmlns:a16="http://schemas.microsoft.com/office/drawing/2014/main" id="{9C996D79-7EA1-FCBB-1166-7B12D652A05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66E39B-1EF4-414B-B69D-68241CCB3A7A}" type="slidenum">
              <a:rPr lang="en-US" altLang="en-US" sz="900" smtClean="0">
                <a:solidFill>
                  <a:srgbClr val="FFFFFF"/>
                </a:solidFill>
              </a:rPr>
              <a:pPr/>
              <a:t>112</a:t>
            </a:fld>
            <a:endParaRPr lang="en-US" altLang="en-US" sz="900">
              <a:solidFill>
                <a:srgbClr val="FFFFFF"/>
              </a:solidFill>
            </a:endParaRPr>
          </a:p>
        </p:txBody>
      </p:sp>
      <p:pic>
        <p:nvPicPr>
          <p:cNvPr id="20486" name="Picture 5">
            <a:extLst>
              <a:ext uri="{FF2B5EF4-FFF2-40B4-BE49-F238E27FC236}">
                <a16:creationId xmlns:a16="http://schemas.microsoft.com/office/drawing/2014/main" id="{21CD7D8D-0308-A27A-050D-5E89313F5D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Picture 1" descr="page2image2758544">
            <a:extLst>
              <a:ext uri="{FF2B5EF4-FFF2-40B4-BE49-F238E27FC236}">
                <a16:creationId xmlns:a16="http://schemas.microsoft.com/office/drawing/2014/main" id="{2A97E81D-6DD0-33B6-8529-0383AD73ED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3568700" cy="9017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430D9893-D7B2-6365-2A4B-39491F34A16E}"/>
              </a:ext>
            </a:extLst>
          </p:cNvPr>
          <p:cNvSpPr txBox="1"/>
          <p:nvPr/>
        </p:nvSpPr>
        <p:spPr>
          <a:xfrm>
            <a:off x="0" y="1803608"/>
            <a:ext cx="9144000" cy="4549835"/>
          </a:xfrm>
          <a:prstGeom prst="rect">
            <a:avLst/>
          </a:prstGeom>
          <a:solidFill>
            <a:schemeClr val="bg1"/>
          </a:solidFill>
        </p:spPr>
        <p:txBody>
          <a:bodyPr wrap="square">
            <a:spAutoFit/>
          </a:bodyPr>
          <a:lstStyle/>
          <a:p>
            <a:pPr>
              <a:lnSpc>
                <a:spcPct val="150000"/>
              </a:lnSpc>
            </a:pPr>
            <a:r>
              <a:rPr lang="en-US" sz="2800" b="1" dirty="0">
                <a:latin typeface="+mn-lt"/>
              </a:rPr>
              <a:t>5. What is the “5 Whys” technique?</a:t>
            </a:r>
          </a:p>
          <a:p>
            <a:pPr>
              <a:lnSpc>
                <a:spcPct val="150000"/>
              </a:lnSpc>
            </a:pPr>
            <a:r>
              <a:rPr lang="en-US" sz="2800" dirty="0">
                <a:latin typeface="+mn-lt"/>
              </a:rPr>
              <a:t>It is a method of repeatedly asking “Why?” to identify the real root cause of a problem.</a:t>
            </a:r>
          </a:p>
          <a:p>
            <a:pPr>
              <a:lnSpc>
                <a:spcPct val="150000"/>
              </a:lnSpc>
            </a:pPr>
            <a:r>
              <a:rPr lang="en-US" sz="2800" b="1" dirty="0">
                <a:latin typeface="+mn-lt"/>
              </a:rPr>
              <a:t>6. Should project managers accept abusive </a:t>
            </a:r>
            <a:r>
              <a:rPr lang="en-US" sz="2800" b="1" dirty="0" err="1">
                <a:latin typeface="+mn-lt"/>
              </a:rPr>
              <a:t>behaviour</a:t>
            </a:r>
            <a:r>
              <a:rPr lang="en-US" sz="2800" b="1" dirty="0">
                <a:latin typeface="+mn-lt"/>
              </a:rPr>
              <a:t> from stakeholders?</a:t>
            </a:r>
          </a:p>
          <a:p>
            <a:pPr>
              <a:lnSpc>
                <a:spcPct val="150000"/>
              </a:lnSpc>
            </a:pPr>
            <a:r>
              <a:rPr lang="en-US" sz="2800" dirty="0">
                <a:latin typeface="+mn-lt"/>
              </a:rPr>
              <a:t>No. Project managers should remain professional but stop conversations if </a:t>
            </a:r>
            <a:r>
              <a:rPr lang="en-US" sz="2800" dirty="0" err="1">
                <a:latin typeface="+mn-lt"/>
              </a:rPr>
              <a:t>behaviour</a:t>
            </a:r>
            <a:r>
              <a:rPr lang="en-US" sz="2800" dirty="0">
                <a:latin typeface="+mn-lt"/>
              </a:rPr>
              <a:t> becomes abusive.</a:t>
            </a:r>
          </a:p>
        </p:txBody>
      </p:sp>
    </p:spTree>
    <p:extLst>
      <p:ext uri="{BB962C8B-B14F-4D97-AF65-F5344CB8AC3E}">
        <p14:creationId xmlns:p14="http://schemas.microsoft.com/office/powerpoint/2010/main" val="2570041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1000"/>
                                        <p:tgtEl>
                                          <p:spTgt spid="7">
                                            <p:txEl>
                                              <p:pRg st="1" end="1"/>
                                            </p:txEl>
                                          </p:spTgt>
                                        </p:tgtEl>
                                      </p:cBhvr>
                                    </p:animEffect>
                                    <p:anim calcmode="lin" valueType="num">
                                      <p:cBhvr>
                                        <p:cTn id="8"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3" end="3"/>
                                            </p:txEl>
                                          </p:spTgt>
                                        </p:tgtEl>
                                        <p:attrNameLst>
                                          <p:attrName>style.visibility</p:attrName>
                                        </p:attrNameLst>
                                      </p:cBhvr>
                                      <p:to>
                                        <p:strVal val="visible"/>
                                      </p:to>
                                    </p:set>
                                    <p:animEffect transition="in" filter="fade">
                                      <p:cBhvr>
                                        <p:cTn id="12" dur="1000"/>
                                        <p:tgtEl>
                                          <p:spTgt spid="7">
                                            <p:txEl>
                                              <p:pRg st="3" end="3"/>
                                            </p:txEl>
                                          </p:spTgt>
                                        </p:tgtEl>
                                      </p:cBhvr>
                                    </p:animEffect>
                                    <p:anim calcmode="lin" valueType="num">
                                      <p:cBhvr>
                                        <p:cTn id="13"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4F30F-A3BC-FD0E-4BF6-B6EF6B82830E}"/>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4377F751-3825-91C1-5B97-D253FD85544F}"/>
              </a:ext>
            </a:extLst>
          </p:cNvPr>
          <p:cNvSpPr>
            <a:spLocks noGrp="1"/>
          </p:cNvSpPr>
          <p:nvPr>
            <p:ph type="title"/>
          </p:nvPr>
        </p:nvSpPr>
        <p:spPr>
          <a:xfrm>
            <a:off x="342900" y="612775"/>
            <a:ext cx="8224838" cy="863600"/>
          </a:xfrm>
        </p:spPr>
        <p:txBody>
          <a:bodyPr>
            <a:noAutofit/>
          </a:bodyPr>
          <a:lstStyle/>
          <a:p>
            <a:pPr algn="ctr" eaLnBrk="1" fontAlgn="auto" hangingPunct="1">
              <a:spcAft>
                <a:spcPts val="0"/>
              </a:spcAft>
              <a:defRPr/>
            </a:pPr>
            <a:r>
              <a:rPr lang="en-AU" altLang="en-US" sz="3200" b="1" dirty="0">
                <a:solidFill>
                  <a:schemeClr val="accent2"/>
                </a:solidFill>
              </a:rPr>
              <a:t>Discussion Questions</a:t>
            </a:r>
          </a:p>
        </p:txBody>
      </p:sp>
      <p:sp>
        <p:nvSpPr>
          <p:cNvPr id="2" name="Footer Placeholder 1">
            <a:extLst>
              <a:ext uri="{FF2B5EF4-FFF2-40B4-BE49-F238E27FC236}">
                <a16:creationId xmlns:a16="http://schemas.microsoft.com/office/drawing/2014/main" id="{561BFABC-1603-9EF5-66A9-5DDF1D64D28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0485" name="Slide Number Placeholder 3">
            <a:extLst>
              <a:ext uri="{FF2B5EF4-FFF2-40B4-BE49-F238E27FC236}">
                <a16:creationId xmlns:a16="http://schemas.microsoft.com/office/drawing/2014/main" id="{793CD069-72EE-4399-D4FE-C1A90369CDB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66E39B-1EF4-414B-B69D-68241CCB3A7A}" type="slidenum">
              <a:rPr lang="en-US" altLang="en-US" sz="900" smtClean="0">
                <a:solidFill>
                  <a:srgbClr val="FFFFFF"/>
                </a:solidFill>
              </a:rPr>
              <a:pPr/>
              <a:t>113</a:t>
            </a:fld>
            <a:endParaRPr lang="en-US" altLang="en-US" sz="900">
              <a:solidFill>
                <a:srgbClr val="FFFFFF"/>
              </a:solidFill>
            </a:endParaRPr>
          </a:p>
        </p:txBody>
      </p:sp>
      <p:pic>
        <p:nvPicPr>
          <p:cNvPr id="20486" name="Picture 5">
            <a:extLst>
              <a:ext uri="{FF2B5EF4-FFF2-40B4-BE49-F238E27FC236}">
                <a16:creationId xmlns:a16="http://schemas.microsoft.com/office/drawing/2014/main" id="{F4871EE2-7C94-18A7-571C-D9ADBC6930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Picture 1" descr="page2image2758544">
            <a:extLst>
              <a:ext uri="{FF2B5EF4-FFF2-40B4-BE49-F238E27FC236}">
                <a16:creationId xmlns:a16="http://schemas.microsoft.com/office/drawing/2014/main" id="{0E6756D7-2A4E-AEEC-65A3-B62D351F05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3568700" cy="9017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94D638F0-F598-7B03-D0B6-CC87B1ED7AC3}"/>
              </a:ext>
            </a:extLst>
          </p:cNvPr>
          <p:cNvSpPr txBox="1"/>
          <p:nvPr/>
        </p:nvSpPr>
        <p:spPr>
          <a:xfrm>
            <a:off x="0" y="1803608"/>
            <a:ext cx="9144000" cy="3903504"/>
          </a:xfrm>
          <a:prstGeom prst="rect">
            <a:avLst/>
          </a:prstGeom>
          <a:solidFill>
            <a:schemeClr val="bg1"/>
          </a:solidFill>
        </p:spPr>
        <p:txBody>
          <a:bodyPr wrap="square">
            <a:spAutoFit/>
          </a:bodyPr>
          <a:lstStyle/>
          <a:p>
            <a:pPr>
              <a:lnSpc>
                <a:spcPct val="150000"/>
              </a:lnSpc>
            </a:pPr>
            <a:r>
              <a:rPr lang="en-US" sz="2800" b="1" dirty="0">
                <a:latin typeface="+mn-lt"/>
              </a:rPr>
              <a:t>7. Why is compromise important in projects?</a:t>
            </a:r>
          </a:p>
          <a:p>
            <a:pPr>
              <a:lnSpc>
                <a:spcPct val="150000"/>
              </a:lnSpc>
            </a:pPr>
            <a:r>
              <a:rPr lang="en-US" sz="2800" dirty="0">
                <a:latin typeface="+mn-lt"/>
              </a:rPr>
              <a:t>Compromise helps teams work together, improves stakeholder support, and reduces unnecessary conflict.</a:t>
            </a:r>
          </a:p>
          <a:p>
            <a:pPr>
              <a:lnSpc>
                <a:spcPct val="150000"/>
              </a:lnSpc>
            </a:pPr>
            <a:r>
              <a:rPr lang="en-US" sz="2800" b="1" dirty="0">
                <a:latin typeface="+mn-lt"/>
              </a:rPr>
              <a:t>8. What can happen if project conflicts are ignored?</a:t>
            </a:r>
          </a:p>
          <a:p>
            <a:pPr>
              <a:lnSpc>
                <a:spcPct val="150000"/>
              </a:lnSpc>
            </a:pPr>
            <a:r>
              <a:rPr lang="en-US" sz="2800" dirty="0">
                <a:latin typeface="+mn-lt"/>
              </a:rPr>
              <a:t>Ignored problems often become bigger issues that can damage teamwork and project success.</a:t>
            </a:r>
          </a:p>
        </p:txBody>
      </p:sp>
    </p:spTree>
    <p:extLst>
      <p:ext uri="{BB962C8B-B14F-4D97-AF65-F5344CB8AC3E}">
        <p14:creationId xmlns:p14="http://schemas.microsoft.com/office/powerpoint/2010/main" val="3789679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1000"/>
                                        <p:tgtEl>
                                          <p:spTgt spid="7">
                                            <p:txEl>
                                              <p:pRg st="1" end="1"/>
                                            </p:txEl>
                                          </p:spTgt>
                                        </p:tgtEl>
                                      </p:cBhvr>
                                    </p:animEffect>
                                    <p:anim calcmode="lin" valueType="num">
                                      <p:cBhvr>
                                        <p:cTn id="8"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3" end="3"/>
                                            </p:txEl>
                                          </p:spTgt>
                                        </p:tgtEl>
                                        <p:attrNameLst>
                                          <p:attrName>style.visibility</p:attrName>
                                        </p:attrNameLst>
                                      </p:cBhvr>
                                      <p:to>
                                        <p:strVal val="visible"/>
                                      </p:to>
                                    </p:set>
                                    <p:animEffect transition="in" filter="fade">
                                      <p:cBhvr>
                                        <p:cTn id="12" dur="1000"/>
                                        <p:tgtEl>
                                          <p:spTgt spid="7">
                                            <p:txEl>
                                              <p:pRg st="3" end="3"/>
                                            </p:txEl>
                                          </p:spTgt>
                                        </p:tgtEl>
                                      </p:cBhvr>
                                    </p:animEffect>
                                    <p:anim calcmode="lin" valueType="num">
                                      <p:cBhvr>
                                        <p:cTn id="13"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857788-4D6A-204C-2EDF-7D6A5DC2E146}"/>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02F65D87-A6CE-2F94-DB82-75C63351FF9C}"/>
              </a:ext>
            </a:extLst>
          </p:cNvPr>
          <p:cNvSpPr>
            <a:spLocks noGrp="1"/>
          </p:cNvSpPr>
          <p:nvPr>
            <p:ph type="title"/>
          </p:nvPr>
        </p:nvSpPr>
        <p:spPr>
          <a:xfrm>
            <a:off x="342900" y="612775"/>
            <a:ext cx="8224838" cy="863600"/>
          </a:xfrm>
        </p:spPr>
        <p:txBody>
          <a:bodyPr>
            <a:noAutofit/>
          </a:bodyPr>
          <a:lstStyle/>
          <a:p>
            <a:pPr algn="ctr" eaLnBrk="1" fontAlgn="auto" hangingPunct="1">
              <a:spcAft>
                <a:spcPts val="0"/>
              </a:spcAft>
              <a:defRPr/>
            </a:pPr>
            <a:r>
              <a:rPr lang="en-AU" altLang="en-US" sz="3200" b="1" dirty="0">
                <a:solidFill>
                  <a:schemeClr val="accent2"/>
                </a:solidFill>
              </a:rPr>
              <a:t>Discussion Questions</a:t>
            </a:r>
          </a:p>
        </p:txBody>
      </p:sp>
      <p:sp>
        <p:nvSpPr>
          <p:cNvPr id="2" name="Footer Placeholder 1">
            <a:extLst>
              <a:ext uri="{FF2B5EF4-FFF2-40B4-BE49-F238E27FC236}">
                <a16:creationId xmlns:a16="http://schemas.microsoft.com/office/drawing/2014/main" id="{81192A95-8347-99BC-8794-AA0AB86359CD}"/>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0485" name="Slide Number Placeholder 3">
            <a:extLst>
              <a:ext uri="{FF2B5EF4-FFF2-40B4-BE49-F238E27FC236}">
                <a16:creationId xmlns:a16="http://schemas.microsoft.com/office/drawing/2014/main" id="{3837E4D8-DF61-85B2-D77E-274688E4069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66E39B-1EF4-414B-B69D-68241CCB3A7A}" type="slidenum">
              <a:rPr lang="en-US" altLang="en-US" sz="900" smtClean="0">
                <a:solidFill>
                  <a:srgbClr val="FFFFFF"/>
                </a:solidFill>
              </a:rPr>
              <a:pPr/>
              <a:t>114</a:t>
            </a:fld>
            <a:endParaRPr lang="en-US" altLang="en-US" sz="900">
              <a:solidFill>
                <a:srgbClr val="FFFFFF"/>
              </a:solidFill>
            </a:endParaRPr>
          </a:p>
        </p:txBody>
      </p:sp>
      <p:pic>
        <p:nvPicPr>
          <p:cNvPr id="20486" name="Picture 5">
            <a:extLst>
              <a:ext uri="{FF2B5EF4-FFF2-40B4-BE49-F238E27FC236}">
                <a16:creationId xmlns:a16="http://schemas.microsoft.com/office/drawing/2014/main" id="{2C53BB05-495A-292E-336A-5B2F597C18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Picture 1" descr="page2image2758544">
            <a:extLst>
              <a:ext uri="{FF2B5EF4-FFF2-40B4-BE49-F238E27FC236}">
                <a16:creationId xmlns:a16="http://schemas.microsoft.com/office/drawing/2014/main" id="{ACF8475D-5911-39C9-108C-69E46E575F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3568700" cy="9017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C1FEC44C-1624-6C57-81C4-66B40EEE11D2}"/>
              </a:ext>
            </a:extLst>
          </p:cNvPr>
          <p:cNvSpPr txBox="1"/>
          <p:nvPr/>
        </p:nvSpPr>
        <p:spPr>
          <a:xfrm>
            <a:off x="0" y="1661834"/>
            <a:ext cx="9144000" cy="5196166"/>
          </a:xfrm>
          <a:prstGeom prst="rect">
            <a:avLst/>
          </a:prstGeom>
          <a:solidFill>
            <a:schemeClr val="bg1"/>
          </a:solidFill>
        </p:spPr>
        <p:txBody>
          <a:bodyPr wrap="square">
            <a:spAutoFit/>
          </a:bodyPr>
          <a:lstStyle/>
          <a:p>
            <a:pPr>
              <a:lnSpc>
                <a:spcPct val="150000"/>
              </a:lnSpc>
            </a:pPr>
            <a:r>
              <a:rPr lang="en-US" sz="2800" b="1" dirty="0">
                <a:latin typeface="+mn-lt"/>
              </a:rPr>
              <a:t>9. How can NSW IT Support benefit from good stakeholder management?</a:t>
            </a:r>
          </a:p>
          <a:p>
            <a:pPr>
              <a:lnSpc>
                <a:spcPct val="150000"/>
              </a:lnSpc>
            </a:pPr>
            <a:r>
              <a:rPr lang="en-US" sz="2800" dirty="0">
                <a:latin typeface="+mn-lt"/>
              </a:rPr>
              <a:t>Good stakeholder management can improve communication, client satisfaction, teamwork, and project success.</a:t>
            </a:r>
          </a:p>
          <a:p>
            <a:pPr>
              <a:lnSpc>
                <a:spcPct val="150000"/>
              </a:lnSpc>
            </a:pPr>
            <a:r>
              <a:rPr lang="en-US" sz="2800" b="1" dirty="0">
                <a:latin typeface="+mn-lt"/>
              </a:rPr>
              <a:t>10. What is the main lesson from the video?</a:t>
            </a:r>
          </a:p>
          <a:p>
            <a:pPr>
              <a:lnSpc>
                <a:spcPct val="150000"/>
              </a:lnSpc>
            </a:pPr>
            <a:r>
              <a:rPr lang="en-US" sz="2800" dirty="0">
                <a:latin typeface="+mn-lt"/>
              </a:rPr>
              <a:t>Successful project management requires strong communication, active listening, professionalism, and good relationship management.</a:t>
            </a:r>
          </a:p>
        </p:txBody>
      </p:sp>
    </p:spTree>
    <p:extLst>
      <p:ext uri="{BB962C8B-B14F-4D97-AF65-F5344CB8AC3E}">
        <p14:creationId xmlns:p14="http://schemas.microsoft.com/office/powerpoint/2010/main" val="467795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1000"/>
                                        <p:tgtEl>
                                          <p:spTgt spid="7">
                                            <p:txEl>
                                              <p:pRg st="1" end="1"/>
                                            </p:txEl>
                                          </p:spTgt>
                                        </p:tgtEl>
                                      </p:cBhvr>
                                    </p:animEffect>
                                    <p:anim calcmode="lin" valueType="num">
                                      <p:cBhvr>
                                        <p:cTn id="8"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3" end="3"/>
                                            </p:txEl>
                                          </p:spTgt>
                                        </p:tgtEl>
                                        <p:attrNameLst>
                                          <p:attrName>style.visibility</p:attrName>
                                        </p:attrNameLst>
                                      </p:cBhvr>
                                      <p:to>
                                        <p:strVal val="visible"/>
                                      </p:to>
                                    </p:set>
                                    <p:animEffect transition="in" filter="fade">
                                      <p:cBhvr>
                                        <p:cTn id="12" dur="1000"/>
                                        <p:tgtEl>
                                          <p:spTgt spid="7">
                                            <p:txEl>
                                              <p:pRg st="3" end="3"/>
                                            </p:txEl>
                                          </p:spTgt>
                                        </p:tgtEl>
                                      </p:cBhvr>
                                    </p:animEffect>
                                    <p:anim calcmode="lin" valueType="num">
                                      <p:cBhvr>
                                        <p:cTn id="13"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chemeClr val="accent2"/>
                </a:solidFill>
              </a:rPr>
              <a:t>Workshop Activity 1</a:t>
            </a:r>
            <a:endParaRPr lang="en-AU" altLang="en-US" sz="3600" b="1" dirty="0">
              <a:solidFill>
                <a:schemeClr val="accent2"/>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276045" y="1840295"/>
            <a:ext cx="8643668" cy="4321533"/>
          </a:xfrm>
        </p:spPr>
        <p:txBody>
          <a:bodyPr/>
          <a:lstStyle/>
          <a:p>
            <a:r>
              <a:rPr lang="en-AU" sz="2400" b="1" dirty="0">
                <a:solidFill>
                  <a:srgbClr val="00B0F0"/>
                </a:solidFill>
              </a:rPr>
              <a:t>Scenario 1:</a:t>
            </a:r>
            <a:r>
              <a:rPr lang="en-AU" sz="2400" dirty="0">
                <a:solidFill>
                  <a:srgbClr val="00B0F0"/>
                </a:solidFill>
              </a:rPr>
              <a:t> </a:t>
            </a:r>
            <a:r>
              <a:rPr lang="en-AU" sz="2400" b="1" dirty="0">
                <a:solidFill>
                  <a:srgbClr val="00B0F0"/>
                </a:solidFill>
              </a:rPr>
              <a:t>Development of a Mobile App for Healthcare</a:t>
            </a:r>
          </a:p>
          <a:p>
            <a:r>
              <a:rPr lang="en-AU" sz="1800" dirty="0"/>
              <a:t>A healthcare startup is developing a mobile app to enhance patient engagement and remote healthcare services. The project involves collaborating with healthcare providers, regulatory bodies, and technology partners to ensure compliance with healthcare standards and data privacy regulations. However, stakeholders have diverse opinions on app features, data security, and usability, leading to challenges in consensus-building and decision-making. </a:t>
            </a:r>
          </a:p>
          <a:p>
            <a:r>
              <a:rPr lang="en-AU" b="1" dirty="0"/>
              <a:t>Discuss</a:t>
            </a:r>
            <a:r>
              <a:rPr lang="en-US" altLang="zh-CN" b="1" dirty="0"/>
              <a:t> in your groups</a:t>
            </a:r>
            <a:r>
              <a:rPr lang="en-AU" b="1" dirty="0"/>
              <a:t>:</a:t>
            </a:r>
            <a:endParaRPr lang="en-AU" dirty="0"/>
          </a:p>
          <a:p>
            <a:pPr>
              <a:buFont typeface="+mj-lt"/>
              <a:buAutoNum type="arabicPeriod"/>
            </a:pPr>
            <a:r>
              <a:rPr lang="en-AU" sz="1700" dirty="0"/>
              <a:t>How can stakeholder engagement contribute to the success of a healthcare app development project?</a:t>
            </a:r>
          </a:p>
          <a:p>
            <a:pPr>
              <a:buFont typeface="+mj-lt"/>
              <a:buAutoNum type="arabicPeriod"/>
            </a:pPr>
            <a:r>
              <a:rPr lang="en-AU" sz="1700" dirty="0"/>
              <a:t>Why is regulatory compliance important in developing healthcare-related IT projects?</a:t>
            </a:r>
          </a:p>
          <a:p>
            <a:pPr>
              <a:buFont typeface="+mj-lt"/>
              <a:buAutoNum type="arabicPeriod"/>
            </a:pPr>
            <a:r>
              <a:rPr lang="en-AU" sz="1700" dirty="0"/>
              <a:t>What are some strategies for resolving conflicts between stakeholders with differing opinions on app features and functionality?</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115</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3407093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chemeClr val="accent2"/>
                </a:solidFill>
              </a:rPr>
              <a:t>Workshop Activity 2</a:t>
            </a:r>
            <a:endParaRPr lang="en-AU" altLang="en-US" sz="3600" b="1" dirty="0">
              <a:solidFill>
                <a:schemeClr val="accent2"/>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276045" y="1742933"/>
            <a:ext cx="8643668" cy="4321533"/>
          </a:xfrm>
        </p:spPr>
        <p:txBody>
          <a:bodyPr/>
          <a:lstStyle/>
          <a:p>
            <a:r>
              <a:rPr lang="en-AU" sz="2400" b="1" dirty="0">
                <a:solidFill>
                  <a:srgbClr val="00B0F0"/>
                </a:solidFill>
              </a:rPr>
              <a:t>Scenario 2: Ethical Issues in Implementing Facial Recognition Technology</a:t>
            </a:r>
          </a:p>
          <a:p>
            <a:r>
              <a:rPr lang="en-AU" sz="1800" dirty="0"/>
              <a:t>A metropolitan city government decides to implement facial recognition technology (FRT) as part of its public safety initiative. The project aims to enhance security measures in public spaces, monitor criminal activity, and improve law enforcement efficiency. However, the deployment of FRT raises significant ethical concerns regarding privacy, bias, transparency, and social implications.</a:t>
            </a:r>
          </a:p>
          <a:p>
            <a:r>
              <a:rPr lang="en-AU" b="1" dirty="0"/>
              <a:t>Discuss</a:t>
            </a:r>
            <a:r>
              <a:rPr lang="en-US" altLang="zh-CN" b="1" dirty="0"/>
              <a:t> in your groups</a:t>
            </a:r>
            <a:r>
              <a:rPr lang="en-AU" b="1" dirty="0"/>
              <a:t>:</a:t>
            </a:r>
            <a:endParaRPr lang="en-AU" dirty="0"/>
          </a:p>
          <a:p>
            <a:pPr>
              <a:buFont typeface="+mj-lt"/>
              <a:buAutoNum type="arabicPeriod"/>
            </a:pPr>
            <a:r>
              <a:rPr lang="en-AU" sz="1700" dirty="0"/>
              <a:t>What are the primary ethical concerns associated with the deployment of facial recognition technology in public spaces?</a:t>
            </a:r>
          </a:p>
          <a:p>
            <a:pPr>
              <a:buFont typeface="+mj-lt"/>
              <a:buAutoNum type="arabicPeriod"/>
            </a:pPr>
            <a:r>
              <a:rPr lang="en-AU" sz="1700" dirty="0"/>
              <a:t>How can city governments address the ethical dilemma of balancing public safety with individual privacy rights when implementing facial recognition technology?</a:t>
            </a:r>
          </a:p>
          <a:p>
            <a:pPr>
              <a:buFont typeface="+mj-lt"/>
              <a:buAutoNum type="arabicPeriod"/>
            </a:pPr>
            <a:r>
              <a:rPr lang="en-AU" sz="1700" dirty="0"/>
              <a:t>What role do technology providers play in addressing ethical concerns related to facial recognition technology?</a:t>
            </a:r>
          </a:p>
          <a:p>
            <a:pPr>
              <a:buFont typeface="+mj-lt"/>
              <a:buAutoNum type="arabicPeriod"/>
            </a:pPr>
            <a:endParaRPr lang="en-AU" sz="1800" dirty="0"/>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116</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2010422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chemeClr val="accent2"/>
                </a:solidFill>
              </a:rPr>
              <a:t>Workshop Activity 3: </a:t>
            </a:r>
            <a:br>
              <a:rPr lang="en-AU" sz="3600" b="1" dirty="0">
                <a:solidFill>
                  <a:schemeClr val="accent2"/>
                </a:solidFill>
              </a:rPr>
            </a:br>
            <a:r>
              <a:rPr lang="en-AU" sz="3600" b="1" dirty="0">
                <a:solidFill>
                  <a:schemeClr val="accent2"/>
                </a:solidFill>
              </a:rPr>
              <a:t>Open Questions</a:t>
            </a:r>
            <a:endParaRPr lang="en-AU" altLang="en-US" sz="3600" b="1" dirty="0">
              <a:solidFill>
                <a:schemeClr val="accent2"/>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499879" y="1557069"/>
            <a:ext cx="8386493" cy="4321533"/>
          </a:xfrm>
        </p:spPr>
        <p:txBody>
          <a:bodyPr/>
          <a:lstStyle/>
          <a:p>
            <a:pPr marL="0" indent="0">
              <a:buNone/>
            </a:pPr>
            <a:endParaRPr lang="en-AU" sz="2400" dirty="0">
              <a:solidFill>
                <a:srgbClr val="000000"/>
              </a:solidFill>
              <a:latin typeface="Arial" panose="020B0604020202020204" pitchFamily="34" charset="0"/>
            </a:endParaRPr>
          </a:p>
          <a:p>
            <a:pPr marL="0" indent="0">
              <a:buNone/>
            </a:pPr>
            <a:r>
              <a:rPr lang="en-AU" b="1" i="0" u="none" strike="noStrike" baseline="0" dirty="0">
                <a:solidFill>
                  <a:srgbClr val="00B0F0"/>
                </a:solidFill>
                <a:latin typeface="Arial" panose="020B0604020202020204" pitchFamily="34" charset="0"/>
              </a:rPr>
              <a:t>Discuss in your group with the help of an online search platform: </a:t>
            </a:r>
          </a:p>
          <a:p>
            <a:pPr>
              <a:buFont typeface="+mj-lt"/>
              <a:buAutoNum type="arabicPeriod"/>
            </a:pPr>
            <a:r>
              <a:rPr lang="en-AU" sz="1800" dirty="0"/>
              <a:t>How does facial recognition technology impact individuals' privacy in public spaces?</a:t>
            </a:r>
          </a:p>
          <a:p>
            <a:pPr>
              <a:buFont typeface="+mj-lt"/>
              <a:buAutoNum type="arabicPeriod"/>
            </a:pPr>
            <a:r>
              <a:rPr lang="en-AU" sz="1800" dirty="0"/>
              <a:t>What are some potential risks of algorithmic bias in facial recognition technology?</a:t>
            </a:r>
          </a:p>
          <a:p>
            <a:pPr>
              <a:buFont typeface="+mj-lt"/>
              <a:buAutoNum type="arabicPeriod"/>
            </a:pPr>
            <a:r>
              <a:rPr lang="en-AU" sz="1800" dirty="0"/>
              <a:t>Why is transparency important in the deployment of facial recognition systems?</a:t>
            </a:r>
          </a:p>
          <a:p>
            <a:pPr>
              <a:buFont typeface="+mj-lt"/>
              <a:buAutoNum type="arabicPeriod"/>
            </a:pPr>
            <a:r>
              <a:rPr lang="en-AU" sz="1800" dirty="0"/>
              <a:t>What ethical considerations arise from using facial recognition in law enforcement?</a:t>
            </a:r>
          </a:p>
          <a:p>
            <a:pPr>
              <a:buFont typeface="+mj-lt"/>
              <a:buAutoNum type="arabicPeriod"/>
            </a:pPr>
            <a:r>
              <a:rPr lang="en-AU" sz="1800" dirty="0"/>
              <a:t>How might societal norms be affected by widespread adoption of facial recognition technology?</a:t>
            </a:r>
          </a:p>
          <a:p>
            <a:pPr>
              <a:buFont typeface="+mj-lt"/>
              <a:buAutoNum type="arabicPeriod"/>
            </a:pPr>
            <a:r>
              <a:rPr lang="en-AU" sz="1800" dirty="0"/>
              <a:t>What roles can stakeholders play in addressing ethical concerns related to facial recognition technology?</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117</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8249531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chemeClr val="accent2"/>
                </a:solidFill>
              </a:rPr>
              <a:t>Workshop Activity 4: Infographic summary</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276045" y="1799883"/>
            <a:ext cx="8643668" cy="4321533"/>
          </a:xfrm>
        </p:spPr>
        <p:txBody>
          <a:bodyPr/>
          <a:lstStyle/>
          <a:p>
            <a:pPr marL="0" indent="0">
              <a:buNone/>
            </a:pPr>
            <a:endParaRPr lang="en-AU" sz="1800" b="0" i="0" u="none" strike="noStrike" baseline="0" dirty="0">
              <a:latin typeface="Arial" panose="020B0604020202020204" pitchFamily="34" charset="0"/>
            </a:endParaRPr>
          </a:p>
          <a:p>
            <a:pPr marL="0" indent="0">
              <a:buNone/>
            </a:pPr>
            <a:r>
              <a:rPr lang="en-AU" sz="1800" dirty="0">
                <a:solidFill>
                  <a:srgbClr val="B31165"/>
                </a:solidFill>
                <a:latin typeface="Wingdings 3" panose="05040102010807070707" pitchFamily="18" charset="2"/>
              </a:rPr>
              <a:t> </a:t>
            </a:r>
            <a:r>
              <a:rPr lang="en-AU" sz="1800" b="0" i="0" u="none" strike="noStrike" baseline="0" dirty="0">
                <a:solidFill>
                  <a:srgbClr val="B31165"/>
                </a:solidFill>
                <a:latin typeface="Wingdings 3" panose="05040102010807070707" pitchFamily="18" charset="2"/>
              </a:rPr>
              <a:t> </a:t>
            </a:r>
            <a:r>
              <a:rPr lang="en-AU" sz="1800" b="0" i="0" u="none" strike="noStrike" baseline="0" dirty="0">
                <a:solidFill>
                  <a:srgbClr val="404040"/>
                </a:solidFill>
                <a:latin typeface="Arial" panose="020B0604020202020204" pitchFamily="34" charset="0"/>
              </a:rPr>
              <a:t>Students are required to list the concepts that have been covered in the reading materials and lecture and group them by their category.  </a:t>
            </a:r>
          </a:p>
          <a:p>
            <a:r>
              <a:rPr lang="en-AU" sz="1800" b="0" i="0" u="none" strike="noStrike" baseline="0" dirty="0">
                <a:solidFill>
                  <a:srgbClr val="B31165"/>
                </a:solidFill>
                <a:latin typeface="Wingdings 3" panose="05040102010807070707" pitchFamily="18" charset="2"/>
              </a:rPr>
              <a:t> </a:t>
            </a:r>
            <a:r>
              <a:rPr lang="en-AU" sz="1800" b="0" i="0" u="none" strike="noStrike" baseline="0" dirty="0">
                <a:solidFill>
                  <a:srgbClr val="404040"/>
                </a:solidFill>
                <a:latin typeface="Arial" panose="020B0604020202020204" pitchFamily="34" charset="0"/>
              </a:rPr>
              <a:t>Use an online tool (such as https://www.canva.com/ ) to produce the infographic summary to be submitted and present to the class. </a:t>
            </a:r>
          </a:p>
          <a:p>
            <a:endParaRPr lang="en-AU" sz="1800" b="0" i="0" u="none" strike="noStrike" baseline="0" dirty="0">
              <a:solidFill>
                <a:srgbClr val="404040"/>
              </a:solidFill>
              <a:latin typeface="Arial" panose="020B0604020202020204" pitchFamily="34" charset="0"/>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118</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0471132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UIDATA" val="&lt;database version=&quot;7.0&quot;&gt;&lt;object type=&quot;1&quot; unique_id=&quot;10001&quot;&gt;&lt;object type=&quot;2&quot; unique_id=&quot;10002&quot;&gt;&lt;object type=&quot;3&quot; unique_id=&quot;10003&quot;&gt;&lt;property id=&quot;20148&quot; value=&quot;5&quot;/&gt;&lt;property id=&quot;20300&quot; value=&quot;Slide 1&quot;/&gt;&lt;property id=&quot;20307&quot; value=&quot;256&quot;/&gt;&lt;/object&gt;&lt;object type=&quot;3&quot; unique_id=&quot;10004&quot;&gt;&lt;property id=&quot;20148&quot; value=&quot;5&quot;/&gt;&lt;property id=&quot;20300&quot; value=&quot;Slide 2&quot;/&gt;&lt;property id=&quot;20307&quot; value=&quot;260&quot;/&gt;&lt;/object&gt;&lt;object type=&quot;3&quot; unique_id=&quot;10005&quot;&gt;&lt;property id=&quot;20148&quot; value=&quot;5&quot;/&gt;&lt;property id=&quot;20300&quot; value=&quot;Slide 3 - &amp;quot;What is management?&amp;quot;&quot;/&gt;&lt;property id=&quot;20307&quot; value=&quot;297&quot;/&gt;&lt;/object&gt;&lt;object type=&quot;3&quot; unique_id=&quot;10006&quot;&gt;&lt;property id=&quot;20148&quot; value=&quot;5&quot;/&gt;&lt;property id=&quot;20300&quot; value=&quot;Slide 4 - &amp;quot;Management is…&amp;quot;&quot;/&gt;&lt;property id=&quot;20307&quot; value=&quot;298&quot;/&gt;&lt;/object&gt;&lt;object type=&quot;3&quot; unique_id=&quot;10007&quot;&gt;&lt;property id=&quot;20148&quot; value=&quot;5&quot;/&gt;&lt;property id=&quot;20300&quot; value=&quot;Slide 5 - &amp;quot;Management  functions&amp;quot;&quot;/&gt;&lt;property id=&quot;20307&quot; value=&quot;299&quot;/&gt;&lt;/object&gt;&lt;object type=&quot;3&quot; unique_id=&quot;10008&quot;&gt;&lt;property id=&quot;20148&quot; value=&quot;5&quot;/&gt;&lt;property id=&quot;20300&quot; value=&quot;Slide 6 - &amp;quot;Planning&amp;quot;&quot;/&gt;&lt;property id=&quot;20307&quot; value=&quot;300&quot;/&gt;&lt;/object&gt;&lt;object type=&quot;3&quot; unique_id=&quot;10009&quot;&gt;&lt;property id=&quot;20148&quot; value=&quot;5&quot;/&gt;&lt;property id=&quot;20300&quot; value=&quot;Slide 7 - &amp;quot;Organising&amp;quot;&quot;/&gt;&lt;property id=&quot;20307&quot; value=&quot;301&quot;/&gt;&lt;/object&gt;&lt;object type=&quot;3&quot; unique_id=&quot;10010&quot;&gt;&lt;property id=&quot;20148&quot; value=&quot;5&quot;/&gt;&lt;property id=&quot;20300&quot; value=&quot;Slide 8 - &amp;quot;Leading&amp;quot;&quot;/&gt;&lt;property id=&quot;20307&quot; value=&quot;302&quot;/&gt;&lt;/object&gt;&lt;object type=&quot;3&quot; unique_id=&quot;10011&quot;&gt;&lt;property id=&quot;20148&quot; value=&quot;5&quot;/&gt;&lt;property id=&quot;20300&quot; value=&quot;Slide 9 - &amp;quot;Controlling&amp;quot;&quot;/&gt;&lt;property id=&quot;20307&quot; value=&quot;303&quot;/&gt;&lt;/object&gt;&lt;object type=&quot;3&quot; unique_id=&quot;10012&quot;&gt;&lt;property id=&quot;20148&quot; value=&quot;5&quot;/&gt;&lt;property id=&quot;20300&quot; value=&quot;Slide 10 - &amp;quot;The control process&amp;quot;&quot;/&gt;&lt;property id=&quot;20307&quot; value=&quot;304&quot;/&gt;&lt;/object&gt;&lt;object type=&quot;3&quot; unique_id=&quot;10013&quot;&gt;&lt;property id=&quot;20148&quot; value=&quot;5&quot;/&gt;&lt;property id=&quot;20300&quot; value=&quot;Slide 11 - &amp;quot;What do managers do?&amp;quot;&quot;/&gt;&lt;property id=&quot;20307&quot; value=&quot;305&quot;/&gt;&lt;/object&gt;&lt;object type=&quot;3&quot; unique_id=&quot;10014&quot;&gt;&lt;property id=&quot;20148&quot; value=&quot;5&quot;/&gt;&lt;property id=&quot;20300&quot; value=&quot;Slide 12 - &amp;quot;Kinds of managers&amp;quot;&quot;/&gt;&lt;property id=&quot;20307&quot; value=&quot;306&quot;/&gt;&lt;/object&gt;&lt;object type=&quot;3&quot; unique_id=&quot;10015&quot;&gt;&lt;property id=&quot;20148&quot; value=&quot;5&quot;/&gt;&lt;property id=&quot;20300&quot; value=&quot;Slide 13 - &amp;quot;Top managers hold positions such as:&amp;quot;&quot;/&gt;&lt;property id=&quot;20307&quot; value=&quot;307&quot;/&gt;&lt;/object&gt;&lt;object type=&quot;3&quot; unique_id=&quot;10016&quot;&gt;&lt;property id=&quot;20148&quot; value=&quot;5&quot;/&gt;&lt;property id=&quot;20300&quot; value=&quot;Slide 14 - &amp;quot;Responsibilities of top managers&amp;quot;&quot;/&gt;&lt;property id=&quot;20307&quot; value=&quot;308&quot;/&gt;&lt;/object&gt;&lt;object type=&quot;3&quot; unique_id=&quot;10017&quot;&gt;&lt;property id=&quot;20148&quot; value=&quot;5&quot;/&gt;&lt;property id=&quot;20300&quot; value=&quot;Slide 15 - &amp;quot;Middle managers hold such positions as:&amp;quot;&quot;/&gt;&lt;property id=&quot;20307&quot; value=&quot;309&quot;/&gt;&lt;/object&gt;&lt;object type=&quot;3&quot; unique_id=&quot;10018&quot;&gt;&lt;property id=&quot;20148&quot; value=&quot;5&quot;/&gt;&lt;property id=&quot;20300&quot; value=&quot;Slide 16 - &amp;quot;Responsibilities of middle managers&amp;quot;&quot;/&gt;&lt;property id=&quot;20307&quot; value=&quot;310&quot;/&gt;&lt;/object&gt;&lt;object type=&quot;3&quot; unique_id=&quot;10019&quot;&gt;&lt;property id=&quot;20148&quot; value=&quot;5&quot;/&gt;&lt;property id=&quot;20300&quot; value=&quot;Slide 17 - &amp;quot;First-line managers hold such positions as:&amp;quot;&quot;/&gt;&lt;property id=&quot;20307&quot; value=&quot;311&quot;/&gt;&lt;/object&gt;&lt;object type=&quot;3&quot; unique_id=&quot;10020&quot;&gt;&lt;property id=&quot;20148&quot; value=&quot;5&quot;/&gt;&lt;property id=&quot;20300&quot; value=&quot;Slide 18 - &amp;quot;Responsibilities of first-line managers&amp;quot;&quot;/&gt;&lt;property id=&quot;20307&quot; value=&quot;312&quot;/&gt;&lt;/object&gt;&lt;object type=&quot;3&quot; unique_id=&quot;10021&quot;&gt;&lt;property id=&quot;20148&quot; value=&quot;5&quot;/&gt;&lt;property id=&quot;20300&quot; value=&quot;Slide 19 - &amp;quot;Responsibilities of team leaders&amp;quot;&quot;/&gt;&lt;property id=&quot;20307&quot; value=&quot;313&quot;/&gt;&lt;/object&gt;&lt;object type=&quot;3&quot; unique_id=&quot;10022&quot;&gt;&lt;property id=&quot;20148&quot; value=&quot;5&quot;/&gt;&lt;property id=&quot;20300&quot; value=&quot;Slide 20 - &amp;quot;Mintzberg’s managerial roles&amp;quot;&quot;/&gt;&lt;property id=&quot;20307&quot; value=&quot;314&quot;/&gt;&lt;/object&gt;&lt;object type=&quot;3&quot; unique_id=&quot;10023&quot;&gt;&lt;property id=&quot;20148&quot; value=&quot;5&quot;/&gt;&lt;property id=&quot;20300&quot; value=&quot;Slide 21 - &amp;quot;Managerial roles&amp;quot;&quot;/&gt;&lt;property id=&quot;20307&quot; value=&quot;315&quot;/&gt;&lt;/object&gt;&lt;object type=&quot;3&quot; unique_id=&quot;10024&quot;&gt;&lt;property id=&quot;20148&quot; value=&quot;5&quot;/&gt;&lt;property id=&quot;20300&quot; value=&quot;Slide 22 - &amp;quot;Managerial roles&amp;quot;&quot;/&gt;&lt;property id=&quot;20307&quot; value=&quot;316&quot;/&gt;&lt;/object&gt;&lt;object type=&quot;3&quot; unique_id=&quot;10025&quot;&gt;&lt;property id=&quot;20148&quot; value=&quot;5&quot;/&gt;&lt;property id=&quot;20300&quot; value=&quot;Slide 23 - &amp;quot;Managerial roles&amp;quot;&quot;/&gt;&lt;property id=&quot;20307&quot; value=&quot;317&quot;/&gt;&lt;/object&gt;&lt;object type=&quot;3&quot; unique_id=&quot;10026&quot;&gt;&lt;property id=&quot;20148&quot; value=&quot;5&quot;/&gt;&lt;property id=&quot;20300&quot; value=&quot;Slide 24 - &amp;quot;Manager’s quick response &amp;#x0D;&amp;#x0A;saves clients&amp;quot;&quot;/&gt;&lt;property id=&quot;20307&quot; value=&quot;318&quot;/&gt;&lt;/object&gt;&lt;object type=&quot;3&quot; unique_id=&quot;10027&quot;&gt;&lt;property id=&quot;20148&quot; value=&quot;5&quot;/&gt;&lt;property id=&quot;20300&quot; value=&quot;Slide 25 - &amp;quot;What does it take to be a manager?&amp;quot;&quot;/&gt;&lt;property id=&quot;20307&quot; value=&quot;319&quot;/&gt;&lt;/object&gt;&lt;object type=&quot;3&quot; unique_id=&quot;10028&quot;&gt;&lt;property id=&quot;20148&quot; value=&quot;5&quot;/&gt;&lt;property id=&quot;20300&quot; value=&quot;Slide 26 - &amp;quot;Skills companies look for in managers&amp;quot;&quot;/&gt;&lt;property id=&quot;20307&quot; value=&quot;320&quot;/&gt;&lt;/object&gt;&lt;object type=&quot;3&quot; unique_id=&quot;10029&quot;&gt;&lt;property id=&quot;20148&quot; value=&quot;5&quot;/&gt;&lt;property id=&quot;20300&quot; value=&quot;Slide 27 - &amp;quot;Management skills&amp;quot;&quot;/&gt;&lt;property id=&quot;20307&quot; value=&quot;321&quot;/&gt;&lt;/object&gt;&lt;object type=&quot;3&quot; unique_id=&quot;10030&quot;&gt;&lt;property id=&quot;20148&quot; value=&quot;5&quot;/&gt;&lt;property id=&quot;20300&quot; value=&quot;Slide 28 - &amp;quot;Some common mistakes managers make&amp;quot;&quot;/&gt;&lt;property id=&quot;20307&quot; value=&quot;322&quot;/&gt;&lt;/object&gt;&lt;object type=&quot;3&quot; unique_id=&quot;10031&quot;&gt;&lt;property id=&quot;20148&quot; value=&quot;5&quot;/&gt;&lt;property id=&quot;20300&quot; value=&quot;Slide 29 - &amp;quot;Transition to management (the first year)&amp;quot;&quot;/&gt;&lt;property id=&quot;20307&quot; value=&quot;323&quot;/&gt;&lt;/object&gt;&lt;object type=&quot;3&quot; unique_id=&quot;10032&quot;&gt;&lt;property id=&quot;20148&quot; value=&quot;5&quot;/&gt;&lt;property id=&quot;20300&quot; value=&quot;Slide 30 - &amp;quot;Why management matters&amp;quot;&quot;/&gt;&lt;property id=&quot;20307&quot; value=&quot;324&quot;/&gt;&lt;/object&gt;&lt;object type=&quot;3&quot; unique_id=&quot;10033&quot;&gt;&lt;property id=&quot;20148&quot; value=&quot;5&quot;/&gt;&lt;property id=&quot;20300&quot; value=&quot;Slide 31 - &amp;quot;Competitive advantage through people&amp;quot;&quot;/&gt;&lt;property id=&quot;20307&quot; value=&quot;325&quot;/&gt;&lt;/object&gt;&lt;object type=&quot;3&quot; unique_id=&quot;10034&quot;&gt;&lt;property id=&quot;20148&quot; value=&quot;5&quot;/&gt;&lt;property id=&quot;20300&quot; value=&quot;Slide 32 - &amp;quot;Competitive advantage through people&amp;quot;&quot;/&gt;&lt;property id=&quot;20307&quot; value=&quot;326&quot;/&gt;&lt;/object&gt;&lt;object type=&quot;3&quot; unique_id=&quot;10035&quot;&gt;&lt;property id=&quot;20148&quot; value=&quot;5&quot;/&gt;&lt;property id=&quot;20300&quot; value=&quot;Slide 33 - &amp;quot;Competitive advantage through people&amp;quot;&quot;/&gt;&lt;property id=&quot;20307&quot; value=&quot;327&quot;/&gt;&lt;/object&gt;&lt;/object&gt;&lt;object type=&quot;8&quot; unique_id=&quot;10070&quot;&gt;&lt;/object&gt;&lt;/object&gt;&lt;/database&gt;"/>
  <p:tag name="MMPROD_NEXTUNIQUEID" val="10009"/>
  <p:tag name="SECTOMILLISECCONVERTED" val="1"/>
</p:tagLst>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4113</TotalTime>
  <Words>6544</Words>
  <Application>Microsoft Office PowerPoint</Application>
  <PresentationFormat>On-screen Show (4:3)</PresentationFormat>
  <Paragraphs>978</Paragraphs>
  <Slides>118</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118</vt:i4>
      </vt:variant>
    </vt:vector>
  </HeadingPairs>
  <TitlesOfParts>
    <vt:vector size="128" baseType="lpstr">
      <vt:lpstr>Arial</vt:lpstr>
      <vt:lpstr>Arial Narrow</vt:lpstr>
      <vt:lpstr>Calibri</vt:lpstr>
      <vt:lpstr>Calibri Light</vt:lpstr>
      <vt:lpstr>Century Gothic</vt:lpstr>
      <vt:lpstr>Roboto</vt:lpstr>
      <vt:lpstr>Symbol</vt:lpstr>
      <vt:lpstr>Times New Roman</vt:lpstr>
      <vt:lpstr>Wingdings 3</vt:lpstr>
      <vt:lpstr>Retrospect</vt:lpstr>
      <vt:lpstr>PowerPoint Presentation</vt:lpstr>
      <vt:lpstr>What we learned last week</vt:lpstr>
      <vt:lpstr>Ethics and Governance in IT Projects</vt:lpstr>
      <vt:lpstr>Why Ethics Matter in IT Projects</vt:lpstr>
      <vt:lpstr>Ethics in Real IT Companies</vt:lpstr>
      <vt:lpstr>Connecting Week 10 to Assessment 4</vt:lpstr>
      <vt:lpstr>Connecting Week 10 to Assessment 4</vt:lpstr>
      <vt:lpstr>Common Ethical Issues in IT Projects</vt:lpstr>
      <vt:lpstr>Questions Students Can Ask NSW IT Support</vt:lpstr>
      <vt:lpstr>Australian Context (Very Important)</vt:lpstr>
      <vt:lpstr>Australian Regulations Students Should Mention</vt:lpstr>
      <vt:lpstr>Example Ethical Problem</vt:lpstr>
      <vt:lpstr>Example Ethical Problem</vt:lpstr>
      <vt:lpstr>Questions About Governance</vt:lpstr>
      <vt:lpstr>IT Governance Explained Simply IT Governance Means</vt:lpstr>
      <vt:lpstr>Example Governance Challenges</vt:lpstr>
      <vt:lpstr>Stakeholder Management</vt:lpstr>
      <vt:lpstr>Why Stakeholder Management Matters</vt:lpstr>
      <vt:lpstr>Why Stakeholder Management Matters</vt:lpstr>
      <vt:lpstr>Questions Students Can Ask NSW IT Support</vt:lpstr>
      <vt:lpstr>Managing Client Expectations</vt:lpstr>
      <vt:lpstr>Managing Client Expectations</vt:lpstr>
      <vt:lpstr>Example Assessment 4 Ethical Discussion</vt:lpstr>
      <vt:lpstr>Example Challenges &amp; Student Solutions</vt:lpstr>
      <vt:lpstr>Professional Questions Students Should Ask</vt:lpstr>
      <vt:lpstr>Common Mistakes in Assessment 4</vt:lpstr>
      <vt:lpstr>Final Advice for Students</vt:lpstr>
      <vt:lpstr>Final Message</vt:lpstr>
      <vt:lpstr>Key Lessons/Messages from Week 10 Topic</vt:lpstr>
      <vt:lpstr>Key Lessons/Messages from Week 10 Topic</vt:lpstr>
      <vt:lpstr>Key Lessons/Messages from Week 10 Topic</vt:lpstr>
      <vt:lpstr>Key Lessons/Messages from Week 10 Topic</vt:lpstr>
      <vt:lpstr>Key Lessons/Messages from Week 10 Topic</vt:lpstr>
      <vt:lpstr>Key Lessons/Messages from Week 10 Topic</vt:lpstr>
      <vt:lpstr>Key Lessons/Messages from Week 10 Topic</vt:lpstr>
      <vt:lpstr>Discussion Questions</vt:lpstr>
      <vt:lpstr>Discussion Questions</vt:lpstr>
      <vt:lpstr>Discussion Questions</vt:lpstr>
      <vt:lpstr>Discussion Questions</vt:lpstr>
      <vt:lpstr>Week 10 Pre-Class Readings</vt:lpstr>
      <vt:lpstr>Week 10 Pre-Class Readings</vt:lpstr>
      <vt:lpstr>Week 10 Pre-Class Readings</vt:lpstr>
      <vt:lpstr>Week 10 Pre-Class Readings</vt:lpstr>
      <vt:lpstr>Week 10 Pre-Class Readings</vt:lpstr>
      <vt:lpstr>Week 10 Pre-Class Readings</vt:lpstr>
      <vt:lpstr>Discussion Questions</vt:lpstr>
      <vt:lpstr>Discussion Questions</vt:lpstr>
      <vt:lpstr>Discussion Questions</vt:lpstr>
      <vt:lpstr>Discussion Questions</vt:lpstr>
      <vt:lpstr>Pre-Class Discussion</vt:lpstr>
      <vt:lpstr>Pre-Class Discussion</vt:lpstr>
      <vt:lpstr>Pre-Class Discussion</vt:lpstr>
      <vt:lpstr>Pre-Class Discussion</vt:lpstr>
      <vt:lpstr>Pre-Class Discussion</vt:lpstr>
      <vt:lpstr>Pre-Class Discussion</vt:lpstr>
      <vt:lpstr>Pre-Class Discussion</vt:lpstr>
      <vt:lpstr>Pre-Class Discussion</vt:lpstr>
      <vt:lpstr>Pre-Class Discussion</vt:lpstr>
      <vt:lpstr>Pre-Class Discussion</vt:lpstr>
      <vt:lpstr>Pre-Class Discussion</vt:lpstr>
      <vt:lpstr>Discussion Questions</vt:lpstr>
      <vt:lpstr>Discussion Questions</vt:lpstr>
      <vt:lpstr>Discussion Questions</vt:lpstr>
      <vt:lpstr>Discussion Questions</vt:lpstr>
      <vt:lpstr>Ethics of Emerging Technologies</vt:lpstr>
      <vt:lpstr>Ethics of Emerging Technologies (Cont.)</vt:lpstr>
      <vt:lpstr>Ethics of Emerging Technologies (Cont.)</vt:lpstr>
      <vt:lpstr>Ethics of Emerging Technologies (Cont.)</vt:lpstr>
      <vt:lpstr>Ethics of Emerging Technologies (Cont.)</vt:lpstr>
      <vt:lpstr>Ethics Decision-Making in Project Management</vt:lpstr>
      <vt:lpstr>Ethics Decision-Making in Project Management</vt:lpstr>
      <vt:lpstr>IT Governance and Compliance</vt:lpstr>
      <vt:lpstr>IT Governance and Compliance (cont.)</vt:lpstr>
      <vt:lpstr>IT Governance and Compliance: Key Components</vt:lpstr>
      <vt:lpstr>IT Governance and Compliance: Frameworks</vt:lpstr>
      <vt:lpstr>IT Governance and Compliance: Frameworks (cont.)</vt:lpstr>
      <vt:lpstr>IT Governance and Compliance: Frameworks (cont.)</vt:lpstr>
      <vt:lpstr>IT Governance and Compliance: Frameworks (cont.)</vt:lpstr>
      <vt:lpstr>IT Governance and Compliance: IT Compliance and Regulatory Requirements</vt:lpstr>
      <vt:lpstr>IT Governance and Compliance: IT Compliance and Regulatory Requirements (cont.)</vt:lpstr>
      <vt:lpstr>Managing Stakeholder Expectations and Relationships</vt:lpstr>
      <vt:lpstr>Managing Stakeholder Expectations and Relationships: Understanding Stakeholder Management</vt:lpstr>
      <vt:lpstr>Managing Stakeholder Expectations and Relationships: Strategies</vt:lpstr>
      <vt:lpstr>Managing Stakeholder Expectations and Relationships: Building Relationships</vt:lpstr>
      <vt:lpstr>Group Discussion Case Study </vt:lpstr>
      <vt:lpstr>Case Study: Discussion Points</vt:lpstr>
      <vt:lpstr>Case Study: Discussion Points</vt:lpstr>
      <vt:lpstr>Case Study: Discussion Points</vt:lpstr>
      <vt:lpstr>Summary</vt:lpstr>
      <vt:lpstr>Q&amp;A</vt:lpstr>
      <vt:lpstr>PowerPoint Presentation</vt:lpstr>
      <vt:lpstr>The ethics of information technology</vt:lpstr>
      <vt:lpstr>The ethics of information technology (cont.)</vt:lpstr>
      <vt:lpstr>Ethical Considerations in Big Data</vt:lpstr>
      <vt:lpstr>Ethical Considerations in Big Data</vt:lpstr>
      <vt:lpstr>Video: How to Manage Difficult Stakeholders</vt:lpstr>
      <vt:lpstr>Video: How to Manage Difficult Stakeholders</vt:lpstr>
      <vt:lpstr>Video: How to Manage Difficult Stakeholders</vt:lpstr>
      <vt:lpstr>Video: How to Manage Difficult Stakeholders</vt:lpstr>
      <vt:lpstr>Video: How to Manage Difficult Stakeholders</vt:lpstr>
      <vt:lpstr>Video: How to Manage Difficult Stakeholders</vt:lpstr>
      <vt:lpstr>Video: How to Manage Difficult Stakeholders</vt:lpstr>
      <vt:lpstr>Video: How to Manage Difficult Stakeholders</vt:lpstr>
      <vt:lpstr>Video: How to Manage Difficult Stakeholders</vt:lpstr>
      <vt:lpstr>Video: How to Manage Difficult Stakeholders</vt:lpstr>
      <vt:lpstr>Video: How to Manage Difficult Stakeholders</vt:lpstr>
      <vt:lpstr>Video: How to Manage Difficult Stakeholders</vt:lpstr>
      <vt:lpstr>Video: How to Manage Difficult Stakeholders</vt:lpstr>
      <vt:lpstr>Video: How to Manage Difficult Stakeholders</vt:lpstr>
      <vt:lpstr>Discussion Questions</vt:lpstr>
      <vt:lpstr>Discussion Questions</vt:lpstr>
      <vt:lpstr>Discussion Questions</vt:lpstr>
      <vt:lpstr>Discussion Questions</vt:lpstr>
      <vt:lpstr>Discussion Questions</vt:lpstr>
      <vt:lpstr>Workshop Activity 1</vt:lpstr>
      <vt:lpstr>Workshop Activity 2</vt:lpstr>
      <vt:lpstr>Workshop Activity 3:  Open Questions</vt:lpstr>
      <vt:lpstr>Workshop Activity 4: Infographic 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Lavecchia, Olga (CL AUS)</dc:creator>
  <cp:lastModifiedBy>Farshid Keivanian</cp:lastModifiedBy>
  <cp:revision>373</cp:revision>
  <dcterms:created xsi:type="dcterms:W3CDTF">2009-10-28T23:36:30Z</dcterms:created>
  <dcterms:modified xsi:type="dcterms:W3CDTF">2026-05-25T02:22:27Z</dcterms:modified>
</cp:coreProperties>
</file>