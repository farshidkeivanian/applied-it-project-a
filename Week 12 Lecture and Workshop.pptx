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02"/>
  </p:notesMasterIdLst>
  <p:handoutMasterIdLst>
    <p:handoutMasterId r:id="rId103"/>
  </p:handoutMasterIdLst>
  <p:sldIdLst>
    <p:sldId id="260" r:id="rId2"/>
    <p:sldId id="304" r:id="rId3"/>
    <p:sldId id="543" r:id="rId4"/>
    <p:sldId id="544" r:id="rId5"/>
    <p:sldId id="545" r:id="rId6"/>
    <p:sldId id="546" r:id="rId7"/>
    <p:sldId id="547" r:id="rId8"/>
    <p:sldId id="548" r:id="rId9"/>
    <p:sldId id="549" r:id="rId10"/>
    <p:sldId id="550" r:id="rId11"/>
    <p:sldId id="551" r:id="rId12"/>
    <p:sldId id="552" r:id="rId13"/>
    <p:sldId id="553" r:id="rId14"/>
    <p:sldId id="554" r:id="rId15"/>
    <p:sldId id="555" r:id="rId16"/>
    <p:sldId id="556" r:id="rId17"/>
    <p:sldId id="557" r:id="rId18"/>
    <p:sldId id="558" r:id="rId19"/>
    <p:sldId id="559" r:id="rId20"/>
    <p:sldId id="560" r:id="rId21"/>
    <p:sldId id="561" r:id="rId22"/>
    <p:sldId id="562" r:id="rId23"/>
    <p:sldId id="563" r:id="rId24"/>
    <p:sldId id="564" r:id="rId25"/>
    <p:sldId id="565" r:id="rId26"/>
    <p:sldId id="566" r:id="rId27"/>
    <p:sldId id="567" r:id="rId28"/>
    <p:sldId id="568" r:id="rId29"/>
    <p:sldId id="569" r:id="rId30"/>
    <p:sldId id="570" r:id="rId31"/>
    <p:sldId id="571" r:id="rId32"/>
    <p:sldId id="572" r:id="rId33"/>
    <p:sldId id="573" r:id="rId34"/>
    <p:sldId id="574" r:id="rId35"/>
    <p:sldId id="575" r:id="rId36"/>
    <p:sldId id="576" r:id="rId37"/>
    <p:sldId id="577" r:id="rId38"/>
    <p:sldId id="578" r:id="rId39"/>
    <p:sldId id="579" r:id="rId40"/>
    <p:sldId id="580" r:id="rId41"/>
    <p:sldId id="581" r:id="rId42"/>
    <p:sldId id="582" r:id="rId43"/>
    <p:sldId id="583" r:id="rId44"/>
    <p:sldId id="584" r:id="rId45"/>
    <p:sldId id="585" r:id="rId46"/>
    <p:sldId id="586" r:id="rId47"/>
    <p:sldId id="587" r:id="rId48"/>
    <p:sldId id="588" r:id="rId49"/>
    <p:sldId id="589" r:id="rId50"/>
    <p:sldId id="590" r:id="rId51"/>
    <p:sldId id="591" r:id="rId52"/>
    <p:sldId id="592" r:id="rId53"/>
    <p:sldId id="593" r:id="rId54"/>
    <p:sldId id="594" r:id="rId55"/>
    <p:sldId id="595" r:id="rId56"/>
    <p:sldId id="596" r:id="rId57"/>
    <p:sldId id="597" r:id="rId58"/>
    <p:sldId id="598" r:id="rId59"/>
    <p:sldId id="599" r:id="rId60"/>
    <p:sldId id="600" r:id="rId61"/>
    <p:sldId id="601" r:id="rId62"/>
    <p:sldId id="602" r:id="rId63"/>
    <p:sldId id="603" r:id="rId64"/>
    <p:sldId id="604" r:id="rId65"/>
    <p:sldId id="605" r:id="rId66"/>
    <p:sldId id="606" r:id="rId67"/>
    <p:sldId id="607" r:id="rId68"/>
    <p:sldId id="608" r:id="rId69"/>
    <p:sldId id="609" r:id="rId70"/>
    <p:sldId id="610" r:id="rId71"/>
    <p:sldId id="542" r:id="rId72"/>
    <p:sldId id="518" r:id="rId73"/>
    <p:sldId id="330" r:id="rId74"/>
    <p:sldId id="308" r:id="rId75"/>
    <p:sldId id="324" r:id="rId76"/>
    <p:sldId id="332" r:id="rId77"/>
    <p:sldId id="290" r:id="rId78"/>
    <p:sldId id="362" r:id="rId79"/>
    <p:sldId id="368" r:id="rId80"/>
    <p:sldId id="371" r:id="rId81"/>
    <p:sldId id="287" r:id="rId82"/>
    <p:sldId id="540" r:id="rId83"/>
    <p:sldId id="406" r:id="rId84"/>
    <p:sldId id="411" r:id="rId85"/>
    <p:sldId id="424" r:id="rId86"/>
    <p:sldId id="435" r:id="rId87"/>
    <p:sldId id="433" r:id="rId88"/>
    <p:sldId id="541" r:id="rId89"/>
    <p:sldId id="471" r:id="rId90"/>
    <p:sldId id="412" r:id="rId91"/>
    <p:sldId id="487" r:id="rId92"/>
    <p:sldId id="482" r:id="rId93"/>
    <p:sldId id="505" r:id="rId94"/>
    <p:sldId id="476" r:id="rId95"/>
    <p:sldId id="537" r:id="rId96"/>
    <p:sldId id="519" r:id="rId97"/>
    <p:sldId id="522" r:id="rId98"/>
    <p:sldId id="528" r:id="rId99"/>
    <p:sldId id="438" r:id="rId100"/>
    <p:sldId id="296" r:id="rId101"/>
  </p:sldIdLst>
  <p:sldSz cx="9144000" cy="6858000" type="screen4x3"/>
  <p:notesSz cx="6858000" cy="9144000"/>
  <p:custDataLst>
    <p:tags r:id="rId104"/>
  </p:custDataLst>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ff 45"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B073"/>
    <a:srgbClr val="BD92DE"/>
    <a:srgbClr val="A7D971"/>
    <a:srgbClr val="93E3FF"/>
    <a:srgbClr val="65D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29" autoAdjust="0"/>
    <p:restoredTop sz="95714" autoAdjust="0"/>
  </p:normalViewPr>
  <p:slideViewPr>
    <p:cSldViewPr snapToGrid="0" snapToObjects="1">
      <p:cViewPr>
        <p:scale>
          <a:sx n="66" d="100"/>
          <a:sy n="66" d="100"/>
        </p:scale>
        <p:origin x="829" y="152"/>
      </p:cViewPr>
      <p:guideLst>
        <p:guide orient="horz" pos="2160"/>
        <p:guide pos="2880"/>
      </p:guideLst>
    </p:cSldViewPr>
  </p:slideViewPr>
  <p:notesTextViewPr>
    <p:cViewPr>
      <p:scale>
        <a:sx n="100" d="100"/>
        <a:sy n="100" d="100"/>
      </p:scale>
      <p:origin x="0" y="0"/>
    </p:cViewPr>
  </p:notesTextViewPr>
  <p:notesViewPr>
    <p:cSldViewPr snapToGrid="0" snapToObjects="1">
      <p:cViewPr>
        <p:scale>
          <a:sx n="100" d="100"/>
          <a:sy n="100" d="100"/>
        </p:scale>
        <p:origin x="-1632" y="176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D888D3-E0B3-4EC8-A0F8-AF7221993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AU"/>
          </a:p>
        </p:txBody>
      </p:sp>
      <p:sp>
        <p:nvSpPr>
          <p:cNvPr id="3" name="Date Placeholder 2">
            <a:extLst>
              <a:ext uri="{FF2B5EF4-FFF2-40B4-BE49-F238E27FC236}">
                <a16:creationId xmlns:a16="http://schemas.microsoft.com/office/drawing/2014/main" id="{C38706D2-77D8-407C-A72D-20BBC22DB2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38AF6E5-6A99-4991-BBC1-EAD7CBCD643F}" type="datetimeFigureOut">
              <a:rPr lang="en-AU"/>
              <a:pPr>
                <a:defRPr/>
              </a:pPr>
              <a:t>14/06/2026</a:t>
            </a:fld>
            <a:endParaRPr lang="en-AU"/>
          </a:p>
        </p:txBody>
      </p:sp>
      <p:sp>
        <p:nvSpPr>
          <p:cNvPr id="4" name="Footer Placeholder 3">
            <a:extLst>
              <a:ext uri="{FF2B5EF4-FFF2-40B4-BE49-F238E27FC236}">
                <a16:creationId xmlns:a16="http://schemas.microsoft.com/office/drawing/2014/main" id="{075AA8F4-8CE8-419C-93D9-32E6EB8748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r>
              <a:rPr lang="en-AU"/>
              <a:t>MGM1201 Introduction to Management</a:t>
            </a:r>
          </a:p>
        </p:txBody>
      </p:sp>
      <p:sp>
        <p:nvSpPr>
          <p:cNvPr id="5" name="Slide Number Placeholder 4">
            <a:extLst>
              <a:ext uri="{FF2B5EF4-FFF2-40B4-BE49-F238E27FC236}">
                <a16:creationId xmlns:a16="http://schemas.microsoft.com/office/drawing/2014/main" id="{B7FAE922-90BD-4BEB-B517-77994FA7133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EB6C266-7148-4A73-9792-6361C0E7D9CE}" type="slidenum">
              <a:rPr lang="en-AU" altLang="en-US"/>
              <a:pPr>
                <a:defRPr/>
              </a:pPr>
              <a:t>‹#›</a:t>
            </a:fld>
            <a:endParaRPr lang="en-AU"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C9D7FC-AE7B-4171-9664-F81F340972E2}"/>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Narrow" pitchFamily="34" charset="0"/>
                <a:cs typeface="Arial" charset="0"/>
              </a:defRPr>
            </a:lvl1pPr>
          </a:lstStyle>
          <a:p>
            <a:pPr>
              <a:defRPr/>
            </a:pPr>
            <a:endParaRPr lang="en-AU"/>
          </a:p>
        </p:txBody>
      </p:sp>
      <p:sp>
        <p:nvSpPr>
          <p:cNvPr id="3" name="Date Placeholder 2">
            <a:extLst>
              <a:ext uri="{FF2B5EF4-FFF2-40B4-BE49-F238E27FC236}">
                <a16:creationId xmlns:a16="http://schemas.microsoft.com/office/drawing/2014/main" id="{A570DDF3-705A-4AD4-BB96-1812D9EDCDBE}"/>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Narrow" pitchFamily="34" charset="0"/>
                <a:cs typeface="Arial" charset="0"/>
              </a:defRPr>
            </a:lvl1pPr>
          </a:lstStyle>
          <a:p>
            <a:pPr>
              <a:defRPr/>
            </a:pPr>
            <a:fld id="{91F64CF8-3EFE-421F-BD7A-0A9B398E75CD}" type="datetimeFigureOut">
              <a:rPr lang="en-US"/>
              <a:pPr>
                <a:defRPr/>
              </a:pPr>
              <a:t>6/14/2026</a:t>
            </a:fld>
            <a:endParaRPr lang="en-AU"/>
          </a:p>
        </p:txBody>
      </p:sp>
      <p:sp>
        <p:nvSpPr>
          <p:cNvPr id="4" name="Slide Image Placeholder 3">
            <a:extLst>
              <a:ext uri="{FF2B5EF4-FFF2-40B4-BE49-F238E27FC236}">
                <a16:creationId xmlns:a16="http://schemas.microsoft.com/office/drawing/2014/main" id="{D28F1839-C53D-4FDD-9833-C60E30978FE9}"/>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dirty="0"/>
          </a:p>
        </p:txBody>
      </p:sp>
      <p:sp>
        <p:nvSpPr>
          <p:cNvPr id="5" name="Notes Placeholder 4">
            <a:extLst>
              <a:ext uri="{FF2B5EF4-FFF2-40B4-BE49-F238E27FC236}">
                <a16:creationId xmlns:a16="http://schemas.microsoft.com/office/drawing/2014/main" id="{FB5005B8-2463-4395-A223-76E74F3A1BCD}"/>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a:extLst>
              <a:ext uri="{FF2B5EF4-FFF2-40B4-BE49-F238E27FC236}">
                <a16:creationId xmlns:a16="http://schemas.microsoft.com/office/drawing/2014/main" id="{8EAB34A1-0E20-4E59-AEDA-1BEB43815DAE}"/>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Narrow" pitchFamily="34" charset="0"/>
                <a:cs typeface="Arial" charset="0"/>
              </a:defRPr>
            </a:lvl1pPr>
          </a:lstStyle>
          <a:p>
            <a:pPr>
              <a:defRPr/>
            </a:pPr>
            <a:r>
              <a:rPr lang="en-AU"/>
              <a:t>MGM1201 Introduction to Management</a:t>
            </a:r>
          </a:p>
        </p:txBody>
      </p:sp>
      <p:sp>
        <p:nvSpPr>
          <p:cNvPr id="7" name="Slide Number Placeholder 6">
            <a:extLst>
              <a:ext uri="{FF2B5EF4-FFF2-40B4-BE49-F238E27FC236}">
                <a16:creationId xmlns:a16="http://schemas.microsoft.com/office/drawing/2014/main" id="{573234FB-833F-4B2C-A50C-511DF918317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Narrow" panose="020B0606020202030204" pitchFamily="34" charset="0"/>
              </a:defRPr>
            </a:lvl1pPr>
          </a:lstStyle>
          <a:p>
            <a:pPr>
              <a:defRPr/>
            </a:pPr>
            <a:fld id="{D02EFCD8-A2D0-4328-B179-5217C2DCF70B}"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Narrow"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Narrow"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Narrow"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Narrow"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Narrow"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95F52CD-DF24-453B-9DB4-CE8008EF328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996B2CE6-C6F1-4353-B4FB-CC52476FFF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AU" altLang="en-US"/>
          </a:p>
        </p:txBody>
      </p:sp>
      <p:sp>
        <p:nvSpPr>
          <p:cNvPr id="19460" name="Slide Number Placeholder 3">
            <a:extLst>
              <a:ext uri="{FF2B5EF4-FFF2-40B4-BE49-F238E27FC236}">
                <a16:creationId xmlns:a16="http://schemas.microsoft.com/office/drawing/2014/main" id="{2D59A1C5-FCE8-4561-A2F6-2F27658A10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Narrow" panose="020B0606020202030204" pitchFamily="34" charset="0"/>
              </a:defRPr>
            </a:lvl1pPr>
            <a:lvl2pPr marL="742950" indent="-285750">
              <a:spcBef>
                <a:spcPct val="30000"/>
              </a:spcBef>
              <a:defRPr sz="1200">
                <a:solidFill>
                  <a:schemeClr val="tx1"/>
                </a:solidFill>
                <a:latin typeface="Arial Narrow" panose="020B0606020202030204" pitchFamily="34" charset="0"/>
              </a:defRPr>
            </a:lvl2pPr>
            <a:lvl3pPr marL="1143000" indent="-228600">
              <a:spcBef>
                <a:spcPct val="30000"/>
              </a:spcBef>
              <a:defRPr sz="1200">
                <a:solidFill>
                  <a:schemeClr val="tx1"/>
                </a:solidFill>
                <a:latin typeface="Arial Narrow" panose="020B0606020202030204" pitchFamily="34" charset="0"/>
              </a:defRPr>
            </a:lvl3pPr>
            <a:lvl4pPr marL="1600200" indent="-228600">
              <a:spcBef>
                <a:spcPct val="30000"/>
              </a:spcBef>
              <a:defRPr sz="1200">
                <a:solidFill>
                  <a:schemeClr val="tx1"/>
                </a:solidFill>
                <a:latin typeface="Arial Narrow" panose="020B0606020202030204" pitchFamily="34" charset="0"/>
              </a:defRPr>
            </a:lvl4pPr>
            <a:lvl5pPr marL="2057400" indent="-228600">
              <a:spcBef>
                <a:spcPct val="30000"/>
              </a:spcBef>
              <a:defRPr sz="1200">
                <a:solidFill>
                  <a:schemeClr val="tx1"/>
                </a:solidFill>
                <a:latin typeface="Arial Narrow" panose="020B0606020202030204" pitchFamily="34" charset="0"/>
              </a:defRPr>
            </a:lvl5pPr>
            <a:lvl6pPr marL="2514600" indent="-228600" defTabSz="457200" eaLnBrk="0" fontAlgn="base" hangingPunct="0">
              <a:spcBef>
                <a:spcPct val="30000"/>
              </a:spcBef>
              <a:spcAft>
                <a:spcPct val="0"/>
              </a:spcAft>
              <a:defRPr sz="1200">
                <a:solidFill>
                  <a:schemeClr val="tx1"/>
                </a:solidFill>
                <a:latin typeface="Arial Narrow" panose="020B0606020202030204" pitchFamily="34" charset="0"/>
              </a:defRPr>
            </a:lvl6pPr>
            <a:lvl7pPr marL="2971800" indent="-228600" defTabSz="457200" eaLnBrk="0" fontAlgn="base" hangingPunct="0">
              <a:spcBef>
                <a:spcPct val="30000"/>
              </a:spcBef>
              <a:spcAft>
                <a:spcPct val="0"/>
              </a:spcAft>
              <a:defRPr sz="1200">
                <a:solidFill>
                  <a:schemeClr val="tx1"/>
                </a:solidFill>
                <a:latin typeface="Arial Narrow" panose="020B0606020202030204" pitchFamily="34" charset="0"/>
              </a:defRPr>
            </a:lvl7pPr>
            <a:lvl8pPr marL="3429000" indent="-228600" defTabSz="457200" eaLnBrk="0" fontAlgn="base" hangingPunct="0">
              <a:spcBef>
                <a:spcPct val="30000"/>
              </a:spcBef>
              <a:spcAft>
                <a:spcPct val="0"/>
              </a:spcAft>
              <a:defRPr sz="1200">
                <a:solidFill>
                  <a:schemeClr val="tx1"/>
                </a:solidFill>
                <a:latin typeface="Arial Narrow" panose="020B0606020202030204" pitchFamily="34" charset="0"/>
              </a:defRPr>
            </a:lvl8pPr>
            <a:lvl9pPr marL="3886200" indent="-228600" defTabSz="457200" eaLnBrk="0" fontAlgn="base" hangingPunct="0">
              <a:spcBef>
                <a:spcPct val="30000"/>
              </a:spcBef>
              <a:spcAft>
                <a:spcPct val="0"/>
              </a:spcAft>
              <a:defRPr sz="1200">
                <a:solidFill>
                  <a:schemeClr val="tx1"/>
                </a:solidFill>
                <a:latin typeface="Arial Narrow" panose="020B0606020202030204" pitchFamily="34" charset="0"/>
              </a:defRPr>
            </a:lvl9pPr>
          </a:lstStyle>
          <a:p>
            <a:pPr>
              <a:spcBef>
                <a:spcPct val="0"/>
              </a:spcBef>
            </a:pPr>
            <a:fld id="{12DC90EC-2ECE-4CFA-BB58-9AC8119E5D23}" type="slidenum">
              <a:rPr lang="en-AU" altLang="en-US" smtClean="0"/>
              <a:pPr>
                <a:spcBef>
                  <a:spcPct val="0"/>
                </a:spcBef>
              </a:pPr>
              <a:t>1</a:t>
            </a:fld>
            <a:endParaRPr lang="en-AU" altLang="en-US"/>
          </a:p>
        </p:txBody>
      </p:sp>
      <p:sp>
        <p:nvSpPr>
          <p:cNvPr id="19461" name="Footer Placeholder 1">
            <a:extLst>
              <a:ext uri="{FF2B5EF4-FFF2-40B4-BE49-F238E27FC236}">
                <a16:creationId xmlns:a16="http://schemas.microsoft.com/office/drawing/2014/main" id="{B24EE58C-0BEF-4C39-BD7A-04ABFA94A109}"/>
              </a:ext>
            </a:extLst>
          </p:cNvPr>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AU" altLang="en-US">
                <a:latin typeface="Arial Narrow" panose="020B0606020202030204" pitchFamily="34" charset="0"/>
              </a:rPr>
              <a:t>MGM1201 Introduction to Management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D18DDF8-BBAF-4CA3-8385-C9F26D1FA90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279088-81E5-42AE-A449-F335DB56FCF5}"/>
              </a:ext>
            </a:extLst>
          </p:cNvPr>
          <p:cNvSpPr>
            <a:spLocks noGrp="1"/>
          </p:cNvSpPr>
          <p:nvPr>
            <p:ph type="ftr" sz="quarter" idx="11"/>
          </p:nvPr>
        </p:nvSpPr>
        <p:spPr/>
        <p:txBody>
          <a:bodyPr/>
          <a:lstStyle>
            <a:lvl1pPr>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0FDB2800-BB2A-42FC-A1F7-6D65D43264BF}"/>
              </a:ext>
            </a:extLst>
          </p:cNvPr>
          <p:cNvSpPr>
            <a:spLocks noGrp="1"/>
          </p:cNvSpPr>
          <p:nvPr>
            <p:ph type="sldNum" sz="quarter" idx="12"/>
          </p:nvPr>
        </p:nvSpPr>
        <p:spPr/>
        <p:txBody>
          <a:bodyPr/>
          <a:lstStyle>
            <a:lvl1pPr>
              <a:defRPr/>
            </a:lvl1pPr>
          </a:lstStyle>
          <a:p>
            <a:pPr>
              <a:defRPr/>
            </a:pPr>
            <a:fld id="{D195665D-46DE-48AA-A147-583A9E243055}" type="slidenum">
              <a:rPr lang="en-US" altLang="en-US"/>
              <a:pPr>
                <a:defRPr/>
              </a:pPr>
              <a:t>‹#›</a:t>
            </a:fld>
            <a:endParaRPr lang="en-US" altLang="en-US"/>
          </a:p>
        </p:txBody>
      </p:sp>
    </p:spTree>
    <p:extLst>
      <p:ext uri="{BB962C8B-B14F-4D97-AF65-F5344CB8AC3E}">
        <p14:creationId xmlns:p14="http://schemas.microsoft.com/office/powerpoint/2010/main" val="3092058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987425" y="2424114"/>
            <a:ext cx="4208463" cy="754516"/>
          </a:xfrm>
        </p:spPr>
        <p:txBody>
          <a:bodyPr>
            <a:normAutofit/>
          </a:bodyPr>
          <a:lstStyle>
            <a:lvl1pPr>
              <a:buNone/>
              <a:defRPr sz="4000" b="1">
                <a:solidFill>
                  <a:schemeClr val="accent3">
                    <a:lumMod val="75000"/>
                  </a:schemeClr>
                </a:solidFill>
              </a:defRPr>
            </a:lvl1pPr>
          </a:lstStyle>
          <a:p>
            <a:pPr lvl="0"/>
            <a:r>
              <a:rPr lang="en-US"/>
              <a:t>Click to edit Master text styles</a:t>
            </a:r>
          </a:p>
        </p:txBody>
      </p:sp>
      <p:sp>
        <p:nvSpPr>
          <p:cNvPr id="11" name="Text Placeholder 10"/>
          <p:cNvSpPr>
            <a:spLocks noGrp="1"/>
          </p:cNvSpPr>
          <p:nvPr>
            <p:ph type="body" sz="quarter" idx="14"/>
          </p:nvPr>
        </p:nvSpPr>
        <p:spPr>
          <a:xfrm>
            <a:off x="987425" y="3429000"/>
            <a:ext cx="7300913" cy="2565400"/>
          </a:xfrm>
        </p:spPr>
        <p:txBody>
          <a:bodyPr>
            <a:normAutofit/>
          </a:bodyPr>
          <a:lstStyle>
            <a:lvl1pPr>
              <a:buNone/>
              <a:defRPr sz="4000">
                <a:solidFill>
                  <a:schemeClr val="accent3">
                    <a:lumMod val="75000"/>
                  </a:schemeClr>
                </a:solidFill>
                <a:latin typeface="Arial Narrow" pitchFamily="34" charset="0"/>
              </a:defRPr>
            </a:lvl1pPr>
          </a:lstStyle>
          <a:p>
            <a:pPr lvl="0"/>
            <a:endParaRPr lang="en-AU" dirty="0"/>
          </a:p>
        </p:txBody>
      </p:sp>
    </p:spTree>
    <p:extLst>
      <p:ext uri="{BB962C8B-B14F-4D97-AF65-F5344CB8AC3E}">
        <p14:creationId xmlns:p14="http://schemas.microsoft.com/office/powerpoint/2010/main" val="9700685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AF0ADA-31EF-4C37-BFB4-6846F8CC73AD}"/>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D5F093B2-0F82-47F8-A8E7-F20180BAC978}"/>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C97CA925-85C2-4A83-ADE3-8FCC18A86A36}"/>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077" name="Text Placeholder 2">
            <a:extLst>
              <a:ext uri="{FF2B5EF4-FFF2-40B4-BE49-F238E27FC236}">
                <a16:creationId xmlns:a16="http://schemas.microsoft.com/office/drawing/2014/main" id="{2D186389-A230-473D-BE88-C2B1FB76B0D3}"/>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9CAD95A-D7C1-4161-B153-68D2FB5531E3}"/>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a:extLst>
              <a:ext uri="{FF2B5EF4-FFF2-40B4-BE49-F238E27FC236}">
                <a16:creationId xmlns:a16="http://schemas.microsoft.com/office/drawing/2014/main" id="{EFEE9959-195D-4693-AA37-953BDC04C6FE}"/>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dirty="0"/>
              <a:t>Ict401 Programming for the Information Age</a:t>
            </a:r>
          </a:p>
        </p:txBody>
      </p:sp>
      <p:sp>
        <p:nvSpPr>
          <p:cNvPr id="6" name="Slide Number Placeholder 5">
            <a:extLst>
              <a:ext uri="{FF2B5EF4-FFF2-40B4-BE49-F238E27FC236}">
                <a16:creationId xmlns:a16="http://schemas.microsoft.com/office/drawing/2014/main" id="{87BDC37D-D0BA-42B9-9D61-2CF676F40B33}"/>
              </a:ext>
            </a:extLst>
          </p:cNvPr>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pPr>
              <a:defRPr/>
            </a:pPr>
            <a:fld id="{55BE3CB0-5624-47F4-A482-33D6D62E6D59}"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8FB8F089-64D3-47EA-93ED-A369A77005E1}"/>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71" r:id="rId1"/>
    <p:sldLayoutId id="2147483981" r:id="rId2"/>
  </p:sldLayoutIdLst>
  <p:hf hd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9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Placeholder 2">
            <a:extLst>
              <a:ext uri="{FF2B5EF4-FFF2-40B4-BE49-F238E27FC236}">
                <a16:creationId xmlns:a16="http://schemas.microsoft.com/office/drawing/2014/main" id="{7011D958-7B17-483C-B07B-1B379F607C55}"/>
              </a:ext>
            </a:extLst>
          </p:cNvPr>
          <p:cNvSpPr>
            <a:spLocks noGrp="1" noChangeArrowheads="1"/>
          </p:cNvSpPr>
          <p:nvPr>
            <p:ph type="body" sz="quarter" idx="13"/>
          </p:nvPr>
        </p:nvSpPr>
        <p:spPr>
          <a:xfrm>
            <a:off x="127000" y="123492"/>
            <a:ext cx="8605044" cy="4437998"/>
          </a:xfrm>
        </p:spPr>
        <p:txBody>
          <a:bodyPr anchor="ctr"/>
          <a:lstStyle/>
          <a:p>
            <a:pPr algn="ctr" eaLnBrk="1" hangingPunct="1">
              <a:spcBef>
                <a:spcPts val="600"/>
              </a:spcBef>
              <a:spcAft>
                <a:spcPts val="2400"/>
              </a:spcAft>
            </a:pPr>
            <a:r>
              <a:rPr lang="en-AU" altLang="en-US" sz="5400" dirty="0">
                <a:solidFill>
                  <a:srgbClr val="00B0F0"/>
                </a:solidFill>
              </a:rPr>
              <a:t>ICT</a:t>
            </a:r>
            <a:r>
              <a:rPr lang="en-US" altLang="zh-CN" sz="5400" dirty="0">
                <a:solidFill>
                  <a:srgbClr val="00B0F0"/>
                </a:solidFill>
              </a:rPr>
              <a:t>502</a:t>
            </a:r>
            <a:endParaRPr lang="en-AU" altLang="en-US" sz="5400" dirty="0">
              <a:solidFill>
                <a:srgbClr val="00B0F0"/>
              </a:solidFill>
            </a:endParaRPr>
          </a:p>
          <a:p>
            <a:pPr algn="ctr" eaLnBrk="1" hangingPunct="1">
              <a:spcBef>
                <a:spcPts val="600"/>
              </a:spcBef>
              <a:spcAft>
                <a:spcPts val="2400"/>
              </a:spcAft>
            </a:pPr>
            <a:r>
              <a:rPr lang="en-AU" altLang="en-US" sz="5400" dirty="0">
                <a:solidFill>
                  <a:srgbClr val="00B0F0"/>
                </a:solidFill>
              </a:rPr>
              <a:t>Week </a:t>
            </a:r>
            <a:r>
              <a:rPr lang="en-US" altLang="en-US" sz="5400" dirty="0">
                <a:solidFill>
                  <a:srgbClr val="00B0F0"/>
                </a:solidFill>
              </a:rPr>
              <a:t>12: </a:t>
            </a:r>
            <a:r>
              <a:rPr lang="en-AU" sz="5400" dirty="0">
                <a:solidFill>
                  <a:srgbClr val="00B0F0"/>
                </a:solidFill>
              </a:rPr>
              <a:t>Revision</a:t>
            </a:r>
          </a:p>
          <a:p>
            <a:pPr algn="ctr" eaLnBrk="1" hangingPunct="1">
              <a:spcBef>
                <a:spcPts val="600"/>
              </a:spcBef>
              <a:spcAft>
                <a:spcPts val="2400"/>
              </a:spcAft>
            </a:pPr>
            <a:r>
              <a:rPr lang="en-AU" altLang="en-US" sz="5400" dirty="0">
                <a:solidFill>
                  <a:srgbClr val="00B0F0"/>
                </a:solidFill>
              </a:rPr>
              <a:t>Assessment 4 Success Guide</a:t>
            </a:r>
          </a:p>
        </p:txBody>
      </p:sp>
      <p:pic>
        <p:nvPicPr>
          <p:cNvPr id="18435" name="Picture 2">
            <a:extLst>
              <a:ext uri="{FF2B5EF4-FFF2-40B4-BE49-F238E27FC236}">
                <a16:creationId xmlns:a16="http://schemas.microsoft.com/office/drawing/2014/main" id="{7E97EA98-FA21-47E9-AAAB-D57D85BF5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Footer Placeholder 1">
            <a:extLst>
              <a:ext uri="{FF2B5EF4-FFF2-40B4-BE49-F238E27FC236}">
                <a16:creationId xmlns:a16="http://schemas.microsoft.com/office/drawing/2014/main" id="{B585785C-A56D-4F54-80A4-ABEA8B982C83}"/>
              </a:ext>
            </a:extLst>
          </p:cNvPr>
          <p:cNvSpPr txBox="1">
            <a:spLocks noChangeArrowheads="1"/>
          </p:cNvSpPr>
          <p:nvPr/>
        </p:nvSpPr>
        <p:spPr bwMode="auto">
          <a:xfrm>
            <a:off x="2765425" y="6459538"/>
            <a:ext cx="3616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18437" name="Slide Number Placeholder 3">
            <a:extLst>
              <a:ext uri="{FF2B5EF4-FFF2-40B4-BE49-F238E27FC236}">
                <a16:creationId xmlns:a16="http://schemas.microsoft.com/office/drawing/2014/main" id="{24A2BABC-6B4A-40B3-94BC-37C96408B1C0}"/>
              </a:ext>
            </a:extLst>
          </p:cNvPr>
          <p:cNvSpPr txBox="1">
            <a:spLocks noChangeArrowheads="1"/>
          </p:cNvSpPr>
          <p:nvPr/>
        </p:nvSpPr>
        <p:spPr bwMode="auto">
          <a:xfrm>
            <a:off x="7424738" y="6459538"/>
            <a:ext cx="984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382588" indent="-182563">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566738"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749300"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931863" indent="-182563">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13890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18462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23034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2760663" indent="-182563"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r">
              <a:lnSpc>
                <a:spcPct val="100000"/>
              </a:lnSpc>
              <a:spcBef>
                <a:spcPct val="0"/>
              </a:spcBef>
              <a:spcAft>
                <a:spcPct val="0"/>
              </a:spcAft>
              <a:buClrTx/>
              <a:buSzTx/>
              <a:buFontTx/>
              <a:buNone/>
            </a:pPr>
            <a:fld id="{6A713114-2FAF-491F-A5D9-97598AEF03A7}" type="slidenum">
              <a:rPr lang="en-US" altLang="en-US" sz="900">
                <a:solidFill>
                  <a:schemeClr val="bg1"/>
                </a:solidFill>
                <a:latin typeface="Arial" panose="020B0604020202020204" pitchFamily="34" charset="0"/>
              </a:rPr>
              <a:pPr algn="r">
                <a:lnSpc>
                  <a:spcPct val="100000"/>
                </a:lnSpc>
                <a:spcBef>
                  <a:spcPct val="0"/>
                </a:spcBef>
                <a:spcAft>
                  <a:spcPct val="0"/>
                </a:spcAft>
                <a:buClrTx/>
                <a:buSzTx/>
                <a:buFontTx/>
                <a:buNone/>
              </a:pPr>
              <a:t>1</a:t>
            </a:fld>
            <a:endParaRPr lang="en-US" altLang="en-US" sz="1000">
              <a:solidFill>
                <a:schemeClr val="bg1"/>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0" y="736583"/>
            <a:ext cx="9016998" cy="1063299"/>
          </a:xfrm>
        </p:spPr>
        <p:txBody>
          <a:bodyPr>
            <a:noAutofit/>
          </a:bodyPr>
          <a:lstStyle/>
          <a:p>
            <a:pPr algn="ctr" eaLnBrk="1" fontAlgn="auto" hangingPunct="1">
              <a:spcAft>
                <a:spcPts val="0"/>
              </a:spcAft>
              <a:defRPr/>
            </a:pPr>
            <a:r>
              <a:rPr lang="en-AU" sz="3600" b="1" dirty="0">
                <a:solidFill>
                  <a:srgbClr val="00B0F0"/>
                </a:solidFill>
                <a:latin typeface="+mn-lt"/>
              </a:rPr>
              <a:t>Assessment 4: Project Proposal – Solution and Design Documentation</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r>
              <a:rPr lang="en-US" sz="2800" dirty="0"/>
              <a:t>This week we will focus on:</a:t>
            </a:r>
          </a:p>
          <a:p>
            <a:pPr marL="0" indent="0">
              <a:buNone/>
            </a:pPr>
            <a:r>
              <a:rPr lang="en-US" sz="2800" dirty="0"/>
              <a:t>- Reviewing Assessment 4 requirements </a:t>
            </a:r>
          </a:p>
          <a:p>
            <a:pPr marL="0" indent="0">
              <a:buNone/>
            </a:pPr>
            <a:r>
              <a:rPr lang="en-US" sz="2800" dirty="0"/>
              <a:t>- Understanding what markers are looking for </a:t>
            </a:r>
          </a:p>
          <a:p>
            <a:pPr marL="0" indent="0">
              <a:buNone/>
            </a:pPr>
            <a:r>
              <a:rPr lang="en-US" sz="2800" dirty="0"/>
              <a:t>- Communicating with industry stakeholders </a:t>
            </a:r>
          </a:p>
          <a:p>
            <a:pPr marL="0" indent="0">
              <a:buNone/>
            </a:pPr>
            <a:r>
              <a:rPr lang="en-US" sz="2800" dirty="0"/>
              <a:t>- Identifying business problems </a:t>
            </a:r>
          </a:p>
          <a:p>
            <a:pPr marL="0" indent="0">
              <a:buNone/>
            </a:pPr>
            <a:r>
              <a:rPr lang="en-US" sz="2800" dirty="0"/>
              <a:t>- Designing practical IT solutions </a:t>
            </a:r>
          </a:p>
          <a:p>
            <a:pPr marL="0" indent="0">
              <a:buNone/>
            </a:pPr>
            <a:r>
              <a:rPr lang="en-US" sz="2800" dirty="0"/>
              <a:t>- Avoiding common mistakes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9341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B44EB-C4FD-990E-7C4D-829B4E137CD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E0FE5A6-78F3-C4DB-84AE-FBF25B132EAA}"/>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AU" sz="3600" b="1" dirty="0">
                <a:solidFill>
                  <a:srgbClr val="00B0F0"/>
                </a:solidFill>
                <a:latin typeface="+mn-lt"/>
              </a:rPr>
              <a:t>What is Assessment 4?</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52395FAB-5CAB-4EAC-FB90-32BDC07DE3EF}"/>
              </a:ext>
            </a:extLst>
          </p:cNvPr>
          <p:cNvSpPr>
            <a:spLocks noGrp="1" noChangeArrowheads="1"/>
          </p:cNvSpPr>
          <p:nvPr>
            <p:ph idx="1"/>
          </p:nvPr>
        </p:nvSpPr>
        <p:spPr>
          <a:xfrm>
            <a:off x="276045" y="1799883"/>
            <a:ext cx="8643668" cy="4569386"/>
          </a:xfrm>
        </p:spPr>
        <p:txBody>
          <a:bodyPr/>
          <a:lstStyle/>
          <a:p>
            <a:pPr>
              <a:lnSpc>
                <a:spcPct val="100000"/>
              </a:lnSpc>
            </a:pPr>
            <a:r>
              <a:rPr lang="en-US" sz="2200" b="1" dirty="0"/>
              <a:t>Your task</a:t>
            </a:r>
          </a:p>
          <a:p>
            <a:pPr>
              <a:lnSpc>
                <a:spcPct val="100000"/>
              </a:lnSpc>
            </a:pPr>
            <a:r>
              <a:rPr lang="en-US" sz="2200" dirty="0"/>
              <a:t>Develop a professional IT project proposal that includes:</a:t>
            </a:r>
          </a:p>
          <a:p>
            <a:pPr marL="357188">
              <a:lnSpc>
                <a:spcPct val="100000"/>
              </a:lnSpc>
            </a:pPr>
            <a:r>
              <a:rPr lang="en-US" sz="2200" dirty="0"/>
              <a:t>✔ Problem definition</a:t>
            </a:r>
          </a:p>
          <a:p>
            <a:pPr marL="357188">
              <a:lnSpc>
                <a:spcPct val="100000"/>
              </a:lnSpc>
            </a:pPr>
            <a:r>
              <a:rPr lang="en-US" sz="2200" dirty="0"/>
              <a:t>✔ Proposed solution</a:t>
            </a:r>
          </a:p>
          <a:p>
            <a:pPr marL="357188">
              <a:lnSpc>
                <a:spcPct val="100000"/>
              </a:lnSpc>
            </a:pPr>
            <a:r>
              <a:rPr lang="en-US" sz="2200" dirty="0"/>
              <a:t>✔ Design documentation</a:t>
            </a:r>
          </a:p>
          <a:p>
            <a:pPr marL="357188">
              <a:lnSpc>
                <a:spcPct val="100000"/>
              </a:lnSpc>
            </a:pPr>
            <a:r>
              <a:rPr lang="en-US" sz="2200" dirty="0"/>
              <a:t>✔ Sustainability considerations</a:t>
            </a:r>
          </a:p>
          <a:p>
            <a:pPr marL="357188">
              <a:lnSpc>
                <a:spcPct val="100000"/>
              </a:lnSpc>
            </a:pPr>
            <a:r>
              <a:rPr lang="en-US" sz="2200" dirty="0"/>
              <a:t>✔ Ethical considerations</a:t>
            </a:r>
          </a:p>
          <a:p>
            <a:pPr marL="357188">
              <a:lnSpc>
                <a:spcPct val="100000"/>
              </a:lnSpc>
            </a:pPr>
            <a:r>
              <a:rPr lang="en-US" sz="2200" dirty="0"/>
              <a:t>✔ Communication strategy</a:t>
            </a:r>
          </a:p>
          <a:p>
            <a:pPr marL="357188">
              <a:lnSpc>
                <a:spcPct val="100000"/>
              </a:lnSpc>
            </a:pPr>
            <a:r>
              <a:rPr lang="en-US" sz="2200" dirty="0"/>
              <a:t>✔ Future development plan</a:t>
            </a:r>
          </a:p>
        </p:txBody>
      </p:sp>
      <p:sp>
        <p:nvSpPr>
          <p:cNvPr id="2" name="Footer Placeholder 1">
            <a:extLst>
              <a:ext uri="{FF2B5EF4-FFF2-40B4-BE49-F238E27FC236}">
                <a16:creationId xmlns:a16="http://schemas.microsoft.com/office/drawing/2014/main" id="{F8CCE301-1F9F-05ED-9222-3A0F6C7F698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C251A389-2C51-A1A0-0B6B-678A768686E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a:t>
            </a:fld>
            <a:endParaRPr lang="en-US" altLang="en-US" sz="900">
              <a:solidFill>
                <a:srgbClr val="FFFFFF"/>
              </a:solidFill>
            </a:endParaRPr>
          </a:p>
        </p:txBody>
      </p:sp>
      <p:pic>
        <p:nvPicPr>
          <p:cNvPr id="23558" name="Picture 5">
            <a:extLst>
              <a:ext uri="{FF2B5EF4-FFF2-40B4-BE49-F238E27FC236}">
                <a16:creationId xmlns:a16="http://schemas.microsoft.com/office/drawing/2014/main" id="{1839EF1B-6DCD-802C-E21C-B1C7583A4C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7054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6A0A2-33C8-5653-A63F-C7F22E3C683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B93AEF2-69E8-D23A-62B6-70BFD7991151}"/>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Think Like an IT Consultant</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ACB917FE-C13C-3236-AD14-1E145823C5DA}"/>
              </a:ext>
            </a:extLst>
          </p:cNvPr>
          <p:cNvSpPr>
            <a:spLocks noGrp="1" noChangeArrowheads="1"/>
          </p:cNvSpPr>
          <p:nvPr>
            <p:ph idx="1"/>
          </p:nvPr>
        </p:nvSpPr>
        <p:spPr>
          <a:xfrm>
            <a:off x="276045" y="1675956"/>
            <a:ext cx="8643668" cy="4569386"/>
          </a:xfrm>
        </p:spPr>
        <p:txBody>
          <a:bodyPr/>
          <a:lstStyle/>
          <a:p>
            <a:pPr>
              <a:lnSpc>
                <a:spcPct val="150000"/>
              </a:lnSpc>
            </a:pPr>
            <a:r>
              <a:rPr lang="en-US" sz="2800" dirty="0"/>
              <a:t>Your role is not simply to describe a technology.</a:t>
            </a:r>
          </a:p>
          <a:p>
            <a:pPr>
              <a:lnSpc>
                <a:spcPct val="150000"/>
              </a:lnSpc>
            </a:pPr>
            <a:r>
              <a:rPr lang="en-US" sz="2800" dirty="0"/>
              <a:t>Your role is to:</a:t>
            </a:r>
          </a:p>
          <a:p>
            <a:pPr marL="714375" indent="-514350">
              <a:lnSpc>
                <a:spcPct val="150000"/>
              </a:lnSpc>
              <a:buFont typeface="+mj-lt"/>
              <a:buAutoNum type="arabicPeriod"/>
            </a:pPr>
            <a:r>
              <a:rPr lang="en-US" sz="2800" dirty="0"/>
              <a:t>Identify a business problem </a:t>
            </a:r>
          </a:p>
          <a:p>
            <a:pPr marL="714375" indent="-514350">
              <a:lnSpc>
                <a:spcPct val="150000"/>
              </a:lnSpc>
              <a:buFont typeface="+mj-lt"/>
              <a:buAutoNum type="arabicPeriod"/>
            </a:pPr>
            <a:r>
              <a:rPr lang="en-US" sz="2800" dirty="0"/>
              <a:t>Understand stakeholder needs </a:t>
            </a:r>
          </a:p>
          <a:p>
            <a:pPr marL="714375" indent="-514350">
              <a:lnSpc>
                <a:spcPct val="150000"/>
              </a:lnSpc>
              <a:buFont typeface="+mj-lt"/>
              <a:buAutoNum type="arabicPeriod"/>
            </a:pPr>
            <a:r>
              <a:rPr lang="en-US" sz="2800" dirty="0"/>
              <a:t>Design an IT solution </a:t>
            </a:r>
          </a:p>
          <a:p>
            <a:pPr marL="714375" indent="-514350">
              <a:lnSpc>
                <a:spcPct val="150000"/>
              </a:lnSpc>
              <a:buFont typeface="+mj-lt"/>
              <a:buAutoNum type="arabicPeriod"/>
            </a:pPr>
            <a:r>
              <a:rPr lang="en-US" sz="2800" dirty="0"/>
              <a:t>Justify your decisions</a:t>
            </a:r>
          </a:p>
        </p:txBody>
      </p:sp>
      <p:sp>
        <p:nvSpPr>
          <p:cNvPr id="2" name="Footer Placeholder 1">
            <a:extLst>
              <a:ext uri="{FF2B5EF4-FFF2-40B4-BE49-F238E27FC236}">
                <a16:creationId xmlns:a16="http://schemas.microsoft.com/office/drawing/2014/main" id="{9EEF84B3-712A-835B-B076-64F986EDFFC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6ED37919-9015-39B4-A5C4-DC05345669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a:t>
            </a:fld>
            <a:endParaRPr lang="en-US" altLang="en-US" sz="900">
              <a:solidFill>
                <a:srgbClr val="FFFFFF"/>
              </a:solidFill>
            </a:endParaRPr>
          </a:p>
        </p:txBody>
      </p:sp>
      <p:pic>
        <p:nvPicPr>
          <p:cNvPr id="23558" name="Picture 5">
            <a:extLst>
              <a:ext uri="{FF2B5EF4-FFF2-40B4-BE49-F238E27FC236}">
                <a16:creationId xmlns:a16="http://schemas.microsoft.com/office/drawing/2014/main" id="{FC027464-6BDB-008D-29AA-0CFA57E4CA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8086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768A5-FCFD-05F9-5342-580DF823E81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93E1308-090E-F283-3024-ABD694D81E67}"/>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What Markers Want To See</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E8030C6F-B449-231A-94FE-04785599AE80}"/>
              </a:ext>
            </a:extLst>
          </p:cNvPr>
          <p:cNvSpPr>
            <a:spLocks noGrp="1" noChangeArrowheads="1"/>
          </p:cNvSpPr>
          <p:nvPr>
            <p:ph idx="1"/>
          </p:nvPr>
        </p:nvSpPr>
        <p:spPr>
          <a:xfrm>
            <a:off x="276045" y="1675955"/>
            <a:ext cx="7911514" cy="4924541"/>
          </a:xfrm>
          <a:solidFill>
            <a:schemeClr val="bg1"/>
          </a:solidFill>
        </p:spPr>
        <p:txBody>
          <a:bodyPr/>
          <a:lstStyle/>
          <a:p>
            <a:r>
              <a:rPr lang="en-US" sz="2800" b="1" dirty="0"/>
              <a:t>Strong Projects</a:t>
            </a:r>
          </a:p>
          <a:p>
            <a:r>
              <a:rPr lang="en-US" sz="2800" dirty="0"/>
              <a:t>✓ Clear business problem</a:t>
            </a:r>
          </a:p>
          <a:p>
            <a:r>
              <a:rPr lang="en-US" sz="2800" dirty="0"/>
              <a:t>✓ Real stakeholder needs</a:t>
            </a:r>
          </a:p>
          <a:p>
            <a:r>
              <a:rPr lang="en-US" sz="2800" dirty="0"/>
              <a:t>✓ Logical solution</a:t>
            </a:r>
          </a:p>
          <a:p>
            <a:r>
              <a:rPr lang="en-US" sz="2800" dirty="0"/>
              <a:t>✓ Appropriate technologies</a:t>
            </a:r>
          </a:p>
          <a:p>
            <a:r>
              <a:rPr lang="en-US" sz="2800" dirty="0"/>
              <a:t>✓ Sustainability discussion</a:t>
            </a:r>
          </a:p>
          <a:p>
            <a:r>
              <a:rPr lang="en-US" sz="2800" dirty="0"/>
              <a:t>✓ Ethical analysis</a:t>
            </a:r>
          </a:p>
          <a:p>
            <a:r>
              <a:rPr lang="en-US" sz="2800" dirty="0"/>
              <a:t>✓ Professional communication</a:t>
            </a:r>
          </a:p>
          <a:p>
            <a:r>
              <a:rPr lang="en-US" sz="2800" dirty="0"/>
              <a:t>✓ References supporting decisions</a:t>
            </a:r>
          </a:p>
        </p:txBody>
      </p:sp>
      <p:sp>
        <p:nvSpPr>
          <p:cNvPr id="2" name="Footer Placeholder 1">
            <a:extLst>
              <a:ext uri="{FF2B5EF4-FFF2-40B4-BE49-F238E27FC236}">
                <a16:creationId xmlns:a16="http://schemas.microsoft.com/office/drawing/2014/main" id="{8D9FA5F6-F4C0-9B47-550F-EA1EF114394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90987F44-2F5F-644C-D105-1C28C616DEA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a:t>
            </a:fld>
            <a:endParaRPr lang="en-US" altLang="en-US" sz="900">
              <a:solidFill>
                <a:srgbClr val="FFFFFF"/>
              </a:solidFill>
            </a:endParaRPr>
          </a:p>
        </p:txBody>
      </p:sp>
      <p:pic>
        <p:nvPicPr>
          <p:cNvPr id="23558" name="Picture 5">
            <a:extLst>
              <a:ext uri="{FF2B5EF4-FFF2-40B4-BE49-F238E27FC236}">
                <a16:creationId xmlns:a16="http://schemas.microsoft.com/office/drawing/2014/main" id="{7BA7F5C9-9824-EEAF-7B88-132E242B78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4021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3CEAC-D5B9-26D4-A828-B7E6B3661F6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84C6258-4A95-35DB-D6E3-178A98CEE7B2}"/>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Weak Projects</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78D3D33F-AFEA-7C7C-904B-877DC0D165F4}"/>
              </a:ext>
            </a:extLst>
          </p:cNvPr>
          <p:cNvSpPr>
            <a:spLocks noGrp="1" noChangeArrowheads="1"/>
          </p:cNvSpPr>
          <p:nvPr>
            <p:ph idx="1"/>
          </p:nvPr>
        </p:nvSpPr>
        <p:spPr>
          <a:xfrm>
            <a:off x="276045" y="1675955"/>
            <a:ext cx="7911514" cy="4924541"/>
          </a:xfrm>
          <a:solidFill>
            <a:schemeClr val="bg1"/>
          </a:solidFill>
        </p:spPr>
        <p:txBody>
          <a:bodyPr/>
          <a:lstStyle/>
          <a:p>
            <a:pPr>
              <a:lnSpc>
                <a:spcPct val="150000"/>
              </a:lnSpc>
            </a:pPr>
            <a:r>
              <a:rPr lang="en-US" sz="2800" dirty="0"/>
              <a:t>✗ Technology without a business problem</a:t>
            </a:r>
          </a:p>
          <a:p>
            <a:pPr>
              <a:lnSpc>
                <a:spcPct val="150000"/>
              </a:lnSpc>
            </a:pPr>
            <a:r>
              <a:rPr lang="en-US" sz="2800" dirty="0"/>
              <a:t>✗ Generic descriptions</a:t>
            </a:r>
          </a:p>
          <a:p>
            <a:pPr>
              <a:lnSpc>
                <a:spcPct val="150000"/>
              </a:lnSpc>
            </a:pPr>
            <a:r>
              <a:rPr lang="en-US" sz="2800" dirty="0"/>
              <a:t>✗ No justification</a:t>
            </a:r>
          </a:p>
          <a:p>
            <a:pPr>
              <a:lnSpc>
                <a:spcPct val="150000"/>
              </a:lnSpc>
            </a:pPr>
            <a:r>
              <a:rPr lang="en-US" sz="2800" dirty="0"/>
              <a:t>✗ No diagrams</a:t>
            </a:r>
          </a:p>
          <a:p>
            <a:pPr>
              <a:lnSpc>
                <a:spcPct val="150000"/>
              </a:lnSpc>
            </a:pPr>
            <a:r>
              <a:rPr lang="en-US" sz="2800" dirty="0"/>
              <a:t>✗ No stakeholder analysis</a:t>
            </a:r>
          </a:p>
          <a:p>
            <a:pPr>
              <a:lnSpc>
                <a:spcPct val="150000"/>
              </a:lnSpc>
            </a:pPr>
            <a:r>
              <a:rPr lang="en-US" sz="2800" dirty="0"/>
              <a:t>✗ No references</a:t>
            </a:r>
          </a:p>
        </p:txBody>
      </p:sp>
      <p:sp>
        <p:nvSpPr>
          <p:cNvPr id="2" name="Footer Placeholder 1">
            <a:extLst>
              <a:ext uri="{FF2B5EF4-FFF2-40B4-BE49-F238E27FC236}">
                <a16:creationId xmlns:a16="http://schemas.microsoft.com/office/drawing/2014/main" id="{95AE43EC-C2DC-AAB8-765B-1395D7C8A0A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14AE66CE-A2EC-E046-9578-068DD6F87D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a:t>
            </a:fld>
            <a:endParaRPr lang="en-US" altLang="en-US" sz="900">
              <a:solidFill>
                <a:srgbClr val="FFFFFF"/>
              </a:solidFill>
            </a:endParaRPr>
          </a:p>
        </p:txBody>
      </p:sp>
      <p:pic>
        <p:nvPicPr>
          <p:cNvPr id="23558" name="Picture 5">
            <a:extLst>
              <a:ext uri="{FF2B5EF4-FFF2-40B4-BE49-F238E27FC236}">
                <a16:creationId xmlns:a16="http://schemas.microsoft.com/office/drawing/2014/main" id="{384E9ACB-C420-ABF0-85A9-9FB4056749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0817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EE78C-65B6-DFFC-3FD0-F043FAFF39E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57F968C-2B50-669A-FA91-50F768193A84}"/>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Example Case Study (Similar to Assessment 4)</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76998870-0390-CA52-3F10-3BF865902AF5}"/>
              </a:ext>
            </a:extLst>
          </p:cNvPr>
          <p:cNvSpPr>
            <a:spLocks noGrp="1" noChangeArrowheads="1"/>
          </p:cNvSpPr>
          <p:nvPr>
            <p:ph idx="1"/>
          </p:nvPr>
        </p:nvSpPr>
        <p:spPr>
          <a:xfrm>
            <a:off x="276045" y="1675956"/>
            <a:ext cx="7911514" cy="3950472"/>
          </a:xfrm>
          <a:solidFill>
            <a:schemeClr val="bg1"/>
          </a:solidFill>
        </p:spPr>
        <p:txBody>
          <a:bodyPr/>
          <a:lstStyle/>
          <a:p>
            <a:r>
              <a:rPr lang="en-US" sz="2800" b="1" dirty="0"/>
              <a:t>Case Study</a:t>
            </a:r>
          </a:p>
          <a:p>
            <a:r>
              <a:rPr lang="en-US" sz="2800" dirty="0"/>
              <a:t>Sydney Community Health Centre</a:t>
            </a:r>
          </a:p>
          <a:p>
            <a:r>
              <a:rPr lang="en-US" sz="2800" dirty="0"/>
              <a:t>Current Problem:</a:t>
            </a:r>
          </a:p>
          <a:p>
            <a:r>
              <a:rPr lang="en-US" sz="2800" dirty="0"/>
              <a:t>- Uses paper-based appointment records </a:t>
            </a:r>
          </a:p>
          <a:p>
            <a:r>
              <a:rPr lang="en-US" sz="2800" dirty="0"/>
              <a:t>- Patients miss appointments </a:t>
            </a:r>
          </a:p>
          <a:p>
            <a:r>
              <a:rPr lang="en-US" sz="2800" dirty="0"/>
              <a:t>- Staff manually call patients </a:t>
            </a:r>
          </a:p>
          <a:p>
            <a:r>
              <a:rPr lang="en-US" sz="2800" dirty="0"/>
              <a:t>- High administrative workload</a:t>
            </a:r>
          </a:p>
        </p:txBody>
      </p:sp>
      <p:sp>
        <p:nvSpPr>
          <p:cNvPr id="2" name="Footer Placeholder 1">
            <a:extLst>
              <a:ext uri="{FF2B5EF4-FFF2-40B4-BE49-F238E27FC236}">
                <a16:creationId xmlns:a16="http://schemas.microsoft.com/office/drawing/2014/main" id="{ADE8E0A1-34CE-A899-AC2C-F0481A8CEF1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F32EB22-68CB-6598-0F63-AABDDB2C951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a:t>
            </a:fld>
            <a:endParaRPr lang="en-US" altLang="en-US" sz="900">
              <a:solidFill>
                <a:srgbClr val="FFFFFF"/>
              </a:solidFill>
            </a:endParaRPr>
          </a:p>
        </p:txBody>
      </p:sp>
      <p:pic>
        <p:nvPicPr>
          <p:cNvPr id="23558" name="Picture 5">
            <a:extLst>
              <a:ext uri="{FF2B5EF4-FFF2-40B4-BE49-F238E27FC236}">
                <a16:creationId xmlns:a16="http://schemas.microsoft.com/office/drawing/2014/main" id="{8406AF0B-085E-AD0D-4E6F-B7C1D15B5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3961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0848B-5C4F-5BB6-18C9-5728AEC1D26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36A9262-F8C7-A40B-D9C3-4C43DC19423A}"/>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Example Case Study (Similar to Assessment 4)</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03BD0043-83EF-FA09-5EBB-0DC9BE851E4D}"/>
              </a:ext>
            </a:extLst>
          </p:cNvPr>
          <p:cNvSpPr>
            <a:spLocks noGrp="1" noChangeArrowheads="1"/>
          </p:cNvSpPr>
          <p:nvPr>
            <p:ph idx="1"/>
          </p:nvPr>
        </p:nvSpPr>
        <p:spPr>
          <a:xfrm>
            <a:off x="276045" y="1675956"/>
            <a:ext cx="7911514" cy="3950472"/>
          </a:xfrm>
          <a:solidFill>
            <a:schemeClr val="bg1"/>
          </a:solidFill>
        </p:spPr>
        <p:txBody>
          <a:bodyPr/>
          <a:lstStyle/>
          <a:p>
            <a:r>
              <a:rPr lang="en-US" sz="2800" b="1" dirty="0"/>
              <a:t>Business Challenges</a:t>
            </a:r>
          </a:p>
          <a:p>
            <a:r>
              <a:rPr lang="en-US" sz="2800" dirty="0"/>
              <a:t>- Lost time </a:t>
            </a:r>
          </a:p>
          <a:p>
            <a:r>
              <a:rPr lang="en-US" sz="2800" dirty="0"/>
              <a:t>- Higher costs </a:t>
            </a:r>
          </a:p>
          <a:p>
            <a:r>
              <a:rPr lang="en-US" sz="2800" dirty="0"/>
              <a:t>- Poor patient experience </a:t>
            </a:r>
          </a:p>
          <a:p>
            <a:r>
              <a:rPr lang="en-US" sz="2800" dirty="0"/>
              <a:t>- Data management issues</a:t>
            </a:r>
          </a:p>
        </p:txBody>
      </p:sp>
      <p:sp>
        <p:nvSpPr>
          <p:cNvPr id="2" name="Footer Placeholder 1">
            <a:extLst>
              <a:ext uri="{FF2B5EF4-FFF2-40B4-BE49-F238E27FC236}">
                <a16:creationId xmlns:a16="http://schemas.microsoft.com/office/drawing/2014/main" id="{83DBEB22-564A-C82C-DC72-9E2437F8EC2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7F401E32-ADDB-D7E7-5C98-17E275D658D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a:t>
            </a:fld>
            <a:endParaRPr lang="en-US" altLang="en-US" sz="900">
              <a:solidFill>
                <a:srgbClr val="FFFFFF"/>
              </a:solidFill>
            </a:endParaRPr>
          </a:p>
        </p:txBody>
      </p:sp>
      <p:pic>
        <p:nvPicPr>
          <p:cNvPr id="23558" name="Picture 5">
            <a:extLst>
              <a:ext uri="{FF2B5EF4-FFF2-40B4-BE49-F238E27FC236}">
                <a16:creationId xmlns:a16="http://schemas.microsoft.com/office/drawing/2014/main" id="{AD4B00A8-3989-C4FE-267D-3678100B32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6361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6FCA6-27D2-3925-F7EF-079AFF63018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CD8EB54-98DE-27C4-FB1C-0D426EF8103C}"/>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Example Solution</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1159D923-E8CD-1069-9097-6A348DC95105}"/>
              </a:ext>
            </a:extLst>
          </p:cNvPr>
          <p:cNvSpPr>
            <a:spLocks noGrp="1" noChangeArrowheads="1"/>
          </p:cNvSpPr>
          <p:nvPr>
            <p:ph idx="1"/>
          </p:nvPr>
        </p:nvSpPr>
        <p:spPr>
          <a:xfrm>
            <a:off x="276045" y="1675955"/>
            <a:ext cx="7911514" cy="4348933"/>
          </a:xfrm>
          <a:solidFill>
            <a:schemeClr val="bg1"/>
          </a:solidFill>
        </p:spPr>
        <p:txBody>
          <a:bodyPr/>
          <a:lstStyle/>
          <a:p>
            <a:r>
              <a:rPr lang="en-US" sz="2800" b="1" dirty="0"/>
              <a:t>Proposed IT Solution</a:t>
            </a:r>
          </a:p>
          <a:p>
            <a:r>
              <a:rPr lang="en-US" sz="2800" dirty="0"/>
              <a:t>Cloud-based Patient Appointment System</a:t>
            </a:r>
          </a:p>
          <a:p>
            <a:r>
              <a:rPr lang="en-US" sz="2800" dirty="0"/>
              <a:t>Features:</a:t>
            </a:r>
          </a:p>
          <a:p>
            <a:r>
              <a:rPr lang="en-US" sz="2800" dirty="0"/>
              <a:t>- Online booking </a:t>
            </a:r>
          </a:p>
          <a:p>
            <a:r>
              <a:rPr lang="en-US" sz="2800" dirty="0"/>
              <a:t>- SMS reminders </a:t>
            </a:r>
          </a:p>
          <a:p>
            <a:r>
              <a:rPr lang="en-US" sz="2800" dirty="0"/>
              <a:t>- Staff dashboard </a:t>
            </a:r>
          </a:p>
          <a:p>
            <a:r>
              <a:rPr lang="en-US" sz="2800" dirty="0"/>
              <a:t>- Secure patient records </a:t>
            </a:r>
          </a:p>
          <a:p>
            <a:r>
              <a:rPr lang="en-US" sz="2800" dirty="0"/>
              <a:t>- Reporting system</a:t>
            </a:r>
          </a:p>
        </p:txBody>
      </p:sp>
      <p:sp>
        <p:nvSpPr>
          <p:cNvPr id="2" name="Footer Placeholder 1">
            <a:extLst>
              <a:ext uri="{FF2B5EF4-FFF2-40B4-BE49-F238E27FC236}">
                <a16:creationId xmlns:a16="http://schemas.microsoft.com/office/drawing/2014/main" id="{DE596469-D8DE-F43E-DD0B-D279292464F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375E5C04-FA26-C0BD-CB1C-0592B4D13B6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5B617-6FF0-787E-5C63-C20533405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1358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670F7-D0E3-01D5-4467-C35F4FF508B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70C096B-9590-A71A-8A5E-E05FA28EBB78}"/>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Example Solution</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1914DD6C-07C2-41FA-94F8-4A3CF9CBA180}"/>
              </a:ext>
            </a:extLst>
          </p:cNvPr>
          <p:cNvSpPr>
            <a:spLocks noGrp="1" noChangeArrowheads="1"/>
          </p:cNvSpPr>
          <p:nvPr>
            <p:ph idx="1"/>
          </p:nvPr>
        </p:nvSpPr>
        <p:spPr>
          <a:xfrm>
            <a:off x="276045" y="1675955"/>
            <a:ext cx="7911514" cy="4348933"/>
          </a:xfrm>
          <a:solidFill>
            <a:schemeClr val="bg1"/>
          </a:solidFill>
        </p:spPr>
        <p:txBody>
          <a:bodyPr/>
          <a:lstStyle/>
          <a:p>
            <a:r>
              <a:rPr lang="en-US" sz="2800" b="1" dirty="0"/>
              <a:t>Modern Technologies</a:t>
            </a:r>
          </a:p>
          <a:p>
            <a:r>
              <a:rPr lang="en-US" sz="2800" dirty="0"/>
              <a:t>- Cloud Computing </a:t>
            </a:r>
          </a:p>
          <a:p>
            <a:r>
              <a:rPr lang="en-US" sz="2800" dirty="0"/>
              <a:t>- AI appointment prediction </a:t>
            </a:r>
          </a:p>
          <a:p>
            <a:r>
              <a:rPr lang="en-US" sz="2800" dirty="0"/>
              <a:t>- Mobile access </a:t>
            </a:r>
          </a:p>
          <a:p>
            <a:r>
              <a:rPr lang="en-US" sz="2800" dirty="0"/>
              <a:t>- Secure database</a:t>
            </a:r>
          </a:p>
        </p:txBody>
      </p:sp>
      <p:sp>
        <p:nvSpPr>
          <p:cNvPr id="2" name="Footer Placeholder 1">
            <a:extLst>
              <a:ext uri="{FF2B5EF4-FFF2-40B4-BE49-F238E27FC236}">
                <a16:creationId xmlns:a16="http://schemas.microsoft.com/office/drawing/2014/main" id="{A227E38E-07CC-49F5-9D6D-1BA7B9D3AB5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F6ADD32-5DB9-F669-709C-26DFDBB5BAE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a:t>
            </a:fld>
            <a:endParaRPr lang="en-US" altLang="en-US" sz="900">
              <a:solidFill>
                <a:srgbClr val="FFFFFF"/>
              </a:solidFill>
            </a:endParaRPr>
          </a:p>
        </p:txBody>
      </p:sp>
      <p:pic>
        <p:nvPicPr>
          <p:cNvPr id="23558" name="Picture 5">
            <a:extLst>
              <a:ext uri="{FF2B5EF4-FFF2-40B4-BE49-F238E27FC236}">
                <a16:creationId xmlns:a16="http://schemas.microsoft.com/office/drawing/2014/main" id="{790B5F38-1A52-8145-24B3-9EEC5248A4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4674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AF317-2E83-418C-498C-02E58777E89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007E123-E6B9-AA73-2288-5855FDE07876}"/>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Example Functional Requirements</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936A241D-D09D-81AF-0313-70D9499FCC3F}"/>
              </a:ext>
            </a:extLst>
          </p:cNvPr>
          <p:cNvSpPr>
            <a:spLocks noGrp="1" noChangeArrowheads="1"/>
          </p:cNvSpPr>
          <p:nvPr>
            <p:ph idx="1"/>
          </p:nvPr>
        </p:nvSpPr>
        <p:spPr>
          <a:xfrm>
            <a:off x="276045" y="1675955"/>
            <a:ext cx="7911514" cy="4348933"/>
          </a:xfrm>
          <a:solidFill>
            <a:schemeClr val="bg1"/>
          </a:solidFill>
        </p:spPr>
        <p:txBody>
          <a:bodyPr/>
          <a:lstStyle/>
          <a:p>
            <a:r>
              <a:rPr lang="en-US" sz="2800" b="1" dirty="0"/>
              <a:t>Functional Requirements</a:t>
            </a:r>
          </a:p>
          <a:p>
            <a:r>
              <a:rPr lang="en-US" sz="2800" dirty="0"/>
              <a:t>Users can:</a:t>
            </a:r>
          </a:p>
          <a:p>
            <a:r>
              <a:rPr lang="en-US" sz="2800" dirty="0"/>
              <a:t>- Register account </a:t>
            </a:r>
          </a:p>
          <a:p>
            <a:r>
              <a:rPr lang="en-US" sz="2800" dirty="0"/>
              <a:t>- Book appointments </a:t>
            </a:r>
          </a:p>
          <a:p>
            <a:r>
              <a:rPr lang="en-US" sz="2800" dirty="0"/>
              <a:t>- Cancel appointments </a:t>
            </a:r>
          </a:p>
          <a:p>
            <a:r>
              <a:rPr lang="en-US" sz="2800" dirty="0"/>
              <a:t>- Receive reminders </a:t>
            </a:r>
          </a:p>
          <a:p>
            <a:r>
              <a:rPr lang="en-US" sz="2800" dirty="0"/>
              <a:t>- View appointment history </a:t>
            </a:r>
          </a:p>
        </p:txBody>
      </p:sp>
      <p:sp>
        <p:nvSpPr>
          <p:cNvPr id="2" name="Footer Placeholder 1">
            <a:extLst>
              <a:ext uri="{FF2B5EF4-FFF2-40B4-BE49-F238E27FC236}">
                <a16:creationId xmlns:a16="http://schemas.microsoft.com/office/drawing/2014/main" id="{48383CB6-4639-9CCC-7572-791CDB571E1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FE93A109-F4B7-79B9-F70A-3419908AC44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11</a:t>
            </a:fld>
            <a:endParaRPr lang="en-US" altLang="en-US" sz="900">
              <a:solidFill>
                <a:srgbClr val="FFFFFF"/>
              </a:solidFill>
            </a:endParaRPr>
          </a:p>
        </p:txBody>
      </p:sp>
      <p:pic>
        <p:nvPicPr>
          <p:cNvPr id="23558" name="Picture 5">
            <a:extLst>
              <a:ext uri="{FF2B5EF4-FFF2-40B4-BE49-F238E27FC236}">
                <a16:creationId xmlns:a16="http://schemas.microsoft.com/office/drawing/2014/main" id="{D347F2AD-82EC-AF56-D773-C68915AB0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9067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F740F-996A-AA69-F8F7-1D1B1CB1325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02A4019-48C2-5027-1695-EF9631654F6E}"/>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Example Functional Requirements</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9E7B64BC-011F-B0F0-CC38-7DCC28466799}"/>
              </a:ext>
            </a:extLst>
          </p:cNvPr>
          <p:cNvSpPr>
            <a:spLocks noGrp="1" noChangeArrowheads="1"/>
          </p:cNvSpPr>
          <p:nvPr>
            <p:ph idx="1"/>
          </p:nvPr>
        </p:nvSpPr>
        <p:spPr>
          <a:xfrm>
            <a:off x="276045" y="1675955"/>
            <a:ext cx="7911514" cy="4348933"/>
          </a:xfrm>
          <a:solidFill>
            <a:schemeClr val="bg1"/>
          </a:solidFill>
        </p:spPr>
        <p:txBody>
          <a:bodyPr/>
          <a:lstStyle/>
          <a:p>
            <a:r>
              <a:rPr lang="en-US" sz="2800" dirty="0"/>
              <a:t>Staff can:</a:t>
            </a:r>
          </a:p>
          <a:p>
            <a:r>
              <a:rPr lang="en-US" sz="2800" dirty="0"/>
              <a:t>- Manage appointments </a:t>
            </a:r>
          </a:p>
          <a:p>
            <a:r>
              <a:rPr lang="en-US" sz="2800" dirty="0"/>
              <a:t>- Generate reports </a:t>
            </a:r>
          </a:p>
          <a:p>
            <a:r>
              <a:rPr lang="en-US" sz="2800" dirty="0"/>
              <a:t>- Monitor attendance</a:t>
            </a:r>
          </a:p>
        </p:txBody>
      </p:sp>
      <p:sp>
        <p:nvSpPr>
          <p:cNvPr id="2" name="Footer Placeholder 1">
            <a:extLst>
              <a:ext uri="{FF2B5EF4-FFF2-40B4-BE49-F238E27FC236}">
                <a16:creationId xmlns:a16="http://schemas.microsoft.com/office/drawing/2014/main" id="{3207FA78-D703-2A45-A025-C1DE0273A11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68A3FF89-0FB3-4C49-72C7-D192E4CAB89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12</a:t>
            </a:fld>
            <a:endParaRPr lang="en-US" altLang="en-US" sz="900">
              <a:solidFill>
                <a:srgbClr val="FFFFFF"/>
              </a:solidFill>
            </a:endParaRPr>
          </a:p>
        </p:txBody>
      </p:sp>
      <p:pic>
        <p:nvPicPr>
          <p:cNvPr id="23558" name="Picture 5">
            <a:extLst>
              <a:ext uri="{FF2B5EF4-FFF2-40B4-BE49-F238E27FC236}">
                <a16:creationId xmlns:a16="http://schemas.microsoft.com/office/drawing/2014/main" id="{7E1D81CB-0FB0-C5F1-425D-58DA98521C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4928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5C70-6FD8-A8DD-1F07-1BA3E9268DE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539E9D7-6FE6-A8E3-6D52-2269B6631364}"/>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Example Non-Functional Requirements</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B676238A-4CC8-5795-4B5A-93E17454D88C}"/>
              </a:ext>
            </a:extLst>
          </p:cNvPr>
          <p:cNvSpPr>
            <a:spLocks noGrp="1" noChangeArrowheads="1"/>
          </p:cNvSpPr>
          <p:nvPr>
            <p:ph idx="1"/>
          </p:nvPr>
        </p:nvSpPr>
        <p:spPr>
          <a:xfrm>
            <a:off x="276045" y="1675955"/>
            <a:ext cx="7911514" cy="4861479"/>
          </a:xfrm>
          <a:solidFill>
            <a:schemeClr val="bg1"/>
          </a:solidFill>
        </p:spPr>
        <p:txBody>
          <a:bodyPr/>
          <a:lstStyle/>
          <a:p>
            <a:r>
              <a:rPr lang="en-US" sz="2800" b="1" dirty="0"/>
              <a:t>Performance</a:t>
            </a:r>
          </a:p>
          <a:p>
            <a:r>
              <a:rPr lang="en-US" sz="2800" dirty="0"/>
              <a:t>- Page loads under 3 seconds </a:t>
            </a:r>
          </a:p>
          <a:p>
            <a:r>
              <a:rPr lang="en-US" sz="2800" b="1" dirty="0"/>
              <a:t>Security</a:t>
            </a:r>
          </a:p>
          <a:p>
            <a:r>
              <a:rPr lang="en-US" sz="2800" dirty="0"/>
              <a:t>- Encrypted data </a:t>
            </a:r>
          </a:p>
          <a:p>
            <a:r>
              <a:rPr lang="en-US" sz="2800" dirty="0"/>
              <a:t>- User authentication </a:t>
            </a:r>
          </a:p>
          <a:p>
            <a:r>
              <a:rPr lang="en-US" sz="2800" b="1" dirty="0"/>
              <a:t>Reliability</a:t>
            </a:r>
          </a:p>
          <a:p>
            <a:r>
              <a:rPr lang="en-US" sz="2800" dirty="0"/>
              <a:t>- 99.9% availability </a:t>
            </a:r>
          </a:p>
          <a:p>
            <a:r>
              <a:rPr lang="en-US" sz="2800" b="1" dirty="0"/>
              <a:t>Scalability</a:t>
            </a:r>
          </a:p>
          <a:p>
            <a:r>
              <a:rPr lang="en-US" sz="2800" dirty="0"/>
              <a:t>- Support future clinic growth</a:t>
            </a:r>
          </a:p>
        </p:txBody>
      </p:sp>
      <p:sp>
        <p:nvSpPr>
          <p:cNvPr id="2" name="Footer Placeholder 1">
            <a:extLst>
              <a:ext uri="{FF2B5EF4-FFF2-40B4-BE49-F238E27FC236}">
                <a16:creationId xmlns:a16="http://schemas.microsoft.com/office/drawing/2014/main" id="{F4699D0A-CD7E-82BD-C764-162BC1CA708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EC4F0B7-7564-CAAD-670F-E1CAED6EC8E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13</a:t>
            </a:fld>
            <a:endParaRPr lang="en-US" altLang="en-US" sz="900">
              <a:solidFill>
                <a:srgbClr val="FFFFFF"/>
              </a:solidFill>
            </a:endParaRPr>
          </a:p>
        </p:txBody>
      </p:sp>
      <p:pic>
        <p:nvPicPr>
          <p:cNvPr id="23558" name="Picture 5">
            <a:extLst>
              <a:ext uri="{FF2B5EF4-FFF2-40B4-BE49-F238E27FC236}">
                <a16:creationId xmlns:a16="http://schemas.microsoft.com/office/drawing/2014/main" id="{1CDDB9E3-4117-4EDA-CC98-A64E209810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7702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EAD1E-0024-9B96-2698-F2515A9FDFE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3D3A57C-FB30-D17A-C333-0A6AC3966E4C}"/>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Sustainability Example</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428BBEBA-BE68-31EF-345D-5C49E8AE93B2}"/>
              </a:ext>
            </a:extLst>
          </p:cNvPr>
          <p:cNvSpPr>
            <a:spLocks noGrp="1" noChangeArrowheads="1"/>
          </p:cNvSpPr>
          <p:nvPr>
            <p:ph idx="1"/>
          </p:nvPr>
        </p:nvSpPr>
        <p:spPr>
          <a:xfrm>
            <a:off x="276045" y="1675956"/>
            <a:ext cx="7911514" cy="4199328"/>
          </a:xfrm>
          <a:solidFill>
            <a:schemeClr val="bg1"/>
          </a:solidFill>
        </p:spPr>
        <p:txBody>
          <a:bodyPr/>
          <a:lstStyle/>
          <a:p>
            <a:r>
              <a:rPr lang="en-US" sz="2800" b="1" dirty="0"/>
              <a:t>Environmental</a:t>
            </a:r>
          </a:p>
          <a:p>
            <a:r>
              <a:rPr lang="en-US" sz="2800" dirty="0"/>
              <a:t>- Less paper usage </a:t>
            </a:r>
          </a:p>
          <a:p>
            <a:r>
              <a:rPr lang="en-US" sz="2800" b="1" dirty="0"/>
              <a:t>Social</a:t>
            </a:r>
          </a:p>
          <a:p>
            <a:r>
              <a:rPr lang="en-US" sz="2800" dirty="0"/>
              <a:t>- Improved accessibility </a:t>
            </a:r>
          </a:p>
          <a:p>
            <a:r>
              <a:rPr lang="en-US" sz="2800" b="1" dirty="0"/>
              <a:t>Economic</a:t>
            </a:r>
          </a:p>
          <a:p>
            <a:r>
              <a:rPr lang="en-US" sz="2800" dirty="0"/>
              <a:t>- Reduced administration costs</a:t>
            </a:r>
          </a:p>
        </p:txBody>
      </p:sp>
      <p:sp>
        <p:nvSpPr>
          <p:cNvPr id="2" name="Footer Placeholder 1">
            <a:extLst>
              <a:ext uri="{FF2B5EF4-FFF2-40B4-BE49-F238E27FC236}">
                <a16:creationId xmlns:a16="http://schemas.microsoft.com/office/drawing/2014/main" id="{4280F632-45DF-D48B-1F0A-F5714668FE6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1030C69C-EF72-67CB-F524-FBBDA52111C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14</a:t>
            </a:fld>
            <a:endParaRPr lang="en-US" altLang="en-US" sz="900">
              <a:solidFill>
                <a:srgbClr val="FFFFFF"/>
              </a:solidFill>
            </a:endParaRPr>
          </a:p>
        </p:txBody>
      </p:sp>
      <p:pic>
        <p:nvPicPr>
          <p:cNvPr id="23558" name="Picture 5">
            <a:extLst>
              <a:ext uri="{FF2B5EF4-FFF2-40B4-BE49-F238E27FC236}">
                <a16:creationId xmlns:a16="http://schemas.microsoft.com/office/drawing/2014/main" id="{C304E117-5B50-6398-0785-156D2132E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9207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BBE5E-6DE7-901C-64D1-79DCC9F67D3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9FD96E8-D9EC-C09A-6C87-93232018729C}"/>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NSW IT Support Example</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18C5CA59-C5AC-9317-EC28-AEE983D14E68}"/>
              </a:ext>
            </a:extLst>
          </p:cNvPr>
          <p:cNvSpPr>
            <a:spLocks noGrp="1" noChangeArrowheads="1"/>
          </p:cNvSpPr>
          <p:nvPr>
            <p:ph idx="1"/>
          </p:nvPr>
        </p:nvSpPr>
        <p:spPr>
          <a:xfrm>
            <a:off x="276045" y="1675956"/>
            <a:ext cx="7911514" cy="4199328"/>
          </a:xfrm>
          <a:solidFill>
            <a:schemeClr val="bg1"/>
          </a:solidFill>
        </p:spPr>
        <p:txBody>
          <a:bodyPr/>
          <a:lstStyle/>
          <a:p>
            <a:r>
              <a:rPr lang="en-US" sz="2800" dirty="0"/>
              <a:t>Suppose your group interviewed NSW IT Support.</a:t>
            </a:r>
          </a:p>
          <a:p>
            <a:r>
              <a:rPr lang="en-US" sz="2800" dirty="0"/>
              <a:t>What questions could you ask?</a:t>
            </a:r>
          </a:p>
        </p:txBody>
      </p:sp>
      <p:sp>
        <p:nvSpPr>
          <p:cNvPr id="2" name="Footer Placeholder 1">
            <a:extLst>
              <a:ext uri="{FF2B5EF4-FFF2-40B4-BE49-F238E27FC236}">
                <a16:creationId xmlns:a16="http://schemas.microsoft.com/office/drawing/2014/main" id="{E87B8960-06C8-E6C4-65C5-D6E2456BD83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8068E521-EFCF-8980-F834-272C393201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15</a:t>
            </a:fld>
            <a:endParaRPr lang="en-US" altLang="en-US" sz="900">
              <a:solidFill>
                <a:srgbClr val="FFFFFF"/>
              </a:solidFill>
            </a:endParaRPr>
          </a:p>
        </p:txBody>
      </p:sp>
      <p:pic>
        <p:nvPicPr>
          <p:cNvPr id="23558" name="Picture 5">
            <a:extLst>
              <a:ext uri="{FF2B5EF4-FFF2-40B4-BE49-F238E27FC236}">
                <a16:creationId xmlns:a16="http://schemas.microsoft.com/office/drawing/2014/main" id="{EE331F4E-7F28-700F-ED88-86D30C14B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8916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3D810-C37D-F65C-2CAA-E2F6C1CE435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BE86CAE-DE8A-B2E5-390C-3A5C232C4966}"/>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NSW IT Support Example</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0908C894-FD15-4552-6B95-235C2E988E23}"/>
              </a:ext>
            </a:extLst>
          </p:cNvPr>
          <p:cNvSpPr>
            <a:spLocks noGrp="1" noChangeArrowheads="1"/>
          </p:cNvSpPr>
          <p:nvPr>
            <p:ph idx="1"/>
          </p:nvPr>
        </p:nvSpPr>
        <p:spPr>
          <a:xfrm>
            <a:off x="276045" y="1675956"/>
            <a:ext cx="7911514" cy="4199328"/>
          </a:xfrm>
          <a:solidFill>
            <a:schemeClr val="bg1"/>
          </a:solidFill>
        </p:spPr>
        <p:txBody>
          <a:bodyPr/>
          <a:lstStyle/>
          <a:p>
            <a:pPr>
              <a:lnSpc>
                <a:spcPct val="150000"/>
              </a:lnSpc>
            </a:pPr>
            <a:r>
              <a:rPr lang="en-US" sz="2800" b="1" dirty="0"/>
              <a:t>Business Questions</a:t>
            </a:r>
          </a:p>
          <a:p>
            <a:pPr>
              <a:lnSpc>
                <a:spcPct val="150000"/>
              </a:lnSpc>
            </a:pPr>
            <a:r>
              <a:rPr lang="en-US" sz="2800" dirty="0"/>
              <a:t>- What are the most common problems your clients face? </a:t>
            </a:r>
          </a:p>
          <a:p>
            <a:pPr>
              <a:lnSpc>
                <a:spcPct val="150000"/>
              </a:lnSpc>
            </a:pPr>
            <a:r>
              <a:rPr lang="en-US" sz="2800" dirty="0"/>
              <a:t>- Which industries need the most IT support? </a:t>
            </a:r>
          </a:p>
          <a:p>
            <a:pPr>
              <a:lnSpc>
                <a:spcPct val="150000"/>
              </a:lnSpc>
            </a:pPr>
            <a:r>
              <a:rPr lang="en-US" sz="2800" dirty="0"/>
              <a:t>- What services are most requested?</a:t>
            </a:r>
          </a:p>
        </p:txBody>
      </p:sp>
      <p:sp>
        <p:nvSpPr>
          <p:cNvPr id="2" name="Footer Placeholder 1">
            <a:extLst>
              <a:ext uri="{FF2B5EF4-FFF2-40B4-BE49-F238E27FC236}">
                <a16:creationId xmlns:a16="http://schemas.microsoft.com/office/drawing/2014/main" id="{1AFD9C57-CF6E-4792-D83F-013E780C705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6A5B66AB-B600-54C8-B54A-D4BEC71CF3C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16</a:t>
            </a:fld>
            <a:endParaRPr lang="en-US" altLang="en-US" sz="900">
              <a:solidFill>
                <a:srgbClr val="FFFFFF"/>
              </a:solidFill>
            </a:endParaRPr>
          </a:p>
        </p:txBody>
      </p:sp>
      <p:pic>
        <p:nvPicPr>
          <p:cNvPr id="23558" name="Picture 5">
            <a:extLst>
              <a:ext uri="{FF2B5EF4-FFF2-40B4-BE49-F238E27FC236}">
                <a16:creationId xmlns:a16="http://schemas.microsoft.com/office/drawing/2014/main" id="{5E5ED698-5CB5-773F-B9B9-0E2FAC5A54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9422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14851-00B5-F6FD-F5A0-76281F40447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01DDB0D-DDEE-EEC7-FE8B-6B73FE760D7A}"/>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NSW IT Support Example</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491D7E45-1240-ED10-CD95-A11F9ED91AE4}"/>
              </a:ext>
            </a:extLst>
          </p:cNvPr>
          <p:cNvSpPr>
            <a:spLocks noGrp="1" noChangeArrowheads="1"/>
          </p:cNvSpPr>
          <p:nvPr>
            <p:ph idx="1"/>
          </p:nvPr>
        </p:nvSpPr>
        <p:spPr>
          <a:xfrm>
            <a:off x="276045" y="1675956"/>
            <a:ext cx="7911514" cy="4199328"/>
          </a:xfrm>
          <a:solidFill>
            <a:schemeClr val="bg1"/>
          </a:solidFill>
        </p:spPr>
        <p:txBody>
          <a:bodyPr/>
          <a:lstStyle/>
          <a:p>
            <a:pPr>
              <a:lnSpc>
                <a:spcPct val="150000"/>
              </a:lnSpc>
            </a:pPr>
            <a:r>
              <a:rPr lang="en-US" sz="2800" b="1" dirty="0"/>
              <a:t>Project Questions</a:t>
            </a:r>
          </a:p>
          <a:p>
            <a:pPr>
              <a:lnSpc>
                <a:spcPct val="150000"/>
              </a:lnSpc>
            </a:pPr>
            <a:r>
              <a:rPr lang="en-US" sz="2800" dirty="0"/>
              <a:t>- How do you manage client projects? </a:t>
            </a:r>
          </a:p>
          <a:p>
            <a:pPr>
              <a:lnSpc>
                <a:spcPct val="150000"/>
              </a:lnSpc>
            </a:pPr>
            <a:r>
              <a:rPr lang="en-US" sz="2800" dirty="0"/>
              <a:t>- What project management method do you use? </a:t>
            </a:r>
          </a:p>
          <a:p>
            <a:pPr>
              <a:lnSpc>
                <a:spcPct val="150000"/>
              </a:lnSpc>
            </a:pPr>
            <a:r>
              <a:rPr lang="en-US" sz="2800" dirty="0"/>
              <a:t>- What project challenges occur most often?</a:t>
            </a:r>
          </a:p>
        </p:txBody>
      </p:sp>
      <p:sp>
        <p:nvSpPr>
          <p:cNvPr id="2" name="Footer Placeholder 1">
            <a:extLst>
              <a:ext uri="{FF2B5EF4-FFF2-40B4-BE49-F238E27FC236}">
                <a16:creationId xmlns:a16="http://schemas.microsoft.com/office/drawing/2014/main" id="{B0BB26DE-7D99-2EAA-605A-F65CC6A3186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84D82CA1-C0A3-869F-A48E-9DD18BC4FA0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17</a:t>
            </a:fld>
            <a:endParaRPr lang="en-US" altLang="en-US" sz="900">
              <a:solidFill>
                <a:srgbClr val="FFFFFF"/>
              </a:solidFill>
            </a:endParaRPr>
          </a:p>
        </p:txBody>
      </p:sp>
      <p:pic>
        <p:nvPicPr>
          <p:cNvPr id="23558" name="Picture 5">
            <a:extLst>
              <a:ext uri="{FF2B5EF4-FFF2-40B4-BE49-F238E27FC236}">
                <a16:creationId xmlns:a16="http://schemas.microsoft.com/office/drawing/2014/main" id="{585480B8-8963-59F9-F3CE-B6DF53AA6B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4213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B2ACF-E017-5A19-B4EC-BBFF0971D28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D2BBDD5-8463-55FC-4924-9492E6CF073B}"/>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NSW IT Support Example</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AC520D35-9B45-9F6F-0C64-4B1848321B2C}"/>
              </a:ext>
            </a:extLst>
          </p:cNvPr>
          <p:cNvSpPr>
            <a:spLocks noGrp="1" noChangeArrowheads="1"/>
          </p:cNvSpPr>
          <p:nvPr>
            <p:ph idx="1"/>
          </p:nvPr>
        </p:nvSpPr>
        <p:spPr>
          <a:xfrm>
            <a:off x="276045" y="1675956"/>
            <a:ext cx="7911514" cy="4199328"/>
          </a:xfrm>
          <a:solidFill>
            <a:schemeClr val="bg1"/>
          </a:solidFill>
        </p:spPr>
        <p:txBody>
          <a:bodyPr/>
          <a:lstStyle/>
          <a:p>
            <a:pPr>
              <a:lnSpc>
                <a:spcPct val="150000"/>
              </a:lnSpc>
            </a:pPr>
            <a:r>
              <a:rPr lang="en-US" sz="2800" b="1" dirty="0"/>
              <a:t>Technology Questions</a:t>
            </a:r>
          </a:p>
          <a:p>
            <a:pPr>
              <a:lnSpc>
                <a:spcPct val="150000"/>
              </a:lnSpc>
            </a:pPr>
            <a:r>
              <a:rPr lang="en-US" sz="2800" dirty="0"/>
              <a:t>- Which cloud platforms do you recommend? </a:t>
            </a:r>
          </a:p>
          <a:p>
            <a:pPr>
              <a:lnSpc>
                <a:spcPct val="150000"/>
              </a:lnSpc>
            </a:pPr>
            <a:r>
              <a:rPr lang="en-US" sz="2800" dirty="0"/>
              <a:t>- How do you secure client data? </a:t>
            </a:r>
          </a:p>
          <a:p>
            <a:pPr>
              <a:lnSpc>
                <a:spcPct val="150000"/>
              </a:lnSpc>
            </a:pPr>
            <a:r>
              <a:rPr lang="en-US" sz="2800" dirty="0"/>
              <a:t>- What emerging technologies are becoming important?</a:t>
            </a:r>
          </a:p>
        </p:txBody>
      </p:sp>
      <p:sp>
        <p:nvSpPr>
          <p:cNvPr id="2" name="Footer Placeholder 1">
            <a:extLst>
              <a:ext uri="{FF2B5EF4-FFF2-40B4-BE49-F238E27FC236}">
                <a16:creationId xmlns:a16="http://schemas.microsoft.com/office/drawing/2014/main" id="{31474190-C438-7424-3E3F-7FD60CC5D71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1289E5F-5D0D-DC1B-C29A-F3D22860861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18</a:t>
            </a:fld>
            <a:endParaRPr lang="en-US" altLang="en-US" sz="900">
              <a:solidFill>
                <a:srgbClr val="FFFFFF"/>
              </a:solidFill>
            </a:endParaRPr>
          </a:p>
        </p:txBody>
      </p:sp>
      <p:pic>
        <p:nvPicPr>
          <p:cNvPr id="23558" name="Picture 5">
            <a:extLst>
              <a:ext uri="{FF2B5EF4-FFF2-40B4-BE49-F238E27FC236}">
                <a16:creationId xmlns:a16="http://schemas.microsoft.com/office/drawing/2014/main" id="{1B9B5C75-7462-FEEA-D3C2-D0867EB76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125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3110C-B5EB-D2C6-EDAB-DE24C61F02D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26B924C-C4F7-8D1E-1586-86BBBA4A228C}"/>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Common Australian IT Challenges</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28BBAC86-959F-CF1C-6EDA-D66E949A9A04}"/>
              </a:ext>
            </a:extLst>
          </p:cNvPr>
          <p:cNvSpPr>
            <a:spLocks noGrp="1" noChangeArrowheads="1"/>
          </p:cNvSpPr>
          <p:nvPr>
            <p:ph idx="1"/>
          </p:nvPr>
        </p:nvSpPr>
        <p:spPr>
          <a:xfrm>
            <a:off x="276045" y="1675956"/>
            <a:ext cx="7911514" cy="4199328"/>
          </a:xfrm>
          <a:solidFill>
            <a:schemeClr val="bg1"/>
          </a:solidFill>
        </p:spPr>
        <p:txBody>
          <a:bodyPr/>
          <a:lstStyle/>
          <a:p>
            <a:r>
              <a:rPr lang="en-US" sz="2800" dirty="0"/>
              <a:t>Students can identify problems such as:</a:t>
            </a:r>
          </a:p>
          <a:p>
            <a:r>
              <a:rPr lang="en-US" sz="2800" b="1" dirty="0"/>
              <a:t>Cybersecurity</a:t>
            </a:r>
          </a:p>
          <a:p>
            <a:r>
              <a:rPr lang="en-US" sz="2800" dirty="0"/>
              <a:t>- Ransomware attacks </a:t>
            </a:r>
          </a:p>
          <a:p>
            <a:r>
              <a:rPr lang="en-US" sz="2800" dirty="0"/>
              <a:t>- Phishing emails </a:t>
            </a:r>
          </a:p>
          <a:p>
            <a:r>
              <a:rPr lang="en-US" sz="2800" b="1" dirty="0"/>
              <a:t>Cloud Migration</a:t>
            </a:r>
          </a:p>
          <a:p>
            <a:r>
              <a:rPr lang="en-US" sz="2800" dirty="0"/>
              <a:t>- Legacy systems </a:t>
            </a:r>
          </a:p>
          <a:p>
            <a:r>
              <a:rPr lang="en-US" sz="2800" dirty="0"/>
              <a:t>- Data migration risks </a:t>
            </a:r>
          </a:p>
        </p:txBody>
      </p:sp>
      <p:sp>
        <p:nvSpPr>
          <p:cNvPr id="2" name="Footer Placeholder 1">
            <a:extLst>
              <a:ext uri="{FF2B5EF4-FFF2-40B4-BE49-F238E27FC236}">
                <a16:creationId xmlns:a16="http://schemas.microsoft.com/office/drawing/2014/main" id="{A2E7E5B5-EF52-7C3F-A97D-085EB2DC741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93252202-C60F-6E60-7D9B-24187CFAFE9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19</a:t>
            </a:fld>
            <a:endParaRPr lang="en-US" altLang="en-US" sz="900">
              <a:solidFill>
                <a:srgbClr val="FFFFFF"/>
              </a:solidFill>
            </a:endParaRPr>
          </a:p>
        </p:txBody>
      </p:sp>
      <p:pic>
        <p:nvPicPr>
          <p:cNvPr id="23558" name="Picture 5">
            <a:extLst>
              <a:ext uri="{FF2B5EF4-FFF2-40B4-BE49-F238E27FC236}">
                <a16:creationId xmlns:a16="http://schemas.microsoft.com/office/drawing/2014/main" id="{CBE97F9A-5732-A38F-E4E3-5ABA638E9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1639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F320-D731-35E5-420F-B64E68E9D47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ACA5103-1640-B76F-03E0-98032A939488}"/>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Common Australian IT Challenges</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ADABAD57-4B81-CC11-3B6E-E164C491343F}"/>
              </a:ext>
            </a:extLst>
          </p:cNvPr>
          <p:cNvSpPr>
            <a:spLocks noGrp="1" noChangeArrowheads="1"/>
          </p:cNvSpPr>
          <p:nvPr>
            <p:ph idx="1"/>
          </p:nvPr>
        </p:nvSpPr>
        <p:spPr>
          <a:xfrm>
            <a:off x="276045" y="1675956"/>
            <a:ext cx="7911514" cy="4199328"/>
          </a:xfrm>
          <a:solidFill>
            <a:schemeClr val="bg1"/>
          </a:solidFill>
        </p:spPr>
        <p:txBody>
          <a:bodyPr/>
          <a:lstStyle/>
          <a:p>
            <a:r>
              <a:rPr lang="en-US" sz="2800" b="1" dirty="0"/>
              <a:t>Remote Work</a:t>
            </a:r>
          </a:p>
          <a:p>
            <a:r>
              <a:rPr lang="en-US" sz="2800" dirty="0"/>
              <a:t>- Secure access </a:t>
            </a:r>
          </a:p>
          <a:p>
            <a:r>
              <a:rPr lang="en-US" sz="2800" dirty="0"/>
              <a:t>- Collaboration challenges </a:t>
            </a:r>
          </a:p>
          <a:p>
            <a:r>
              <a:rPr lang="en-US" sz="2800" b="1" dirty="0"/>
              <a:t>Small Business IT</a:t>
            </a:r>
          </a:p>
          <a:p>
            <a:r>
              <a:rPr lang="en-US" sz="2800" dirty="0"/>
              <a:t>- Limited budgets </a:t>
            </a:r>
          </a:p>
          <a:p>
            <a:r>
              <a:rPr lang="en-US" sz="2800" dirty="0"/>
              <a:t>- Lack of IT expertise</a:t>
            </a:r>
          </a:p>
        </p:txBody>
      </p:sp>
      <p:sp>
        <p:nvSpPr>
          <p:cNvPr id="2" name="Footer Placeholder 1">
            <a:extLst>
              <a:ext uri="{FF2B5EF4-FFF2-40B4-BE49-F238E27FC236}">
                <a16:creationId xmlns:a16="http://schemas.microsoft.com/office/drawing/2014/main" id="{916668B7-5D26-EB68-EF5C-BC746C2E0E3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7EE2515C-4746-AFD3-3284-2DB2D460188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20</a:t>
            </a:fld>
            <a:endParaRPr lang="en-US" altLang="en-US" sz="900">
              <a:solidFill>
                <a:srgbClr val="FFFFFF"/>
              </a:solidFill>
            </a:endParaRPr>
          </a:p>
        </p:txBody>
      </p:sp>
      <p:pic>
        <p:nvPicPr>
          <p:cNvPr id="23558" name="Picture 5">
            <a:extLst>
              <a:ext uri="{FF2B5EF4-FFF2-40B4-BE49-F238E27FC236}">
                <a16:creationId xmlns:a16="http://schemas.microsoft.com/office/drawing/2014/main" id="{7D8A134B-23F5-E370-D2E8-19F0CC0EAA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1542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91F25-F8AA-605D-199B-12E8474AD99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B3E2592-EA82-0CF5-1DB8-ECB446C26B4D}"/>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Example Problem → Solution</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52B6B8DD-D12B-88F8-8D87-A82D22E169D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C4A5DB3E-43A1-8E88-1D73-5092B5BBC4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21</a:t>
            </a:fld>
            <a:endParaRPr lang="en-US" altLang="en-US" sz="900">
              <a:solidFill>
                <a:srgbClr val="FFFFFF"/>
              </a:solidFill>
            </a:endParaRPr>
          </a:p>
        </p:txBody>
      </p:sp>
      <p:pic>
        <p:nvPicPr>
          <p:cNvPr id="23558" name="Picture 5">
            <a:extLst>
              <a:ext uri="{FF2B5EF4-FFF2-40B4-BE49-F238E27FC236}">
                <a16:creationId xmlns:a16="http://schemas.microsoft.com/office/drawing/2014/main" id="{4F6AC204-6361-F085-D952-EA1768541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3">
            <a:extLst>
              <a:ext uri="{FF2B5EF4-FFF2-40B4-BE49-F238E27FC236}">
                <a16:creationId xmlns:a16="http://schemas.microsoft.com/office/drawing/2014/main" id="{A98F931F-757A-C130-55F7-1AF2E7AF67D8}"/>
              </a:ext>
            </a:extLst>
          </p:cNvPr>
          <p:cNvGraphicFramePr>
            <a:graphicFrameLocks noGrp="1"/>
          </p:cNvGraphicFramePr>
          <p:nvPr>
            <p:extLst>
              <p:ext uri="{D42A27DB-BD31-4B8C-83A1-F6EECF244321}">
                <p14:modId xmlns:p14="http://schemas.microsoft.com/office/powerpoint/2010/main" val="3162483695"/>
              </p:ext>
            </p:extLst>
          </p:nvPr>
        </p:nvGraphicFramePr>
        <p:xfrm>
          <a:off x="800100" y="2032771"/>
          <a:ext cx="7543800" cy="3992118"/>
        </p:xfrm>
        <a:graphic>
          <a:graphicData uri="http://schemas.openxmlformats.org/drawingml/2006/table">
            <a:tbl>
              <a:tblPr>
                <a:tableStyleId>{BC89EF96-8CEA-46FF-86C4-4CE0E7609802}</a:tableStyleId>
              </a:tblPr>
              <a:tblGrid>
                <a:gridCol w="3771900">
                  <a:extLst>
                    <a:ext uri="{9D8B030D-6E8A-4147-A177-3AD203B41FA5}">
                      <a16:colId xmlns:a16="http://schemas.microsoft.com/office/drawing/2014/main" val="1515455954"/>
                    </a:ext>
                  </a:extLst>
                </a:gridCol>
                <a:gridCol w="3771900">
                  <a:extLst>
                    <a:ext uri="{9D8B030D-6E8A-4147-A177-3AD203B41FA5}">
                      <a16:colId xmlns:a16="http://schemas.microsoft.com/office/drawing/2014/main" val="3629596248"/>
                    </a:ext>
                  </a:extLst>
                </a:gridCol>
              </a:tblGrid>
              <a:tr h="0">
                <a:tc>
                  <a:txBody>
                    <a:bodyPr/>
                    <a:lstStyle/>
                    <a:p>
                      <a:pPr>
                        <a:lnSpc>
                          <a:spcPct val="150000"/>
                        </a:lnSpc>
                        <a:buNone/>
                      </a:pPr>
                      <a:r>
                        <a:rPr lang="en-US" sz="2800" dirty="0"/>
                        <a:t>Problem</a:t>
                      </a:r>
                    </a:p>
                  </a:txBody>
                  <a:tcPr anchor="ctr">
                    <a:solidFill>
                      <a:schemeClr val="accent1">
                        <a:lumMod val="20000"/>
                        <a:lumOff val="80000"/>
                      </a:schemeClr>
                    </a:solidFill>
                  </a:tcPr>
                </a:tc>
                <a:tc>
                  <a:txBody>
                    <a:bodyPr/>
                    <a:lstStyle/>
                    <a:p>
                      <a:pPr>
                        <a:lnSpc>
                          <a:spcPct val="150000"/>
                        </a:lnSpc>
                        <a:buNone/>
                      </a:pPr>
                      <a:r>
                        <a:rPr lang="en-US" sz="2800" dirty="0"/>
                        <a:t>Proposed Solution</a:t>
                      </a:r>
                    </a:p>
                  </a:txBody>
                  <a:tcPr anchor="ctr">
                    <a:solidFill>
                      <a:schemeClr val="accent1">
                        <a:lumMod val="20000"/>
                        <a:lumOff val="80000"/>
                      </a:schemeClr>
                    </a:solidFill>
                  </a:tcPr>
                </a:tc>
                <a:extLst>
                  <a:ext uri="{0D108BD9-81ED-4DB2-BD59-A6C34878D82A}">
                    <a16:rowId xmlns:a16="http://schemas.microsoft.com/office/drawing/2014/main" val="992706283"/>
                  </a:ext>
                </a:extLst>
              </a:tr>
              <a:tr h="0">
                <a:tc>
                  <a:txBody>
                    <a:bodyPr/>
                    <a:lstStyle/>
                    <a:p>
                      <a:pPr>
                        <a:lnSpc>
                          <a:spcPct val="150000"/>
                        </a:lnSpc>
                        <a:buNone/>
                      </a:pPr>
                      <a:r>
                        <a:rPr lang="en-US" sz="2800"/>
                        <a:t>Phishing attacks</a:t>
                      </a:r>
                    </a:p>
                  </a:txBody>
                  <a:tcPr anchor="ctr"/>
                </a:tc>
                <a:tc>
                  <a:txBody>
                    <a:bodyPr/>
                    <a:lstStyle/>
                    <a:p>
                      <a:pPr>
                        <a:lnSpc>
                          <a:spcPct val="150000"/>
                        </a:lnSpc>
                        <a:buNone/>
                      </a:pPr>
                      <a:r>
                        <a:rPr lang="en-US" sz="2800"/>
                        <a:t>AI email filtering</a:t>
                      </a:r>
                    </a:p>
                  </a:txBody>
                  <a:tcPr anchor="ctr"/>
                </a:tc>
                <a:extLst>
                  <a:ext uri="{0D108BD9-81ED-4DB2-BD59-A6C34878D82A}">
                    <a16:rowId xmlns:a16="http://schemas.microsoft.com/office/drawing/2014/main" val="1240963764"/>
                  </a:ext>
                </a:extLst>
              </a:tr>
              <a:tr h="0">
                <a:tc>
                  <a:txBody>
                    <a:bodyPr/>
                    <a:lstStyle/>
                    <a:p>
                      <a:pPr>
                        <a:lnSpc>
                          <a:spcPct val="150000"/>
                        </a:lnSpc>
                        <a:buNone/>
                      </a:pPr>
                      <a:r>
                        <a:rPr lang="en-US" sz="2800"/>
                        <a:t>Slow helpdesk response</a:t>
                      </a:r>
                    </a:p>
                  </a:txBody>
                  <a:tcPr anchor="ctr"/>
                </a:tc>
                <a:tc>
                  <a:txBody>
                    <a:bodyPr/>
                    <a:lstStyle/>
                    <a:p>
                      <a:pPr>
                        <a:lnSpc>
                          <a:spcPct val="150000"/>
                        </a:lnSpc>
                        <a:buNone/>
                      </a:pPr>
                      <a:r>
                        <a:rPr lang="en-US" sz="2800"/>
                        <a:t>Ticket automation</a:t>
                      </a:r>
                    </a:p>
                  </a:txBody>
                  <a:tcPr anchor="ctr"/>
                </a:tc>
                <a:extLst>
                  <a:ext uri="{0D108BD9-81ED-4DB2-BD59-A6C34878D82A}">
                    <a16:rowId xmlns:a16="http://schemas.microsoft.com/office/drawing/2014/main" val="3723857128"/>
                  </a:ext>
                </a:extLst>
              </a:tr>
              <a:tr h="0">
                <a:tc>
                  <a:txBody>
                    <a:bodyPr/>
                    <a:lstStyle/>
                    <a:p>
                      <a:pPr>
                        <a:lnSpc>
                          <a:spcPct val="150000"/>
                        </a:lnSpc>
                        <a:buNone/>
                      </a:pPr>
                      <a:r>
                        <a:rPr lang="en-US" sz="2800"/>
                        <a:t>Manual records</a:t>
                      </a:r>
                    </a:p>
                  </a:txBody>
                  <a:tcPr anchor="ctr"/>
                </a:tc>
                <a:tc>
                  <a:txBody>
                    <a:bodyPr/>
                    <a:lstStyle/>
                    <a:p>
                      <a:pPr>
                        <a:lnSpc>
                          <a:spcPct val="150000"/>
                        </a:lnSpc>
                        <a:buNone/>
                      </a:pPr>
                      <a:r>
                        <a:rPr lang="en-US" sz="2800"/>
                        <a:t>Cloud database</a:t>
                      </a:r>
                    </a:p>
                  </a:txBody>
                  <a:tcPr anchor="ctr"/>
                </a:tc>
                <a:extLst>
                  <a:ext uri="{0D108BD9-81ED-4DB2-BD59-A6C34878D82A}">
                    <a16:rowId xmlns:a16="http://schemas.microsoft.com/office/drawing/2014/main" val="3491178225"/>
                  </a:ext>
                </a:extLst>
              </a:tr>
              <a:tr h="0">
                <a:tc>
                  <a:txBody>
                    <a:bodyPr/>
                    <a:lstStyle/>
                    <a:p>
                      <a:pPr>
                        <a:lnSpc>
                          <a:spcPct val="150000"/>
                        </a:lnSpc>
                        <a:buNone/>
                      </a:pPr>
                      <a:r>
                        <a:rPr lang="en-US" sz="2800"/>
                        <a:t>Weak passwords</a:t>
                      </a:r>
                    </a:p>
                  </a:txBody>
                  <a:tcPr anchor="ctr"/>
                </a:tc>
                <a:tc>
                  <a:txBody>
                    <a:bodyPr/>
                    <a:lstStyle/>
                    <a:p>
                      <a:pPr>
                        <a:lnSpc>
                          <a:spcPct val="150000"/>
                        </a:lnSpc>
                        <a:buNone/>
                      </a:pPr>
                      <a:r>
                        <a:rPr lang="en-US" sz="2800"/>
                        <a:t>MFA implementation</a:t>
                      </a:r>
                    </a:p>
                  </a:txBody>
                  <a:tcPr anchor="ctr"/>
                </a:tc>
                <a:extLst>
                  <a:ext uri="{0D108BD9-81ED-4DB2-BD59-A6C34878D82A}">
                    <a16:rowId xmlns:a16="http://schemas.microsoft.com/office/drawing/2014/main" val="2929558799"/>
                  </a:ext>
                </a:extLst>
              </a:tr>
              <a:tr h="0">
                <a:tc>
                  <a:txBody>
                    <a:bodyPr/>
                    <a:lstStyle/>
                    <a:p>
                      <a:pPr>
                        <a:lnSpc>
                          <a:spcPct val="150000"/>
                        </a:lnSpc>
                        <a:buNone/>
                      </a:pPr>
                      <a:r>
                        <a:rPr lang="en-US" sz="2800"/>
                        <a:t>Remote access issues</a:t>
                      </a:r>
                    </a:p>
                  </a:txBody>
                  <a:tcPr anchor="ctr"/>
                </a:tc>
                <a:tc>
                  <a:txBody>
                    <a:bodyPr/>
                    <a:lstStyle/>
                    <a:p>
                      <a:pPr>
                        <a:lnSpc>
                          <a:spcPct val="150000"/>
                        </a:lnSpc>
                        <a:buNone/>
                      </a:pPr>
                      <a:r>
                        <a:rPr lang="en-US" sz="2800" dirty="0"/>
                        <a:t>VPN + Zero Trust</a:t>
                      </a:r>
                    </a:p>
                  </a:txBody>
                  <a:tcPr anchor="ctr"/>
                </a:tc>
                <a:extLst>
                  <a:ext uri="{0D108BD9-81ED-4DB2-BD59-A6C34878D82A}">
                    <a16:rowId xmlns:a16="http://schemas.microsoft.com/office/drawing/2014/main" val="3489684864"/>
                  </a:ext>
                </a:extLst>
              </a:tr>
            </a:tbl>
          </a:graphicData>
        </a:graphic>
      </p:graphicFrame>
    </p:spTree>
    <p:extLst>
      <p:ext uri="{BB962C8B-B14F-4D97-AF65-F5344CB8AC3E}">
        <p14:creationId xmlns:p14="http://schemas.microsoft.com/office/powerpoint/2010/main" val="3577337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2E002-9692-D3E6-B338-4BF5B00BD1E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17E8B05-7E59-17FB-19BB-E89F9336EF05}"/>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Section-by-Section Guide</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BA23A66E-6F80-EAF5-15B0-ABE3C924099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45944317-B408-D669-3508-DBA1FF90B61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22</a:t>
            </a:fld>
            <a:endParaRPr lang="en-US" altLang="en-US" sz="900">
              <a:solidFill>
                <a:srgbClr val="FFFFFF"/>
              </a:solidFill>
            </a:endParaRPr>
          </a:p>
        </p:txBody>
      </p:sp>
      <p:pic>
        <p:nvPicPr>
          <p:cNvPr id="23558" name="Picture 5">
            <a:extLst>
              <a:ext uri="{FF2B5EF4-FFF2-40B4-BE49-F238E27FC236}">
                <a16:creationId xmlns:a16="http://schemas.microsoft.com/office/drawing/2014/main" id="{E6D69C1E-F661-EE51-F3AF-FA5A1C2FFB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86FE1C0-1337-127B-1C73-23B4AAC5DF82}"/>
              </a:ext>
            </a:extLst>
          </p:cNvPr>
          <p:cNvSpPr txBox="1"/>
          <p:nvPr/>
        </p:nvSpPr>
        <p:spPr>
          <a:xfrm>
            <a:off x="420414" y="2039008"/>
            <a:ext cx="8303172" cy="3903504"/>
          </a:xfrm>
          <a:prstGeom prst="rect">
            <a:avLst/>
          </a:prstGeom>
          <a:noFill/>
        </p:spPr>
        <p:txBody>
          <a:bodyPr wrap="square">
            <a:spAutoFit/>
          </a:bodyPr>
          <a:lstStyle/>
          <a:p>
            <a:pPr>
              <a:lnSpc>
                <a:spcPct val="150000"/>
              </a:lnSpc>
              <a:buNone/>
            </a:pPr>
            <a:r>
              <a:rPr lang="en-US" sz="2800" b="1" dirty="0">
                <a:latin typeface="+mn-lt"/>
              </a:rPr>
              <a:t>Section 1</a:t>
            </a:r>
          </a:p>
          <a:p>
            <a:pPr>
              <a:lnSpc>
                <a:spcPct val="150000"/>
              </a:lnSpc>
              <a:buNone/>
            </a:pPr>
            <a:r>
              <a:rPr lang="en-US" sz="2800" dirty="0">
                <a:latin typeface="+mn-lt"/>
              </a:rPr>
              <a:t>Executive Summary</a:t>
            </a:r>
          </a:p>
          <a:p>
            <a:pPr>
              <a:lnSpc>
                <a:spcPct val="150000"/>
              </a:lnSpc>
              <a:buNone/>
            </a:pPr>
            <a:r>
              <a:rPr lang="en-US" sz="2800" dirty="0">
                <a:latin typeface="+mn-lt"/>
              </a:rPr>
              <a:t>Answer:</a:t>
            </a:r>
          </a:p>
          <a:p>
            <a:pPr>
              <a:lnSpc>
                <a:spcPct val="150000"/>
              </a:lnSpc>
            </a:pPr>
            <a:r>
              <a:rPr lang="en-US" sz="2800" dirty="0">
                <a:latin typeface="+mn-lt"/>
              </a:rPr>
              <a:t>- What problem exists? </a:t>
            </a:r>
          </a:p>
          <a:p>
            <a:pPr>
              <a:lnSpc>
                <a:spcPct val="150000"/>
              </a:lnSpc>
            </a:pPr>
            <a:r>
              <a:rPr lang="en-US" sz="2800" dirty="0">
                <a:latin typeface="+mn-lt"/>
              </a:rPr>
              <a:t>- What solution do you propose? </a:t>
            </a:r>
          </a:p>
          <a:p>
            <a:pPr>
              <a:lnSpc>
                <a:spcPct val="150000"/>
              </a:lnSpc>
            </a:pPr>
            <a:r>
              <a:rPr lang="en-US" sz="2800" dirty="0">
                <a:latin typeface="+mn-lt"/>
              </a:rPr>
              <a:t>- Why is it valuable?</a:t>
            </a:r>
          </a:p>
        </p:txBody>
      </p:sp>
    </p:spTree>
    <p:extLst>
      <p:ext uri="{BB962C8B-B14F-4D97-AF65-F5344CB8AC3E}">
        <p14:creationId xmlns:p14="http://schemas.microsoft.com/office/powerpoint/2010/main" val="135085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D4750-F4A2-47B3-677B-A6CE76E996C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1A90BB9-7FD3-0FF9-F94B-541B8E7FD686}"/>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Section-by-Section Guide</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57173BC2-FE60-3299-E721-99DD7C7F35C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EE9D0-76EC-127C-44C7-DCE1E0CFF14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23</a:t>
            </a:fld>
            <a:endParaRPr lang="en-US" altLang="en-US" sz="900">
              <a:solidFill>
                <a:srgbClr val="FFFFFF"/>
              </a:solidFill>
            </a:endParaRPr>
          </a:p>
        </p:txBody>
      </p:sp>
      <p:pic>
        <p:nvPicPr>
          <p:cNvPr id="23558" name="Picture 5">
            <a:extLst>
              <a:ext uri="{FF2B5EF4-FFF2-40B4-BE49-F238E27FC236}">
                <a16:creationId xmlns:a16="http://schemas.microsoft.com/office/drawing/2014/main" id="{DD829676-8C69-0677-0E55-3D6AA10D2F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31830B5-4879-1B31-8F4D-A19E583DF01D}"/>
              </a:ext>
            </a:extLst>
          </p:cNvPr>
          <p:cNvSpPr txBox="1"/>
          <p:nvPr/>
        </p:nvSpPr>
        <p:spPr>
          <a:xfrm>
            <a:off x="420414" y="2039008"/>
            <a:ext cx="8303172" cy="3890489"/>
          </a:xfrm>
          <a:prstGeom prst="rect">
            <a:avLst/>
          </a:prstGeom>
          <a:noFill/>
        </p:spPr>
        <p:txBody>
          <a:bodyPr wrap="square">
            <a:spAutoFit/>
          </a:bodyPr>
          <a:lstStyle/>
          <a:p>
            <a:pPr>
              <a:lnSpc>
                <a:spcPct val="150000"/>
              </a:lnSpc>
            </a:pPr>
            <a:r>
              <a:rPr lang="en-US" sz="2800" b="1" dirty="0">
                <a:latin typeface="+mn-lt"/>
              </a:rPr>
              <a:t>Section 2</a:t>
            </a:r>
          </a:p>
          <a:p>
            <a:pPr>
              <a:lnSpc>
                <a:spcPct val="150000"/>
              </a:lnSpc>
            </a:pPr>
            <a:r>
              <a:rPr lang="en-US" sz="2800" dirty="0">
                <a:latin typeface="+mn-lt"/>
              </a:rPr>
              <a:t>Problem Definition</a:t>
            </a:r>
          </a:p>
          <a:p>
            <a:pPr>
              <a:lnSpc>
                <a:spcPct val="150000"/>
              </a:lnSpc>
            </a:pPr>
            <a:r>
              <a:rPr lang="en-US" sz="2800" dirty="0">
                <a:latin typeface="+mn-lt"/>
              </a:rPr>
              <a:t>Answer:</a:t>
            </a:r>
          </a:p>
          <a:p>
            <a:pPr>
              <a:lnSpc>
                <a:spcPct val="150000"/>
              </a:lnSpc>
            </a:pPr>
            <a:r>
              <a:rPr lang="en-US" sz="2800" dirty="0">
                <a:latin typeface="+mn-lt"/>
              </a:rPr>
              <a:t>- Who is affected? </a:t>
            </a:r>
          </a:p>
          <a:p>
            <a:pPr>
              <a:lnSpc>
                <a:spcPct val="150000"/>
              </a:lnSpc>
            </a:pPr>
            <a:r>
              <a:rPr lang="en-US" sz="2800" dirty="0">
                <a:latin typeface="+mn-lt"/>
              </a:rPr>
              <a:t>- What impact does it have? </a:t>
            </a:r>
          </a:p>
          <a:p>
            <a:pPr>
              <a:lnSpc>
                <a:spcPct val="150000"/>
              </a:lnSpc>
            </a:pPr>
            <a:r>
              <a:rPr lang="en-US" sz="2800" dirty="0">
                <a:latin typeface="+mn-lt"/>
              </a:rPr>
              <a:t>- Why does it matter?</a:t>
            </a:r>
          </a:p>
        </p:txBody>
      </p:sp>
    </p:spTree>
    <p:extLst>
      <p:ext uri="{BB962C8B-B14F-4D97-AF65-F5344CB8AC3E}">
        <p14:creationId xmlns:p14="http://schemas.microsoft.com/office/powerpoint/2010/main" val="2625316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4F8DC-F197-A024-A4F0-2B944AD665C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9C4ACC0-1B96-350A-08F5-80EF373F397D}"/>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Section-by-Section Guide</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C13936EC-1261-D429-D923-8DE2D4E523B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9DB92D75-1ADF-085B-9D9C-1DC772537FD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24</a:t>
            </a:fld>
            <a:endParaRPr lang="en-US" altLang="en-US" sz="900">
              <a:solidFill>
                <a:srgbClr val="FFFFFF"/>
              </a:solidFill>
            </a:endParaRPr>
          </a:p>
        </p:txBody>
      </p:sp>
      <p:pic>
        <p:nvPicPr>
          <p:cNvPr id="23558" name="Picture 5">
            <a:extLst>
              <a:ext uri="{FF2B5EF4-FFF2-40B4-BE49-F238E27FC236}">
                <a16:creationId xmlns:a16="http://schemas.microsoft.com/office/drawing/2014/main" id="{A67F8A52-3FD1-8DDA-8AEC-ABE32A421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FCDB158-FB2F-CEF0-7C96-3FA9764B2D95}"/>
              </a:ext>
            </a:extLst>
          </p:cNvPr>
          <p:cNvSpPr txBox="1"/>
          <p:nvPr/>
        </p:nvSpPr>
        <p:spPr>
          <a:xfrm>
            <a:off x="420414" y="2039008"/>
            <a:ext cx="8303172" cy="3903504"/>
          </a:xfrm>
          <a:prstGeom prst="rect">
            <a:avLst/>
          </a:prstGeom>
          <a:noFill/>
        </p:spPr>
        <p:txBody>
          <a:bodyPr wrap="square">
            <a:spAutoFit/>
          </a:bodyPr>
          <a:lstStyle/>
          <a:p>
            <a:pPr>
              <a:lnSpc>
                <a:spcPct val="150000"/>
              </a:lnSpc>
            </a:pPr>
            <a:r>
              <a:rPr lang="en-US" sz="2800" b="1" dirty="0">
                <a:latin typeface="+mn-lt"/>
              </a:rPr>
              <a:t>Section 3</a:t>
            </a:r>
          </a:p>
          <a:p>
            <a:pPr>
              <a:lnSpc>
                <a:spcPct val="150000"/>
              </a:lnSpc>
            </a:pPr>
            <a:r>
              <a:rPr lang="en-US" sz="2800" dirty="0">
                <a:latin typeface="+mn-lt"/>
              </a:rPr>
              <a:t>Solution Proposal</a:t>
            </a:r>
          </a:p>
          <a:p>
            <a:pPr>
              <a:lnSpc>
                <a:spcPct val="150000"/>
              </a:lnSpc>
            </a:pPr>
            <a:r>
              <a:rPr lang="en-US" sz="2800" dirty="0">
                <a:latin typeface="+mn-lt"/>
              </a:rPr>
              <a:t>Answer:</a:t>
            </a:r>
          </a:p>
          <a:p>
            <a:pPr>
              <a:lnSpc>
                <a:spcPct val="150000"/>
              </a:lnSpc>
            </a:pPr>
            <a:r>
              <a:rPr lang="en-US" sz="2800" dirty="0">
                <a:latin typeface="+mn-lt"/>
              </a:rPr>
              <a:t>- What system will you build? </a:t>
            </a:r>
          </a:p>
          <a:p>
            <a:pPr>
              <a:lnSpc>
                <a:spcPct val="150000"/>
              </a:lnSpc>
            </a:pPr>
            <a:r>
              <a:rPr lang="en-US" sz="2800" dirty="0">
                <a:latin typeface="+mn-lt"/>
              </a:rPr>
              <a:t>- How will it work? </a:t>
            </a:r>
          </a:p>
          <a:p>
            <a:pPr>
              <a:lnSpc>
                <a:spcPct val="150000"/>
              </a:lnSpc>
            </a:pPr>
            <a:r>
              <a:rPr lang="en-US" sz="2800" dirty="0">
                <a:latin typeface="+mn-lt"/>
              </a:rPr>
              <a:t>- Why is it better?</a:t>
            </a:r>
          </a:p>
        </p:txBody>
      </p:sp>
    </p:spTree>
    <p:extLst>
      <p:ext uri="{BB962C8B-B14F-4D97-AF65-F5344CB8AC3E}">
        <p14:creationId xmlns:p14="http://schemas.microsoft.com/office/powerpoint/2010/main" val="722723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4422-86D4-A923-82B0-2281833C768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BBDC2C1-BB32-A186-CAD5-11D452B2EC94}"/>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Section-by-Section Guide</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7713E1EB-89F9-89D5-03DD-E026247D371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B7E2ABC9-048E-C681-0594-93A2F7789BB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25</a:t>
            </a:fld>
            <a:endParaRPr lang="en-US" altLang="en-US" sz="900">
              <a:solidFill>
                <a:srgbClr val="FFFFFF"/>
              </a:solidFill>
            </a:endParaRPr>
          </a:p>
        </p:txBody>
      </p:sp>
      <p:pic>
        <p:nvPicPr>
          <p:cNvPr id="23558" name="Picture 5">
            <a:extLst>
              <a:ext uri="{FF2B5EF4-FFF2-40B4-BE49-F238E27FC236}">
                <a16:creationId xmlns:a16="http://schemas.microsoft.com/office/drawing/2014/main" id="{ACB83B08-BBF7-A76E-DF7E-DFA0D796E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1EDB374-6BEE-46F3-0445-4547F6ED27AB}"/>
              </a:ext>
            </a:extLst>
          </p:cNvPr>
          <p:cNvSpPr txBox="1"/>
          <p:nvPr/>
        </p:nvSpPr>
        <p:spPr>
          <a:xfrm>
            <a:off x="356915" y="1696243"/>
            <a:ext cx="8303172" cy="4549835"/>
          </a:xfrm>
          <a:prstGeom prst="rect">
            <a:avLst/>
          </a:prstGeom>
          <a:noFill/>
        </p:spPr>
        <p:txBody>
          <a:bodyPr wrap="square">
            <a:spAutoFit/>
          </a:bodyPr>
          <a:lstStyle/>
          <a:p>
            <a:pPr>
              <a:lnSpc>
                <a:spcPct val="150000"/>
              </a:lnSpc>
            </a:pPr>
            <a:r>
              <a:rPr lang="en-US" sz="2800" b="1" dirty="0">
                <a:latin typeface="+mn-lt"/>
              </a:rPr>
              <a:t>Section 4</a:t>
            </a:r>
          </a:p>
          <a:p>
            <a:pPr>
              <a:lnSpc>
                <a:spcPct val="150000"/>
              </a:lnSpc>
            </a:pPr>
            <a:r>
              <a:rPr lang="en-US" sz="2800" dirty="0">
                <a:latin typeface="+mn-lt"/>
              </a:rPr>
              <a:t>Design Documentation</a:t>
            </a:r>
          </a:p>
          <a:p>
            <a:pPr>
              <a:lnSpc>
                <a:spcPct val="150000"/>
              </a:lnSpc>
            </a:pPr>
            <a:r>
              <a:rPr lang="en-US" sz="2800" dirty="0">
                <a:latin typeface="+mn-lt"/>
              </a:rPr>
              <a:t>Include:</a:t>
            </a:r>
          </a:p>
          <a:p>
            <a:pPr>
              <a:lnSpc>
                <a:spcPct val="150000"/>
              </a:lnSpc>
            </a:pPr>
            <a:r>
              <a:rPr lang="en-US" sz="2800" dirty="0">
                <a:latin typeface="+mn-lt"/>
              </a:rPr>
              <a:t>- Architecture diagram </a:t>
            </a:r>
          </a:p>
          <a:p>
            <a:pPr>
              <a:lnSpc>
                <a:spcPct val="150000"/>
              </a:lnSpc>
            </a:pPr>
            <a:r>
              <a:rPr lang="en-US" sz="2800" dirty="0">
                <a:latin typeface="+mn-lt"/>
              </a:rPr>
              <a:t>- ERD </a:t>
            </a:r>
          </a:p>
          <a:p>
            <a:pPr>
              <a:lnSpc>
                <a:spcPct val="150000"/>
              </a:lnSpc>
            </a:pPr>
            <a:r>
              <a:rPr lang="en-US" sz="2800" dirty="0">
                <a:latin typeface="+mn-lt"/>
              </a:rPr>
              <a:t>- Technology stack </a:t>
            </a:r>
          </a:p>
          <a:p>
            <a:pPr>
              <a:lnSpc>
                <a:spcPct val="150000"/>
              </a:lnSpc>
            </a:pPr>
            <a:r>
              <a:rPr lang="en-US" sz="2800" dirty="0">
                <a:latin typeface="+mn-lt"/>
              </a:rPr>
              <a:t>- Security design</a:t>
            </a:r>
          </a:p>
        </p:txBody>
      </p:sp>
    </p:spTree>
    <p:extLst>
      <p:ext uri="{BB962C8B-B14F-4D97-AF65-F5344CB8AC3E}">
        <p14:creationId xmlns:p14="http://schemas.microsoft.com/office/powerpoint/2010/main" val="2391950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CB12E-3145-F2C5-3311-578549642B8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15B02D2-0D92-6C6A-D934-8F7E31238209}"/>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Section-by-Section Guide</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832448B2-C5D7-E49D-3EFD-9FBC62210E7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926130C7-8D7A-43DD-8217-C83BB58BE56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26</a:t>
            </a:fld>
            <a:endParaRPr lang="en-US" altLang="en-US" sz="900">
              <a:solidFill>
                <a:srgbClr val="FFFFFF"/>
              </a:solidFill>
            </a:endParaRPr>
          </a:p>
        </p:txBody>
      </p:sp>
      <p:pic>
        <p:nvPicPr>
          <p:cNvPr id="23558" name="Picture 5">
            <a:extLst>
              <a:ext uri="{FF2B5EF4-FFF2-40B4-BE49-F238E27FC236}">
                <a16:creationId xmlns:a16="http://schemas.microsoft.com/office/drawing/2014/main" id="{59CBF228-3B4A-87EA-839B-0DC2522F2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B983AC5-5EFC-8C81-EFE4-4F51075D5C1C}"/>
              </a:ext>
            </a:extLst>
          </p:cNvPr>
          <p:cNvSpPr txBox="1"/>
          <p:nvPr/>
        </p:nvSpPr>
        <p:spPr>
          <a:xfrm>
            <a:off x="356915" y="1696243"/>
            <a:ext cx="8303172" cy="5196166"/>
          </a:xfrm>
          <a:prstGeom prst="rect">
            <a:avLst/>
          </a:prstGeom>
          <a:solidFill>
            <a:schemeClr val="bg1"/>
          </a:solidFill>
        </p:spPr>
        <p:txBody>
          <a:bodyPr wrap="square">
            <a:spAutoFit/>
          </a:bodyPr>
          <a:lstStyle/>
          <a:p>
            <a:pPr>
              <a:lnSpc>
                <a:spcPct val="150000"/>
              </a:lnSpc>
            </a:pPr>
            <a:r>
              <a:rPr lang="en-US" sz="2800" b="1" dirty="0">
                <a:latin typeface="+mn-lt"/>
              </a:rPr>
              <a:t>Section 5</a:t>
            </a:r>
          </a:p>
          <a:p>
            <a:pPr>
              <a:lnSpc>
                <a:spcPct val="150000"/>
              </a:lnSpc>
            </a:pPr>
            <a:r>
              <a:rPr lang="en-US" sz="2800" dirty="0">
                <a:latin typeface="+mn-lt"/>
              </a:rPr>
              <a:t>Ethics and Management</a:t>
            </a:r>
          </a:p>
          <a:p>
            <a:pPr>
              <a:lnSpc>
                <a:spcPct val="150000"/>
              </a:lnSpc>
            </a:pPr>
            <a:r>
              <a:rPr lang="en-US" sz="2800" dirty="0">
                <a:latin typeface="+mn-lt"/>
              </a:rPr>
              <a:t>Discuss:</a:t>
            </a:r>
          </a:p>
          <a:p>
            <a:pPr>
              <a:lnSpc>
                <a:spcPct val="150000"/>
              </a:lnSpc>
            </a:pPr>
            <a:r>
              <a:rPr lang="en-US" sz="2800" dirty="0">
                <a:latin typeface="+mn-lt"/>
              </a:rPr>
              <a:t>- Privacy </a:t>
            </a:r>
          </a:p>
          <a:p>
            <a:pPr>
              <a:lnSpc>
                <a:spcPct val="150000"/>
              </a:lnSpc>
            </a:pPr>
            <a:r>
              <a:rPr lang="en-US" sz="2800" dirty="0">
                <a:latin typeface="+mn-lt"/>
              </a:rPr>
              <a:t>- Security </a:t>
            </a:r>
          </a:p>
          <a:p>
            <a:pPr>
              <a:lnSpc>
                <a:spcPct val="150000"/>
              </a:lnSpc>
            </a:pPr>
            <a:r>
              <a:rPr lang="en-US" sz="2800" dirty="0">
                <a:latin typeface="+mn-lt"/>
              </a:rPr>
              <a:t>- Bias </a:t>
            </a:r>
          </a:p>
          <a:p>
            <a:pPr>
              <a:lnSpc>
                <a:spcPct val="150000"/>
              </a:lnSpc>
            </a:pPr>
            <a:r>
              <a:rPr lang="en-US" sz="2800" dirty="0">
                <a:latin typeface="+mn-lt"/>
              </a:rPr>
              <a:t>- Accessibility </a:t>
            </a:r>
          </a:p>
          <a:p>
            <a:pPr>
              <a:lnSpc>
                <a:spcPct val="150000"/>
              </a:lnSpc>
            </a:pPr>
            <a:r>
              <a:rPr lang="en-US" sz="2800" dirty="0">
                <a:latin typeface="+mn-lt"/>
              </a:rPr>
              <a:t>- Team communication</a:t>
            </a:r>
          </a:p>
        </p:txBody>
      </p:sp>
    </p:spTree>
    <p:extLst>
      <p:ext uri="{BB962C8B-B14F-4D97-AF65-F5344CB8AC3E}">
        <p14:creationId xmlns:p14="http://schemas.microsoft.com/office/powerpoint/2010/main" val="2126881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0C3AE-09C5-6662-3ACD-E46DCC79A5D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620B5B9-4B13-D8FD-14E0-AC4419DD33A8}"/>
              </a:ext>
            </a:extLst>
          </p:cNvPr>
          <p:cNvSpPr>
            <a:spLocks noGrp="1"/>
          </p:cNvSpPr>
          <p:nvPr>
            <p:ph type="title"/>
          </p:nvPr>
        </p:nvSpPr>
        <p:spPr>
          <a:xfrm>
            <a:off x="2" y="833111"/>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Section-by-Section Guide</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A78F03B6-8D6E-744F-4F34-D517BCF9D67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D3FFC5AC-22BF-A6F4-8DA9-9B91B841BF3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27</a:t>
            </a:fld>
            <a:endParaRPr lang="en-US" altLang="en-US" sz="900">
              <a:solidFill>
                <a:srgbClr val="FFFFFF"/>
              </a:solidFill>
            </a:endParaRPr>
          </a:p>
        </p:txBody>
      </p:sp>
      <p:pic>
        <p:nvPicPr>
          <p:cNvPr id="23558" name="Picture 5">
            <a:extLst>
              <a:ext uri="{FF2B5EF4-FFF2-40B4-BE49-F238E27FC236}">
                <a16:creationId xmlns:a16="http://schemas.microsoft.com/office/drawing/2014/main" id="{B4E76EBD-9E0F-BBFD-3D5D-9620279E99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4BE9EDE-1843-CC32-5C72-60021CEB26F1}"/>
              </a:ext>
            </a:extLst>
          </p:cNvPr>
          <p:cNvSpPr txBox="1"/>
          <p:nvPr/>
        </p:nvSpPr>
        <p:spPr>
          <a:xfrm>
            <a:off x="356915" y="1696243"/>
            <a:ext cx="8303172" cy="3903504"/>
          </a:xfrm>
          <a:prstGeom prst="rect">
            <a:avLst/>
          </a:prstGeom>
          <a:solidFill>
            <a:schemeClr val="bg1"/>
          </a:solidFill>
        </p:spPr>
        <p:txBody>
          <a:bodyPr wrap="square">
            <a:spAutoFit/>
          </a:bodyPr>
          <a:lstStyle/>
          <a:p>
            <a:pPr>
              <a:lnSpc>
                <a:spcPct val="150000"/>
              </a:lnSpc>
            </a:pPr>
            <a:r>
              <a:rPr lang="en-US" sz="2800" b="1" dirty="0">
                <a:latin typeface="+mn-lt"/>
              </a:rPr>
              <a:t>Section 6</a:t>
            </a:r>
          </a:p>
          <a:p>
            <a:pPr>
              <a:lnSpc>
                <a:spcPct val="150000"/>
              </a:lnSpc>
            </a:pPr>
            <a:r>
              <a:rPr lang="en-US" sz="2800" dirty="0">
                <a:latin typeface="+mn-lt"/>
              </a:rPr>
              <a:t>Communication and Future Development</a:t>
            </a:r>
          </a:p>
          <a:p>
            <a:pPr>
              <a:lnSpc>
                <a:spcPct val="150000"/>
              </a:lnSpc>
            </a:pPr>
            <a:r>
              <a:rPr lang="en-US" sz="2800" dirty="0">
                <a:latin typeface="+mn-lt"/>
              </a:rPr>
              <a:t>Explain:</a:t>
            </a:r>
          </a:p>
          <a:p>
            <a:pPr>
              <a:lnSpc>
                <a:spcPct val="150000"/>
              </a:lnSpc>
            </a:pPr>
            <a:r>
              <a:rPr lang="en-US" sz="2800" dirty="0">
                <a:latin typeface="+mn-lt"/>
              </a:rPr>
              <a:t>- Stakeholder communication </a:t>
            </a:r>
          </a:p>
          <a:p>
            <a:pPr>
              <a:lnSpc>
                <a:spcPct val="150000"/>
              </a:lnSpc>
            </a:pPr>
            <a:r>
              <a:rPr lang="en-US" sz="2800" dirty="0">
                <a:latin typeface="+mn-lt"/>
              </a:rPr>
              <a:t>- Future improvements </a:t>
            </a:r>
          </a:p>
          <a:p>
            <a:pPr>
              <a:lnSpc>
                <a:spcPct val="150000"/>
              </a:lnSpc>
            </a:pPr>
            <a:r>
              <a:rPr lang="en-US" sz="2800" dirty="0">
                <a:latin typeface="+mn-lt"/>
              </a:rPr>
              <a:t>- Skills gained</a:t>
            </a:r>
          </a:p>
        </p:txBody>
      </p:sp>
    </p:spTree>
    <p:extLst>
      <p:ext uri="{BB962C8B-B14F-4D97-AF65-F5344CB8AC3E}">
        <p14:creationId xmlns:p14="http://schemas.microsoft.com/office/powerpoint/2010/main" val="2339377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9563A-F1E2-42AC-BEE4-61558EBA10B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4F6D443-DC14-51E8-0310-062A27F5009D}"/>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What To Submit</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6D78BA9A-F498-72B0-16AA-53659C69870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E96ED8DB-E5CF-11A1-4668-278B4A46E6A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28</a:t>
            </a:fld>
            <a:endParaRPr lang="en-US" altLang="en-US" sz="900">
              <a:solidFill>
                <a:srgbClr val="FFFFFF"/>
              </a:solidFill>
            </a:endParaRPr>
          </a:p>
        </p:txBody>
      </p:sp>
      <p:pic>
        <p:nvPicPr>
          <p:cNvPr id="23558" name="Picture 5">
            <a:extLst>
              <a:ext uri="{FF2B5EF4-FFF2-40B4-BE49-F238E27FC236}">
                <a16:creationId xmlns:a16="http://schemas.microsoft.com/office/drawing/2014/main" id="{B946BFA1-FAFA-5005-66AB-10F9BBAE71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32A1168-F310-185C-FEF7-6FCA6624D4E9}"/>
              </a:ext>
            </a:extLst>
          </p:cNvPr>
          <p:cNvSpPr txBox="1"/>
          <p:nvPr/>
        </p:nvSpPr>
        <p:spPr>
          <a:xfrm>
            <a:off x="420414" y="1147436"/>
            <a:ext cx="8303172" cy="5115952"/>
          </a:xfrm>
          <a:prstGeom prst="rect">
            <a:avLst/>
          </a:prstGeom>
          <a:solidFill>
            <a:schemeClr val="bg1"/>
          </a:solidFill>
        </p:spPr>
        <p:txBody>
          <a:bodyPr wrap="square">
            <a:spAutoFit/>
          </a:bodyPr>
          <a:lstStyle/>
          <a:p>
            <a:pPr>
              <a:lnSpc>
                <a:spcPct val="150000"/>
              </a:lnSpc>
            </a:pPr>
            <a:r>
              <a:rPr lang="en-US" sz="2200" b="1" dirty="0">
                <a:latin typeface="+mn-lt"/>
              </a:rPr>
              <a:t>Submit One Group Report</a:t>
            </a:r>
          </a:p>
          <a:p>
            <a:pPr>
              <a:lnSpc>
                <a:spcPct val="150000"/>
              </a:lnSpc>
            </a:pPr>
            <a:r>
              <a:rPr lang="en-US" sz="2200" dirty="0">
                <a:latin typeface="+mn-lt"/>
              </a:rPr>
              <a:t>Requirements:</a:t>
            </a:r>
          </a:p>
          <a:p>
            <a:pPr>
              <a:lnSpc>
                <a:spcPct val="150000"/>
              </a:lnSpc>
            </a:pPr>
            <a:r>
              <a:rPr lang="en-US" sz="2200" dirty="0">
                <a:latin typeface="+mn-lt"/>
              </a:rPr>
              <a:t>✓ Approximately 2,000 words</a:t>
            </a:r>
          </a:p>
          <a:p>
            <a:pPr>
              <a:lnSpc>
                <a:spcPct val="150000"/>
              </a:lnSpc>
            </a:pPr>
            <a:r>
              <a:rPr lang="en-US" sz="2200" dirty="0">
                <a:latin typeface="+mn-lt"/>
              </a:rPr>
              <a:t>✓ Group submission</a:t>
            </a:r>
          </a:p>
          <a:p>
            <a:pPr>
              <a:lnSpc>
                <a:spcPct val="150000"/>
              </a:lnSpc>
            </a:pPr>
            <a:r>
              <a:rPr lang="en-US" sz="2200" dirty="0">
                <a:latin typeface="+mn-lt"/>
              </a:rPr>
              <a:t>✓ APA references</a:t>
            </a:r>
          </a:p>
          <a:p>
            <a:pPr>
              <a:lnSpc>
                <a:spcPct val="150000"/>
              </a:lnSpc>
            </a:pPr>
            <a:r>
              <a:rPr lang="en-US" sz="2200" dirty="0">
                <a:latin typeface="+mn-lt"/>
              </a:rPr>
              <a:t>✓ Diagrams</a:t>
            </a:r>
          </a:p>
          <a:p>
            <a:pPr>
              <a:lnSpc>
                <a:spcPct val="150000"/>
              </a:lnSpc>
            </a:pPr>
            <a:r>
              <a:rPr lang="en-US" sz="2200" dirty="0">
                <a:latin typeface="+mn-lt"/>
              </a:rPr>
              <a:t>✓ Technology justification</a:t>
            </a:r>
          </a:p>
          <a:p>
            <a:pPr>
              <a:lnSpc>
                <a:spcPct val="150000"/>
              </a:lnSpc>
            </a:pPr>
            <a:r>
              <a:rPr lang="en-US" sz="2200" dirty="0">
                <a:latin typeface="+mn-lt"/>
              </a:rPr>
              <a:t>✓ Ethical analysis</a:t>
            </a:r>
          </a:p>
          <a:p>
            <a:pPr>
              <a:lnSpc>
                <a:spcPct val="150000"/>
              </a:lnSpc>
            </a:pPr>
            <a:r>
              <a:rPr lang="en-US" sz="2200" dirty="0">
                <a:latin typeface="+mn-lt"/>
              </a:rPr>
              <a:t>✓ Communication plan</a:t>
            </a:r>
          </a:p>
          <a:p>
            <a:pPr>
              <a:lnSpc>
                <a:spcPct val="150000"/>
              </a:lnSpc>
            </a:pPr>
            <a:r>
              <a:rPr lang="en-US" sz="2200" dirty="0">
                <a:latin typeface="+mn-lt"/>
              </a:rPr>
              <a:t>✓ Conclusion</a:t>
            </a:r>
          </a:p>
        </p:txBody>
      </p:sp>
    </p:spTree>
    <p:extLst>
      <p:ext uri="{BB962C8B-B14F-4D97-AF65-F5344CB8AC3E}">
        <p14:creationId xmlns:p14="http://schemas.microsoft.com/office/powerpoint/2010/main" val="3783181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0658C-5618-F40F-BDA4-AD74FFE8B0A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FEAFEC3-0EEA-6B9D-24F0-B8BCCEA34DDA}"/>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Common Mistakes To Avoid</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0E2BA2F2-4375-FBA2-5714-397B9FAFEAA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E06A8F53-1134-C833-5303-71E0F55E6F3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29</a:t>
            </a:fld>
            <a:endParaRPr lang="en-US" altLang="en-US" sz="900">
              <a:solidFill>
                <a:srgbClr val="FFFFFF"/>
              </a:solidFill>
            </a:endParaRPr>
          </a:p>
        </p:txBody>
      </p:sp>
      <p:pic>
        <p:nvPicPr>
          <p:cNvPr id="23558" name="Picture 5">
            <a:extLst>
              <a:ext uri="{FF2B5EF4-FFF2-40B4-BE49-F238E27FC236}">
                <a16:creationId xmlns:a16="http://schemas.microsoft.com/office/drawing/2014/main" id="{4FFE4926-8C6C-1DAC-A4A8-F2A7313DDD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153653F5-713F-7FC7-69C8-73C9DE1F2B28}"/>
              </a:ext>
            </a:extLst>
          </p:cNvPr>
          <p:cNvSpPr txBox="1"/>
          <p:nvPr/>
        </p:nvSpPr>
        <p:spPr>
          <a:xfrm>
            <a:off x="420414" y="1147436"/>
            <a:ext cx="8303172" cy="5018618"/>
          </a:xfrm>
          <a:prstGeom prst="rect">
            <a:avLst/>
          </a:prstGeom>
          <a:solidFill>
            <a:schemeClr val="bg1"/>
          </a:solidFill>
        </p:spPr>
        <p:txBody>
          <a:bodyPr wrap="square">
            <a:spAutoFit/>
          </a:bodyPr>
          <a:lstStyle/>
          <a:p>
            <a:pPr>
              <a:lnSpc>
                <a:spcPct val="150000"/>
              </a:lnSpc>
            </a:pPr>
            <a:r>
              <a:rPr lang="en-US" sz="2400" b="1" dirty="0">
                <a:latin typeface="+mn-lt"/>
              </a:rPr>
              <a:t>Avoid</a:t>
            </a:r>
          </a:p>
          <a:p>
            <a:pPr>
              <a:lnSpc>
                <a:spcPct val="150000"/>
              </a:lnSpc>
            </a:pPr>
            <a:r>
              <a:rPr lang="en-US" sz="2400" dirty="0">
                <a:latin typeface="+mn-lt"/>
              </a:rPr>
              <a:t>✗ Copying vendor websites</a:t>
            </a:r>
          </a:p>
          <a:p>
            <a:pPr>
              <a:lnSpc>
                <a:spcPct val="150000"/>
              </a:lnSpc>
            </a:pPr>
            <a:r>
              <a:rPr lang="en-US" sz="2400" dirty="0">
                <a:latin typeface="+mn-lt"/>
              </a:rPr>
              <a:t>✗ Describing technology only</a:t>
            </a:r>
          </a:p>
          <a:p>
            <a:pPr>
              <a:lnSpc>
                <a:spcPct val="150000"/>
              </a:lnSpc>
            </a:pPr>
            <a:r>
              <a:rPr lang="en-US" sz="2400" dirty="0">
                <a:latin typeface="+mn-lt"/>
              </a:rPr>
              <a:t>✗ Missing references</a:t>
            </a:r>
          </a:p>
          <a:p>
            <a:pPr>
              <a:lnSpc>
                <a:spcPct val="150000"/>
              </a:lnSpc>
            </a:pPr>
            <a:r>
              <a:rPr lang="en-US" sz="2400" dirty="0">
                <a:latin typeface="+mn-lt"/>
              </a:rPr>
              <a:t>✗ Missing diagrams</a:t>
            </a:r>
          </a:p>
          <a:p>
            <a:pPr>
              <a:lnSpc>
                <a:spcPct val="150000"/>
              </a:lnSpc>
            </a:pPr>
            <a:r>
              <a:rPr lang="en-US" sz="2400" dirty="0">
                <a:latin typeface="+mn-lt"/>
              </a:rPr>
              <a:t>✗ No sustainability discussion</a:t>
            </a:r>
          </a:p>
          <a:p>
            <a:pPr>
              <a:lnSpc>
                <a:spcPct val="150000"/>
              </a:lnSpc>
            </a:pPr>
            <a:r>
              <a:rPr lang="en-US" sz="2400" dirty="0">
                <a:latin typeface="+mn-lt"/>
              </a:rPr>
              <a:t>✗ No stakeholder analysis</a:t>
            </a:r>
          </a:p>
          <a:p>
            <a:pPr>
              <a:lnSpc>
                <a:spcPct val="150000"/>
              </a:lnSpc>
            </a:pPr>
            <a:r>
              <a:rPr lang="en-US" sz="2400" dirty="0">
                <a:latin typeface="+mn-lt"/>
              </a:rPr>
              <a:t>✗ No ethical considerations</a:t>
            </a:r>
          </a:p>
          <a:p>
            <a:pPr>
              <a:lnSpc>
                <a:spcPct val="150000"/>
              </a:lnSpc>
            </a:pPr>
            <a:r>
              <a:rPr lang="en-US" sz="2400" dirty="0">
                <a:latin typeface="+mn-lt"/>
              </a:rPr>
              <a:t>✗ No justification for technology choices</a:t>
            </a:r>
          </a:p>
        </p:txBody>
      </p:sp>
    </p:spTree>
    <p:extLst>
      <p:ext uri="{BB962C8B-B14F-4D97-AF65-F5344CB8AC3E}">
        <p14:creationId xmlns:p14="http://schemas.microsoft.com/office/powerpoint/2010/main" val="4281264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DDBC0-6412-12DE-521E-7198296697A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7990ADA-B2BF-DA55-0069-5E73D9C4349E}"/>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Final Assessment 4 Tips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251B6312-0A0C-DB16-4402-C0A256FA9B7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B9952A2C-48FB-24BD-7D0B-E4BFB870754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30</a:t>
            </a:fld>
            <a:endParaRPr lang="en-US" altLang="en-US" sz="900">
              <a:solidFill>
                <a:srgbClr val="FFFFFF"/>
              </a:solidFill>
            </a:endParaRPr>
          </a:p>
        </p:txBody>
      </p:sp>
      <p:pic>
        <p:nvPicPr>
          <p:cNvPr id="23558" name="Picture 5">
            <a:extLst>
              <a:ext uri="{FF2B5EF4-FFF2-40B4-BE49-F238E27FC236}">
                <a16:creationId xmlns:a16="http://schemas.microsoft.com/office/drawing/2014/main" id="{03A324BB-6F24-8895-0A93-41E3A02329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5098C82-A67A-C63A-6AF0-182D02F32622}"/>
              </a:ext>
            </a:extLst>
          </p:cNvPr>
          <p:cNvSpPr txBox="1"/>
          <p:nvPr/>
        </p:nvSpPr>
        <p:spPr>
          <a:xfrm>
            <a:off x="420414" y="1147436"/>
            <a:ext cx="8303172" cy="5018618"/>
          </a:xfrm>
          <a:prstGeom prst="rect">
            <a:avLst/>
          </a:prstGeom>
          <a:solidFill>
            <a:schemeClr val="bg1"/>
          </a:solidFill>
        </p:spPr>
        <p:txBody>
          <a:bodyPr wrap="square">
            <a:spAutoFit/>
          </a:bodyPr>
          <a:lstStyle/>
          <a:p>
            <a:pPr>
              <a:lnSpc>
                <a:spcPct val="150000"/>
              </a:lnSpc>
            </a:pPr>
            <a:r>
              <a:rPr lang="en-US" sz="2400" b="1" dirty="0">
                <a:latin typeface="+mn-lt"/>
              </a:rPr>
              <a:t>Before Submission</a:t>
            </a:r>
          </a:p>
          <a:p>
            <a:pPr>
              <a:lnSpc>
                <a:spcPct val="150000"/>
              </a:lnSpc>
            </a:pPr>
            <a:r>
              <a:rPr lang="en-US" sz="2400" dirty="0">
                <a:latin typeface="+mn-lt"/>
              </a:rPr>
              <a:t>Ask yourself:</a:t>
            </a:r>
          </a:p>
          <a:p>
            <a:pPr marL="179388">
              <a:lnSpc>
                <a:spcPct val="150000"/>
              </a:lnSpc>
            </a:pPr>
            <a:r>
              <a:rPr lang="en-US" sz="2400" dirty="0">
                <a:latin typeface="+mn-lt"/>
              </a:rPr>
              <a:t>✓ Have we clearly identified the problem?</a:t>
            </a:r>
          </a:p>
          <a:p>
            <a:pPr marL="179388">
              <a:lnSpc>
                <a:spcPct val="150000"/>
              </a:lnSpc>
            </a:pPr>
            <a:r>
              <a:rPr lang="en-US" sz="2400" dirty="0">
                <a:latin typeface="+mn-lt"/>
              </a:rPr>
              <a:t>✓ Have we proposed a realistic solution?</a:t>
            </a:r>
          </a:p>
          <a:p>
            <a:pPr marL="179388">
              <a:lnSpc>
                <a:spcPct val="150000"/>
              </a:lnSpc>
            </a:pPr>
            <a:r>
              <a:rPr lang="en-US" sz="2400" dirty="0">
                <a:latin typeface="+mn-lt"/>
              </a:rPr>
              <a:t>✓ Have we justified our technologies?</a:t>
            </a:r>
          </a:p>
          <a:p>
            <a:pPr marL="179388">
              <a:lnSpc>
                <a:spcPct val="150000"/>
              </a:lnSpc>
            </a:pPr>
            <a:r>
              <a:rPr lang="en-US" sz="2400" dirty="0">
                <a:latin typeface="+mn-lt"/>
              </a:rPr>
              <a:t>✓ Have we included sustainability?</a:t>
            </a:r>
          </a:p>
          <a:p>
            <a:pPr marL="179388">
              <a:lnSpc>
                <a:spcPct val="150000"/>
              </a:lnSpc>
            </a:pPr>
            <a:r>
              <a:rPr lang="en-US" sz="2400" dirty="0">
                <a:latin typeface="+mn-lt"/>
              </a:rPr>
              <a:t>✓ Have we discussed ethics?</a:t>
            </a:r>
          </a:p>
          <a:p>
            <a:pPr marL="179388">
              <a:lnSpc>
                <a:spcPct val="150000"/>
              </a:lnSpc>
            </a:pPr>
            <a:r>
              <a:rPr lang="en-US" sz="2400" dirty="0">
                <a:latin typeface="+mn-lt"/>
              </a:rPr>
              <a:t>✓ Have we explained communication?</a:t>
            </a:r>
          </a:p>
          <a:p>
            <a:pPr marL="179388">
              <a:lnSpc>
                <a:spcPct val="150000"/>
              </a:lnSpc>
            </a:pPr>
            <a:r>
              <a:rPr lang="en-US" sz="2400" dirty="0">
                <a:latin typeface="+mn-lt"/>
              </a:rPr>
              <a:t>✓ Have we included references?</a:t>
            </a:r>
          </a:p>
        </p:txBody>
      </p:sp>
    </p:spTree>
    <p:extLst>
      <p:ext uri="{BB962C8B-B14F-4D97-AF65-F5344CB8AC3E}">
        <p14:creationId xmlns:p14="http://schemas.microsoft.com/office/powerpoint/2010/main" val="4069013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7CB2C-FB1A-A030-071A-7E71BD0818E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AF83477-C46E-B549-EF94-0F09EDFEBB25}"/>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Discussion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F4E3CA1C-4AE0-5E59-F92E-2259397373B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63F50858-BE4C-E2E1-0D12-FEE6115DA42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31</a:t>
            </a:fld>
            <a:endParaRPr lang="en-US" altLang="en-US" sz="900">
              <a:solidFill>
                <a:srgbClr val="FFFFFF"/>
              </a:solidFill>
            </a:endParaRPr>
          </a:p>
        </p:txBody>
      </p:sp>
      <p:pic>
        <p:nvPicPr>
          <p:cNvPr id="23558" name="Picture 5">
            <a:extLst>
              <a:ext uri="{FF2B5EF4-FFF2-40B4-BE49-F238E27FC236}">
                <a16:creationId xmlns:a16="http://schemas.microsoft.com/office/drawing/2014/main" id="{BD9F13D1-6098-AE82-7CC4-2AE51322A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F28C047-4D48-94AD-6C7F-43578BE2DC25}"/>
              </a:ext>
            </a:extLst>
          </p:cNvPr>
          <p:cNvSpPr txBox="1"/>
          <p:nvPr/>
        </p:nvSpPr>
        <p:spPr>
          <a:xfrm>
            <a:off x="420414" y="1147436"/>
            <a:ext cx="8303172" cy="3257174"/>
          </a:xfrm>
          <a:prstGeom prst="rect">
            <a:avLst/>
          </a:prstGeom>
          <a:solidFill>
            <a:schemeClr val="bg1"/>
          </a:solidFill>
        </p:spPr>
        <p:txBody>
          <a:bodyPr wrap="square">
            <a:spAutoFit/>
          </a:bodyPr>
          <a:lstStyle/>
          <a:p>
            <a:pPr>
              <a:lnSpc>
                <a:spcPct val="150000"/>
              </a:lnSpc>
            </a:pPr>
            <a:r>
              <a:rPr lang="en-US" sz="2800" b="1" dirty="0">
                <a:latin typeface="+mn-lt"/>
              </a:rPr>
              <a:t>Q1. Why is it important to understand the business problem before selecting a technology?</a:t>
            </a:r>
          </a:p>
          <a:p>
            <a:pPr>
              <a:lnSpc>
                <a:spcPct val="150000"/>
              </a:lnSpc>
            </a:pPr>
            <a:r>
              <a:rPr lang="en-US" sz="2800" dirty="0">
                <a:latin typeface="+mn-lt"/>
              </a:rPr>
              <a:t>Because technology should solve a real business need rather than being used simply because it is new or popular.</a:t>
            </a:r>
          </a:p>
        </p:txBody>
      </p:sp>
    </p:spTree>
    <p:extLst>
      <p:ext uri="{BB962C8B-B14F-4D97-AF65-F5344CB8AC3E}">
        <p14:creationId xmlns:p14="http://schemas.microsoft.com/office/powerpoint/2010/main" val="13642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B052D-6C59-8212-FE6F-DF72DF9BE93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974B3DB-51C3-FF7F-5CA3-BFC9950A1A4F}"/>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Discussion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E477D462-AA15-4A13-8198-6EB35FBA8F7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DC732D48-3A93-522D-0ADA-B6D465A9BB7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32</a:t>
            </a:fld>
            <a:endParaRPr lang="en-US" altLang="en-US" sz="900">
              <a:solidFill>
                <a:srgbClr val="FFFFFF"/>
              </a:solidFill>
            </a:endParaRPr>
          </a:p>
        </p:txBody>
      </p:sp>
      <p:pic>
        <p:nvPicPr>
          <p:cNvPr id="23558" name="Picture 5">
            <a:extLst>
              <a:ext uri="{FF2B5EF4-FFF2-40B4-BE49-F238E27FC236}">
                <a16:creationId xmlns:a16="http://schemas.microsoft.com/office/drawing/2014/main" id="{64B00712-0D28-2A8A-4F56-4D88CE5B90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FBF9A18-C22B-5C33-CA80-30DEEA9808D9}"/>
              </a:ext>
            </a:extLst>
          </p:cNvPr>
          <p:cNvSpPr txBox="1"/>
          <p:nvPr/>
        </p:nvSpPr>
        <p:spPr>
          <a:xfrm>
            <a:off x="420414" y="1147436"/>
            <a:ext cx="8303172" cy="3257174"/>
          </a:xfrm>
          <a:prstGeom prst="rect">
            <a:avLst/>
          </a:prstGeom>
          <a:solidFill>
            <a:schemeClr val="bg1"/>
          </a:solidFill>
        </p:spPr>
        <p:txBody>
          <a:bodyPr wrap="square">
            <a:spAutoFit/>
          </a:bodyPr>
          <a:lstStyle/>
          <a:p>
            <a:pPr>
              <a:lnSpc>
                <a:spcPct val="150000"/>
              </a:lnSpc>
            </a:pPr>
            <a:r>
              <a:rPr lang="en-US" sz="2800" b="1" dirty="0">
                <a:latin typeface="+mn-lt"/>
              </a:rPr>
              <a:t>Q2. What information should students gather from NSW IT Support?</a:t>
            </a:r>
          </a:p>
          <a:p>
            <a:pPr>
              <a:lnSpc>
                <a:spcPct val="150000"/>
              </a:lnSpc>
            </a:pPr>
            <a:r>
              <a:rPr lang="en-US" sz="2800" dirty="0">
                <a:latin typeface="+mn-lt"/>
              </a:rPr>
              <a:t>Client challenges, project management practices, technology recommendations, security concerns, and future industry trends.</a:t>
            </a:r>
          </a:p>
        </p:txBody>
      </p:sp>
    </p:spTree>
    <p:extLst>
      <p:ext uri="{BB962C8B-B14F-4D97-AF65-F5344CB8AC3E}">
        <p14:creationId xmlns:p14="http://schemas.microsoft.com/office/powerpoint/2010/main" val="55043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AFBC6-C428-D969-001A-675A49C06A8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FEEAE80-91ED-4CC0-9FCF-3613483FCE97}"/>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Discussion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34C7645D-64A9-DF32-BD43-81D472059C46}"/>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CE36CA15-A57A-5144-C8F1-14A271FD25A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33</a:t>
            </a:fld>
            <a:endParaRPr lang="en-US" altLang="en-US" sz="900">
              <a:solidFill>
                <a:srgbClr val="FFFFFF"/>
              </a:solidFill>
            </a:endParaRPr>
          </a:p>
        </p:txBody>
      </p:sp>
      <p:pic>
        <p:nvPicPr>
          <p:cNvPr id="23558" name="Picture 5">
            <a:extLst>
              <a:ext uri="{FF2B5EF4-FFF2-40B4-BE49-F238E27FC236}">
                <a16:creationId xmlns:a16="http://schemas.microsoft.com/office/drawing/2014/main" id="{74845B1A-2936-D236-5E2B-11EE89B14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5BB94DC-8A59-42C8-8EA1-713C79F96F9A}"/>
              </a:ext>
            </a:extLst>
          </p:cNvPr>
          <p:cNvSpPr txBox="1"/>
          <p:nvPr/>
        </p:nvSpPr>
        <p:spPr>
          <a:xfrm>
            <a:off x="420414" y="1147436"/>
            <a:ext cx="8303172" cy="1964512"/>
          </a:xfrm>
          <a:prstGeom prst="rect">
            <a:avLst/>
          </a:prstGeom>
          <a:solidFill>
            <a:schemeClr val="bg1"/>
          </a:solidFill>
        </p:spPr>
        <p:txBody>
          <a:bodyPr wrap="square">
            <a:spAutoFit/>
          </a:bodyPr>
          <a:lstStyle/>
          <a:p>
            <a:pPr>
              <a:lnSpc>
                <a:spcPct val="150000"/>
              </a:lnSpc>
            </a:pPr>
            <a:r>
              <a:rPr lang="en-US" sz="2800" b="1" dirty="0">
                <a:latin typeface="+mn-lt"/>
              </a:rPr>
              <a:t>Q3. What makes a project proposal sustainable?</a:t>
            </a:r>
          </a:p>
          <a:p>
            <a:pPr>
              <a:lnSpc>
                <a:spcPct val="150000"/>
              </a:lnSpc>
            </a:pPr>
            <a:r>
              <a:rPr lang="en-US" sz="2800" dirty="0">
                <a:latin typeface="+mn-lt"/>
              </a:rPr>
              <a:t>Reducing environmental impact, improving accessibility, supporting ethical practices, and being cost-effective.</a:t>
            </a:r>
          </a:p>
        </p:txBody>
      </p:sp>
    </p:spTree>
    <p:extLst>
      <p:ext uri="{BB962C8B-B14F-4D97-AF65-F5344CB8AC3E}">
        <p14:creationId xmlns:p14="http://schemas.microsoft.com/office/powerpoint/2010/main" val="1228238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26FC6-40D6-576D-E1D1-55EC0B0364E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C540E15-0789-C220-56B4-25513BD968B8}"/>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Discussion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C62C9E14-B016-75AB-BC7E-E02A1AAEF6C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5203610-7AA4-9DC2-F0B9-192FEAD8596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34</a:t>
            </a:fld>
            <a:endParaRPr lang="en-US" altLang="en-US" sz="900">
              <a:solidFill>
                <a:srgbClr val="FFFFFF"/>
              </a:solidFill>
            </a:endParaRPr>
          </a:p>
        </p:txBody>
      </p:sp>
      <p:pic>
        <p:nvPicPr>
          <p:cNvPr id="23558" name="Picture 5">
            <a:extLst>
              <a:ext uri="{FF2B5EF4-FFF2-40B4-BE49-F238E27FC236}">
                <a16:creationId xmlns:a16="http://schemas.microsoft.com/office/drawing/2014/main" id="{A0F04A7C-0756-ED8B-80E8-C2A3358F0A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3975FA7-34FF-08C5-E467-BDF87ADA4269}"/>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Q4. Why should ethical issues be discussed in Assessment 4?</a:t>
            </a:r>
          </a:p>
          <a:p>
            <a:pPr>
              <a:lnSpc>
                <a:spcPct val="150000"/>
              </a:lnSpc>
            </a:pPr>
            <a:r>
              <a:rPr lang="en-US" sz="2800" dirty="0">
                <a:latin typeface="+mn-lt"/>
              </a:rPr>
              <a:t>Because IT solutions may affect privacy, security, accessibility, fairness, and legal compliance.</a:t>
            </a:r>
          </a:p>
        </p:txBody>
      </p:sp>
    </p:spTree>
    <p:extLst>
      <p:ext uri="{BB962C8B-B14F-4D97-AF65-F5344CB8AC3E}">
        <p14:creationId xmlns:p14="http://schemas.microsoft.com/office/powerpoint/2010/main" val="2652393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2F24E-5020-8664-B092-EE457B0A499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42AD137-73CA-5F17-4C9A-89C1EC17C94B}"/>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Discussion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84E7F9D6-8CA0-8E52-3C51-6503CD522C7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116B4138-E700-76AB-D7E7-E1F7752B1BD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35</a:t>
            </a:fld>
            <a:endParaRPr lang="en-US" altLang="en-US" sz="900">
              <a:solidFill>
                <a:srgbClr val="FFFFFF"/>
              </a:solidFill>
            </a:endParaRPr>
          </a:p>
        </p:txBody>
      </p:sp>
      <p:pic>
        <p:nvPicPr>
          <p:cNvPr id="23558" name="Picture 5">
            <a:extLst>
              <a:ext uri="{FF2B5EF4-FFF2-40B4-BE49-F238E27FC236}">
                <a16:creationId xmlns:a16="http://schemas.microsoft.com/office/drawing/2014/main" id="{BABA8567-D7E2-EB5D-2069-21527FA934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1EDA69D-5EC8-D0D7-8D6B-43E4C6D65ACD}"/>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Q5. What is the difference between a business problem and a technology solution?</a:t>
            </a:r>
          </a:p>
          <a:p>
            <a:pPr>
              <a:lnSpc>
                <a:spcPct val="150000"/>
              </a:lnSpc>
            </a:pPr>
            <a:r>
              <a:rPr lang="en-US" sz="2800" dirty="0">
                <a:latin typeface="+mn-lt"/>
              </a:rPr>
              <a:t>A business problem is the issue that needs solving; the technology solution is the tool used to solve that issue.</a:t>
            </a:r>
          </a:p>
        </p:txBody>
      </p:sp>
    </p:spTree>
    <p:extLst>
      <p:ext uri="{BB962C8B-B14F-4D97-AF65-F5344CB8AC3E}">
        <p14:creationId xmlns:p14="http://schemas.microsoft.com/office/powerpoint/2010/main" val="9345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DA1FB-3D59-EABD-7A77-146D312E64C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82E8EDF-2E15-B24D-4DF9-D329E2826B98}"/>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Discussion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E4468035-326C-C84A-963B-19B3559CD52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E469F593-B4B2-3A30-5A71-3363403F733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36</a:t>
            </a:fld>
            <a:endParaRPr lang="en-US" altLang="en-US" sz="900">
              <a:solidFill>
                <a:srgbClr val="FFFFFF"/>
              </a:solidFill>
            </a:endParaRPr>
          </a:p>
        </p:txBody>
      </p:sp>
      <p:pic>
        <p:nvPicPr>
          <p:cNvPr id="23558" name="Picture 5">
            <a:extLst>
              <a:ext uri="{FF2B5EF4-FFF2-40B4-BE49-F238E27FC236}">
                <a16:creationId xmlns:a16="http://schemas.microsoft.com/office/drawing/2014/main" id="{2F2AF9E2-DADF-D260-345A-EFD06BEE4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B8C13B1-95D6-7849-5BA6-C517742B4729}"/>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Q6. Why is stakeholder communication important?</a:t>
            </a:r>
          </a:p>
          <a:p>
            <a:pPr>
              <a:lnSpc>
                <a:spcPct val="150000"/>
              </a:lnSpc>
            </a:pPr>
            <a:r>
              <a:rPr lang="en-US" sz="2800" dirty="0">
                <a:latin typeface="+mn-lt"/>
              </a:rPr>
              <a:t>It ensures that requirements are understood, expectations are managed, and feedback is incorporated throughout the project.</a:t>
            </a:r>
          </a:p>
        </p:txBody>
      </p:sp>
    </p:spTree>
    <p:extLst>
      <p:ext uri="{BB962C8B-B14F-4D97-AF65-F5344CB8AC3E}">
        <p14:creationId xmlns:p14="http://schemas.microsoft.com/office/powerpoint/2010/main" val="61736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B8882-C7ED-E60C-058B-48B47051752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228D393-F7D6-BDDD-5F07-FA5D791944F7}"/>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Discussion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6172A059-ABCE-AD07-6D90-14576EB2C31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8CD4CF35-EAD5-40A8-CA3B-9B56E12A2F6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37</a:t>
            </a:fld>
            <a:endParaRPr lang="en-US" altLang="en-US" sz="900">
              <a:solidFill>
                <a:srgbClr val="FFFFFF"/>
              </a:solidFill>
            </a:endParaRPr>
          </a:p>
        </p:txBody>
      </p:sp>
      <p:pic>
        <p:nvPicPr>
          <p:cNvPr id="23558" name="Picture 5">
            <a:extLst>
              <a:ext uri="{FF2B5EF4-FFF2-40B4-BE49-F238E27FC236}">
                <a16:creationId xmlns:a16="http://schemas.microsoft.com/office/drawing/2014/main" id="{A487378B-8285-FD54-F488-252C44CF5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636D533-D6AF-1E49-A457-E53E594EE00E}"/>
              </a:ext>
            </a:extLst>
          </p:cNvPr>
          <p:cNvSpPr txBox="1"/>
          <p:nvPr/>
        </p:nvSpPr>
        <p:spPr>
          <a:xfrm>
            <a:off x="420414" y="1147436"/>
            <a:ext cx="8303172" cy="3257174"/>
          </a:xfrm>
          <a:prstGeom prst="rect">
            <a:avLst/>
          </a:prstGeom>
          <a:solidFill>
            <a:schemeClr val="bg1"/>
          </a:solidFill>
        </p:spPr>
        <p:txBody>
          <a:bodyPr wrap="square">
            <a:spAutoFit/>
          </a:bodyPr>
          <a:lstStyle/>
          <a:p>
            <a:pPr>
              <a:lnSpc>
                <a:spcPct val="150000"/>
              </a:lnSpc>
            </a:pPr>
            <a:r>
              <a:rPr lang="en-US" sz="2800" b="1" dirty="0">
                <a:latin typeface="+mn-lt"/>
              </a:rPr>
              <a:t>Q7. What is one thing that often lowers marks in Assessment 4?</a:t>
            </a:r>
          </a:p>
          <a:p>
            <a:pPr>
              <a:lnSpc>
                <a:spcPct val="150000"/>
              </a:lnSpc>
            </a:pPr>
            <a:r>
              <a:rPr lang="en-US" sz="2800" dirty="0">
                <a:latin typeface="+mn-lt"/>
              </a:rPr>
              <a:t>Providing a technology description without clearly explaining the business problem, stakeholder needs, and justification for the solution.</a:t>
            </a:r>
          </a:p>
        </p:txBody>
      </p:sp>
    </p:spTree>
    <p:extLst>
      <p:ext uri="{BB962C8B-B14F-4D97-AF65-F5344CB8AC3E}">
        <p14:creationId xmlns:p14="http://schemas.microsoft.com/office/powerpoint/2010/main" val="700199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A434D-C96A-AC08-DEDC-766D05B59AB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A2043A9-7F61-BC41-EA05-0BF6FF89063F}"/>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a:solidFill>
                  <a:srgbClr val="00B0F0"/>
                </a:solidFill>
                <a:latin typeface="+mn-lt"/>
              </a:rPr>
              <a:t>Final Revision Message for Students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6BC879BB-FBA0-D627-FB6A-A4B7FA32258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51055095-B3C6-8209-F8A7-69371BCDD63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38</a:t>
            </a:fld>
            <a:endParaRPr lang="en-US" altLang="en-US" sz="900">
              <a:solidFill>
                <a:srgbClr val="FFFFFF"/>
              </a:solidFill>
            </a:endParaRPr>
          </a:p>
        </p:txBody>
      </p:sp>
      <p:pic>
        <p:nvPicPr>
          <p:cNvPr id="23558" name="Picture 5">
            <a:extLst>
              <a:ext uri="{FF2B5EF4-FFF2-40B4-BE49-F238E27FC236}">
                <a16:creationId xmlns:a16="http://schemas.microsoft.com/office/drawing/2014/main" id="{1CA9A8AD-3450-3EB0-C73C-4C6F598093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D31AF6B-C5C6-038C-E185-FEC7E3F644F4}"/>
              </a:ext>
            </a:extLst>
          </p:cNvPr>
          <p:cNvSpPr txBox="1"/>
          <p:nvPr/>
        </p:nvSpPr>
        <p:spPr>
          <a:xfrm>
            <a:off x="420414" y="1147436"/>
            <a:ext cx="8303172" cy="3903504"/>
          </a:xfrm>
          <a:prstGeom prst="rect">
            <a:avLst/>
          </a:prstGeom>
          <a:solidFill>
            <a:schemeClr val="bg1"/>
          </a:solidFill>
        </p:spPr>
        <p:txBody>
          <a:bodyPr wrap="square">
            <a:spAutoFit/>
          </a:bodyPr>
          <a:lstStyle/>
          <a:p>
            <a:pPr>
              <a:lnSpc>
                <a:spcPct val="150000"/>
              </a:lnSpc>
            </a:pPr>
            <a:r>
              <a:rPr lang="en-US" sz="2800" dirty="0">
                <a:latin typeface="+mn-lt"/>
              </a:rPr>
              <a:t>Assessment 4 is not a technical report about technology. It is a professional project proposal that demonstrates your ability to identify a real problem, </a:t>
            </a:r>
            <a:r>
              <a:rPr lang="en-US" sz="2800" dirty="0" err="1">
                <a:latin typeface="+mn-lt"/>
              </a:rPr>
              <a:t>analyse</a:t>
            </a:r>
            <a:r>
              <a:rPr lang="en-US" sz="2800" dirty="0">
                <a:latin typeface="+mn-lt"/>
              </a:rPr>
              <a:t> stakeholder needs, design a practical IT solution, justify your decisions, and communicate professionally using project management principles.</a:t>
            </a:r>
          </a:p>
        </p:txBody>
      </p:sp>
    </p:spTree>
    <p:extLst>
      <p:ext uri="{BB962C8B-B14F-4D97-AF65-F5344CB8AC3E}">
        <p14:creationId xmlns:p14="http://schemas.microsoft.com/office/powerpoint/2010/main" val="1481186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AAF28-8168-04E0-D7A8-8D0FB7B484E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6DA20BF-6D5B-18E4-D82F-FBFC0226A16D}"/>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18A08C2C-97CD-7799-AA32-7BDA363BEBC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677858B7-8A0B-4B21-0321-A885A10D70B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39</a:t>
            </a:fld>
            <a:endParaRPr lang="en-US" altLang="en-US" sz="900">
              <a:solidFill>
                <a:srgbClr val="FFFFFF"/>
              </a:solidFill>
            </a:endParaRPr>
          </a:p>
        </p:txBody>
      </p:sp>
      <p:pic>
        <p:nvPicPr>
          <p:cNvPr id="23558" name="Picture 5">
            <a:extLst>
              <a:ext uri="{FF2B5EF4-FFF2-40B4-BE49-F238E27FC236}">
                <a16:creationId xmlns:a16="http://schemas.microsoft.com/office/drawing/2014/main" id="{E6DC72B5-827F-4AE9-31DF-79BAA0B754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B04E6DE7-F90A-9417-65A7-C3CA7BB00E72}"/>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1</a:t>
            </a:r>
          </a:p>
          <a:p>
            <a:pPr>
              <a:lnSpc>
                <a:spcPct val="150000"/>
              </a:lnSpc>
            </a:pPr>
            <a:r>
              <a:rPr lang="en-US" sz="2800" b="1" dirty="0">
                <a:latin typeface="+mn-lt"/>
              </a:rPr>
              <a:t>What is a project?</a:t>
            </a:r>
          </a:p>
          <a:p>
            <a:pPr>
              <a:lnSpc>
                <a:spcPct val="150000"/>
              </a:lnSpc>
            </a:pPr>
            <a:r>
              <a:rPr lang="en-US" sz="2800" dirty="0">
                <a:latin typeface="+mn-lt"/>
              </a:rPr>
              <a:t>A project is a temporary activity with a clear start and finish that aims to achieve a specific goal or deliverable.</a:t>
            </a:r>
          </a:p>
        </p:txBody>
      </p:sp>
    </p:spTree>
    <p:extLst>
      <p:ext uri="{BB962C8B-B14F-4D97-AF65-F5344CB8AC3E}">
        <p14:creationId xmlns:p14="http://schemas.microsoft.com/office/powerpoint/2010/main" val="335121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46A3F-EB2D-1790-A974-4CE189F7F1F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649D290-E340-FF25-83AF-CE87AFF8536B}"/>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10F389A8-5979-56C6-8D9F-DB29C89E4B3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406D7F92-EFA1-D983-46F1-4102810F579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40</a:t>
            </a:fld>
            <a:endParaRPr lang="en-US" altLang="en-US" sz="900">
              <a:solidFill>
                <a:srgbClr val="FFFFFF"/>
              </a:solidFill>
            </a:endParaRPr>
          </a:p>
        </p:txBody>
      </p:sp>
      <p:pic>
        <p:nvPicPr>
          <p:cNvPr id="23558" name="Picture 5">
            <a:extLst>
              <a:ext uri="{FF2B5EF4-FFF2-40B4-BE49-F238E27FC236}">
                <a16:creationId xmlns:a16="http://schemas.microsoft.com/office/drawing/2014/main" id="{0230064F-550D-F7E9-19C3-8AD1D0BB93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8E638B0-6034-92DF-39BC-52398E122F41}"/>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2</a:t>
            </a:r>
          </a:p>
          <a:p>
            <a:pPr>
              <a:lnSpc>
                <a:spcPct val="150000"/>
              </a:lnSpc>
            </a:pPr>
            <a:r>
              <a:rPr lang="en-US" sz="2800" b="1" dirty="0">
                <a:latin typeface="+mn-lt"/>
              </a:rPr>
              <a:t>What is the first step in the design process?</a:t>
            </a:r>
          </a:p>
          <a:p>
            <a:pPr>
              <a:lnSpc>
                <a:spcPct val="150000"/>
              </a:lnSpc>
            </a:pPr>
            <a:r>
              <a:rPr lang="en-US" sz="2800" dirty="0">
                <a:latin typeface="+mn-lt"/>
              </a:rPr>
              <a:t>Research and requirements gathering to understand the problem and stakeholder needs.</a:t>
            </a:r>
          </a:p>
        </p:txBody>
      </p:sp>
    </p:spTree>
    <p:extLst>
      <p:ext uri="{BB962C8B-B14F-4D97-AF65-F5344CB8AC3E}">
        <p14:creationId xmlns:p14="http://schemas.microsoft.com/office/powerpoint/2010/main" val="243244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13F61-40ED-567F-07A0-B4D61789093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48F0E15-11E5-850F-F0FD-082F3E32D1FA}"/>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195AD437-6774-074F-3947-AFBDF82CC7D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38320AE7-6E46-4DD1-00DE-1794C7871EA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41</a:t>
            </a:fld>
            <a:endParaRPr lang="en-US" altLang="en-US" sz="900">
              <a:solidFill>
                <a:srgbClr val="FFFFFF"/>
              </a:solidFill>
            </a:endParaRPr>
          </a:p>
        </p:txBody>
      </p:sp>
      <p:pic>
        <p:nvPicPr>
          <p:cNvPr id="23558" name="Picture 5">
            <a:extLst>
              <a:ext uri="{FF2B5EF4-FFF2-40B4-BE49-F238E27FC236}">
                <a16:creationId xmlns:a16="http://schemas.microsoft.com/office/drawing/2014/main" id="{19C53457-443F-1C23-A744-CBDC9F6B8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665EA5F-85E1-47E7-E369-601EF3DB9A9F}"/>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3</a:t>
            </a:r>
          </a:p>
          <a:p>
            <a:pPr>
              <a:lnSpc>
                <a:spcPct val="150000"/>
              </a:lnSpc>
            </a:pPr>
            <a:r>
              <a:rPr lang="en-US" sz="2800" b="1" dirty="0">
                <a:latin typeface="+mn-lt"/>
              </a:rPr>
              <a:t>Why is requirements gathering important?</a:t>
            </a:r>
          </a:p>
          <a:p>
            <a:pPr>
              <a:lnSpc>
                <a:spcPct val="150000"/>
              </a:lnSpc>
            </a:pPr>
            <a:r>
              <a:rPr lang="en-US" sz="2800" dirty="0">
                <a:latin typeface="+mn-lt"/>
              </a:rPr>
              <a:t>It helps ensure the final solution meets user and business needs.</a:t>
            </a:r>
          </a:p>
        </p:txBody>
      </p:sp>
    </p:spTree>
    <p:extLst>
      <p:ext uri="{BB962C8B-B14F-4D97-AF65-F5344CB8AC3E}">
        <p14:creationId xmlns:p14="http://schemas.microsoft.com/office/powerpoint/2010/main" val="329851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6D6B6-9F04-ECDF-2943-B235A46BC3F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040D8B0-5AF2-3870-FCCC-C2437E8622B5}"/>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CAC4469B-7842-BA0F-7E60-7A6BAD2556D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64388150-1522-FBE7-B1C9-6611B9D7214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42</a:t>
            </a:fld>
            <a:endParaRPr lang="en-US" altLang="en-US" sz="900">
              <a:solidFill>
                <a:srgbClr val="FFFFFF"/>
              </a:solidFill>
            </a:endParaRPr>
          </a:p>
        </p:txBody>
      </p:sp>
      <p:pic>
        <p:nvPicPr>
          <p:cNvPr id="23558" name="Picture 5">
            <a:extLst>
              <a:ext uri="{FF2B5EF4-FFF2-40B4-BE49-F238E27FC236}">
                <a16:creationId xmlns:a16="http://schemas.microsoft.com/office/drawing/2014/main" id="{FC70847A-8705-B788-A8E9-4B2D0FC0B8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674F306-3051-5985-C791-06B92E60334E}"/>
              </a:ext>
            </a:extLst>
          </p:cNvPr>
          <p:cNvSpPr txBox="1"/>
          <p:nvPr/>
        </p:nvSpPr>
        <p:spPr>
          <a:xfrm>
            <a:off x="420414" y="1147436"/>
            <a:ext cx="8303172" cy="3903504"/>
          </a:xfrm>
          <a:prstGeom prst="rect">
            <a:avLst/>
          </a:prstGeom>
          <a:solidFill>
            <a:schemeClr val="bg1"/>
          </a:solidFill>
        </p:spPr>
        <p:txBody>
          <a:bodyPr wrap="square">
            <a:spAutoFit/>
          </a:bodyPr>
          <a:lstStyle/>
          <a:p>
            <a:pPr>
              <a:lnSpc>
                <a:spcPct val="150000"/>
              </a:lnSpc>
            </a:pPr>
            <a:r>
              <a:rPr lang="en-US" sz="2800" b="1" dirty="0">
                <a:latin typeface="+mn-lt"/>
              </a:rPr>
              <a:t>Question 4</a:t>
            </a:r>
          </a:p>
          <a:p>
            <a:pPr>
              <a:lnSpc>
                <a:spcPct val="150000"/>
              </a:lnSpc>
            </a:pPr>
            <a:r>
              <a:rPr lang="en-US" sz="2800" b="1" dirty="0">
                <a:latin typeface="+mn-lt"/>
              </a:rPr>
              <a:t>Give two ways to gather requirements.</a:t>
            </a:r>
          </a:p>
          <a:p>
            <a:pPr marL="457200" indent="-457200">
              <a:lnSpc>
                <a:spcPct val="150000"/>
              </a:lnSpc>
              <a:buFont typeface="Arial" panose="020B0604020202020204" pitchFamily="34" charset="0"/>
              <a:buChar char="•"/>
            </a:pPr>
            <a:r>
              <a:rPr lang="en-US" sz="2800" dirty="0">
                <a:latin typeface="+mn-lt"/>
              </a:rPr>
              <a:t>Interviews </a:t>
            </a:r>
          </a:p>
          <a:p>
            <a:pPr marL="457200" indent="-457200">
              <a:lnSpc>
                <a:spcPct val="150000"/>
              </a:lnSpc>
              <a:buFont typeface="Arial" panose="020B0604020202020204" pitchFamily="34" charset="0"/>
              <a:buChar char="•"/>
            </a:pPr>
            <a:r>
              <a:rPr lang="en-US" sz="2800" dirty="0">
                <a:latin typeface="+mn-lt"/>
              </a:rPr>
              <a:t>Surveys </a:t>
            </a:r>
          </a:p>
          <a:p>
            <a:pPr>
              <a:lnSpc>
                <a:spcPct val="150000"/>
              </a:lnSpc>
            </a:pPr>
            <a:r>
              <a:rPr lang="en-US" sz="2800" dirty="0">
                <a:latin typeface="+mn-lt"/>
              </a:rPr>
              <a:t>Other examples include observation, workshops, and questionnaires.</a:t>
            </a:r>
          </a:p>
        </p:txBody>
      </p:sp>
    </p:spTree>
    <p:extLst>
      <p:ext uri="{BB962C8B-B14F-4D97-AF65-F5344CB8AC3E}">
        <p14:creationId xmlns:p14="http://schemas.microsoft.com/office/powerpoint/2010/main" val="89393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58BEF-4BDF-EBDA-B40A-C900F7CD5CC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C8A8F37-9F27-739F-AC75-052BDA8689AE}"/>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43D12905-7F41-0B62-89C5-3E611E8F40FB}"/>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164318B1-8179-F574-D2FE-2AB8700253D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43</a:t>
            </a:fld>
            <a:endParaRPr lang="en-US" altLang="en-US" sz="900">
              <a:solidFill>
                <a:srgbClr val="FFFFFF"/>
              </a:solidFill>
            </a:endParaRPr>
          </a:p>
        </p:txBody>
      </p:sp>
      <p:pic>
        <p:nvPicPr>
          <p:cNvPr id="23558" name="Picture 5">
            <a:extLst>
              <a:ext uri="{FF2B5EF4-FFF2-40B4-BE49-F238E27FC236}">
                <a16:creationId xmlns:a16="http://schemas.microsoft.com/office/drawing/2014/main" id="{7985BA1E-579A-BF55-F006-C66AA98437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4D1C447-3449-1FFF-C4F0-EDBD5393D58D}"/>
              </a:ext>
            </a:extLst>
          </p:cNvPr>
          <p:cNvSpPr txBox="1"/>
          <p:nvPr/>
        </p:nvSpPr>
        <p:spPr>
          <a:xfrm>
            <a:off x="420414" y="1147436"/>
            <a:ext cx="8303172" cy="5842497"/>
          </a:xfrm>
          <a:prstGeom prst="rect">
            <a:avLst/>
          </a:prstGeom>
          <a:solidFill>
            <a:schemeClr val="bg1"/>
          </a:solidFill>
        </p:spPr>
        <p:txBody>
          <a:bodyPr wrap="square">
            <a:spAutoFit/>
          </a:bodyPr>
          <a:lstStyle/>
          <a:p>
            <a:pPr>
              <a:lnSpc>
                <a:spcPct val="150000"/>
              </a:lnSpc>
            </a:pPr>
            <a:r>
              <a:rPr lang="en-US" sz="2800" b="1" dirty="0">
                <a:latin typeface="+mn-lt"/>
              </a:rPr>
              <a:t>Question 5</a:t>
            </a:r>
          </a:p>
          <a:p>
            <a:pPr>
              <a:lnSpc>
                <a:spcPct val="150000"/>
              </a:lnSpc>
            </a:pPr>
            <a:r>
              <a:rPr lang="en-US" sz="2800" b="1" dirty="0">
                <a:latin typeface="+mn-lt"/>
              </a:rPr>
              <a:t>Who is a stakeholder?</a:t>
            </a:r>
          </a:p>
          <a:p>
            <a:pPr>
              <a:lnSpc>
                <a:spcPct val="150000"/>
              </a:lnSpc>
            </a:pPr>
            <a:r>
              <a:rPr lang="en-US" sz="2800" dirty="0">
                <a:latin typeface="+mn-lt"/>
              </a:rPr>
              <a:t>Anyone affected by the project or who has an interest in the project.</a:t>
            </a:r>
          </a:p>
          <a:p>
            <a:pPr>
              <a:lnSpc>
                <a:spcPct val="150000"/>
              </a:lnSpc>
            </a:pPr>
            <a:r>
              <a:rPr lang="en-US" sz="2800" dirty="0">
                <a:latin typeface="+mn-lt"/>
              </a:rPr>
              <a:t>Examples:</a:t>
            </a:r>
          </a:p>
          <a:p>
            <a:pPr marL="714375" indent="-457200">
              <a:lnSpc>
                <a:spcPct val="150000"/>
              </a:lnSpc>
              <a:buFont typeface="Arial" panose="020B0604020202020204" pitchFamily="34" charset="0"/>
              <a:buChar char="•"/>
            </a:pPr>
            <a:r>
              <a:rPr lang="en-US" sz="2800" dirty="0">
                <a:latin typeface="+mn-lt"/>
              </a:rPr>
              <a:t>Customers </a:t>
            </a:r>
          </a:p>
          <a:p>
            <a:pPr marL="714375" indent="-457200">
              <a:lnSpc>
                <a:spcPct val="150000"/>
              </a:lnSpc>
              <a:buFont typeface="Arial" panose="020B0604020202020204" pitchFamily="34" charset="0"/>
              <a:buChar char="•"/>
            </a:pPr>
            <a:r>
              <a:rPr lang="en-US" sz="2800" dirty="0">
                <a:latin typeface="+mn-lt"/>
              </a:rPr>
              <a:t>Managers </a:t>
            </a:r>
          </a:p>
          <a:p>
            <a:pPr marL="714375" indent="-457200">
              <a:lnSpc>
                <a:spcPct val="150000"/>
              </a:lnSpc>
              <a:buFont typeface="Arial" panose="020B0604020202020204" pitchFamily="34" charset="0"/>
              <a:buChar char="•"/>
            </a:pPr>
            <a:r>
              <a:rPr lang="en-US" sz="2800" dirty="0">
                <a:latin typeface="+mn-lt"/>
              </a:rPr>
              <a:t>Employees </a:t>
            </a:r>
          </a:p>
          <a:p>
            <a:pPr marL="714375" indent="-457200">
              <a:lnSpc>
                <a:spcPct val="150000"/>
              </a:lnSpc>
              <a:buFont typeface="Arial" panose="020B0604020202020204" pitchFamily="34" charset="0"/>
              <a:buChar char="•"/>
            </a:pPr>
            <a:r>
              <a:rPr lang="en-US" sz="2800" dirty="0">
                <a:latin typeface="+mn-lt"/>
              </a:rPr>
              <a:t>IT staff</a:t>
            </a:r>
          </a:p>
        </p:txBody>
      </p:sp>
    </p:spTree>
    <p:extLst>
      <p:ext uri="{BB962C8B-B14F-4D97-AF65-F5344CB8AC3E}">
        <p14:creationId xmlns:p14="http://schemas.microsoft.com/office/powerpoint/2010/main" val="136672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1000"/>
                                        <p:tgtEl>
                                          <p:spTgt spid="5">
                                            <p:txEl>
                                              <p:pRg st="7" end="7"/>
                                            </p:txEl>
                                          </p:spTgt>
                                        </p:tgtEl>
                                      </p:cBhvr>
                                    </p:animEffect>
                                    <p:anim calcmode="lin" valueType="num">
                                      <p:cBhvr>
                                        <p:cTn id="3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D57B5-712C-AE04-6E11-ECCEAA974F1A}"/>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78246DF-DE69-C91F-65E5-4C17A012A6D1}"/>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E2D3FAF8-C78C-B018-8FB0-64D9F6409A9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319B9FA9-E0C9-C47E-2F3F-13416AE2DB0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44</a:t>
            </a:fld>
            <a:endParaRPr lang="en-US" altLang="en-US" sz="900">
              <a:solidFill>
                <a:srgbClr val="FFFFFF"/>
              </a:solidFill>
            </a:endParaRPr>
          </a:p>
        </p:txBody>
      </p:sp>
      <p:pic>
        <p:nvPicPr>
          <p:cNvPr id="23558" name="Picture 5">
            <a:extLst>
              <a:ext uri="{FF2B5EF4-FFF2-40B4-BE49-F238E27FC236}">
                <a16:creationId xmlns:a16="http://schemas.microsoft.com/office/drawing/2014/main" id="{CA1BAD11-97B7-D833-A28C-86DB92C26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6438A5B-2BDE-AF61-6711-CE35D68D8B50}"/>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6</a:t>
            </a:r>
          </a:p>
          <a:p>
            <a:pPr>
              <a:lnSpc>
                <a:spcPct val="150000"/>
              </a:lnSpc>
            </a:pPr>
            <a:r>
              <a:rPr lang="en-US" sz="2800" b="1" dirty="0">
                <a:latin typeface="+mn-lt"/>
              </a:rPr>
              <a:t>What is UML?</a:t>
            </a:r>
          </a:p>
          <a:p>
            <a:pPr>
              <a:lnSpc>
                <a:spcPct val="150000"/>
              </a:lnSpc>
            </a:pPr>
            <a:r>
              <a:rPr lang="en-US" sz="2800" dirty="0">
                <a:latin typeface="+mn-lt"/>
              </a:rPr>
              <a:t>Unified Modelling Language (UML) is a visual language used to design and document systems.</a:t>
            </a:r>
          </a:p>
        </p:txBody>
      </p:sp>
    </p:spTree>
    <p:extLst>
      <p:ext uri="{BB962C8B-B14F-4D97-AF65-F5344CB8AC3E}">
        <p14:creationId xmlns:p14="http://schemas.microsoft.com/office/powerpoint/2010/main" val="362402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04A35-76FD-C4A0-3703-5EC286386F6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2B9E604-CB05-A097-AFEA-921C889E4A04}"/>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939C0AF6-26EB-112F-4C08-365B6BB3D19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DFD798CA-F1C2-8FEF-2811-E5BB8EFB0F8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45</a:t>
            </a:fld>
            <a:endParaRPr lang="en-US" altLang="en-US" sz="900">
              <a:solidFill>
                <a:srgbClr val="FFFFFF"/>
              </a:solidFill>
            </a:endParaRPr>
          </a:p>
        </p:txBody>
      </p:sp>
      <p:pic>
        <p:nvPicPr>
          <p:cNvPr id="23558" name="Picture 5">
            <a:extLst>
              <a:ext uri="{FF2B5EF4-FFF2-40B4-BE49-F238E27FC236}">
                <a16:creationId xmlns:a16="http://schemas.microsoft.com/office/drawing/2014/main" id="{C8612DB5-300A-6575-8134-87004E7370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17510B4-122B-8F34-9921-3CFB872346FC}"/>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7</a:t>
            </a:r>
          </a:p>
          <a:p>
            <a:pPr>
              <a:lnSpc>
                <a:spcPct val="150000"/>
              </a:lnSpc>
            </a:pPr>
            <a:r>
              <a:rPr lang="en-US" sz="2800" b="1" dirty="0">
                <a:latin typeface="+mn-lt"/>
              </a:rPr>
              <a:t>Why do we use UML diagrams?</a:t>
            </a:r>
          </a:p>
          <a:p>
            <a:pPr>
              <a:lnSpc>
                <a:spcPct val="150000"/>
              </a:lnSpc>
            </a:pPr>
            <a:r>
              <a:rPr lang="en-US" sz="2800" dirty="0">
                <a:latin typeface="+mn-lt"/>
              </a:rPr>
              <a:t>To help stakeholders understand how a system works and improve communication.</a:t>
            </a:r>
          </a:p>
        </p:txBody>
      </p:sp>
    </p:spTree>
    <p:extLst>
      <p:ext uri="{BB962C8B-B14F-4D97-AF65-F5344CB8AC3E}">
        <p14:creationId xmlns:p14="http://schemas.microsoft.com/office/powerpoint/2010/main" val="3418005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4839A-F78F-3C39-852D-49C80501558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ED8F21B-A706-CD23-5879-AB8C38568DE4}"/>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C664CDF5-AB63-34E3-7720-B5480EE3EC5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99A7A0DA-A65E-0E97-BF8A-39DD7615873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46</a:t>
            </a:fld>
            <a:endParaRPr lang="en-US" altLang="en-US" sz="900">
              <a:solidFill>
                <a:srgbClr val="FFFFFF"/>
              </a:solidFill>
            </a:endParaRPr>
          </a:p>
        </p:txBody>
      </p:sp>
      <p:pic>
        <p:nvPicPr>
          <p:cNvPr id="23558" name="Picture 5">
            <a:extLst>
              <a:ext uri="{FF2B5EF4-FFF2-40B4-BE49-F238E27FC236}">
                <a16:creationId xmlns:a16="http://schemas.microsoft.com/office/drawing/2014/main" id="{5ACB6134-8308-DCD1-1B56-2E66ECEF39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8B4EB8A-DE64-8C9F-02B9-E78FEDAB35C1}"/>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8</a:t>
            </a:r>
          </a:p>
          <a:p>
            <a:pPr>
              <a:lnSpc>
                <a:spcPct val="150000"/>
              </a:lnSpc>
            </a:pPr>
            <a:r>
              <a:rPr lang="en-US" sz="2800" b="1" dirty="0">
                <a:latin typeface="+mn-lt"/>
              </a:rPr>
              <a:t>What is an ERD?</a:t>
            </a:r>
          </a:p>
          <a:p>
            <a:pPr>
              <a:lnSpc>
                <a:spcPct val="150000"/>
              </a:lnSpc>
            </a:pPr>
            <a:r>
              <a:rPr lang="en-US" sz="2800" dirty="0">
                <a:latin typeface="+mn-lt"/>
              </a:rPr>
              <a:t>An Entity Relationship Diagram that shows data entities, attributes, and relationships.</a:t>
            </a:r>
          </a:p>
        </p:txBody>
      </p:sp>
    </p:spTree>
    <p:extLst>
      <p:ext uri="{BB962C8B-B14F-4D97-AF65-F5344CB8AC3E}">
        <p14:creationId xmlns:p14="http://schemas.microsoft.com/office/powerpoint/2010/main" val="239494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13C51-0F55-8365-A358-6073045719EB}"/>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9C3522A-0751-C58E-2876-2EEA74F1D068}"/>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16D9CB38-4819-AAEB-3A4B-D2426C33BF29}"/>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FBA85B08-F8AE-C9B5-3269-A361DFB122A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47</a:t>
            </a:fld>
            <a:endParaRPr lang="en-US" altLang="en-US" sz="900">
              <a:solidFill>
                <a:srgbClr val="FFFFFF"/>
              </a:solidFill>
            </a:endParaRPr>
          </a:p>
        </p:txBody>
      </p:sp>
      <p:pic>
        <p:nvPicPr>
          <p:cNvPr id="23558" name="Picture 5">
            <a:extLst>
              <a:ext uri="{FF2B5EF4-FFF2-40B4-BE49-F238E27FC236}">
                <a16:creationId xmlns:a16="http://schemas.microsoft.com/office/drawing/2014/main" id="{EC81A3EF-CD04-F8BE-F927-305986481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C5FF900F-02C4-6A98-C732-FFBD8E6B6D09}"/>
              </a:ext>
            </a:extLst>
          </p:cNvPr>
          <p:cNvSpPr txBox="1"/>
          <p:nvPr/>
        </p:nvSpPr>
        <p:spPr>
          <a:xfrm>
            <a:off x="420414" y="1147436"/>
            <a:ext cx="8303172" cy="3903504"/>
          </a:xfrm>
          <a:prstGeom prst="rect">
            <a:avLst/>
          </a:prstGeom>
          <a:solidFill>
            <a:schemeClr val="bg1"/>
          </a:solidFill>
        </p:spPr>
        <p:txBody>
          <a:bodyPr wrap="square">
            <a:spAutoFit/>
          </a:bodyPr>
          <a:lstStyle/>
          <a:p>
            <a:pPr>
              <a:lnSpc>
                <a:spcPct val="150000"/>
              </a:lnSpc>
            </a:pPr>
            <a:r>
              <a:rPr lang="en-US" sz="2800" b="1" dirty="0">
                <a:latin typeface="+mn-lt"/>
              </a:rPr>
              <a:t>Question 9</a:t>
            </a:r>
          </a:p>
          <a:p>
            <a:pPr>
              <a:lnSpc>
                <a:spcPct val="150000"/>
              </a:lnSpc>
            </a:pPr>
            <a:r>
              <a:rPr lang="en-US" sz="2800" b="1" dirty="0">
                <a:latin typeface="+mn-lt"/>
              </a:rPr>
              <a:t>Name three modern technologies that can be used in IT projects.</a:t>
            </a:r>
          </a:p>
          <a:p>
            <a:pPr marL="914400" lvl="1" indent="-457200">
              <a:lnSpc>
                <a:spcPct val="150000"/>
              </a:lnSpc>
              <a:buFont typeface="Arial" panose="020B0604020202020204" pitchFamily="34" charset="0"/>
              <a:buChar char="•"/>
            </a:pPr>
            <a:r>
              <a:rPr lang="en-US" sz="2800" dirty="0">
                <a:latin typeface="+mn-lt"/>
              </a:rPr>
              <a:t>Artificial Intelligence (AI) </a:t>
            </a:r>
          </a:p>
          <a:p>
            <a:pPr marL="914400" lvl="1" indent="-457200">
              <a:lnSpc>
                <a:spcPct val="150000"/>
              </a:lnSpc>
              <a:buFont typeface="Arial" panose="020B0604020202020204" pitchFamily="34" charset="0"/>
              <a:buChar char="•"/>
            </a:pPr>
            <a:r>
              <a:rPr lang="en-US" sz="2800" dirty="0">
                <a:latin typeface="+mn-lt"/>
              </a:rPr>
              <a:t>Cloud Computing </a:t>
            </a:r>
          </a:p>
          <a:p>
            <a:pPr marL="914400" lvl="1" indent="-457200">
              <a:lnSpc>
                <a:spcPct val="150000"/>
              </a:lnSpc>
              <a:buFont typeface="Arial" panose="020B0604020202020204" pitchFamily="34" charset="0"/>
              <a:buChar char="•"/>
            </a:pPr>
            <a:r>
              <a:rPr lang="en-US" sz="2800" dirty="0">
                <a:latin typeface="+mn-lt"/>
              </a:rPr>
              <a:t>Internet of Things (IoT)</a:t>
            </a:r>
          </a:p>
        </p:txBody>
      </p:sp>
    </p:spTree>
    <p:extLst>
      <p:ext uri="{BB962C8B-B14F-4D97-AF65-F5344CB8AC3E}">
        <p14:creationId xmlns:p14="http://schemas.microsoft.com/office/powerpoint/2010/main" val="153935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A333D-972D-64C1-D5EB-179940F8407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F836750-55CE-EABB-E990-2C640A8E2316}"/>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E7D6880A-B74C-3BCB-D722-6E915DF65928}"/>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8A83F800-6231-A583-1370-B73458AE914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48</a:t>
            </a:fld>
            <a:endParaRPr lang="en-US" altLang="en-US" sz="900">
              <a:solidFill>
                <a:srgbClr val="FFFFFF"/>
              </a:solidFill>
            </a:endParaRPr>
          </a:p>
        </p:txBody>
      </p:sp>
      <p:pic>
        <p:nvPicPr>
          <p:cNvPr id="23558" name="Picture 5">
            <a:extLst>
              <a:ext uri="{FF2B5EF4-FFF2-40B4-BE49-F238E27FC236}">
                <a16:creationId xmlns:a16="http://schemas.microsoft.com/office/drawing/2014/main" id="{9E50C3E4-44F1-50DC-F1D6-9D5E853AB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97148AD-90A9-428D-F8B7-93332BEBD8C7}"/>
              </a:ext>
            </a:extLst>
          </p:cNvPr>
          <p:cNvSpPr txBox="1"/>
          <p:nvPr/>
        </p:nvSpPr>
        <p:spPr>
          <a:xfrm>
            <a:off x="420414" y="1147436"/>
            <a:ext cx="8303172" cy="4549835"/>
          </a:xfrm>
          <a:prstGeom prst="rect">
            <a:avLst/>
          </a:prstGeom>
          <a:solidFill>
            <a:schemeClr val="bg1"/>
          </a:solidFill>
        </p:spPr>
        <p:txBody>
          <a:bodyPr wrap="square">
            <a:spAutoFit/>
          </a:bodyPr>
          <a:lstStyle/>
          <a:p>
            <a:pPr>
              <a:lnSpc>
                <a:spcPct val="150000"/>
              </a:lnSpc>
            </a:pPr>
            <a:r>
              <a:rPr lang="en-US" sz="2800" b="1" dirty="0">
                <a:latin typeface="+mn-lt"/>
              </a:rPr>
              <a:t>Question 10</a:t>
            </a:r>
          </a:p>
          <a:p>
            <a:pPr>
              <a:lnSpc>
                <a:spcPct val="150000"/>
              </a:lnSpc>
            </a:pPr>
            <a:r>
              <a:rPr lang="en-US" sz="2800" b="1" dirty="0">
                <a:latin typeface="+mn-lt"/>
              </a:rPr>
              <a:t>What are the five project life cycle phases?</a:t>
            </a:r>
          </a:p>
          <a:p>
            <a:pPr marL="971550" lvl="1" indent="-514350">
              <a:lnSpc>
                <a:spcPct val="150000"/>
              </a:lnSpc>
              <a:buFont typeface="+mj-lt"/>
              <a:buAutoNum type="arabicPeriod"/>
            </a:pPr>
            <a:r>
              <a:rPr lang="en-US" sz="2800" dirty="0">
                <a:latin typeface="+mn-lt"/>
              </a:rPr>
              <a:t>Initiation </a:t>
            </a:r>
          </a:p>
          <a:p>
            <a:pPr marL="971550" lvl="1" indent="-514350">
              <a:lnSpc>
                <a:spcPct val="150000"/>
              </a:lnSpc>
              <a:buFont typeface="+mj-lt"/>
              <a:buAutoNum type="arabicPeriod"/>
            </a:pPr>
            <a:r>
              <a:rPr lang="en-US" sz="2800" dirty="0">
                <a:latin typeface="+mn-lt"/>
              </a:rPr>
              <a:t>Planning </a:t>
            </a:r>
          </a:p>
          <a:p>
            <a:pPr marL="971550" lvl="1" indent="-514350">
              <a:lnSpc>
                <a:spcPct val="150000"/>
              </a:lnSpc>
              <a:buFont typeface="+mj-lt"/>
              <a:buAutoNum type="arabicPeriod"/>
            </a:pPr>
            <a:r>
              <a:rPr lang="en-US" sz="2800" dirty="0">
                <a:latin typeface="+mn-lt"/>
              </a:rPr>
              <a:t>Execution </a:t>
            </a:r>
          </a:p>
          <a:p>
            <a:pPr marL="971550" lvl="1" indent="-514350">
              <a:lnSpc>
                <a:spcPct val="150000"/>
              </a:lnSpc>
              <a:buFont typeface="+mj-lt"/>
              <a:buAutoNum type="arabicPeriod"/>
            </a:pPr>
            <a:r>
              <a:rPr lang="en-US" sz="2800" dirty="0">
                <a:latin typeface="+mn-lt"/>
              </a:rPr>
              <a:t>Monitoring and Control </a:t>
            </a:r>
          </a:p>
          <a:p>
            <a:pPr marL="971550" lvl="1" indent="-514350">
              <a:lnSpc>
                <a:spcPct val="150000"/>
              </a:lnSpc>
              <a:buFont typeface="+mj-lt"/>
              <a:buAutoNum type="arabicPeriod"/>
            </a:pPr>
            <a:r>
              <a:rPr lang="en-US" sz="2800" dirty="0">
                <a:latin typeface="+mn-lt"/>
              </a:rPr>
              <a:t>Closure</a:t>
            </a:r>
          </a:p>
        </p:txBody>
      </p:sp>
    </p:spTree>
    <p:extLst>
      <p:ext uri="{BB962C8B-B14F-4D97-AF65-F5344CB8AC3E}">
        <p14:creationId xmlns:p14="http://schemas.microsoft.com/office/powerpoint/2010/main" val="417355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F2ABC-8089-91B4-EA54-B75DA7B462C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C0F370B-F49A-48F3-4631-218E5E0C5CB3}"/>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5B97A1EB-C657-B469-A4BC-B95E14C343F5}"/>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B74E37D9-7575-5C48-208C-F6376DD6800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49</a:t>
            </a:fld>
            <a:endParaRPr lang="en-US" altLang="en-US" sz="900">
              <a:solidFill>
                <a:srgbClr val="FFFFFF"/>
              </a:solidFill>
            </a:endParaRPr>
          </a:p>
        </p:txBody>
      </p:sp>
      <p:pic>
        <p:nvPicPr>
          <p:cNvPr id="23558" name="Picture 5">
            <a:extLst>
              <a:ext uri="{FF2B5EF4-FFF2-40B4-BE49-F238E27FC236}">
                <a16:creationId xmlns:a16="http://schemas.microsoft.com/office/drawing/2014/main" id="{1336E2C4-5675-A146-5A01-FCBA0532D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3935587-F3E8-A73B-A35D-6023C81F0CAC}"/>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11</a:t>
            </a:r>
          </a:p>
          <a:p>
            <a:pPr>
              <a:lnSpc>
                <a:spcPct val="150000"/>
              </a:lnSpc>
            </a:pPr>
            <a:r>
              <a:rPr lang="en-US" sz="2800" b="1" dirty="0">
                <a:latin typeface="+mn-lt"/>
              </a:rPr>
              <a:t>Why is communication important in projects?</a:t>
            </a:r>
          </a:p>
          <a:p>
            <a:pPr>
              <a:lnSpc>
                <a:spcPct val="150000"/>
              </a:lnSpc>
            </a:pPr>
            <a:r>
              <a:rPr lang="en-US" sz="2800" dirty="0">
                <a:latin typeface="+mn-lt"/>
              </a:rPr>
              <a:t>Communication helps team members stay informed, manage risks, and meet project goals.</a:t>
            </a:r>
          </a:p>
        </p:txBody>
      </p:sp>
    </p:spTree>
    <p:extLst>
      <p:ext uri="{BB962C8B-B14F-4D97-AF65-F5344CB8AC3E}">
        <p14:creationId xmlns:p14="http://schemas.microsoft.com/office/powerpoint/2010/main" val="1891490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309E6-2380-DE3E-EFD3-2E1BF69E2B2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84AD169-C04F-59C0-1F84-536F3FC88CD4}"/>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CF3A6F73-3A56-FE23-A925-1B80AFB185C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8BBD973D-B5D4-9A2F-2933-0867A7ED20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50</a:t>
            </a:fld>
            <a:endParaRPr lang="en-US" altLang="en-US" sz="900">
              <a:solidFill>
                <a:srgbClr val="FFFFFF"/>
              </a:solidFill>
            </a:endParaRPr>
          </a:p>
        </p:txBody>
      </p:sp>
      <p:pic>
        <p:nvPicPr>
          <p:cNvPr id="23558" name="Picture 5">
            <a:extLst>
              <a:ext uri="{FF2B5EF4-FFF2-40B4-BE49-F238E27FC236}">
                <a16:creationId xmlns:a16="http://schemas.microsoft.com/office/drawing/2014/main" id="{38E2A7C9-5AC8-E607-7923-0F16DEC617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875F13E-E534-AC5D-5195-28B751B03556}"/>
              </a:ext>
            </a:extLst>
          </p:cNvPr>
          <p:cNvSpPr txBox="1"/>
          <p:nvPr/>
        </p:nvSpPr>
        <p:spPr>
          <a:xfrm>
            <a:off x="420414" y="1147436"/>
            <a:ext cx="8303172" cy="3903504"/>
          </a:xfrm>
          <a:prstGeom prst="rect">
            <a:avLst/>
          </a:prstGeom>
          <a:solidFill>
            <a:schemeClr val="bg1"/>
          </a:solidFill>
        </p:spPr>
        <p:txBody>
          <a:bodyPr wrap="square">
            <a:spAutoFit/>
          </a:bodyPr>
          <a:lstStyle/>
          <a:p>
            <a:pPr>
              <a:lnSpc>
                <a:spcPct val="150000"/>
              </a:lnSpc>
            </a:pPr>
            <a:r>
              <a:rPr lang="en-US" sz="2800" b="1" dirty="0">
                <a:latin typeface="+mn-lt"/>
              </a:rPr>
              <a:t>Question 12</a:t>
            </a:r>
          </a:p>
          <a:p>
            <a:pPr>
              <a:lnSpc>
                <a:spcPct val="150000"/>
              </a:lnSpc>
            </a:pPr>
            <a:r>
              <a:rPr lang="en-US" sz="2800" b="1" dirty="0">
                <a:latin typeface="+mn-lt"/>
              </a:rPr>
              <a:t>What should be included in a communication plan?</a:t>
            </a:r>
          </a:p>
          <a:p>
            <a:pPr marL="914400" lvl="1" indent="-457200">
              <a:lnSpc>
                <a:spcPct val="150000"/>
              </a:lnSpc>
              <a:buFont typeface="Arial" panose="020B0604020202020204" pitchFamily="34" charset="0"/>
              <a:buChar char="•"/>
            </a:pPr>
            <a:r>
              <a:rPr lang="en-US" sz="2800" dirty="0">
                <a:latin typeface="+mn-lt"/>
              </a:rPr>
              <a:t>Stakeholders </a:t>
            </a:r>
          </a:p>
          <a:p>
            <a:pPr marL="914400" lvl="1" indent="-457200">
              <a:lnSpc>
                <a:spcPct val="150000"/>
              </a:lnSpc>
              <a:buFont typeface="Arial" panose="020B0604020202020204" pitchFamily="34" charset="0"/>
              <a:buChar char="•"/>
            </a:pPr>
            <a:r>
              <a:rPr lang="en-US" sz="2800" dirty="0">
                <a:latin typeface="+mn-lt"/>
              </a:rPr>
              <a:t>Communication methods </a:t>
            </a:r>
          </a:p>
          <a:p>
            <a:pPr marL="914400" lvl="1" indent="-457200">
              <a:lnSpc>
                <a:spcPct val="150000"/>
              </a:lnSpc>
              <a:buFont typeface="Arial" panose="020B0604020202020204" pitchFamily="34" charset="0"/>
              <a:buChar char="•"/>
            </a:pPr>
            <a:r>
              <a:rPr lang="en-US" sz="2800" dirty="0">
                <a:latin typeface="+mn-lt"/>
              </a:rPr>
              <a:t>Frequency </a:t>
            </a:r>
          </a:p>
          <a:p>
            <a:pPr marL="914400" lvl="1" indent="-457200">
              <a:lnSpc>
                <a:spcPct val="150000"/>
              </a:lnSpc>
              <a:buFont typeface="Arial" panose="020B0604020202020204" pitchFamily="34" charset="0"/>
              <a:buChar char="•"/>
            </a:pPr>
            <a:r>
              <a:rPr lang="en-US" sz="2800" dirty="0">
                <a:latin typeface="+mn-lt"/>
              </a:rPr>
              <a:t>Responsibilities</a:t>
            </a:r>
          </a:p>
        </p:txBody>
      </p:sp>
    </p:spTree>
    <p:extLst>
      <p:ext uri="{BB962C8B-B14F-4D97-AF65-F5344CB8AC3E}">
        <p14:creationId xmlns:p14="http://schemas.microsoft.com/office/powerpoint/2010/main" val="193917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11631-9E7B-497C-5C21-A131CC1A6E0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C11BA12-94CF-B8B0-A952-7E30254C565E}"/>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31C0C606-AE3D-BA01-A279-8168AE1B714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C5CB4D3E-BF8F-E78D-E6C3-48439596D41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51</a:t>
            </a:fld>
            <a:endParaRPr lang="en-US" altLang="en-US" sz="900">
              <a:solidFill>
                <a:srgbClr val="FFFFFF"/>
              </a:solidFill>
            </a:endParaRPr>
          </a:p>
        </p:txBody>
      </p:sp>
      <p:pic>
        <p:nvPicPr>
          <p:cNvPr id="23558" name="Picture 5">
            <a:extLst>
              <a:ext uri="{FF2B5EF4-FFF2-40B4-BE49-F238E27FC236}">
                <a16:creationId xmlns:a16="http://schemas.microsoft.com/office/drawing/2014/main" id="{63499A80-3DEB-69D0-C178-E56BB5F7B9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0710B48-A856-7D24-8ABA-C6F653B30210}"/>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13</a:t>
            </a:r>
          </a:p>
          <a:p>
            <a:pPr>
              <a:lnSpc>
                <a:spcPct val="150000"/>
              </a:lnSpc>
            </a:pPr>
            <a:r>
              <a:rPr lang="en-US" sz="2800" b="1" dirty="0">
                <a:latin typeface="+mn-lt"/>
              </a:rPr>
              <a:t>What is a project report used for?</a:t>
            </a:r>
          </a:p>
          <a:p>
            <a:pPr>
              <a:lnSpc>
                <a:spcPct val="150000"/>
              </a:lnSpc>
            </a:pPr>
            <a:r>
              <a:rPr lang="en-US" sz="2800" dirty="0">
                <a:latin typeface="+mn-lt"/>
              </a:rPr>
              <a:t>To communicate project progress, findings, decisions, and recommendations.</a:t>
            </a:r>
          </a:p>
        </p:txBody>
      </p:sp>
    </p:spTree>
    <p:extLst>
      <p:ext uri="{BB962C8B-B14F-4D97-AF65-F5344CB8AC3E}">
        <p14:creationId xmlns:p14="http://schemas.microsoft.com/office/powerpoint/2010/main" val="555838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EADA1-D350-222F-F351-3A6CACE0D91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F39B115-F878-138D-DA40-E4BDD33F1FC6}"/>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843AE191-AF95-87AA-956D-B07429E1FF8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257F2538-FD84-838B-2A0D-DD4FC602D2D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52</a:t>
            </a:fld>
            <a:endParaRPr lang="en-US" altLang="en-US" sz="900">
              <a:solidFill>
                <a:srgbClr val="FFFFFF"/>
              </a:solidFill>
            </a:endParaRPr>
          </a:p>
        </p:txBody>
      </p:sp>
      <p:pic>
        <p:nvPicPr>
          <p:cNvPr id="23558" name="Picture 5">
            <a:extLst>
              <a:ext uri="{FF2B5EF4-FFF2-40B4-BE49-F238E27FC236}">
                <a16:creationId xmlns:a16="http://schemas.microsoft.com/office/drawing/2014/main" id="{8EB29D3B-4E13-F173-821F-0E281F0AF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FC6A817-C70C-D02E-A9CF-3FA2A765048B}"/>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14</a:t>
            </a:r>
          </a:p>
          <a:p>
            <a:pPr>
              <a:lnSpc>
                <a:spcPct val="150000"/>
              </a:lnSpc>
            </a:pPr>
            <a:r>
              <a:rPr lang="en-US" sz="2800" b="1" dirty="0">
                <a:latin typeface="+mn-lt"/>
              </a:rPr>
              <a:t>Why do </a:t>
            </a:r>
            <a:r>
              <a:rPr lang="en-US" sz="2800" b="1" dirty="0" err="1">
                <a:latin typeface="+mn-lt"/>
              </a:rPr>
              <a:t>organisations</a:t>
            </a:r>
            <a:r>
              <a:rPr lang="en-US" sz="2800" b="1" dirty="0">
                <a:latin typeface="+mn-lt"/>
              </a:rPr>
              <a:t> evaluate projects?</a:t>
            </a:r>
          </a:p>
          <a:p>
            <a:pPr>
              <a:lnSpc>
                <a:spcPct val="150000"/>
              </a:lnSpc>
            </a:pPr>
            <a:r>
              <a:rPr lang="en-US" sz="2800" dirty="0">
                <a:latin typeface="+mn-lt"/>
              </a:rPr>
              <a:t>To determine whether project goals were achieved and identify lessons learned.</a:t>
            </a:r>
          </a:p>
        </p:txBody>
      </p:sp>
    </p:spTree>
    <p:extLst>
      <p:ext uri="{BB962C8B-B14F-4D97-AF65-F5344CB8AC3E}">
        <p14:creationId xmlns:p14="http://schemas.microsoft.com/office/powerpoint/2010/main" val="108799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99174-231B-2773-5459-A6774FD5918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CB2DF97-218B-422B-96D4-077C35C787B6}"/>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7CBEEE3C-FDCD-7630-3C00-854FBAF9484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6AE7E2B-3D5E-4858-DA3A-F308CA143BD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53</a:t>
            </a:fld>
            <a:endParaRPr lang="en-US" altLang="en-US" sz="900">
              <a:solidFill>
                <a:srgbClr val="FFFFFF"/>
              </a:solidFill>
            </a:endParaRPr>
          </a:p>
        </p:txBody>
      </p:sp>
      <p:pic>
        <p:nvPicPr>
          <p:cNvPr id="23558" name="Picture 5">
            <a:extLst>
              <a:ext uri="{FF2B5EF4-FFF2-40B4-BE49-F238E27FC236}">
                <a16:creationId xmlns:a16="http://schemas.microsoft.com/office/drawing/2014/main" id="{1AAD754D-FB34-ED0F-CA0E-9A3DB8289D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BD65769-3858-FEB7-534C-BBE0D47928F1}"/>
              </a:ext>
            </a:extLst>
          </p:cNvPr>
          <p:cNvSpPr txBox="1"/>
          <p:nvPr/>
        </p:nvSpPr>
        <p:spPr>
          <a:xfrm>
            <a:off x="420414" y="1147436"/>
            <a:ext cx="8303172" cy="5196166"/>
          </a:xfrm>
          <a:prstGeom prst="rect">
            <a:avLst/>
          </a:prstGeom>
          <a:solidFill>
            <a:schemeClr val="bg1"/>
          </a:solidFill>
        </p:spPr>
        <p:txBody>
          <a:bodyPr wrap="square">
            <a:spAutoFit/>
          </a:bodyPr>
          <a:lstStyle/>
          <a:p>
            <a:pPr>
              <a:lnSpc>
                <a:spcPct val="150000"/>
              </a:lnSpc>
            </a:pPr>
            <a:r>
              <a:rPr lang="en-US" sz="2800" b="1" dirty="0">
                <a:latin typeface="+mn-lt"/>
              </a:rPr>
              <a:t>Question 15</a:t>
            </a:r>
          </a:p>
          <a:p>
            <a:pPr>
              <a:lnSpc>
                <a:spcPct val="150000"/>
              </a:lnSpc>
            </a:pPr>
            <a:r>
              <a:rPr lang="en-US" sz="2800" b="1" dirty="0">
                <a:latin typeface="+mn-lt"/>
              </a:rPr>
              <a:t>Give one example of an ethical issue in IT projects.</a:t>
            </a:r>
          </a:p>
          <a:p>
            <a:pPr>
              <a:lnSpc>
                <a:spcPct val="150000"/>
              </a:lnSpc>
            </a:pPr>
            <a:r>
              <a:rPr lang="en-US" sz="2800" dirty="0">
                <a:latin typeface="+mn-lt"/>
              </a:rPr>
              <a:t>Data privacy.</a:t>
            </a:r>
          </a:p>
          <a:p>
            <a:pPr>
              <a:lnSpc>
                <a:spcPct val="150000"/>
              </a:lnSpc>
            </a:pPr>
            <a:r>
              <a:rPr lang="en-US" sz="2800" dirty="0">
                <a:latin typeface="+mn-lt"/>
              </a:rPr>
              <a:t>Other examples:</a:t>
            </a:r>
          </a:p>
          <a:p>
            <a:pPr marL="914400" lvl="1" indent="-457200">
              <a:lnSpc>
                <a:spcPct val="150000"/>
              </a:lnSpc>
              <a:buFont typeface="Arial" panose="020B0604020202020204" pitchFamily="34" charset="0"/>
              <a:buChar char="•"/>
            </a:pPr>
            <a:r>
              <a:rPr lang="en-US" sz="2800" dirty="0">
                <a:latin typeface="+mn-lt"/>
              </a:rPr>
              <a:t>Accessibility </a:t>
            </a:r>
          </a:p>
          <a:p>
            <a:pPr marL="914400" lvl="1" indent="-457200">
              <a:lnSpc>
                <a:spcPct val="150000"/>
              </a:lnSpc>
              <a:buFont typeface="Arial" panose="020B0604020202020204" pitchFamily="34" charset="0"/>
              <a:buChar char="•"/>
            </a:pPr>
            <a:r>
              <a:rPr lang="en-US" sz="2800" dirty="0">
                <a:latin typeface="+mn-lt"/>
              </a:rPr>
              <a:t>AI bias </a:t>
            </a:r>
          </a:p>
          <a:p>
            <a:pPr marL="914400" lvl="1" indent="-457200">
              <a:lnSpc>
                <a:spcPct val="150000"/>
              </a:lnSpc>
              <a:buFont typeface="Arial" panose="020B0604020202020204" pitchFamily="34" charset="0"/>
              <a:buChar char="•"/>
            </a:pPr>
            <a:r>
              <a:rPr lang="en-US" sz="2800" dirty="0">
                <a:latin typeface="+mn-lt"/>
              </a:rPr>
              <a:t>Intellectual property </a:t>
            </a:r>
          </a:p>
          <a:p>
            <a:pPr marL="914400" lvl="1" indent="-457200">
              <a:lnSpc>
                <a:spcPct val="150000"/>
              </a:lnSpc>
              <a:buFont typeface="Arial" panose="020B0604020202020204" pitchFamily="34" charset="0"/>
              <a:buChar char="•"/>
            </a:pPr>
            <a:r>
              <a:rPr lang="en-US" sz="2800" dirty="0">
                <a:latin typeface="+mn-lt"/>
              </a:rPr>
              <a:t>Cybersecurity </a:t>
            </a:r>
          </a:p>
        </p:txBody>
      </p:sp>
    </p:spTree>
    <p:extLst>
      <p:ext uri="{BB962C8B-B14F-4D97-AF65-F5344CB8AC3E}">
        <p14:creationId xmlns:p14="http://schemas.microsoft.com/office/powerpoint/2010/main" val="2911306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1000"/>
                                        <p:tgtEl>
                                          <p:spTgt spid="5">
                                            <p:txEl>
                                              <p:pRg st="7" end="7"/>
                                            </p:txEl>
                                          </p:spTgt>
                                        </p:tgtEl>
                                      </p:cBhvr>
                                    </p:animEffect>
                                    <p:anim calcmode="lin" valueType="num">
                                      <p:cBhvr>
                                        <p:cTn id="3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DABAF-9AC4-8798-2850-B39453092AB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AAC04AA-49C5-5304-D3CA-CA5FB2CA78C9}"/>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2E4A6413-401F-3024-906B-0121B094FFA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4B79245-F8EF-B664-3A4E-B283EBF6A09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54</a:t>
            </a:fld>
            <a:endParaRPr lang="en-US" altLang="en-US" sz="900">
              <a:solidFill>
                <a:srgbClr val="FFFFFF"/>
              </a:solidFill>
            </a:endParaRPr>
          </a:p>
        </p:txBody>
      </p:sp>
      <p:pic>
        <p:nvPicPr>
          <p:cNvPr id="23558" name="Picture 5">
            <a:extLst>
              <a:ext uri="{FF2B5EF4-FFF2-40B4-BE49-F238E27FC236}">
                <a16:creationId xmlns:a16="http://schemas.microsoft.com/office/drawing/2014/main" id="{DA027263-8649-DE6E-1E0C-763AD3207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2782FFA-1D8B-9DB0-4325-AA6A3E7ED3F5}"/>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16</a:t>
            </a:r>
          </a:p>
          <a:p>
            <a:pPr>
              <a:lnSpc>
                <a:spcPct val="150000"/>
              </a:lnSpc>
            </a:pPr>
            <a:r>
              <a:rPr lang="en-US" sz="2800" b="1" dirty="0">
                <a:latin typeface="+mn-lt"/>
              </a:rPr>
              <a:t>Why is data privacy important?</a:t>
            </a:r>
          </a:p>
          <a:p>
            <a:pPr>
              <a:lnSpc>
                <a:spcPct val="150000"/>
              </a:lnSpc>
            </a:pPr>
            <a:r>
              <a:rPr lang="en-US" sz="2800" dirty="0">
                <a:latin typeface="+mn-lt"/>
              </a:rPr>
              <a:t>Because </a:t>
            </a:r>
            <a:r>
              <a:rPr lang="en-US" sz="2800" dirty="0" err="1">
                <a:latin typeface="+mn-lt"/>
              </a:rPr>
              <a:t>organisations</a:t>
            </a:r>
            <a:r>
              <a:rPr lang="en-US" sz="2800" dirty="0">
                <a:latin typeface="+mn-lt"/>
              </a:rPr>
              <a:t> must protect personal information and comply with laws and regulations.</a:t>
            </a:r>
          </a:p>
        </p:txBody>
      </p:sp>
    </p:spTree>
    <p:extLst>
      <p:ext uri="{BB962C8B-B14F-4D97-AF65-F5344CB8AC3E}">
        <p14:creationId xmlns:p14="http://schemas.microsoft.com/office/powerpoint/2010/main" val="170172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3BC22-8D5C-3BC2-37E0-C9F817E8580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A9E9034-B093-B4F2-9411-2EFFEAEC76A1}"/>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BB0FB3FA-0B72-C0D9-40BB-DAFEF5D4262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93A146A2-F931-CF0B-59CB-4205875A6B5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55</a:t>
            </a:fld>
            <a:endParaRPr lang="en-US" altLang="en-US" sz="900">
              <a:solidFill>
                <a:srgbClr val="FFFFFF"/>
              </a:solidFill>
            </a:endParaRPr>
          </a:p>
        </p:txBody>
      </p:sp>
      <p:pic>
        <p:nvPicPr>
          <p:cNvPr id="23558" name="Picture 5">
            <a:extLst>
              <a:ext uri="{FF2B5EF4-FFF2-40B4-BE49-F238E27FC236}">
                <a16:creationId xmlns:a16="http://schemas.microsoft.com/office/drawing/2014/main" id="{D74D5441-C24D-AA67-BB7F-29B1BEF07A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D6555E9-9D06-F1AD-EF97-E206C337B01A}"/>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17</a:t>
            </a:r>
          </a:p>
          <a:p>
            <a:pPr>
              <a:lnSpc>
                <a:spcPct val="150000"/>
              </a:lnSpc>
            </a:pPr>
            <a:r>
              <a:rPr lang="en-US" sz="2800" b="1" dirty="0">
                <a:latin typeface="+mn-lt"/>
              </a:rPr>
              <a:t>What is Agile project management?</a:t>
            </a:r>
          </a:p>
          <a:p>
            <a:pPr>
              <a:lnSpc>
                <a:spcPct val="150000"/>
              </a:lnSpc>
            </a:pPr>
            <a:r>
              <a:rPr lang="en-US" sz="2800" dirty="0">
                <a:latin typeface="+mn-lt"/>
              </a:rPr>
              <a:t>A flexible project management approach that delivers work in small stages and welcomes feedback.</a:t>
            </a:r>
          </a:p>
        </p:txBody>
      </p:sp>
    </p:spTree>
    <p:extLst>
      <p:ext uri="{BB962C8B-B14F-4D97-AF65-F5344CB8AC3E}">
        <p14:creationId xmlns:p14="http://schemas.microsoft.com/office/powerpoint/2010/main" val="421105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0A989-E74A-23E9-BF9E-DBA1247FDBF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6D57FD6-521E-0B04-94FF-4946F4B57982}"/>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D8A82A5F-1E5E-2016-7F5F-359367FF340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F6384C1C-3A92-E7D3-A6D1-F026507547F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56</a:t>
            </a:fld>
            <a:endParaRPr lang="en-US" altLang="en-US" sz="900">
              <a:solidFill>
                <a:srgbClr val="FFFFFF"/>
              </a:solidFill>
            </a:endParaRPr>
          </a:p>
        </p:txBody>
      </p:sp>
      <p:pic>
        <p:nvPicPr>
          <p:cNvPr id="23558" name="Picture 5">
            <a:extLst>
              <a:ext uri="{FF2B5EF4-FFF2-40B4-BE49-F238E27FC236}">
                <a16:creationId xmlns:a16="http://schemas.microsoft.com/office/drawing/2014/main" id="{AE58C3C1-A1FD-4D8C-835C-5F167709B7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C605C76-DD99-25C1-7455-0126B2C5D86B}"/>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18</a:t>
            </a:r>
          </a:p>
          <a:p>
            <a:pPr>
              <a:lnSpc>
                <a:spcPct val="150000"/>
              </a:lnSpc>
            </a:pPr>
            <a:r>
              <a:rPr lang="en-US" sz="2800" b="1" dirty="0">
                <a:latin typeface="+mn-lt"/>
              </a:rPr>
              <a:t>What is one advantage of Agile?</a:t>
            </a:r>
          </a:p>
          <a:p>
            <a:pPr>
              <a:lnSpc>
                <a:spcPct val="150000"/>
              </a:lnSpc>
            </a:pPr>
            <a:r>
              <a:rPr lang="en-US" sz="2800" dirty="0">
                <a:latin typeface="+mn-lt"/>
              </a:rPr>
              <a:t>It allows teams to adapt to changing requirements quickly.</a:t>
            </a:r>
          </a:p>
        </p:txBody>
      </p:sp>
    </p:spTree>
    <p:extLst>
      <p:ext uri="{BB962C8B-B14F-4D97-AF65-F5344CB8AC3E}">
        <p14:creationId xmlns:p14="http://schemas.microsoft.com/office/powerpoint/2010/main" val="3820604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EB482-55C8-E451-9882-DEA8EA0ABEF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CB01460-591A-61AF-564E-3A2C8838AA71}"/>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50A6B1E3-A203-B512-E178-A5EC9A01318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05652B39-8744-0675-6203-1A0F9995209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57</a:t>
            </a:fld>
            <a:endParaRPr lang="en-US" altLang="en-US" sz="900">
              <a:solidFill>
                <a:srgbClr val="FFFFFF"/>
              </a:solidFill>
            </a:endParaRPr>
          </a:p>
        </p:txBody>
      </p:sp>
      <p:pic>
        <p:nvPicPr>
          <p:cNvPr id="23558" name="Picture 5">
            <a:extLst>
              <a:ext uri="{FF2B5EF4-FFF2-40B4-BE49-F238E27FC236}">
                <a16:creationId xmlns:a16="http://schemas.microsoft.com/office/drawing/2014/main" id="{BC475D52-D628-C60F-786C-6F5B7747F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CA94DDB-808C-6015-D571-DEADABCAC629}"/>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Question 19</a:t>
            </a:r>
          </a:p>
          <a:p>
            <a:pPr>
              <a:lnSpc>
                <a:spcPct val="150000"/>
              </a:lnSpc>
            </a:pPr>
            <a:r>
              <a:rPr lang="en-US" sz="2800" b="1" dirty="0">
                <a:latin typeface="+mn-lt"/>
              </a:rPr>
              <a:t>What is one difference between Agile and Waterfall?</a:t>
            </a:r>
          </a:p>
          <a:p>
            <a:pPr>
              <a:lnSpc>
                <a:spcPct val="150000"/>
              </a:lnSpc>
            </a:pPr>
            <a:r>
              <a:rPr lang="en-US" sz="2800" dirty="0">
                <a:latin typeface="+mn-lt"/>
              </a:rPr>
              <a:t>Agile is flexible and iterative.</a:t>
            </a:r>
          </a:p>
          <a:p>
            <a:pPr>
              <a:lnSpc>
                <a:spcPct val="150000"/>
              </a:lnSpc>
            </a:pPr>
            <a:r>
              <a:rPr lang="en-US" sz="2800" dirty="0">
                <a:latin typeface="+mn-lt"/>
              </a:rPr>
              <a:t>Waterfall follows a fixed sequence of stages.</a:t>
            </a:r>
          </a:p>
        </p:txBody>
      </p:sp>
    </p:spTree>
    <p:extLst>
      <p:ext uri="{BB962C8B-B14F-4D97-AF65-F5344CB8AC3E}">
        <p14:creationId xmlns:p14="http://schemas.microsoft.com/office/powerpoint/2010/main" val="150059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57E55-0CEE-0D8E-6B7A-21A4898F619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3ABA5C8-E69F-A626-971A-54F429E518C5}"/>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Week 12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B4BA8479-F0BA-F876-DAAA-E95A46D6F38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B893B43A-52FD-AC7E-310F-49C1433880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58</a:t>
            </a:fld>
            <a:endParaRPr lang="en-US" altLang="en-US" sz="900">
              <a:solidFill>
                <a:srgbClr val="FFFFFF"/>
              </a:solidFill>
            </a:endParaRPr>
          </a:p>
        </p:txBody>
      </p:sp>
      <p:pic>
        <p:nvPicPr>
          <p:cNvPr id="23558" name="Picture 5">
            <a:extLst>
              <a:ext uri="{FF2B5EF4-FFF2-40B4-BE49-F238E27FC236}">
                <a16:creationId xmlns:a16="http://schemas.microsoft.com/office/drawing/2014/main" id="{5D4CFB2A-C0FE-567A-8CF1-642CBADB3F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7C8ACFF-D089-D404-58FA-54811579E871}"/>
              </a:ext>
            </a:extLst>
          </p:cNvPr>
          <p:cNvSpPr txBox="1"/>
          <p:nvPr/>
        </p:nvSpPr>
        <p:spPr>
          <a:xfrm>
            <a:off x="420414" y="1147436"/>
            <a:ext cx="8303172" cy="4549835"/>
          </a:xfrm>
          <a:prstGeom prst="rect">
            <a:avLst/>
          </a:prstGeom>
          <a:solidFill>
            <a:schemeClr val="bg1"/>
          </a:solidFill>
        </p:spPr>
        <p:txBody>
          <a:bodyPr wrap="square">
            <a:spAutoFit/>
          </a:bodyPr>
          <a:lstStyle/>
          <a:p>
            <a:pPr>
              <a:lnSpc>
                <a:spcPct val="150000"/>
              </a:lnSpc>
            </a:pPr>
            <a:r>
              <a:rPr lang="en-US" sz="2800" b="1" dirty="0">
                <a:latin typeface="+mn-lt"/>
              </a:rPr>
              <a:t>Question 20</a:t>
            </a:r>
          </a:p>
          <a:p>
            <a:pPr>
              <a:lnSpc>
                <a:spcPct val="150000"/>
              </a:lnSpc>
            </a:pPr>
            <a:r>
              <a:rPr lang="en-US" sz="2800" b="1" dirty="0">
                <a:latin typeface="+mn-lt"/>
              </a:rPr>
              <a:t>What is the most important thing to remember for Assessment 4?</a:t>
            </a:r>
          </a:p>
          <a:p>
            <a:pPr>
              <a:lnSpc>
                <a:spcPct val="150000"/>
              </a:lnSpc>
            </a:pPr>
            <a:r>
              <a:rPr lang="en-US" sz="2800" dirty="0">
                <a:latin typeface="+mn-lt"/>
              </a:rPr>
              <a:t>Focus on solving a real business problem by proposing a practical IT solution supported by design documentation, sustainability, ethics, project management principles, and research.</a:t>
            </a:r>
          </a:p>
        </p:txBody>
      </p:sp>
    </p:spTree>
    <p:extLst>
      <p:ext uri="{BB962C8B-B14F-4D97-AF65-F5344CB8AC3E}">
        <p14:creationId xmlns:p14="http://schemas.microsoft.com/office/powerpoint/2010/main" val="196044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3BBD-9C6E-3BF0-F35B-D749147E9A3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EFD2366-C8B9-F5BA-4D08-BFC28D6F8EE9}"/>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FCCC2184-8A4E-F660-8CAF-A5963571CADD}"/>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82057819-6141-2F58-042E-B9B9BA1D10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59</a:t>
            </a:fld>
            <a:endParaRPr lang="en-US" altLang="en-US" sz="900">
              <a:solidFill>
                <a:srgbClr val="FFFFFF"/>
              </a:solidFill>
            </a:endParaRPr>
          </a:p>
        </p:txBody>
      </p:sp>
      <p:pic>
        <p:nvPicPr>
          <p:cNvPr id="23558" name="Picture 5">
            <a:extLst>
              <a:ext uri="{FF2B5EF4-FFF2-40B4-BE49-F238E27FC236}">
                <a16:creationId xmlns:a16="http://schemas.microsoft.com/office/drawing/2014/main" id="{F1175459-9B50-9140-2313-5E17FAD34E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C96698D-D497-D3A4-EDA7-9E3CD8CE23B0}"/>
              </a:ext>
            </a:extLst>
          </p:cNvPr>
          <p:cNvSpPr txBox="1"/>
          <p:nvPr/>
        </p:nvSpPr>
        <p:spPr>
          <a:xfrm>
            <a:off x="420414" y="1147436"/>
            <a:ext cx="8303172" cy="3903504"/>
          </a:xfrm>
          <a:prstGeom prst="rect">
            <a:avLst/>
          </a:prstGeom>
          <a:solidFill>
            <a:schemeClr val="bg1"/>
          </a:solidFill>
        </p:spPr>
        <p:txBody>
          <a:bodyPr wrap="square">
            <a:spAutoFit/>
          </a:bodyPr>
          <a:lstStyle/>
          <a:p>
            <a:pPr>
              <a:lnSpc>
                <a:spcPct val="150000"/>
              </a:lnSpc>
            </a:pPr>
            <a:r>
              <a:rPr lang="en-US" sz="2800" dirty="0">
                <a:latin typeface="+mn-lt"/>
              </a:rPr>
              <a:t>These questions directly prepare you for the assessment.</a:t>
            </a:r>
          </a:p>
          <a:p>
            <a:pPr>
              <a:lnSpc>
                <a:spcPct val="150000"/>
              </a:lnSpc>
            </a:pPr>
            <a:r>
              <a:rPr lang="en-US" sz="2800" b="1" dirty="0">
                <a:latin typeface="+mn-lt"/>
              </a:rPr>
              <a:t>Q21</a:t>
            </a:r>
          </a:p>
          <a:p>
            <a:pPr>
              <a:lnSpc>
                <a:spcPct val="150000"/>
              </a:lnSpc>
            </a:pPr>
            <a:r>
              <a:rPr lang="en-US" sz="2800" dirty="0">
                <a:latin typeface="+mn-lt"/>
              </a:rPr>
              <a:t>What problem is your project trying to solve?</a:t>
            </a:r>
          </a:p>
          <a:p>
            <a:pPr>
              <a:lnSpc>
                <a:spcPct val="150000"/>
              </a:lnSpc>
            </a:pPr>
            <a:r>
              <a:rPr lang="en-US" sz="2800" dirty="0">
                <a:latin typeface="+mn-lt"/>
              </a:rPr>
              <a:t>Students should clearly explain the business or </a:t>
            </a:r>
            <a:r>
              <a:rPr lang="en-US" sz="2800" dirty="0" err="1">
                <a:latin typeface="+mn-lt"/>
              </a:rPr>
              <a:t>organisational</a:t>
            </a:r>
            <a:r>
              <a:rPr lang="en-US" sz="2800" dirty="0">
                <a:latin typeface="+mn-lt"/>
              </a:rPr>
              <a:t> problem.</a:t>
            </a:r>
          </a:p>
        </p:txBody>
      </p:sp>
    </p:spTree>
    <p:extLst>
      <p:ext uri="{BB962C8B-B14F-4D97-AF65-F5344CB8AC3E}">
        <p14:creationId xmlns:p14="http://schemas.microsoft.com/office/powerpoint/2010/main" val="186346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63265-F0C3-A77A-C75E-6E5CCD6BADC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F101936-82F4-56EC-2E02-5D9F43ABFCE5}"/>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DBA0BEDF-B678-A736-E42D-7E9E720A8BB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3245CF88-640E-1242-CCBE-38F5D6983BE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60</a:t>
            </a:fld>
            <a:endParaRPr lang="en-US" altLang="en-US" sz="900">
              <a:solidFill>
                <a:srgbClr val="FFFFFF"/>
              </a:solidFill>
            </a:endParaRPr>
          </a:p>
        </p:txBody>
      </p:sp>
      <p:pic>
        <p:nvPicPr>
          <p:cNvPr id="23558" name="Picture 5">
            <a:extLst>
              <a:ext uri="{FF2B5EF4-FFF2-40B4-BE49-F238E27FC236}">
                <a16:creationId xmlns:a16="http://schemas.microsoft.com/office/drawing/2014/main" id="{1387E19D-1B51-B385-C031-E2AEAE69C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98C0BE4-F04D-01DF-C162-0752CE624501}"/>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Q22</a:t>
            </a:r>
          </a:p>
          <a:p>
            <a:pPr>
              <a:lnSpc>
                <a:spcPct val="150000"/>
              </a:lnSpc>
            </a:pPr>
            <a:r>
              <a:rPr lang="en-US" sz="2800" dirty="0">
                <a:latin typeface="+mn-lt"/>
              </a:rPr>
              <a:t>Who are the stakeholders in your project?</a:t>
            </a:r>
          </a:p>
          <a:p>
            <a:pPr>
              <a:lnSpc>
                <a:spcPct val="150000"/>
              </a:lnSpc>
            </a:pPr>
            <a:r>
              <a:rPr lang="en-US" sz="2800" dirty="0">
                <a:latin typeface="+mn-lt"/>
              </a:rPr>
              <a:t>Identify users, managers, customers, IT staff, and other affected parties.</a:t>
            </a:r>
          </a:p>
        </p:txBody>
      </p:sp>
    </p:spTree>
    <p:extLst>
      <p:ext uri="{BB962C8B-B14F-4D97-AF65-F5344CB8AC3E}">
        <p14:creationId xmlns:p14="http://schemas.microsoft.com/office/powerpoint/2010/main" val="329921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4F8AA-BB19-F3D5-E7E3-E5526FB7501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A4ACD6F-DDFB-6DF8-0D00-99359BBD9364}"/>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F1A82D86-EAB9-3D3F-C142-4CD88520878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130B0D90-0CE7-CE7A-C6DD-B2803DF7528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61</a:t>
            </a:fld>
            <a:endParaRPr lang="en-US" altLang="en-US" sz="900">
              <a:solidFill>
                <a:srgbClr val="FFFFFF"/>
              </a:solidFill>
            </a:endParaRPr>
          </a:p>
        </p:txBody>
      </p:sp>
      <p:pic>
        <p:nvPicPr>
          <p:cNvPr id="23558" name="Picture 5">
            <a:extLst>
              <a:ext uri="{FF2B5EF4-FFF2-40B4-BE49-F238E27FC236}">
                <a16:creationId xmlns:a16="http://schemas.microsoft.com/office/drawing/2014/main" id="{44EA021B-B58E-8533-8793-C52229F2A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CE6074F-C4EF-9E11-5776-F28690F0EE82}"/>
              </a:ext>
            </a:extLst>
          </p:cNvPr>
          <p:cNvSpPr txBox="1"/>
          <p:nvPr/>
        </p:nvSpPr>
        <p:spPr>
          <a:xfrm>
            <a:off x="420414" y="1147436"/>
            <a:ext cx="8303172" cy="3257174"/>
          </a:xfrm>
          <a:prstGeom prst="rect">
            <a:avLst/>
          </a:prstGeom>
          <a:solidFill>
            <a:schemeClr val="bg1"/>
          </a:solidFill>
        </p:spPr>
        <p:txBody>
          <a:bodyPr wrap="square">
            <a:spAutoFit/>
          </a:bodyPr>
          <a:lstStyle/>
          <a:p>
            <a:pPr>
              <a:lnSpc>
                <a:spcPct val="150000"/>
              </a:lnSpc>
            </a:pPr>
            <a:r>
              <a:rPr lang="en-US" sz="2800" b="1" dirty="0">
                <a:latin typeface="+mn-lt"/>
              </a:rPr>
              <a:t>Q23</a:t>
            </a:r>
          </a:p>
          <a:p>
            <a:pPr>
              <a:lnSpc>
                <a:spcPct val="150000"/>
              </a:lnSpc>
            </a:pPr>
            <a:r>
              <a:rPr lang="en-US" sz="2800" dirty="0">
                <a:latin typeface="+mn-lt"/>
              </a:rPr>
              <a:t>Why is your proposed solution better than the current approach?</a:t>
            </a:r>
          </a:p>
          <a:p>
            <a:pPr>
              <a:lnSpc>
                <a:spcPct val="150000"/>
              </a:lnSpc>
            </a:pPr>
            <a:r>
              <a:rPr lang="en-US" sz="2800" dirty="0">
                <a:latin typeface="+mn-lt"/>
              </a:rPr>
              <a:t>Explain benefits such as efficiency, cost savings, security, or improved user experience.</a:t>
            </a:r>
          </a:p>
        </p:txBody>
      </p:sp>
    </p:spTree>
    <p:extLst>
      <p:ext uri="{BB962C8B-B14F-4D97-AF65-F5344CB8AC3E}">
        <p14:creationId xmlns:p14="http://schemas.microsoft.com/office/powerpoint/2010/main" val="79950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7EF36-16EE-0DBB-2D19-C29F6BE4619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8CC39BA-D770-65CF-4534-14E48F13BB50}"/>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7FB13406-2307-09A8-DAA6-23812B817720}"/>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2267AD37-E0DD-372C-ED3D-0A477CC51D2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62</a:t>
            </a:fld>
            <a:endParaRPr lang="en-US" altLang="en-US" sz="900">
              <a:solidFill>
                <a:srgbClr val="FFFFFF"/>
              </a:solidFill>
            </a:endParaRPr>
          </a:p>
        </p:txBody>
      </p:sp>
      <p:pic>
        <p:nvPicPr>
          <p:cNvPr id="23558" name="Picture 5">
            <a:extLst>
              <a:ext uri="{FF2B5EF4-FFF2-40B4-BE49-F238E27FC236}">
                <a16:creationId xmlns:a16="http://schemas.microsoft.com/office/drawing/2014/main" id="{0EDFDCCA-1651-222A-F95A-9F12A8A3C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D937FC8-00E2-A9D5-1C1B-0E7C082508DE}"/>
              </a:ext>
            </a:extLst>
          </p:cNvPr>
          <p:cNvSpPr txBox="1"/>
          <p:nvPr/>
        </p:nvSpPr>
        <p:spPr>
          <a:xfrm>
            <a:off x="420414" y="1147436"/>
            <a:ext cx="8303172" cy="5196166"/>
          </a:xfrm>
          <a:prstGeom prst="rect">
            <a:avLst/>
          </a:prstGeom>
          <a:solidFill>
            <a:schemeClr val="bg1"/>
          </a:solidFill>
        </p:spPr>
        <p:txBody>
          <a:bodyPr wrap="square">
            <a:spAutoFit/>
          </a:bodyPr>
          <a:lstStyle/>
          <a:p>
            <a:pPr>
              <a:lnSpc>
                <a:spcPct val="150000"/>
              </a:lnSpc>
            </a:pPr>
            <a:r>
              <a:rPr lang="en-US" sz="2800" b="1" dirty="0">
                <a:latin typeface="+mn-lt"/>
              </a:rPr>
              <a:t>Q24</a:t>
            </a:r>
          </a:p>
          <a:p>
            <a:pPr>
              <a:lnSpc>
                <a:spcPct val="150000"/>
              </a:lnSpc>
            </a:pPr>
            <a:r>
              <a:rPr lang="en-US" sz="2800" dirty="0">
                <a:latin typeface="+mn-lt"/>
              </a:rPr>
              <a:t>Which technologies will your project use?</a:t>
            </a:r>
          </a:p>
          <a:p>
            <a:pPr>
              <a:lnSpc>
                <a:spcPct val="150000"/>
              </a:lnSpc>
            </a:pPr>
            <a:r>
              <a:rPr lang="en-US" sz="2800" dirty="0">
                <a:latin typeface="+mn-lt"/>
              </a:rPr>
              <a:t>Examples:</a:t>
            </a:r>
          </a:p>
          <a:p>
            <a:pPr marL="914400" lvl="1" indent="-457200">
              <a:lnSpc>
                <a:spcPct val="150000"/>
              </a:lnSpc>
              <a:buFont typeface="Arial" panose="020B0604020202020204" pitchFamily="34" charset="0"/>
              <a:buChar char="•"/>
            </a:pPr>
            <a:r>
              <a:rPr lang="en-US" sz="2800" dirty="0">
                <a:latin typeface="+mn-lt"/>
              </a:rPr>
              <a:t>Cloud Computing </a:t>
            </a:r>
          </a:p>
          <a:p>
            <a:pPr marL="914400" lvl="1" indent="-457200">
              <a:lnSpc>
                <a:spcPct val="150000"/>
              </a:lnSpc>
              <a:buFont typeface="Arial" panose="020B0604020202020204" pitchFamily="34" charset="0"/>
              <a:buChar char="•"/>
            </a:pPr>
            <a:r>
              <a:rPr lang="en-US" sz="2800" dirty="0">
                <a:latin typeface="+mn-lt"/>
              </a:rPr>
              <a:t>AI </a:t>
            </a:r>
          </a:p>
          <a:p>
            <a:pPr marL="914400" lvl="1" indent="-457200">
              <a:lnSpc>
                <a:spcPct val="150000"/>
              </a:lnSpc>
              <a:buFont typeface="Arial" panose="020B0604020202020204" pitchFamily="34" charset="0"/>
              <a:buChar char="•"/>
            </a:pPr>
            <a:r>
              <a:rPr lang="en-US" sz="2800" dirty="0">
                <a:latin typeface="+mn-lt"/>
              </a:rPr>
              <a:t>Databases </a:t>
            </a:r>
          </a:p>
          <a:p>
            <a:pPr marL="914400" lvl="1" indent="-457200">
              <a:lnSpc>
                <a:spcPct val="150000"/>
              </a:lnSpc>
              <a:buFont typeface="Arial" panose="020B0604020202020204" pitchFamily="34" charset="0"/>
              <a:buChar char="•"/>
            </a:pPr>
            <a:r>
              <a:rPr lang="en-US" sz="2800" dirty="0">
                <a:latin typeface="+mn-lt"/>
              </a:rPr>
              <a:t>Mobile Apps </a:t>
            </a:r>
          </a:p>
          <a:p>
            <a:pPr marL="914400" lvl="1" indent="-457200">
              <a:lnSpc>
                <a:spcPct val="150000"/>
              </a:lnSpc>
              <a:buFont typeface="Arial" panose="020B0604020202020204" pitchFamily="34" charset="0"/>
              <a:buChar char="•"/>
            </a:pPr>
            <a:r>
              <a:rPr lang="en-US" sz="2800" dirty="0">
                <a:latin typeface="+mn-lt"/>
              </a:rPr>
              <a:t>Web Applications</a:t>
            </a:r>
          </a:p>
        </p:txBody>
      </p:sp>
    </p:spTree>
    <p:extLst>
      <p:ext uri="{BB962C8B-B14F-4D97-AF65-F5344CB8AC3E}">
        <p14:creationId xmlns:p14="http://schemas.microsoft.com/office/powerpoint/2010/main" val="144540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1000"/>
                                        <p:tgtEl>
                                          <p:spTgt spid="5">
                                            <p:txEl>
                                              <p:pRg st="7" end="7"/>
                                            </p:txEl>
                                          </p:spTgt>
                                        </p:tgtEl>
                                      </p:cBhvr>
                                    </p:animEffect>
                                    <p:anim calcmode="lin" valueType="num">
                                      <p:cBhvr>
                                        <p:cTn id="33"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D13CD-FD77-AFF5-DA2E-8221FE94FBA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8D7F1C3-DA0A-24BC-1B8F-27F05C976153}"/>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7DB7B8DA-F59F-C241-5DC4-A5D4181365D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F25FD8E-3760-BE12-820E-FD72DCB1446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63</a:t>
            </a:fld>
            <a:endParaRPr lang="en-US" altLang="en-US" sz="900">
              <a:solidFill>
                <a:srgbClr val="FFFFFF"/>
              </a:solidFill>
            </a:endParaRPr>
          </a:p>
        </p:txBody>
      </p:sp>
      <p:pic>
        <p:nvPicPr>
          <p:cNvPr id="23558" name="Picture 5">
            <a:extLst>
              <a:ext uri="{FF2B5EF4-FFF2-40B4-BE49-F238E27FC236}">
                <a16:creationId xmlns:a16="http://schemas.microsoft.com/office/drawing/2014/main" id="{0975128F-5906-B585-8791-6A110DE4F0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789A6BE-A70A-F672-8E32-74DDFDB1D730}"/>
              </a:ext>
            </a:extLst>
          </p:cNvPr>
          <p:cNvSpPr txBox="1"/>
          <p:nvPr/>
        </p:nvSpPr>
        <p:spPr>
          <a:xfrm>
            <a:off x="420414" y="1147436"/>
            <a:ext cx="8303172" cy="4549835"/>
          </a:xfrm>
          <a:prstGeom prst="rect">
            <a:avLst/>
          </a:prstGeom>
          <a:solidFill>
            <a:schemeClr val="bg1"/>
          </a:solidFill>
        </p:spPr>
        <p:txBody>
          <a:bodyPr wrap="square">
            <a:spAutoFit/>
          </a:bodyPr>
          <a:lstStyle/>
          <a:p>
            <a:pPr>
              <a:lnSpc>
                <a:spcPct val="150000"/>
              </a:lnSpc>
            </a:pPr>
            <a:r>
              <a:rPr lang="en-US" sz="2800" b="1" dirty="0">
                <a:latin typeface="+mn-lt"/>
              </a:rPr>
              <a:t>Q25</a:t>
            </a:r>
          </a:p>
          <a:p>
            <a:pPr>
              <a:lnSpc>
                <a:spcPct val="150000"/>
              </a:lnSpc>
            </a:pPr>
            <a:r>
              <a:rPr lang="en-US" sz="2800" dirty="0">
                <a:latin typeface="+mn-lt"/>
              </a:rPr>
              <a:t>How does your project support sustainability?</a:t>
            </a:r>
          </a:p>
          <a:p>
            <a:pPr>
              <a:lnSpc>
                <a:spcPct val="150000"/>
              </a:lnSpc>
            </a:pPr>
            <a:r>
              <a:rPr lang="en-US" sz="2800" dirty="0">
                <a:latin typeface="+mn-lt"/>
              </a:rPr>
              <a:t>Examples:</a:t>
            </a:r>
          </a:p>
          <a:p>
            <a:pPr marL="914400" lvl="1" indent="-457200">
              <a:lnSpc>
                <a:spcPct val="150000"/>
              </a:lnSpc>
              <a:buFont typeface="Arial" panose="020B0604020202020204" pitchFamily="34" charset="0"/>
              <a:buChar char="•"/>
            </a:pPr>
            <a:r>
              <a:rPr lang="en-US" sz="2800" dirty="0">
                <a:latin typeface="+mn-lt"/>
              </a:rPr>
              <a:t>Reduced paper use </a:t>
            </a:r>
          </a:p>
          <a:p>
            <a:pPr marL="914400" lvl="1" indent="-457200">
              <a:lnSpc>
                <a:spcPct val="150000"/>
              </a:lnSpc>
              <a:buFont typeface="Arial" panose="020B0604020202020204" pitchFamily="34" charset="0"/>
              <a:buChar char="•"/>
            </a:pPr>
            <a:r>
              <a:rPr lang="en-US" sz="2800" dirty="0">
                <a:latin typeface="+mn-lt"/>
              </a:rPr>
              <a:t>Improved accessibility </a:t>
            </a:r>
          </a:p>
          <a:p>
            <a:pPr marL="914400" lvl="1" indent="-457200">
              <a:lnSpc>
                <a:spcPct val="150000"/>
              </a:lnSpc>
              <a:buFont typeface="Arial" panose="020B0604020202020204" pitchFamily="34" charset="0"/>
              <a:buChar char="•"/>
            </a:pPr>
            <a:r>
              <a:rPr lang="en-US" sz="2800" dirty="0">
                <a:latin typeface="+mn-lt"/>
              </a:rPr>
              <a:t>Lower operational costs </a:t>
            </a:r>
          </a:p>
          <a:p>
            <a:pPr marL="914400" lvl="1" indent="-457200">
              <a:lnSpc>
                <a:spcPct val="150000"/>
              </a:lnSpc>
              <a:buFont typeface="Arial" panose="020B0604020202020204" pitchFamily="34" charset="0"/>
              <a:buChar char="•"/>
            </a:pPr>
            <a:r>
              <a:rPr lang="en-US" sz="2800" dirty="0">
                <a:latin typeface="+mn-lt"/>
              </a:rPr>
              <a:t>Energy-efficient systems</a:t>
            </a:r>
          </a:p>
        </p:txBody>
      </p:sp>
    </p:spTree>
    <p:extLst>
      <p:ext uri="{BB962C8B-B14F-4D97-AF65-F5344CB8AC3E}">
        <p14:creationId xmlns:p14="http://schemas.microsoft.com/office/powerpoint/2010/main" val="278212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6A068-3AAB-3A2F-AAC2-FC367FAE5ABE}"/>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C9B0247-5DBF-7BB1-FF94-7C41482C573D}"/>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859C8179-B031-35FA-A3D7-12BC5027D2EC}"/>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28D392DA-B628-0C0F-4A5A-1F9D9081509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64</a:t>
            </a:fld>
            <a:endParaRPr lang="en-US" altLang="en-US" sz="900">
              <a:solidFill>
                <a:srgbClr val="FFFFFF"/>
              </a:solidFill>
            </a:endParaRPr>
          </a:p>
        </p:txBody>
      </p:sp>
      <p:pic>
        <p:nvPicPr>
          <p:cNvPr id="23558" name="Picture 5">
            <a:extLst>
              <a:ext uri="{FF2B5EF4-FFF2-40B4-BE49-F238E27FC236}">
                <a16:creationId xmlns:a16="http://schemas.microsoft.com/office/drawing/2014/main" id="{FC4CA263-0A97-8627-61A4-B9C68A892D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160F7CF-2154-CC2E-43A9-B94CF74FA749}"/>
              </a:ext>
            </a:extLst>
          </p:cNvPr>
          <p:cNvSpPr txBox="1"/>
          <p:nvPr/>
        </p:nvSpPr>
        <p:spPr>
          <a:xfrm>
            <a:off x="420414" y="1147436"/>
            <a:ext cx="8303172" cy="4549835"/>
          </a:xfrm>
          <a:prstGeom prst="rect">
            <a:avLst/>
          </a:prstGeom>
          <a:solidFill>
            <a:schemeClr val="bg1"/>
          </a:solidFill>
        </p:spPr>
        <p:txBody>
          <a:bodyPr wrap="square">
            <a:spAutoFit/>
          </a:bodyPr>
          <a:lstStyle/>
          <a:p>
            <a:pPr>
              <a:lnSpc>
                <a:spcPct val="150000"/>
              </a:lnSpc>
            </a:pPr>
            <a:r>
              <a:rPr lang="en-US" sz="2800" b="1" dirty="0">
                <a:latin typeface="+mn-lt"/>
              </a:rPr>
              <a:t>Q26</a:t>
            </a:r>
          </a:p>
          <a:p>
            <a:pPr>
              <a:lnSpc>
                <a:spcPct val="150000"/>
              </a:lnSpc>
            </a:pPr>
            <a:r>
              <a:rPr lang="en-US" sz="2800" dirty="0">
                <a:latin typeface="+mn-lt"/>
              </a:rPr>
              <a:t>What ethical issues may arise in your project?</a:t>
            </a:r>
          </a:p>
          <a:p>
            <a:pPr>
              <a:lnSpc>
                <a:spcPct val="150000"/>
              </a:lnSpc>
            </a:pPr>
            <a:r>
              <a:rPr lang="en-US" sz="2800" dirty="0">
                <a:latin typeface="+mn-lt"/>
              </a:rPr>
              <a:t>Examples:</a:t>
            </a:r>
          </a:p>
          <a:p>
            <a:pPr marL="914400" lvl="1" indent="-457200">
              <a:lnSpc>
                <a:spcPct val="150000"/>
              </a:lnSpc>
              <a:buFont typeface="Arial" panose="020B0604020202020204" pitchFamily="34" charset="0"/>
              <a:buChar char="•"/>
            </a:pPr>
            <a:r>
              <a:rPr lang="en-US" sz="2800" dirty="0">
                <a:latin typeface="+mn-lt"/>
              </a:rPr>
              <a:t>Privacy </a:t>
            </a:r>
          </a:p>
          <a:p>
            <a:pPr marL="914400" lvl="1" indent="-457200">
              <a:lnSpc>
                <a:spcPct val="150000"/>
              </a:lnSpc>
              <a:buFont typeface="Arial" panose="020B0604020202020204" pitchFamily="34" charset="0"/>
              <a:buChar char="•"/>
            </a:pPr>
            <a:r>
              <a:rPr lang="en-US" sz="2800" dirty="0">
                <a:latin typeface="+mn-lt"/>
              </a:rPr>
              <a:t>Security </a:t>
            </a:r>
          </a:p>
          <a:p>
            <a:pPr marL="914400" lvl="1" indent="-457200">
              <a:lnSpc>
                <a:spcPct val="150000"/>
              </a:lnSpc>
              <a:buFont typeface="Arial" panose="020B0604020202020204" pitchFamily="34" charset="0"/>
              <a:buChar char="•"/>
            </a:pPr>
            <a:r>
              <a:rPr lang="en-US" sz="2800" dirty="0">
                <a:latin typeface="+mn-lt"/>
              </a:rPr>
              <a:t>Accessibility </a:t>
            </a:r>
          </a:p>
          <a:p>
            <a:pPr marL="914400" lvl="1" indent="-457200">
              <a:lnSpc>
                <a:spcPct val="150000"/>
              </a:lnSpc>
              <a:buFont typeface="Arial" panose="020B0604020202020204" pitchFamily="34" charset="0"/>
              <a:buChar char="•"/>
            </a:pPr>
            <a:r>
              <a:rPr lang="en-US" sz="2800" dirty="0">
                <a:latin typeface="+mn-lt"/>
              </a:rPr>
              <a:t>Bias</a:t>
            </a:r>
          </a:p>
        </p:txBody>
      </p:sp>
    </p:spTree>
    <p:extLst>
      <p:ext uri="{BB962C8B-B14F-4D97-AF65-F5344CB8AC3E}">
        <p14:creationId xmlns:p14="http://schemas.microsoft.com/office/powerpoint/2010/main" val="2028277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FE308-8B43-0B03-C8DE-4DF1D52B9B3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A3E0F2CC-9431-577E-B33A-F85A52D09434}"/>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F4DCA9C9-2A9A-4959-2FA9-3DB92A9074AA}"/>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2338514F-F4B0-61AB-B2E1-9DBAABA10B9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65</a:t>
            </a:fld>
            <a:endParaRPr lang="en-US" altLang="en-US" sz="900">
              <a:solidFill>
                <a:srgbClr val="FFFFFF"/>
              </a:solidFill>
            </a:endParaRPr>
          </a:p>
        </p:txBody>
      </p:sp>
      <p:pic>
        <p:nvPicPr>
          <p:cNvPr id="23558" name="Picture 5">
            <a:extLst>
              <a:ext uri="{FF2B5EF4-FFF2-40B4-BE49-F238E27FC236}">
                <a16:creationId xmlns:a16="http://schemas.microsoft.com/office/drawing/2014/main" id="{99CD5A60-7817-8664-3874-0DC9C99209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93A582A-4C40-38D4-6BA6-53EF27045B38}"/>
              </a:ext>
            </a:extLst>
          </p:cNvPr>
          <p:cNvSpPr txBox="1"/>
          <p:nvPr/>
        </p:nvSpPr>
        <p:spPr>
          <a:xfrm>
            <a:off x="420414" y="1147436"/>
            <a:ext cx="8303172" cy="4549835"/>
          </a:xfrm>
          <a:prstGeom prst="rect">
            <a:avLst/>
          </a:prstGeom>
          <a:solidFill>
            <a:schemeClr val="bg1"/>
          </a:solidFill>
        </p:spPr>
        <p:txBody>
          <a:bodyPr wrap="square">
            <a:spAutoFit/>
          </a:bodyPr>
          <a:lstStyle/>
          <a:p>
            <a:pPr>
              <a:lnSpc>
                <a:spcPct val="150000"/>
              </a:lnSpc>
            </a:pPr>
            <a:r>
              <a:rPr lang="en-US" sz="2800" b="1" dirty="0">
                <a:latin typeface="+mn-lt"/>
              </a:rPr>
              <a:t>Q27</a:t>
            </a:r>
          </a:p>
          <a:p>
            <a:pPr>
              <a:lnSpc>
                <a:spcPct val="150000"/>
              </a:lnSpc>
            </a:pPr>
            <a:r>
              <a:rPr lang="en-US" sz="2800" dirty="0">
                <a:latin typeface="+mn-lt"/>
              </a:rPr>
              <a:t>How will you communicate with stakeholders?</a:t>
            </a:r>
          </a:p>
          <a:p>
            <a:pPr>
              <a:lnSpc>
                <a:spcPct val="150000"/>
              </a:lnSpc>
            </a:pPr>
            <a:r>
              <a:rPr lang="en-US" sz="2800" dirty="0">
                <a:latin typeface="+mn-lt"/>
              </a:rPr>
              <a:t>Examples:</a:t>
            </a:r>
          </a:p>
          <a:p>
            <a:pPr marL="914400" lvl="1" indent="-457200">
              <a:lnSpc>
                <a:spcPct val="150000"/>
              </a:lnSpc>
              <a:buFont typeface="Arial" panose="020B0604020202020204" pitchFamily="34" charset="0"/>
              <a:buChar char="•"/>
            </a:pPr>
            <a:r>
              <a:rPr lang="en-US" sz="2800" dirty="0">
                <a:latin typeface="+mn-lt"/>
              </a:rPr>
              <a:t>Email </a:t>
            </a:r>
          </a:p>
          <a:p>
            <a:pPr marL="914400" lvl="1" indent="-457200">
              <a:lnSpc>
                <a:spcPct val="150000"/>
              </a:lnSpc>
              <a:buFont typeface="Arial" panose="020B0604020202020204" pitchFamily="34" charset="0"/>
              <a:buChar char="•"/>
            </a:pPr>
            <a:r>
              <a:rPr lang="en-US" sz="2800" dirty="0">
                <a:latin typeface="+mn-lt"/>
              </a:rPr>
              <a:t>Meetings </a:t>
            </a:r>
          </a:p>
          <a:p>
            <a:pPr marL="914400" lvl="1" indent="-457200">
              <a:lnSpc>
                <a:spcPct val="150000"/>
              </a:lnSpc>
              <a:buFont typeface="Arial" panose="020B0604020202020204" pitchFamily="34" charset="0"/>
              <a:buChar char="•"/>
            </a:pPr>
            <a:r>
              <a:rPr lang="en-US" sz="2800" dirty="0">
                <a:latin typeface="+mn-lt"/>
              </a:rPr>
              <a:t>Microsoft Teams </a:t>
            </a:r>
          </a:p>
          <a:p>
            <a:pPr marL="914400" lvl="1" indent="-457200">
              <a:lnSpc>
                <a:spcPct val="150000"/>
              </a:lnSpc>
              <a:buFont typeface="Arial" panose="020B0604020202020204" pitchFamily="34" charset="0"/>
              <a:buChar char="•"/>
            </a:pPr>
            <a:r>
              <a:rPr lang="en-US" sz="2800" dirty="0">
                <a:latin typeface="+mn-lt"/>
              </a:rPr>
              <a:t>Reports</a:t>
            </a:r>
          </a:p>
        </p:txBody>
      </p:sp>
    </p:spTree>
    <p:extLst>
      <p:ext uri="{BB962C8B-B14F-4D97-AF65-F5344CB8AC3E}">
        <p14:creationId xmlns:p14="http://schemas.microsoft.com/office/powerpoint/2010/main" val="3479863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29C8E-E5B2-722D-B477-CBF611DA7FA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198DABF-ED81-F26D-F0F3-3532C9381211}"/>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683DE24B-EA69-3BBA-38E0-9ECC153D4F3F}"/>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2309429B-72AB-2E14-1449-C488952D4EB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66</a:t>
            </a:fld>
            <a:endParaRPr lang="en-US" altLang="en-US" sz="900">
              <a:solidFill>
                <a:srgbClr val="FFFFFF"/>
              </a:solidFill>
            </a:endParaRPr>
          </a:p>
        </p:txBody>
      </p:sp>
      <p:pic>
        <p:nvPicPr>
          <p:cNvPr id="23558" name="Picture 5">
            <a:extLst>
              <a:ext uri="{FF2B5EF4-FFF2-40B4-BE49-F238E27FC236}">
                <a16:creationId xmlns:a16="http://schemas.microsoft.com/office/drawing/2014/main" id="{0A7F9817-3624-7C97-FA12-2DFCCC7843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D76ABC8-0584-0EBE-A560-D8A040DDDC19}"/>
              </a:ext>
            </a:extLst>
          </p:cNvPr>
          <p:cNvSpPr txBox="1"/>
          <p:nvPr/>
        </p:nvSpPr>
        <p:spPr>
          <a:xfrm>
            <a:off x="420414" y="1147436"/>
            <a:ext cx="8303172" cy="4549835"/>
          </a:xfrm>
          <a:prstGeom prst="rect">
            <a:avLst/>
          </a:prstGeom>
          <a:solidFill>
            <a:schemeClr val="bg1"/>
          </a:solidFill>
        </p:spPr>
        <p:txBody>
          <a:bodyPr wrap="square">
            <a:spAutoFit/>
          </a:bodyPr>
          <a:lstStyle/>
          <a:p>
            <a:pPr>
              <a:lnSpc>
                <a:spcPct val="150000"/>
              </a:lnSpc>
            </a:pPr>
            <a:r>
              <a:rPr lang="en-US" sz="2800" b="1" dirty="0">
                <a:latin typeface="+mn-lt"/>
              </a:rPr>
              <a:t>Q28</a:t>
            </a:r>
          </a:p>
          <a:p>
            <a:pPr>
              <a:lnSpc>
                <a:spcPct val="150000"/>
              </a:lnSpc>
            </a:pPr>
            <a:r>
              <a:rPr lang="en-US" sz="2800" dirty="0">
                <a:latin typeface="+mn-lt"/>
              </a:rPr>
              <a:t>What diagrams should be included in Assessment 4?</a:t>
            </a:r>
          </a:p>
          <a:p>
            <a:pPr>
              <a:lnSpc>
                <a:spcPct val="150000"/>
              </a:lnSpc>
            </a:pPr>
            <a:r>
              <a:rPr lang="en-US" sz="2800" dirty="0">
                <a:latin typeface="+mn-lt"/>
              </a:rPr>
              <a:t>Examples:</a:t>
            </a:r>
          </a:p>
          <a:p>
            <a:pPr marL="914400" lvl="1" indent="-457200">
              <a:lnSpc>
                <a:spcPct val="150000"/>
              </a:lnSpc>
              <a:buFont typeface="Arial" panose="020B0604020202020204" pitchFamily="34" charset="0"/>
              <a:buChar char="•"/>
            </a:pPr>
            <a:r>
              <a:rPr lang="en-US" sz="2800" dirty="0">
                <a:latin typeface="+mn-lt"/>
              </a:rPr>
              <a:t>ERD </a:t>
            </a:r>
          </a:p>
          <a:p>
            <a:pPr marL="914400" lvl="1" indent="-457200">
              <a:lnSpc>
                <a:spcPct val="150000"/>
              </a:lnSpc>
              <a:buFont typeface="Arial" panose="020B0604020202020204" pitchFamily="34" charset="0"/>
              <a:buChar char="•"/>
            </a:pPr>
            <a:r>
              <a:rPr lang="en-US" sz="2800" dirty="0">
                <a:latin typeface="+mn-lt"/>
              </a:rPr>
              <a:t>UML diagrams </a:t>
            </a:r>
          </a:p>
          <a:p>
            <a:pPr marL="914400" lvl="1" indent="-457200">
              <a:lnSpc>
                <a:spcPct val="150000"/>
              </a:lnSpc>
              <a:buFont typeface="Arial" panose="020B0604020202020204" pitchFamily="34" charset="0"/>
              <a:buChar char="•"/>
            </a:pPr>
            <a:r>
              <a:rPr lang="en-US" sz="2800" dirty="0">
                <a:latin typeface="+mn-lt"/>
              </a:rPr>
              <a:t>Architecture diagrams </a:t>
            </a:r>
          </a:p>
          <a:p>
            <a:pPr marL="914400" lvl="1" indent="-457200">
              <a:lnSpc>
                <a:spcPct val="150000"/>
              </a:lnSpc>
              <a:buFont typeface="Arial" panose="020B0604020202020204" pitchFamily="34" charset="0"/>
              <a:buChar char="•"/>
            </a:pPr>
            <a:r>
              <a:rPr lang="en-US" sz="2800" dirty="0">
                <a:latin typeface="+mn-lt"/>
              </a:rPr>
              <a:t>Data flow diagrams</a:t>
            </a:r>
          </a:p>
        </p:txBody>
      </p:sp>
    </p:spTree>
    <p:extLst>
      <p:ext uri="{BB962C8B-B14F-4D97-AF65-F5344CB8AC3E}">
        <p14:creationId xmlns:p14="http://schemas.microsoft.com/office/powerpoint/2010/main" val="1204911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F07E8-979A-14A2-7A6C-C04EEF0880F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667F11E-D74F-0582-313F-B5124DE8ADF4}"/>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9D8D6E11-E521-9CE1-5C2B-15B52CE5680E}"/>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9801484B-86E9-EBAE-8790-547ABD34795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67</a:t>
            </a:fld>
            <a:endParaRPr lang="en-US" altLang="en-US" sz="900">
              <a:solidFill>
                <a:srgbClr val="FFFFFF"/>
              </a:solidFill>
            </a:endParaRPr>
          </a:p>
        </p:txBody>
      </p:sp>
      <p:pic>
        <p:nvPicPr>
          <p:cNvPr id="23558" name="Picture 5">
            <a:extLst>
              <a:ext uri="{FF2B5EF4-FFF2-40B4-BE49-F238E27FC236}">
                <a16:creationId xmlns:a16="http://schemas.microsoft.com/office/drawing/2014/main" id="{15EC7B2D-3689-CF40-5BF1-A4E845CCF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9406A3A-E3EB-77EC-AFBC-8FDC424ED68D}"/>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Q29</a:t>
            </a:r>
          </a:p>
          <a:p>
            <a:pPr>
              <a:lnSpc>
                <a:spcPct val="150000"/>
              </a:lnSpc>
            </a:pPr>
            <a:r>
              <a:rPr lang="en-US" sz="2800" dirty="0">
                <a:latin typeface="+mn-lt"/>
              </a:rPr>
              <a:t>Why must you justify your technology choices?</a:t>
            </a:r>
          </a:p>
          <a:p>
            <a:pPr>
              <a:lnSpc>
                <a:spcPct val="150000"/>
              </a:lnSpc>
            </a:pPr>
            <a:r>
              <a:rPr lang="en-US" sz="2800" dirty="0">
                <a:latin typeface="+mn-lt"/>
              </a:rPr>
              <a:t>To show that the selected technologies are appropriate, realistic, and aligned with business needs.</a:t>
            </a:r>
          </a:p>
        </p:txBody>
      </p:sp>
    </p:spTree>
    <p:extLst>
      <p:ext uri="{BB962C8B-B14F-4D97-AF65-F5344CB8AC3E}">
        <p14:creationId xmlns:p14="http://schemas.microsoft.com/office/powerpoint/2010/main" val="298447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8D19-A6C0-9C36-6A32-897132147828}"/>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FA86C29-D43A-7F5A-73BB-56BB10CFF29C}"/>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23ED2431-AA94-D68C-D54C-BBD6446B6403}"/>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EDAA9ACA-AA6E-5A5B-7E5B-A1D41843A21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68</a:t>
            </a:fld>
            <a:endParaRPr lang="en-US" altLang="en-US" sz="900">
              <a:solidFill>
                <a:srgbClr val="FFFFFF"/>
              </a:solidFill>
            </a:endParaRPr>
          </a:p>
        </p:txBody>
      </p:sp>
      <p:pic>
        <p:nvPicPr>
          <p:cNvPr id="23558" name="Picture 5">
            <a:extLst>
              <a:ext uri="{FF2B5EF4-FFF2-40B4-BE49-F238E27FC236}">
                <a16:creationId xmlns:a16="http://schemas.microsoft.com/office/drawing/2014/main" id="{B1DE5B35-C353-9364-34C7-0379241FE4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A0730627-41D0-82E1-F4DE-5F3003D8CFEF}"/>
              </a:ext>
            </a:extLst>
          </p:cNvPr>
          <p:cNvSpPr txBox="1"/>
          <p:nvPr/>
        </p:nvSpPr>
        <p:spPr>
          <a:xfrm>
            <a:off x="420414" y="1147436"/>
            <a:ext cx="8303172" cy="2610843"/>
          </a:xfrm>
          <a:prstGeom prst="rect">
            <a:avLst/>
          </a:prstGeom>
          <a:solidFill>
            <a:schemeClr val="bg1"/>
          </a:solidFill>
        </p:spPr>
        <p:txBody>
          <a:bodyPr wrap="square">
            <a:spAutoFit/>
          </a:bodyPr>
          <a:lstStyle/>
          <a:p>
            <a:pPr>
              <a:lnSpc>
                <a:spcPct val="150000"/>
              </a:lnSpc>
            </a:pPr>
            <a:r>
              <a:rPr lang="en-US" sz="2800" b="1" dirty="0">
                <a:latin typeface="+mn-lt"/>
              </a:rPr>
              <a:t>Q30</a:t>
            </a:r>
          </a:p>
          <a:p>
            <a:pPr>
              <a:lnSpc>
                <a:spcPct val="150000"/>
              </a:lnSpc>
            </a:pPr>
            <a:r>
              <a:rPr lang="en-US" sz="2800" dirty="0">
                <a:latin typeface="+mn-lt"/>
              </a:rPr>
              <a:t>Is Assessment 4 an individual or group assessment?</a:t>
            </a:r>
          </a:p>
          <a:p>
            <a:pPr>
              <a:lnSpc>
                <a:spcPct val="150000"/>
              </a:lnSpc>
            </a:pPr>
            <a:r>
              <a:rPr lang="en-US" sz="2800" dirty="0">
                <a:latin typeface="+mn-lt"/>
              </a:rPr>
              <a:t>It is a group assessment.</a:t>
            </a:r>
          </a:p>
          <a:p>
            <a:pPr>
              <a:lnSpc>
                <a:spcPct val="150000"/>
              </a:lnSpc>
            </a:pPr>
            <a:r>
              <a:rPr lang="en-US" sz="2800" dirty="0">
                <a:latin typeface="+mn-lt"/>
              </a:rPr>
              <a:t>One submission should be made per group.</a:t>
            </a:r>
          </a:p>
        </p:txBody>
      </p:sp>
    </p:spTree>
    <p:extLst>
      <p:ext uri="{BB962C8B-B14F-4D97-AF65-F5344CB8AC3E}">
        <p14:creationId xmlns:p14="http://schemas.microsoft.com/office/powerpoint/2010/main" val="322459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7FBAA-ED5B-F012-D61A-9146AA60C08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BBC9895-7F2F-85C3-BFBE-FB9EE4090C52}"/>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827F47A9-F6D9-D6AA-D903-EF0038944834}"/>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E4D1532E-5389-8DE2-214F-4B768348FAC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69</a:t>
            </a:fld>
            <a:endParaRPr lang="en-US" altLang="en-US" sz="900">
              <a:solidFill>
                <a:srgbClr val="FFFFFF"/>
              </a:solidFill>
            </a:endParaRPr>
          </a:p>
        </p:txBody>
      </p:sp>
      <p:pic>
        <p:nvPicPr>
          <p:cNvPr id="23558" name="Picture 5">
            <a:extLst>
              <a:ext uri="{FF2B5EF4-FFF2-40B4-BE49-F238E27FC236}">
                <a16:creationId xmlns:a16="http://schemas.microsoft.com/office/drawing/2014/main" id="{970216A5-6B29-AB58-A388-305FB7B246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9CC4B72-E2EA-60D2-47B3-2B8EE1516CEC}"/>
              </a:ext>
            </a:extLst>
          </p:cNvPr>
          <p:cNvSpPr txBox="1"/>
          <p:nvPr/>
        </p:nvSpPr>
        <p:spPr>
          <a:xfrm>
            <a:off x="420414" y="1147436"/>
            <a:ext cx="8303172" cy="5196166"/>
          </a:xfrm>
          <a:prstGeom prst="rect">
            <a:avLst/>
          </a:prstGeom>
          <a:solidFill>
            <a:schemeClr val="bg1"/>
          </a:solidFill>
        </p:spPr>
        <p:txBody>
          <a:bodyPr wrap="square">
            <a:spAutoFit/>
          </a:bodyPr>
          <a:lstStyle/>
          <a:p>
            <a:pPr>
              <a:lnSpc>
                <a:spcPct val="150000"/>
              </a:lnSpc>
            </a:pPr>
            <a:r>
              <a:rPr lang="en-US" sz="2800" b="1" dirty="0">
                <a:latin typeface="+mn-lt"/>
              </a:rPr>
              <a:t>Final Reflection Question) If you were presenting your project proposal to a real Australian company, would they understand:</a:t>
            </a:r>
          </a:p>
          <a:p>
            <a:pPr marL="971550" lvl="1" indent="-514350">
              <a:lnSpc>
                <a:spcPct val="150000"/>
              </a:lnSpc>
              <a:buFont typeface="+mj-lt"/>
              <a:buAutoNum type="arabicPeriod"/>
            </a:pPr>
            <a:r>
              <a:rPr lang="en-US" sz="2800" dirty="0">
                <a:latin typeface="+mn-lt"/>
              </a:rPr>
              <a:t>The problem? </a:t>
            </a:r>
          </a:p>
          <a:p>
            <a:pPr marL="971550" lvl="1" indent="-514350">
              <a:lnSpc>
                <a:spcPct val="150000"/>
              </a:lnSpc>
              <a:buFont typeface="+mj-lt"/>
              <a:buAutoNum type="arabicPeriod"/>
            </a:pPr>
            <a:r>
              <a:rPr lang="en-US" sz="2800" dirty="0">
                <a:latin typeface="+mn-lt"/>
              </a:rPr>
              <a:t>The solution? </a:t>
            </a:r>
          </a:p>
          <a:p>
            <a:pPr marL="971550" lvl="1" indent="-514350">
              <a:lnSpc>
                <a:spcPct val="150000"/>
              </a:lnSpc>
              <a:buFont typeface="+mj-lt"/>
              <a:buAutoNum type="arabicPeriod"/>
            </a:pPr>
            <a:r>
              <a:rPr lang="en-US" sz="2800" dirty="0">
                <a:latin typeface="+mn-lt"/>
              </a:rPr>
              <a:t>The benefits? </a:t>
            </a:r>
          </a:p>
          <a:p>
            <a:pPr marL="971550" lvl="1" indent="-514350">
              <a:lnSpc>
                <a:spcPct val="150000"/>
              </a:lnSpc>
              <a:buFont typeface="+mj-lt"/>
              <a:buAutoNum type="arabicPeriod"/>
            </a:pPr>
            <a:r>
              <a:rPr lang="en-US" sz="2800" dirty="0">
                <a:latin typeface="+mn-lt"/>
              </a:rPr>
              <a:t>The risks? </a:t>
            </a:r>
          </a:p>
          <a:p>
            <a:pPr marL="971550" lvl="1" indent="-514350">
              <a:lnSpc>
                <a:spcPct val="150000"/>
              </a:lnSpc>
              <a:buFont typeface="+mj-lt"/>
              <a:buAutoNum type="arabicPeriod"/>
            </a:pPr>
            <a:r>
              <a:rPr lang="en-US" sz="2800" dirty="0">
                <a:latin typeface="+mn-lt"/>
              </a:rPr>
              <a:t>The cost and value? </a:t>
            </a:r>
          </a:p>
        </p:txBody>
      </p:sp>
    </p:spTree>
    <p:extLst>
      <p:ext uri="{BB962C8B-B14F-4D97-AF65-F5344CB8AC3E}">
        <p14:creationId xmlns:p14="http://schemas.microsoft.com/office/powerpoint/2010/main" val="4052920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C32F9-0D3B-6F40-2BA0-33949EAA01F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C9C8D5C-8C64-5495-3796-CD9673AF866F}"/>
              </a:ext>
            </a:extLst>
          </p:cNvPr>
          <p:cNvSpPr>
            <a:spLocks noGrp="1"/>
          </p:cNvSpPr>
          <p:nvPr>
            <p:ph type="title"/>
          </p:nvPr>
        </p:nvSpPr>
        <p:spPr>
          <a:xfrm>
            <a:off x="-168163" y="518786"/>
            <a:ext cx="9016998" cy="628650"/>
          </a:xfrm>
        </p:spPr>
        <p:txBody>
          <a:bodyPr>
            <a:noAutofit/>
          </a:bodyPr>
          <a:lstStyle/>
          <a:p>
            <a:pPr algn="ctr" eaLnBrk="1" fontAlgn="auto" hangingPunct="1">
              <a:spcAft>
                <a:spcPts val="0"/>
              </a:spcAft>
              <a:defRPr/>
            </a:pPr>
            <a:r>
              <a:rPr lang="en-US" sz="3600" b="1" dirty="0">
                <a:solidFill>
                  <a:srgbClr val="00B0F0"/>
                </a:solidFill>
                <a:latin typeface="+mn-lt"/>
              </a:rPr>
              <a:t>Assessment 4 Revision Questions</a:t>
            </a:r>
            <a:endParaRPr lang="en-AU" altLang="en-US" sz="3600" b="1" dirty="0">
              <a:solidFill>
                <a:schemeClr val="accent2">
                  <a:lumMod val="75000"/>
                </a:schemeClr>
              </a:solidFill>
              <a:latin typeface="+mn-lt"/>
            </a:endParaRPr>
          </a:p>
        </p:txBody>
      </p:sp>
      <p:sp>
        <p:nvSpPr>
          <p:cNvPr id="2" name="Footer Placeholder 1">
            <a:extLst>
              <a:ext uri="{FF2B5EF4-FFF2-40B4-BE49-F238E27FC236}">
                <a16:creationId xmlns:a16="http://schemas.microsoft.com/office/drawing/2014/main" id="{8F586A26-77E8-61A3-433F-F142D6A1CD7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D52B9AC3-5746-6AB4-16F8-291D95360BF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70</a:t>
            </a:fld>
            <a:endParaRPr lang="en-US" altLang="en-US" sz="900">
              <a:solidFill>
                <a:srgbClr val="FFFFFF"/>
              </a:solidFill>
            </a:endParaRPr>
          </a:p>
        </p:txBody>
      </p:sp>
      <p:pic>
        <p:nvPicPr>
          <p:cNvPr id="23558" name="Picture 5">
            <a:extLst>
              <a:ext uri="{FF2B5EF4-FFF2-40B4-BE49-F238E27FC236}">
                <a16:creationId xmlns:a16="http://schemas.microsoft.com/office/drawing/2014/main" id="{37196254-5F4E-4F08-EB34-BE0CA00052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B29AE73-3DAB-CEAE-4F3C-2889428074AE}"/>
              </a:ext>
            </a:extLst>
          </p:cNvPr>
          <p:cNvSpPr txBox="1"/>
          <p:nvPr/>
        </p:nvSpPr>
        <p:spPr>
          <a:xfrm>
            <a:off x="420414" y="1147436"/>
            <a:ext cx="8303172" cy="3257174"/>
          </a:xfrm>
          <a:prstGeom prst="rect">
            <a:avLst/>
          </a:prstGeom>
          <a:solidFill>
            <a:schemeClr val="bg1"/>
          </a:solidFill>
        </p:spPr>
        <p:txBody>
          <a:bodyPr wrap="square">
            <a:spAutoFit/>
          </a:bodyPr>
          <a:lstStyle/>
          <a:p>
            <a:pPr>
              <a:lnSpc>
                <a:spcPct val="150000"/>
              </a:lnSpc>
            </a:pPr>
            <a:r>
              <a:rPr lang="en-US" sz="2800" dirty="0">
                <a:latin typeface="+mn-lt"/>
              </a:rPr>
              <a:t>If the answer is yes, then your Assessment 4 is likely on the right track.</a:t>
            </a:r>
          </a:p>
          <a:p>
            <a:pPr>
              <a:lnSpc>
                <a:spcPct val="150000"/>
              </a:lnSpc>
            </a:pPr>
            <a:r>
              <a:rPr lang="en-US" sz="2800" dirty="0">
                <a:latin typeface="+mn-lt"/>
              </a:rPr>
              <a:t>This final reflection question often creates excellent discussion and </a:t>
            </a:r>
            <a:r>
              <a:rPr lang="en-US" sz="2800">
                <a:latin typeface="+mn-lt"/>
              </a:rPr>
              <a:t>helps you </a:t>
            </a:r>
            <a:r>
              <a:rPr lang="en-US" sz="2800" dirty="0">
                <a:latin typeface="+mn-lt"/>
              </a:rPr>
              <a:t>identify gaps before submission.</a:t>
            </a:r>
          </a:p>
        </p:txBody>
      </p:sp>
    </p:spTree>
    <p:extLst>
      <p:ext uri="{BB962C8B-B14F-4D97-AF65-F5344CB8AC3E}">
        <p14:creationId xmlns:p14="http://schemas.microsoft.com/office/powerpoint/2010/main" val="38470544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926C7-F6BF-10F4-427D-BF38E0341FC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2570805-44DC-8BFE-C02A-F136FAC57534}"/>
              </a:ext>
            </a:extLst>
          </p:cNvPr>
          <p:cNvSpPr>
            <a:spLocks noGrp="1"/>
          </p:cNvSpPr>
          <p:nvPr>
            <p:ph type="title"/>
          </p:nvPr>
        </p:nvSpPr>
        <p:spPr>
          <a:xfrm>
            <a:off x="0" y="736584"/>
            <a:ext cx="9016998" cy="863600"/>
          </a:xfrm>
        </p:spPr>
        <p:txBody>
          <a:bodyPr>
            <a:noAutofit/>
          </a:bodyPr>
          <a:lstStyle/>
          <a:p>
            <a:pPr algn="ctr" eaLnBrk="1" fontAlgn="auto" hangingPunct="1">
              <a:spcAft>
                <a:spcPts val="0"/>
              </a:spcAft>
              <a:defRPr/>
            </a:pPr>
            <a:r>
              <a:rPr lang="en-AU" sz="3600" b="1" dirty="0">
                <a:solidFill>
                  <a:srgbClr val="00B0F0"/>
                </a:solidFill>
                <a:latin typeface="+mn-lt"/>
              </a:rPr>
              <a:t>Week 1: </a:t>
            </a:r>
            <a:br>
              <a:rPr lang="en-AU" sz="3600" b="1" dirty="0">
                <a:solidFill>
                  <a:srgbClr val="00B0F0"/>
                </a:solidFill>
                <a:latin typeface="+mn-lt"/>
              </a:rPr>
            </a:br>
            <a:r>
              <a:rPr lang="en-AU" altLang="en-US" sz="3600" b="1" dirty="0">
                <a:solidFill>
                  <a:srgbClr val="00B0F0"/>
                </a:solidFill>
                <a:latin typeface="+mn-lt"/>
              </a:rPr>
              <a:t>Introduction to Project Design and Proposals</a:t>
            </a:r>
            <a:endParaRPr lang="en-AU" altLang="en-US" sz="3600" b="1" dirty="0">
              <a:solidFill>
                <a:schemeClr val="accent2">
                  <a:lumMod val="75000"/>
                </a:schemeClr>
              </a:solidFill>
              <a:latin typeface="+mn-lt"/>
            </a:endParaRPr>
          </a:p>
        </p:txBody>
      </p:sp>
      <p:sp>
        <p:nvSpPr>
          <p:cNvPr id="23555" name="Content Placeholder 2">
            <a:extLst>
              <a:ext uri="{FF2B5EF4-FFF2-40B4-BE49-F238E27FC236}">
                <a16:creationId xmlns:a16="http://schemas.microsoft.com/office/drawing/2014/main" id="{B70F2C9D-1174-244F-54C6-C9269BFFA414}"/>
              </a:ext>
            </a:extLst>
          </p:cNvPr>
          <p:cNvSpPr>
            <a:spLocks noGrp="1" noChangeArrowheads="1"/>
          </p:cNvSpPr>
          <p:nvPr>
            <p:ph idx="1"/>
          </p:nvPr>
        </p:nvSpPr>
        <p:spPr>
          <a:xfrm>
            <a:off x="276045" y="1799883"/>
            <a:ext cx="8643668" cy="4321533"/>
          </a:xfrm>
        </p:spPr>
        <p:txBody>
          <a:bodyPr/>
          <a:lstStyle/>
          <a:p>
            <a:pPr marL="0" indent="0">
              <a:buNone/>
            </a:pPr>
            <a:r>
              <a:rPr lang="en-AU" sz="2400" b="1" dirty="0"/>
              <a:t>Definition:</a:t>
            </a:r>
            <a:r>
              <a:rPr lang="en-AU" sz="2400" dirty="0"/>
              <a:t> The design process is a systematic series of steps that helps teams plan, develop, and refine project proposals and solutions.</a:t>
            </a:r>
          </a:p>
          <a:p>
            <a:pPr marL="0" indent="0">
              <a:buNone/>
            </a:pPr>
            <a:r>
              <a:rPr lang="en-AU" sz="2400" b="1" dirty="0"/>
              <a:t>Stages:</a:t>
            </a:r>
          </a:p>
          <a:p>
            <a:pPr lvl="1">
              <a:buFont typeface="Arial" panose="020B0604020202020204" pitchFamily="34" charset="0"/>
              <a:buChar char="•"/>
            </a:pPr>
            <a:r>
              <a:rPr lang="en-AU" sz="2000" dirty="0"/>
              <a:t>Research and Requirements Gathering: Understanding the problem and stakeholder needs.</a:t>
            </a:r>
          </a:p>
          <a:p>
            <a:pPr lvl="1">
              <a:buFont typeface="Arial" panose="020B0604020202020204" pitchFamily="34" charset="0"/>
              <a:buChar char="•"/>
            </a:pPr>
            <a:r>
              <a:rPr lang="en-AU" sz="2000" dirty="0"/>
              <a:t>Concept Development: Generating ideas and possible solutions.</a:t>
            </a:r>
          </a:p>
          <a:p>
            <a:pPr lvl="1">
              <a:buFont typeface="Arial" panose="020B0604020202020204" pitchFamily="34" charset="0"/>
              <a:buChar char="•"/>
            </a:pPr>
            <a:r>
              <a:rPr lang="en-AU" sz="2000" dirty="0"/>
              <a:t>Design and Prototyping: Creating detailed plans and initial models.</a:t>
            </a:r>
          </a:p>
          <a:p>
            <a:pPr lvl="1">
              <a:buFont typeface="Arial" panose="020B0604020202020204" pitchFamily="34" charset="0"/>
              <a:buChar char="•"/>
            </a:pPr>
            <a:r>
              <a:rPr lang="en-AU" sz="2000" dirty="0"/>
              <a:t>Implementation: Building the project based on the design.</a:t>
            </a:r>
          </a:p>
          <a:p>
            <a:pPr lvl="1">
              <a:buFont typeface="Arial" panose="020B0604020202020204" pitchFamily="34" charset="0"/>
              <a:buChar char="•"/>
            </a:pPr>
            <a:r>
              <a:rPr lang="en-AU" sz="2000" dirty="0"/>
              <a:t>Testing and Evaluation: Verifying that the solution meets requirements.	</a:t>
            </a:r>
          </a:p>
          <a:p>
            <a:pPr lvl="1">
              <a:buFont typeface="Arial" panose="020B0604020202020204" pitchFamily="34" charset="0"/>
              <a:buChar char="•"/>
            </a:pPr>
            <a:r>
              <a:rPr lang="en-AU" sz="2000" dirty="0"/>
              <a:t>Deployment and Maintenance: Delivering the solution and ongoing support.</a:t>
            </a:r>
          </a:p>
          <a:p>
            <a:pPr marL="0" indent="0" algn="just" eaLnBrk="1" hangingPunct="1">
              <a:buClr>
                <a:schemeClr val="hlink"/>
              </a:buClr>
              <a:buNone/>
            </a:pPr>
            <a:endParaRPr lang="en-US" altLang="en-US" sz="2400" dirty="0"/>
          </a:p>
        </p:txBody>
      </p:sp>
      <p:sp>
        <p:nvSpPr>
          <p:cNvPr id="2" name="Footer Placeholder 1">
            <a:extLst>
              <a:ext uri="{FF2B5EF4-FFF2-40B4-BE49-F238E27FC236}">
                <a16:creationId xmlns:a16="http://schemas.microsoft.com/office/drawing/2014/main" id="{9E0B9A02-91E7-8BDF-9D4C-705E42812AD2}"/>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D89E9CBE-C137-1BE3-9530-27CF0F9881D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71</a:t>
            </a:fld>
            <a:endParaRPr lang="en-US" altLang="en-US" sz="900">
              <a:solidFill>
                <a:srgbClr val="FFFFFF"/>
              </a:solidFill>
            </a:endParaRPr>
          </a:p>
        </p:txBody>
      </p:sp>
      <p:pic>
        <p:nvPicPr>
          <p:cNvPr id="23558" name="Picture 5">
            <a:extLst>
              <a:ext uri="{FF2B5EF4-FFF2-40B4-BE49-F238E27FC236}">
                <a16:creationId xmlns:a16="http://schemas.microsoft.com/office/drawing/2014/main" id="{51BA8044-FA96-8D56-A74F-577D1832D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75174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eaLnBrk="1" fontAlgn="auto" hangingPunct="1">
              <a:spcAft>
                <a:spcPts val="0"/>
              </a:spcAft>
              <a:defRPr/>
            </a:pPr>
            <a:r>
              <a:rPr lang="en-AU" sz="3600" b="1" dirty="0">
                <a:solidFill>
                  <a:schemeClr val="accent2">
                    <a:lumMod val="75000"/>
                  </a:schemeClr>
                </a:solidFill>
              </a:rPr>
              <a:t>Introduction to the Design Process</a:t>
            </a:r>
            <a:r>
              <a:rPr lang="en-US" altLang="zh-CN" sz="3600" b="1" dirty="0">
                <a:solidFill>
                  <a:schemeClr val="accent2">
                    <a:lumMod val="75000"/>
                  </a:schemeClr>
                </a:solidFill>
              </a:rPr>
              <a:t>(Cont.)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Content Placeholder 2">
            <a:extLst>
              <a:ext uri="{FF2B5EF4-FFF2-40B4-BE49-F238E27FC236}">
                <a16:creationId xmlns:a16="http://schemas.microsoft.com/office/drawing/2014/main" id="{ADB13E63-6205-86F6-41C2-C4340D45728F}"/>
              </a:ext>
            </a:extLst>
          </p:cNvPr>
          <p:cNvPicPr>
            <a:picLocks noGrp="1" noChangeAspect="1"/>
          </p:cNvPicPr>
          <p:nvPr>
            <p:ph idx="1"/>
          </p:nvPr>
        </p:nvPicPr>
        <p:blipFill>
          <a:blip r:embed="rId3"/>
          <a:stretch>
            <a:fillRect/>
          </a:stretch>
        </p:blipFill>
        <p:spPr>
          <a:xfrm>
            <a:off x="2066485" y="1823397"/>
            <a:ext cx="5011029" cy="4321175"/>
          </a:xfrm>
          <a:prstGeom prst="rect">
            <a:avLst/>
          </a:prstGeom>
        </p:spPr>
      </p:pic>
    </p:spTree>
    <p:extLst>
      <p:ext uri="{BB962C8B-B14F-4D97-AF65-F5344CB8AC3E}">
        <p14:creationId xmlns:p14="http://schemas.microsoft.com/office/powerpoint/2010/main" val="34495064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127002" y="736584"/>
            <a:ext cx="9016998" cy="863600"/>
          </a:xfrm>
        </p:spPr>
        <p:txBody>
          <a:bodyPr>
            <a:noAutofit/>
          </a:bodyPr>
          <a:lstStyle/>
          <a:p>
            <a:pPr algn="ctr" eaLnBrk="1" fontAlgn="auto" hangingPunct="1">
              <a:spcAft>
                <a:spcPts val="0"/>
              </a:spcAft>
              <a:defRPr/>
            </a:pPr>
            <a:r>
              <a:rPr lang="en-AU" altLang="en-US" sz="3600" b="1" dirty="0">
                <a:solidFill>
                  <a:schemeClr val="accent2">
                    <a:lumMod val="75000"/>
                  </a:schemeClr>
                </a:solidFill>
              </a:rPr>
              <a:t>Project Proposal</a:t>
            </a: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76045" y="1799883"/>
            <a:ext cx="8643668" cy="4321533"/>
          </a:xfrm>
        </p:spPr>
        <p:txBody>
          <a:bodyPr/>
          <a:lstStyle/>
          <a:p>
            <a:pPr marL="742950" lvl="1" indent="-285750">
              <a:buFont typeface="Arial" panose="020B0604020202020204" pitchFamily="34" charset="0"/>
              <a:buChar char="•"/>
            </a:pPr>
            <a:r>
              <a:rPr lang="en-AU" sz="2400" dirty="0"/>
              <a:t>Executive Summary</a:t>
            </a:r>
          </a:p>
          <a:p>
            <a:pPr marL="742950" lvl="1" indent="-285750">
              <a:buFont typeface="Arial" panose="020B0604020202020204" pitchFamily="34" charset="0"/>
              <a:buChar char="•"/>
            </a:pPr>
            <a:r>
              <a:rPr lang="en-AU" sz="2400" dirty="0"/>
              <a:t>Background/Introduction</a:t>
            </a:r>
          </a:p>
          <a:p>
            <a:pPr marL="742950" lvl="1" indent="-285750">
              <a:buFont typeface="Arial" panose="020B0604020202020204" pitchFamily="34" charset="0"/>
              <a:buChar char="•"/>
            </a:pPr>
            <a:r>
              <a:rPr lang="en-AU" sz="2400" dirty="0"/>
              <a:t>Objectives</a:t>
            </a:r>
          </a:p>
          <a:p>
            <a:pPr marL="742950" lvl="1" indent="-285750">
              <a:buFont typeface="Arial" panose="020B0604020202020204" pitchFamily="34" charset="0"/>
              <a:buChar char="•"/>
            </a:pPr>
            <a:r>
              <a:rPr lang="en-AU" sz="2400" dirty="0"/>
              <a:t>Scope</a:t>
            </a:r>
          </a:p>
          <a:p>
            <a:pPr marL="742950" lvl="1" indent="-285750">
              <a:buFont typeface="Arial" panose="020B0604020202020204" pitchFamily="34" charset="0"/>
              <a:buChar char="•"/>
            </a:pPr>
            <a:r>
              <a:rPr lang="en-AU" sz="2400" dirty="0"/>
              <a:t>Methodology</a:t>
            </a:r>
          </a:p>
          <a:p>
            <a:pPr marL="742950" lvl="1" indent="-285750">
              <a:buFont typeface="Arial" panose="020B0604020202020204" pitchFamily="34" charset="0"/>
              <a:buChar char="•"/>
            </a:pPr>
            <a:r>
              <a:rPr lang="en-AU" sz="2400" dirty="0"/>
              <a:t>Timeline</a:t>
            </a:r>
          </a:p>
          <a:p>
            <a:pPr marL="742950" lvl="1" indent="-285750">
              <a:buFont typeface="Arial" panose="020B0604020202020204" pitchFamily="34" charset="0"/>
              <a:buChar char="•"/>
            </a:pPr>
            <a:r>
              <a:rPr lang="en-AU" sz="2400" dirty="0"/>
              <a:t>Budget</a:t>
            </a:r>
          </a:p>
          <a:p>
            <a:pPr marL="742950" lvl="1" indent="-285750">
              <a:buFont typeface="Arial" panose="020B0604020202020204" pitchFamily="34" charset="0"/>
              <a:buChar char="•"/>
            </a:pPr>
            <a:r>
              <a:rPr lang="en-AU" sz="2400" dirty="0"/>
              <a:t>Risk Management</a:t>
            </a:r>
          </a:p>
          <a:p>
            <a:pPr marL="742950" lvl="1" indent="-285750">
              <a:buFont typeface="Arial" panose="020B0604020202020204" pitchFamily="34" charset="0"/>
              <a:buChar char="•"/>
            </a:pPr>
            <a:r>
              <a:rPr lang="en-AU" sz="2400" dirty="0"/>
              <a:t>Conclusion</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1071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500331" y="896980"/>
            <a:ext cx="8232761" cy="863600"/>
          </a:xfrm>
        </p:spPr>
        <p:txBody>
          <a:bodyPr>
            <a:noAutofit/>
          </a:bodyPr>
          <a:lstStyle/>
          <a:p>
            <a:pPr algn="ctr" eaLnBrk="1" fontAlgn="auto" hangingPunct="1">
              <a:spcAft>
                <a:spcPts val="0"/>
              </a:spcAft>
              <a:defRPr/>
            </a:pPr>
            <a:r>
              <a:rPr lang="en-AU" sz="3600" b="1" dirty="0">
                <a:solidFill>
                  <a:srgbClr val="00B0F0"/>
                </a:solidFill>
                <a:latin typeface="+mn-lt"/>
              </a:rPr>
              <a:t>Week 2 :</a:t>
            </a:r>
            <a:br>
              <a:rPr lang="en-AU" sz="3600" b="1" dirty="0">
                <a:solidFill>
                  <a:srgbClr val="00B0F0"/>
                </a:solidFill>
                <a:latin typeface="+mn-lt"/>
              </a:rPr>
            </a:br>
            <a:r>
              <a:rPr lang="en-AU" sz="3600" b="1" dirty="0">
                <a:solidFill>
                  <a:srgbClr val="00B0F0"/>
                </a:solidFill>
                <a:latin typeface="+mn-lt"/>
              </a:rPr>
              <a:t>Requirement Gathering Techniques and Design Thinking</a:t>
            </a:r>
            <a:endParaRPr lang="en-AU" altLang="en-US" sz="3600" b="1" dirty="0">
              <a:solidFill>
                <a:srgbClr val="00B0F0"/>
              </a:solidFill>
              <a:latin typeface="+mn-lt"/>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76245" y="1841779"/>
            <a:ext cx="4356847" cy="3724512"/>
          </a:xfrm>
        </p:spPr>
        <p:txBody>
          <a:bodyPr/>
          <a:lstStyle/>
          <a:p>
            <a:pPr lvl="1">
              <a:buFont typeface="Arial" panose="020B0604020202020204" pitchFamily="34" charset="0"/>
              <a:buChar char="•"/>
            </a:pPr>
            <a:r>
              <a:rPr lang="en-AU" altLang="en-US" sz="2400" dirty="0"/>
              <a:t>To gather your requirements, use the six-step process.</a:t>
            </a:r>
          </a:p>
          <a:p>
            <a:pPr lvl="1">
              <a:buFont typeface="Arial" panose="020B0604020202020204" pitchFamily="34" charset="0"/>
              <a:buChar char="•"/>
            </a:pPr>
            <a:endParaRPr lang="en-AU" sz="2400" dirty="0"/>
          </a:p>
          <a:p>
            <a:pPr lvl="1">
              <a:buFont typeface="Arial" panose="020B0604020202020204" pitchFamily="34" charset="0"/>
              <a:buChar char="•"/>
            </a:pPr>
            <a:r>
              <a:rPr lang="en-AU" altLang="en-US" sz="2400" dirty="0"/>
              <a:t>Once you’re finished, you should have a comprehensive requirements document outlining the resources you need to move forward through the </a:t>
            </a:r>
            <a:r>
              <a:rPr lang="en-AU" altLang="en-US" sz="2400" dirty="0">
                <a:solidFill>
                  <a:srgbClr val="FF0000"/>
                </a:solidFill>
              </a:rPr>
              <a:t>project phases</a:t>
            </a:r>
            <a:r>
              <a:rPr lang="en-AU" altLang="en-US" sz="2400" dirty="0"/>
              <a:t>.</a:t>
            </a:r>
            <a:endParaRPr lang="en-US" altLang="en-US" sz="24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31EFE9AE-153D-28A4-FB21-A97C4372B977}"/>
              </a:ext>
            </a:extLst>
          </p:cNvPr>
          <p:cNvPicPr>
            <a:picLocks noChangeAspect="1"/>
          </p:cNvPicPr>
          <p:nvPr/>
        </p:nvPicPr>
        <p:blipFill>
          <a:blip r:embed="rId3"/>
          <a:stretch>
            <a:fillRect/>
          </a:stretch>
        </p:blipFill>
        <p:spPr>
          <a:xfrm>
            <a:off x="931316" y="1841779"/>
            <a:ext cx="3336657" cy="4411061"/>
          </a:xfrm>
          <a:prstGeom prst="rect">
            <a:avLst/>
          </a:prstGeom>
        </p:spPr>
      </p:pic>
    </p:spTree>
    <p:extLst>
      <p:ext uri="{BB962C8B-B14F-4D97-AF65-F5344CB8AC3E}">
        <p14:creationId xmlns:p14="http://schemas.microsoft.com/office/powerpoint/2010/main" val="17063370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Data Collection Techniques</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500332" y="2138005"/>
            <a:ext cx="8643668" cy="4321533"/>
          </a:xfrm>
        </p:spPr>
        <p:txBody>
          <a:bodyPr/>
          <a:lstStyle/>
          <a:p>
            <a:r>
              <a:rPr lang="en-AU" sz="2400" b="1" dirty="0">
                <a:solidFill>
                  <a:schemeClr val="accent2">
                    <a:lumMod val="75000"/>
                  </a:schemeClr>
                </a:solidFill>
              </a:rPr>
              <a:t>Techniques:</a:t>
            </a:r>
            <a:endParaRPr lang="en-AU" sz="2400" dirty="0">
              <a:solidFill>
                <a:schemeClr val="accent2">
                  <a:lumMod val="75000"/>
                </a:schemeClr>
              </a:solidFill>
            </a:endParaRPr>
          </a:p>
          <a:p>
            <a:pPr>
              <a:buFont typeface="Arial" panose="020B0604020202020204" pitchFamily="34" charset="0"/>
              <a:buChar char="•"/>
            </a:pPr>
            <a:r>
              <a:rPr lang="en-AU" b="1" dirty="0"/>
              <a:t>Literature reviews</a:t>
            </a:r>
            <a:r>
              <a:rPr lang="en-AU" dirty="0"/>
              <a:t>: Analysing existing research and publications</a:t>
            </a:r>
          </a:p>
          <a:p>
            <a:pPr>
              <a:buFont typeface="Arial" panose="020B0604020202020204" pitchFamily="34" charset="0"/>
              <a:buChar char="•"/>
            </a:pPr>
            <a:r>
              <a:rPr lang="en-AU" b="1" dirty="0"/>
              <a:t>Case studies</a:t>
            </a:r>
            <a:r>
              <a:rPr lang="en-AU" dirty="0"/>
              <a:t>: In-depth analysis of specific examples</a:t>
            </a:r>
          </a:p>
          <a:p>
            <a:pPr>
              <a:buFont typeface="Arial" panose="020B0604020202020204" pitchFamily="34" charset="0"/>
              <a:buChar char="•"/>
            </a:pPr>
            <a:r>
              <a:rPr lang="en-AU" b="1" dirty="0"/>
              <a:t>Field studies: </a:t>
            </a:r>
            <a:r>
              <a:rPr lang="en-AU" dirty="0"/>
              <a:t>Observing and collecting data in real-world settings</a:t>
            </a:r>
          </a:p>
          <a:p>
            <a:pPr>
              <a:buFont typeface="Arial" panose="020B0604020202020204" pitchFamily="34" charset="0"/>
              <a:buChar char="•"/>
            </a:pPr>
            <a:r>
              <a:rPr lang="en-AU" b="1" dirty="0"/>
              <a:t>Experimental research</a:t>
            </a:r>
            <a:r>
              <a:rPr lang="en-AU" dirty="0"/>
              <a:t>: Testing hypotheses under controlled conditions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14865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2" y="800096"/>
            <a:ext cx="9016998" cy="863600"/>
          </a:xfrm>
        </p:spPr>
        <p:txBody>
          <a:bodyPr>
            <a:noAutofit/>
          </a:bodyPr>
          <a:lstStyle/>
          <a:p>
            <a:pPr algn="ctr" eaLnBrk="1" fontAlgn="auto" hangingPunct="1">
              <a:spcAft>
                <a:spcPts val="0"/>
              </a:spcAft>
              <a:defRPr/>
            </a:pPr>
            <a:br>
              <a:rPr lang="en-AU" sz="3600" b="1" dirty="0">
                <a:solidFill>
                  <a:schemeClr val="accent2">
                    <a:lumMod val="75000"/>
                  </a:schemeClr>
                </a:solidFill>
              </a:rPr>
            </a:br>
            <a:r>
              <a:rPr lang="en-AU" sz="3600" b="1" dirty="0">
                <a:solidFill>
                  <a:schemeClr val="accent2">
                    <a:lumMod val="75000"/>
                  </a:schemeClr>
                </a:solidFill>
              </a:rPr>
              <a:t>Design Thinking in </a:t>
            </a:r>
            <a:r>
              <a:rPr lang="en-US" altLang="zh-CN" sz="3600" b="1" dirty="0">
                <a:solidFill>
                  <a:schemeClr val="accent2">
                    <a:lumMod val="75000"/>
                  </a:schemeClr>
                </a:solidFill>
              </a:rPr>
              <a:t>IT Project</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395393" y="1841484"/>
            <a:ext cx="8621607" cy="1499729"/>
          </a:xfrm>
        </p:spPr>
        <p:txBody>
          <a:bodyPr/>
          <a:lstStyle/>
          <a:p>
            <a:pPr marL="0" indent="0">
              <a:buNone/>
            </a:pPr>
            <a:r>
              <a:rPr lang="en-AU" sz="1800" b="1" dirty="0">
                <a:solidFill>
                  <a:schemeClr val="accent2">
                    <a:lumMod val="75000"/>
                  </a:schemeClr>
                </a:solidFill>
              </a:rPr>
              <a:t>Design Thinking:</a:t>
            </a:r>
          </a:p>
          <a:p>
            <a:pPr marL="0" indent="0">
              <a:buNone/>
            </a:pPr>
            <a:r>
              <a:rPr lang="en-AU" sz="1800" dirty="0">
                <a:solidFill>
                  <a:schemeClr val="tx1"/>
                </a:solidFill>
              </a:rPr>
              <a:t>Design Thinking is a human centric approach to innovation, which allows the organisation or innovators to focus on the people that they are creating for.  This focus leads to services, process and/or products which start with the users is mind rather than thinking about then as just a part of the solution.</a:t>
            </a:r>
          </a:p>
          <a:p>
            <a:pPr marL="0" indent="0">
              <a:buNone/>
            </a:pPr>
            <a:endParaRPr lang="en-AU" sz="1800" dirty="0"/>
          </a:p>
          <a:p>
            <a:pPr marL="0" indent="0">
              <a:buNone/>
            </a:pPr>
            <a:endParaRPr lang="en-AU" sz="18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4" descr="How Design Thinking Ensures Project Success">
            <a:extLst>
              <a:ext uri="{FF2B5EF4-FFF2-40B4-BE49-F238E27FC236}">
                <a16:creationId xmlns:a16="http://schemas.microsoft.com/office/drawing/2014/main" id="{C4F04EA2-9789-3EE4-E42D-E7189BB7D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9884" y="3128841"/>
            <a:ext cx="5222737" cy="3213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676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latin typeface="+mn-lt"/>
              </a:rPr>
              <a:t>Week 3: </a:t>
            </a:r>
            <a:br>
              <a:rPr lang="en-AU" sz="3600" b="1" dirty="0">
                <a:solidFill>
                  <a:srgbClr val="00B0F0"/>
                </a:solidFill>
                <a:latin typeface="+mn-lt"/>
              </a:rPr>
            </a:br>
            <a:r>
              <a:rPr lang="en-AU" sz="3600" b="1" dirty="0">
                <a:solidFill>
                  <a:srgbClr val="00B0F0"/>
                </a:solidFill>
                <a:latin typeface="+mn-lt"/>
              </a:rPr>
              <a:t>Evaluating Design Options for IT Projects</a:t>
            </a:r>
            <a:endParaRPr lang="en-AU" altLang="en-US" sz="3600" b="1" dirty="0">
              <a:solidFill>
                <a:srgbClr val="00B0F0"/>
              </a:solidFill>
              <a:latin typeface="+mn-lt"/>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r>
              <a:rPr lang="en-AU" altLang="en-US" sz="2400" b="1" dirty="0"/>
              <a:t>What is a Project Evaluation?</a:t>
            </a:r>
          </a:p>
          <a:p>
            <a:pPr lvl="1">
              <a:buFont typeface="Arial" panose="020B0604020202020204" pitchFamily="34" charset="0"/>
              <a:buChar char="•"/>
            </a:pPr>
            <a:r>
              <a:rPr lang="en-AU" altLang="en-US" sz="2000" dirty="0"/>
              <a:t>The project evaluation is a methodology developed to identify a project’s success and impact in the market. It’s also applied to programs and policies.</a:t>
            </a:r>
          </a:p>
          <a:p>
            <a:pPr marL="200025" lvl="1" indent="0">
              <a:buNone/>
            </a:pPr>
            <a:r>
              <a:rPr lang="en-AU" sz="2400" b="1" dirty="0"/>
              <a:t>Overview </a:t>
            </a:r>
          </a:p>
          <a:p>
            <a:pPr lvl="1">
              <a:buFont typeface="Arial" panose="020B0604020202020204" pitchFamily="34" charset="0"/>
              <a:buChar char="•"/>
            </a:pPr>
            <a:r>
              <a:rPr lang="en-AU" altLang="en-US" sz="2000" dirty="0"/>
              <a:t>Objective Assessment: Evaluates if project goals were achieved.</a:t>
            </a:r>
          </a:p>
          <a:p>
            <a:pPr lvl="1">
              <a:buFont typeface="Arial" panose="020B0604020202020204" pitchFamily="34" charset="0"/>
              <a:buChar char="•"/>
            </a:pPr>
            <a:r>
              <a:rPr lang="en-AU" altLang="en-US" sz="2000" dirty="0"/>
              <a:t>Performance Review: Assesses schedule, budget, and deliverable quality.</a:t>
            </a:r>
          </a:p>
          <a:p>
            <a:pPr lvl="1">
              <a:buFont typeface="Arial" panose="020B0604020202020204" pitchFamily="34" charset="0"/>
              <a:buChar char="•"/>
            </a:pPr>
            <a:r>
              <a:rPr lang="en-AU" altLang="en-US" sz="2000" dirty="0"/>
              <a:t>Stakeholder Satisfaction: Gauges feedback from stakeholders.</a:t>
            </a:r>
          </a:p>
          <a:p>
            <a:pPr lvl="1">
              <a:buFont typeface="Arial" panose="020B0604020202020204" pitchFamily="34" charset="0"/>
              <a:buChar char="•"/>
            </a:pPr>
            <a:r>
              <a:rPr lang="en-AU" altLang="en-US" sz="2000" dirty="0"/>
              <a:t>Benefit Realisation: Measures achieved benefits like cost savings or efficiency gains.</a:t>
            </a:r>
          </a:p>
          <a:p>
            <a:pPr lvl="1">
              <a:buFont typeface="Arial" panose="020B0604020202020204" pitchFamily="34" charset="0"/>
              <a:buChar char="•"/>
            </a:pPr>
            <a:r>
              <a:rPr lang="en-AU" altLang="en-US" sz="2000" dirty="0"/>
              <a:t>Risk and Issue Management: Reviews effectiveness in handling risks and issues.</a:t>
            </a:r>
          </a:p>
          <a:p>
            <a:pPr lvl="1">
              <a:buFont typeface="Arial" panose="020B0604020202020204" pitchFamily="34" charset="0"/>
              <a:buChar char="•"/>
            </a:pPr>
            <a:r>
              <a:rPr lang="en-AU" altLang="en-US" sz="2000" dirty="0"/>
              <a:t>Lessons Learned: Captures insights for future improvements and practices.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53358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User-</a:t>
            </a:r>
            <a:r>
              <a:rPr lang="en-AU" sz="3600" b="1" dirty="0" err="1">
                <a:solidFill>
                  <a:schemeClr val="accent2">
                    <a:lumMod val="75000"/>
                  </a:schemeClr>
                </a:solidFill>
              </a:rPr>
              <a:t>Centered</a:t>
            </a:r>
            <a:r>
              <a:rPr lang="en-AU" sz="3600" b="1" dirty="0">
                <a:solidFill>
                  <a:schemeClr val="accent2">
                    <a:lumMod val="75000"/>
                  </a:schemeClr>
                </a:solidFill>
              </a:rPr>
              <a:t> Design Approaches in IT Projects</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5" descr="A Beginner's Guide to User-Centered Design | WowMakers">
            <a:extLst>
              <a:ext uri="{FF2B5EF4-FFF2-40B4-BE49-F238E27FC236}">
                <a16:creationId xmlns:a16="http://schemas.microsoft.com/office/drawing/2014/main" id="{E2744709-66E6-AB9A-3BC5-654A159E939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06260" y="2038198"/>
            <a:ext cx="7602728" cy="4276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06568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latin typeface="+mn-lt"/>
              </a:rPr>
              <a:t>Week 4: </a:t>
            </a:r>
            <a:br>
              <a:rPr lang="en-AU" sz="3600" b="1" dirty="0">
                <a:solidFill>
                  <a:srgbClr val="00B0F0"/>
                </a:solidFill>
                <a:latin typeface="+mn-lt"/>
              </a:rPr>
            </a:br>
            <a:r>
              <a:rPr lang="en-AU" sz="3600" b="1" dirty="0">
                <a:solidFill>
                  <a:srgbClr val="00B0F0"/>
                </a:solidFill>
                <a:latin typeface="+mn-lt"/>
              </a:rPr>
              <a:t>Introduction to Modelling &amp; UML</a:t>
            </a:r>
            <a:endParaRPr lang="en-AU" altLang="en-US" sz="3600" b="1" dirty="0">
              <a:solidFill>
                <a:srgbClr val="00B0F0"/>
              </a:solidFill>
              <a:latin typeface="+mn-lt"/>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643668" cy="4321533"/>
          </a:xfrm>
        </p:spPr>
        <p:txBody>
          <a:bodyPr/>
          <a:lstStyle/>
          <a:p>
            <a:pPr>
              <a:buFont typeface="Arial" panose="020B0604020202020204" pitchFamily="34" charset="0"/>
              <a:buChar char="•"/>
            </a:pPr>
            <a:r>
              <a:rPr lang="en-AU" b="1" dirty="0"/>
              <a:t>Definition and History of UML:</a:t>
            </a:r>
          </a:p>
          <a:p>
            <a:pPr lvl="1">
              <a:buFont typeface="Arial" panose="020B0604020202020204" pitchFamily="34" charset="0"/>
              <a:buChar char="•"/>
            </a:pPr>
            <a:r>
              <a:rPr lang="en-AU" dirty="0"/>
              <a:t>UML (Unified Modelling Language) is a standardised modelling language developed by Object Management Group (OMG) in the 1990s.</a:t>
            </a:r>
          </a:p>
          <a:p>
            <a:pPr>
              <a:buFont typeface="Arial" panose="020B0604020202020204" pitchFamily="34" charset="0"/>
              <a:buChar char="•"/>
            </a:pPr>
            <a:r>
              <a:rPr lang="en-AU" b="1" dirty="0"/>
              <a:t>Objectives of UML:</a:t>
            </a:r>
          </a:p>
          <a:p>
            <a:pPr lvl="1">
              <a:buFont typeface="Arial" panose="020B0604020202020204" pitchFamily="34" charset="0"/>
              <a:buChar char="•"/>
            </a:pPr>
            <a:r>
              <a:rPr lang="en-AU" dirty="0"/>
              <a:t>Provide a standard way to visualise the design of a system.</a:t>
            </a:r>
          </a:p>
          <a:p>
            <a:pPr lvl="1">
              <a:buFont typeface="Arial" panose="020B0604020202020204" pitchFamily="34" charset="0"/>
              <a:buChar char="•"/>
            </a:pPr>
            <a:r>
              <a:rPr lang="en-AU" dirty="0"/>
              <a:t>Facilitate communication and understanding among stakeholders.</a:t>
            </a:r>
          </a:p>
          <a:p>
            <a:pPr>
              <a:buFont typeface="Arial" panose="020B0604020202020204" pitchFamily="34" charset="0"/>
              <a:buChar char="•"/>
            </a:pPr>
            <a:r>
              <a:rPr lang="en-AU" b="1" dirty="0"/>
              <a:t>Benefits of Using UML:</a:t>
            </a:r>
          </a:p>
          <a:p>
            <a:pPr lvl="1">
              <a:buFont typeface="Arial" panose="020B0604020202020204" pitchFamily="34" charset="0"/>
              <a:buChar char="•"/>
            </a:pPr>
            <a:r>
              <a:rPr lang="en-AU" dirty="0"/>
              <a:t>Improves clarity and accuracy in system design.</a:t>
            </a:r>
          </a:p>
          <a:p>
            <a:pPr lvl="1">
              <a:buFont typeface="Arial" panose="020B0604020202020204" pitchFamily="34" charset="0"/>
              <a:buChar char="•"/>
            </a:pPr>
            <a:r>
              <a:rPr lang="en-AU" dirty="0"/>
              <a:t>Supports various stages of software development.</a:t>
            </a:r>
          </a:p>
          <a:p>
            <a:pPr lvl="1">
              <a:buFont typeface="Arial" panose="020B0604020202020204" pitchFamily="34" charset="0"/>
              <a:buChar char="•"/>
            </a:pPr>
            <a:r>
              <a:rPr lang="en-AU" dirty="0"/>
              <a:t>Enhances collaboration and reduces ambiguity.</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79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66400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What is UML ? </a:t>
            </a:r>
            <a:endParaRPr lang="en-AU" altLang="en-US" sz="3600" b="1" dirty="0">
              <a:solidFill>
                <a:schemeClr val="accent2">
                  <a:lumMod val="75000"/>
                </a:schemeClr>
              </a:solidFill>
            </a:endParaRPr>
          </a:p>
        </p:txBody>
      </p:sp>
      <p:pic>
        <p:nvPicPr>
          <p:cNvPr id="4" name="Content Placeholder 3">
            <a:extLst>
              <a:ext uri="{FF2B5EF4-FFF2-40B4-BE49-F238E27FC236}">
                <a16:creationId xmlns:a16="http://schemas.microsoft.com/office/drawing/2014/main" id="{140EBB03-187D-5640-777F-F0B157CEF40C}"/>
              </a:ext>
            </a:extLst>
          </p:cNvPr>
          <p:cNvPicPr>
            <a:picLocks noGrp="1" noChangeAspect="1"/>
          </p:cNvPicPr>
          <p:nvPr>
            <p:ph idx="1"/>
          </p:nvPr>
        </p:nvPicPr>
        <p:blipFill>
          <a:blip r:embed="rId2"/>
          <a:stretch>
            <a:fillRect/>
          </a:stretch>
        </p:blipFill>
        <p:spPr>
          <a:xfrm>
            <a:off x="767332" y="1831112"/>
            <a:ext cx="7414994" cy="3909338"/>
          </a:xfrm>
        </p:spPr>
      </p:pic>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41591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367850" y="913504"/>
            <a:ext cx="9016998" cy="863600"/>
          </a:xfrm>
        </p:spPr>
        <p:txBody>
          <a:bodyPr>
            <a:noAutofit/>
          </a:bodyPr>
          <a:lstStyle/>
          <a:p>
            <a:pPr algn="ctr" eaLnBrk="1" fontAlgn="auto" hangingPunct="1">
              <a:spcAft>
                <a:spcPts val="0"/>
              </a:spcAft>
              <a:defRPr/>
            </a:pPr>
            <a:r>
              <a:rPr lang="en-AU" sz="3600" b="1" dirty="0">
                <a:solidFill>
                  <a:srgbClr val="00B0F0"/>
                </a:solidFill>
                <a:latin typeface="+mn-lt"/>
              </a:rPr>
              <a:t>Week 5: </a:t>
            </a:r>
            <a:br>
              <a:rPr lang="en-AU" sz="3600" b="1" dirty="0">
                <a:solidFill>
                  <a:srgbClr val="00B0F0"/>
                </a:solidFill>
                <a:latin typeface="+mn-lt"/>
              </a:rPr>
            </a:br>
            <a:r>
              <a:rPr lang="en-AU" sz="3600" b="1" dirty="0">
                <a:solidFill>
                  <a:srgbClr val="00B0F0"/>
                </a:solidFill>
                <a:latin typeface="+mn-lt"/>
              </a:rPr>
              <a:t>Skills and Capabilities in IT Projects</a:t>
            </a:r>
            <a:endParaRPr lang="en-AU" altLang="en-US" sz="3600" b="1" dirty="0">
              <a:solidFill>
                <a:srgbClr val="00B0F0"/>
              </a:solidFill>
              <a:latin typeface="+mn-l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24 IT Skills to Learn in 2024">
            <a:extLst>
              <a:ext uri="{FF2B5EF4-FFF2-40B4-BE49-F238E27FC236}">
                <a16:creationId xmlns:a16="http://schemas.microsoft.com/office/drawing/2014/main" id="{4333B989-9043-72EA-6DC2-0A92D54C88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634" y="2061958"/>
            <a:ext cx="8084732" cy="3464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6112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Understanding Patents in IT Projects</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7537588" cy="4321533"/>
          </a:xfrm>
        </p:spPr>
        <p:txBody>
          <a:bodyPr/>
          <a:lstStyle/>
          <a:p>
            <a:pPr>
              <a:buFont typeface="Arial" panose="020B0604020202020204" pitchFamily="34" charset="0"/>
              <a:buChar char="•"/>
            </a:pPr>
            <a:r>
              <a:rPr lang="en-AU" sz="2800" b="1" dirty="0">
                <a:solidFill>
                  <a:schemeClr val="accent2">
                    <a:lumMod val="75000"/>
                  </a:schemeClr>
                </a:solidFill>
              </a:rPr>
              <a:t>Patents: </a:t>
            </a:r>
          </a:p>
          <a:p>
            <a:pPr lvl="1">
              <a:buFont typeface="Arial" panose="020B0604020202020204" pitchFamily="34" charset="0"/>
              <a:buChar char="•"/>
            </a:pPr>
            <a:r>
              <a:rPr lang="en-AU" sz="2000" dirty="0"/>
              <a:t>Patents protect inventions and innovations, granting exclusive rights to inventors. They are crucial for safeguarding intellectual property.</a:t>
            </a:r>
          </a:p>
          <a:p>
            <a:pPr>
              <a:buFont typeface="Arial" panose="020B0604020202020204" pitchFamily="34" charset="0"/>
              <a:buChar char="•"/>
            </a:pPr>
            <a:r>
              <a:rPr lang="en-AU" b="1" dirty="0"/>
              <a:t>Claims Analysis:</a:t>
            </a:r>
            <a:r>
              <a:rPr lang="en-AU" dirty="0"/>
              <a:t> </a:t>
            </a:r>
          </a:p>
          <a:p>
            <a:pPr lvl="1">
              <a:buFont typeface="Arial" panose="020B0604020202020204" pitchFamily="34" charset="0"/>
              <a:buChar char="•"/>
            </a:pPr>
            <a:r>
              <a:rPr lang="en-AU" dirty="0"/>
              <a:t>Involves scrutinising patent claims to decipher the specific features and functionalities that are protected. This analysis guides IT project teams in understanding what aspects of their innovations could potentially infringe on existing patents.</a:t>
            </a:r>
          </a:p>
          <a:p>
            <a:pPr>
              <a:buFont typeface="Arial" panose="020B0604020202020204" pitchFamily="34" charset="0"/>
              <a:buChar char="•"/>
            </a:pPr>
            <a:r>
              <a:rPr lang="en-AU" b="1" dirty="0"/>
              <a:t>Impact on IT Landscape:</a:t>
            </a:r>
            <a:r>
              <a:rPr lang="en-AU" dirty="0"/>
              <a:t> </a:t>
            </a:r>
          </a:p>
          <a:p>
            <a:pPr lvl="1">
              <a:buFont typeface="Arial" panose="020B0604020202020204" pitchFamily="34" charset="0"/>
              <a:buChar char="•"/>
            </a:pPr>
            <a:r>
              <a:rPr lang="en-AU" dirty="0"/>
              <a:t>Patents shape the competitive dynamics within the IT industry by influencing product development strategies, dictating licensing terms for using patented technologies, and impacting market positioning through exclusivity rights.</a:t>
            </a: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74962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Understanding Prior Art in IT Projects (Cont.)</a:t>
            </a:r>
            <a:endParaRPr lang="en-AU" altLang="en-US" sz="3600" b="1" dirty="0">
              <a:solidFill>
                <a:schemeClr val="accent2">
                  <a:lumMod val="75000"/>
                </a:schemeClr>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7537588" cy="4321533"/>
          </a:xfrm>
        </p:spPr>
        <p:txBody>
          <a:bodyPr/>
          <a:lstStyle/>
          <a:p>
            <a:pPr>
              <a:buFont typeface="Arial" panose="020B0604020202020204" pitchFamily="34" charset="0"/>
              <a:buChar char="•"/>
            </a:pPr>
            <a:r>
              <a:rPr lang="en-AU" sz="2800" b="1" dirty="0">
                <a:solidFill>
                  <a:schemeClr val="accent2">
                    <a:lumMod val="75000"/>
                  </a:schemeClr>
                </a:solidFill>
              </a:rPr>
              <a:t>Prior Art Searches: </a:t>
            </a:r>
          </a:p>
          <a:p>
            <a:pPr lvl="1">
              <a:buFont typeface="Arial" panose="020B0604020202020204" pitchFamily="34" charset="0"/>
              <a:buChar char="•"/>
            </a:pPr>
            <a:r>
              <a:rPr lang="en-AU" sz="2000" dirty="0"/>
              <a:t>Conduct comprehensive searches across patent databases and scientific literature to identify prior art—existing technologies or solutions that may invalidate a patent claim or inspire alternative approaches in IT projects.</a:t>
            </a:r>
          </a:p>
          <a:p>
            <a:pPr>
              <a:buFont typeface="Arial" panose="020B0604020202020204" pitchFamily="34" charset="0"/>
              <a:buChar char="•"/>
            </a:pPr>
            <a:r>
              <a:rPr lang="en-AU" b="1" dirty="0"/>
              <a:t>Search Methods: </a:t>
            </a:r>
          </a:p>
          <a:p>
            <a:pPr lvl="1">
              <a:buFont typeface="Arial" panose="020B0604020202020204" pitchFamily="34" charset="0"/>
              <a:buChar char="•"/>
            </a:pPr>
            <a:r>
              <a:rPr lang="en-AU" sz="2000" dirty="0"/>
              <a:t>Utilise comprehensive strategies such as exploring patent databases (e.g., USPTO, WIPO), reviewing scientific literature, attending conferences, and leveraging online repositories. </a:t>
            </a:r>
          </a:p>
          <a:p>
            <a:pPr marL="90488" lvl="1" indent="-90488">
              <a:spcBef>
                <a:spcPts val="1200"/>
              </a:spcBef>
              <a:spcAft>
                <a:spcPts val="200"/>
              </a:spcAft>
              <a:buSzPct val="100000"/>
              <a:buFont typeface="Arial" panose="020B0604020202020204" pitchFamily="34" charset="0"/>
              <a:buChar char="•"/>
            </a:pPr>
            <a:r>
              <a:rPr lang="en-AU" sz="2000" b="1" dirty="0"/>
              <a:t>Evaluation Criteria: </a:t>
            </a:r>
          </a:p>
          <a:p>
            <a:pPr lvl="1">
              <a:buFont typeface="Arial" panose="020B0604020202020204" pitchFamily="34" charset="0"/>
              <a:buChar char="•"/>
            </a:pPr>
            <a:r>
              <a:rPr lang="en-AU" dirty="0"/>
              <a:t>Assess the relevance of prior art based on its similarity to the proposed innovation, temporal proximity, technological impact, and applicability to the project's objectives.</a:t>
            </a:r>
            <a:endParaRPr lang="en-AU" b="1"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44988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rPr>
              <a:t> </a:t>
            </a:r>
            <a:r>
              <a:rPr lang="en-AU" sz="3600" b="1" dirty="0">
                <a:solidFill>
                  <a:srgbClr val="00B0F0"/>
                </a:solidFill>
                <a:latin typeface="+mn-lt"/>
              </a:rPr>
              <a:t>Week 6: </a:t>
            </a:r>
            <a:br>
              <a:rPr lang="en-AU" sz="3600" b="1" dirty="0">
                <a:solidFill>
                  <a:srgbClr val="00B0F0"/>
                </a:solidFill>
                <a:latin typeface="+mn-lt"/>
              </a:rPr>
            </a:br>
            <a:r>
              <a:rPr lang="en-AU" sz="3600" b="1" dirty="0">
                <a:solidFill>
                  <a:srgbClr val="00B0F0"/>
                </a:solidFill>
                <a:latin typeface="+mn-lt"/>
              </a:rPr>
              <a:t>Project Implementation</a:t>
            </a:r>
            <a:endParaRPr lang="en-AU" altLang="en-US" sz="3600" b="1" dirty="0">
              <a:solidFill>
                <a:srgbClr val="00B0F0"/>
              </a:solidFill>
              <a:latin typeface="+mn-l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418A09D5-C92D-3C4B-E0DE-FC1020372093}"/>
              </a:ext>
            </a:extLst>
          </p:cNvPr>
          <p:cNvPicPr>
            <a:picLocks noChangeAspect="1"/>
          </p:cNvPicPr>
          <p:nvPr/>
        </p:nvPicPr>
        <p:blipFill>
          <a:blip r:embed="rId3"/>
          <a:stretch>
            <a:fillRect/>
          </a:stretch>
        </p:blipFill>
        <p:spPr>
          <a:xfrm>
            <a:off x="702197" y="2478516"/>
            <a:ext cx="7315200" cy="2534622"/>
          </a:xfrm>
          <a:prstGeom prst="rect">
            <a:avLst/>
          </a:prstGeom>
        </p:spPr>
      </p:pic>
      <p:sp>
        <p:nvSpPr>
          <p:cNvPr id="5" name="TextBox 4">
            <a:extLst>
              <a:ext uri="{FF2B5EF4-FFF2-40B4-BE49-F238E27FC236}">
                <a16:creationId xmlns:a16="http://schemas.microsoft.com/office/drawing/2014/main" id="{32811B4D-AECF-89DB-4F89-15A3B43A991A}"/>
              </a:ext>
            </a:extLst>
          </p:cNvPr>
          <p:cNvSpPr txBox="1"/>
          <p:nvPr/>
        </p:nvSpPr>
        <p:spPr>
          <a:xfrm>
            <a:off x="702197" y="2015549"/>
            <a:ext cx="5869459" cy="369332"/>
          </a:xfrm>
          <a:prstGeom prst="rect">
            <a:avLst/>
          </a:prstGeom>
          <a:noFill/>
        </p:spPr>
        <p:txBody>
          <a:bodyPr wrap="square">
            <a:spAutoFit/>
          </a:bodyPr>
          <a:lstStyle/>
          <a:p>
            <a:r>
              <a:rPr lang="en-AU" sz="1800" b="1" dirty="0">
                <a:solidFill>
                  <a:schemeClr val="accent2">
                    <a:lumMod val="75000"/>
                  </a:schemeClr>
                </a:solidFill>
              </a:rPr>
              <a:t> The 5 Phases of The Project Life Cycle:</a:t>
            </a:r>
            <a:endParaRPr lang="en-AU" dirty="0">
              <a:solidFill>
                <a:schemeClr val="accent2">
                  <a:lumMod val="75000"/>
                </a:schemeClr>
              </a:solidFill>
            </a:endParaRPr>
          </a:p>
        </p:txBody>
      </p:sp>
    </p:spTree>
    <p:extLst>
      <p:ext uri="{BB962C8B-B14F-4D97-AF65-F5344CB8AC3E}">
        <p14:creationId xmlns:p14="http://schemas.microsoft.com/office/powerpoint/2010/main" val="36208408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r>
              <a:rPr lang="en-AU" sz="3600" b="1" dirty="0">
                <a:solidFill>
                  <a:schemeClr val="accent2">
                    <a:lumMod val="75000"/>
                  </a:schemeClr>
                </a:solidFill>
              </a:rPr>
              <a:t>            Stakeholder Engagement Planning	</a:t>
            </a: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436831" y="1831112"/>
            <a:ext cx="8186174" cy="4321533"/>
          </a:xfrm>
        </p:spPr>
        <p:txBody>
          <a:bodyPr/>
          <a:lstStyle/>
          <a:p>
            <a:pPr lvl="1">
              <a:buFont typeface="Arial" panose="020B0604020202020204" pitchFamily="34" charset="0"/>
              <a:buChar char="•"/>
            </a:pPr>
            <a:r>
              <a:rPr lang="en-AU" sz="2000" b="1" dirty="0">
                <a:solidFill>
                  <a:schemeClr val="tx1">
                    <a:lumMod val="75000"/>
                    <a:lumOff val="25000"/>
                  </a:schemeClr>
                </a:solidFill>
                <a:highlight>
                  <a:srgbClr val="FFFFFF"/>
                </a:highlight>
              </a:rPr>
              <a:t>Identifying Stakeholders</a:t>
            </a:r>
            <a:r>
              <a:rPr lang="en-AU" sz="2000" dirty="0">
                <a:solidFill>
                  <a:schemeClr val="tx1">
                    <a:lumMod val="75000"/>
                    <a:lumOff val="25000"/>
                  </a:schemeClr>
                </a:solidFill>
                <a:highlight>
                  <a:srgbClr val="FFFFFF"/>
                </a:highlight>
              </a:rPr>
              <a:t>: Mapping stakeholders based on their influence and interest in the project.</a:t>
            </a:r>
          </a:p>
          <a:p>
            <a:pPr lvl="1">
              <a:buFont typeface="Arial" panose="020B0604020202020204" pitchFamily="34" charset="0"/>
              <a:buChar char="•"/>
            </a:pPr>
            <a:r>
              <a:rPr lang="en-AU" sz="2000" b="1" dirty="0">
                <a:solidFill>
                  <a:schemeClr val="tx1">
                    <a:lumMod val="75000"/>
                    <a:lumOff val="25000"/>
                  </a:schemeClr>
                </a:solidFill>
                <a:highlight>
                  <a:srgbClr val="FFFFFF"/>
                </a:highlight>
              </a:rPr>
              <a:t>Engagement Strategies</a:t>
            </a:r>
            <a:r>
              <a:rPr lang="en-AU" sz="2000" dirty="0">
                <a:solidFill>
                  <a:schemeClr val="tx1">
                    <a:lumMod val="75000"/>
                    <a:lumOff val="25000"/>
                  </a:schemeClr>
                </a:solidFill>
                <a:highlight>
                  <a:srgbClr val="FFFFFF"/>
                </a:highlight>
              </a:rPr>
              <a:t>: Involving stakeholders in decision-making, providing updates, and gathering feedback.</a:t>
            </a:r>
          </a:p>
          <a:p>
            <a:pPr lvl="1">
              <a:buFont typeface="Arial" panose="020B0604020202020204" pitchFamily="34" charset="0"/>
              <a:buChar char="•"/>
            </a:pPr>
            <a:endParaRPr lang="en-AU" dirty="0">
              <a:solidFill>
                <a:schemeClr val="tx1">
                  <a:lumMod val="75000"/>
                  <a:lumOff val="25000"/>
                </a:schemeClr>
              </a:solidFill>
              <a:highlight>
                <a:srgbClr val="FFFFFF"/>
              </a:highligh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167CBF3E-619B-E07E-E0FA-4F60BC3D8C8A}"/>
              </a:ext>
            </a:extLst>
          </p:cNvPr>
          <p:cNvPicPr>
            <a:picLocks noChangeAspect="1"/>
          </p:cNvPicPr>
          <p:nvPr/>
        </p:nvPicPr>
        <p:blipFill>
          <a:blip r:embed="rId3"/>
          <a:stretch>
            <a:fillRect/>
          </a:stretch>
        </p:blipFill>
        <p:spPr>
          <a:xfrm>
            <a:off x="1621687" y="3512480"/>
            <a:ext cx="4674254" cy="2640165"/>
          </a:xfrm>
          <a:prstGeom prst="rect">
            <a:avLst/>
          </a:prstGeom>
        </p:spPr>
      </p:pic>
    </p:spTree>
    <p:extLst>
      <p:ext uri="{BB962C8B-B14F-4D97-AF65-F5344CB8AC3E}">
        <p14:creationId xmlns:p14="http://schemas.microsoft.com/office/powerpoint/2010/main" val="19761597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latin typeface="+mn-lt"/>
              </a:rPr>
              <a:t>Week 7: </a:t>
            </a:r>
            <a:br>
              <a:rPr lang="en-AU" sz="3600" b="1" dirty="0">
                <a:solidFill>
                  <a:srgbClr val="00B0F0"/>
                </a:solidFill>
                <a:latin typeface="+mn-lt"/>
              </a:rPr>
            </a:br>
            <a:r>
              <a:rPr lang="en-AU" sz="3600" b="1" dirty="0">
                <a:solidFill>
                  <a:srgbClr val="00B0F0"/>
                </a:solidFill>
                <a:latin typeface="+mn-lt"/>
              </a:rPr>
              <a:t>Effective Communication Skills in IT Projects</a:t>
            </a:r>
            <a:endParaRPr lang="en-AU" altLang="en-US" sz="3600" b="1" dirty="0">
              <a:solidFill>
                <a:srgbClr val="00B0F0"/>
              </a:solidFill>
              <a:latin typeface="+mn-l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0" y="1966190"/>
            <a:ext cx="8888819" cy="3148554"/>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Overview of Communication in IT Projects: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Project Coordination: </a:t>
            </a:r>
            <a:r>
              <a:rPr lang="en-AU" sz="2000" dirty="0">
                <a:solidFill>
                  <a:schemeClr val="tx1">
                    <a:lumMod val="75000"/>
                    <a:lumOff val="25000"/>
                  </a:schemeClr>
                </a:solidFill>
                <a:highlight>
                  <a:srgbClr val="FFFFFF"/>
                </a:highlight>
                <a:latin typeface="+mn-lt"/>
                <a:cs typeface="+mn-cs"/>
              </a:rPr>
              <a:t>Effective communication ensures that all team members are on the same page regarding project goals, timelines, and deliverables.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Stakeholder Engagement: </a:t>
            </a:r>
            <a:r>
              <a:rPr lang="en-AU" sz="2000" dirty="0">
                <a:solidFill>
                  <a:schemeClr val="tx1">
                    <a:lumMod val="75000"/>
                    <a:lumOff val="25000"/>
                  </a:schemeClr>
                </a:solidFill>
                <a:highlight>
                  <a:srgbClr val="FFFFFF"/>
                </a:highlight>
                <a:latin typeface="+mn-lt"/>
                <a:cs typeface="+mn-cs"/>
              </a:rPr>
              <a:t>Clear and consistent communication helps in managing stakeholder expectations and keeping them informed about project progress.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Risk Management: </a:t>
            </a:r>
            <a:r>
              <a:rPr lang="en-AU" sz="2000" dirty="0">
                <a:solidFill>
                  <a:schemeClr val="tx1">
                    <a:lumMod val="75000"/>
                    <a:lumOff val="25000"/>
                  </a:schemeClr>
                </a:solidFill>
                <a:highlight>
                  <a:srgbClr val="FFFFFF"/>
                </a:highlight>
                <a:latin typeface="+mn-lt"/>
                <a:cs typeface="+mn-cs"/>
              </a:rPr>
              <a:t>Timely communication allows for the early identification and mitigation of risks, preventing potential issues from escalating.</a:t>
            </a:r>
            <a:endParaRPr lang="en-AU"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39502719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Types of Communication in Project Management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1183A262-6417-1B25-606D-93A88C75CEE0}"/>
              </a:ext>
            </a:extLst>
          </p:cNvPr>
          <p:cNvPicPr>
            <a:picLocks noChangeAspect="1"/>
          </p:cNvPicPr>
          <p:nvPr/>
        </p:nvPicPr>
        <p:blipFill>
          <a:blip r:embed="rId3"/>
          <a:stretch>
            <a:fillRect/>
          </a:stretch>
        </p:blipFill>
        <p:spPr>
          <a:xfrm>
            <a:off x="1109662" y="1831112"/>
            <a:ext cx="6924675" cy="4457700"/>
          </a:xfrm>
          <a:prstGeom prst="rect">
            <a:avLst/>
          </a:prstGeom>
        </p:spPr>
      </p:pic>
    </p:spTree>
    <p:extLst>
      <p:ext uri="{BB962C8B-B14F-4D97-AF65-F5344CB8AC3E}">
        <p14:creationId xmlns:p14="http://schemas.microsoft.com/office/powerpoint/2010/main" val="23824637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altLang="en-US" sz="3600" b="1" dirty="0">
                <a:solidFill>
                  <a:srgbClr val="00B0F0"/>
                </a:solidFill>
                <a:latin typeface="+mn-lt"/>
              </a:rPr>
              <a:t>Week </a:t>
            </a:r>
            <a:r>
              <a:rPr lang="en-US" altLang="en-US" sz="3600" b="1" dirty="0">
                <a:solidFill>
                  <a:srgbClr val="00B0F0"/>
                </a:solidFill>
                <a:latin typeface="+mn-lt"/>
              </a:rPr>
              <a:t>8</a:t>
            </a:r>
            <a:r>
              <a:rPr lang="en-AU" altLang="en-US" sz="3600" b="1" dirty="0">
                <a:solidFill>
                  <a:srgbClr val="00B0F0"/>
                </a:solidFill>
                <a:latin typeface="+mn-lt"/>
              </a:rPr>
              <a:t>: </a:t>
            </a:r>
            <a:br>
              <a:rPr lang="en-AU" altLang="en-US" sz="3600" b="1" dirty="0">
                <a:solidFill>
                  <a:srgbClr val="00B0F0"/>
                </a:solidFill>
                <a:latin typeface="+mn-lt"/>
              </a:rPr>
            </a:br>
            <a:r>
              <a:rPr lang="en-AU" sz="3600" b="1" dirty="0">
                <a:solidFill>
                  <a:srgbClr val="00B0F0"/>
                </a:solidFill>
                <a:latin typeface="+mn-lt"/>
              </a:rPr>
              <a:t>Writing and Presenting IT Project Reports</a:t>
            </a:r>
            <a:endParaRPr lang="en-AU" altLang="en-US" sz="3600" b="1" dirty="0">
              <a:solidFill>
                <a:srgbClr val="00B0F0"/>
              </a:solidFill>
              <a:latin typeface="+mn-l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62371" y="1994191"/>
            <a:ext cx="9242870" cy="3650230"/>
          </a:xfrm>
          <a:prstGeom prst="rect">
            <a:avLst/>
          </a:prstGeom>
          <a:noFill/>
        </p:spPr>
        <p:txBody>
          <a:bodyPr wrap="square">
            <a:spAutoFit/>
          </a:bodyPr>
          <a:lstStyle/>
          <a:p>
            <a:pPr marL="839788" lvl="2" indent="-182563">
              <a:lnSpc>
                <a:spcPct val="90000"/>
              </a:lnSpc>
              <a:spcBef>
                <a:spcPts val="200"/>
              </a:spcBef>
              <a:spcAft>
                <a:spcPts val="400"/>
              </a:spcAft>
              <a:buClr>
                <a:schemeClr val="accent1"/>
              </a:buClr>
              <a:buFont typeface="Arial" panose="020B0604020202020204" pitchFamily="34" charset="0"/>
              <a:buChar char="•"/>
            </a:pPr>
            <a:r>
              <a:rPr lang="en-AU" sz="2200" b="1" dirty="0">
                <a:solidFill>
                  <a:schemeClr val="tx1">
                    <a:lumMod val="75000"/>
                    <a:lumOff val="25000"/>
                  </a:schemeClr>
                </a:solidFill>
                <a:highlight>
                  <a:srgbClr val="FFFFFF"/>
                </a:highlight>
                <a:latin typeface="+mn-lt"/>
                <a:cs typeface="+mn-cs"/>
              </a:rPr>
              <a:t>Understanding Project Reports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Definition and Purpose: </a:t>
            </a:r>
            <a:r>
              <a:rPr lang="en-AU" dirty="0">
                <a:solidFill>
                  <a:schemeClr val="tx1">
                    <a:lumMod val="75000"/>
                    <a:lumOff val="25000"/>
                  </a:schemeClr>
                </a:solidFill>
                <a:highlight>
                  <a:srgbClr val="FFFFFF"/>
                </a:highlight>
                <a:latin typeface="+mn-lt"/>
                <a:cs typeface="+mn-cs"/>
              </a:rPr>
              <a:t>IT project reports are structured documents that communicate project progress, outcomes, and insights to stakeholders.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Importance: </a:t>
            </a:r>
            <a:r>
              <a:rPr lang="en-AU" dirty="0">
                <a:solidFill>
                  <a:schemeClr val="tx1">
                    <a:lumMod val="75000"/>
                    <a:lumOff val="25000"/>
                  </a:schemeClr>
                </a:solidFill>
                <a:highlight>
                  <a:srgbClr val="FFFFFF"/>
                </a:highlight>
                <a:latin typeface="+mn-lt"/>
                <a:cs typeface="+mn-cs"/>
              </a:rPr>
              <a:t>They ensure clear communication, inform decision-making, and align stakeholders towards project goals.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200" b="1" dirty="0">
                <a:solidFill>
                  <a:schemeClr val="tx1">
                    <a:lumMod val="75000"/>
                    <a:lumOff val="25000"/>
                  </a:schemeClr>
                </a:solidFill>
                <a:highlight>
                  <a:srgbClr val="FFFFFF"/>
                </a:highlight>
                <a:latin typeface="+mn-lt"/>
                <a:cs typeface="+mn-cs"/>
              </a:rPr>
              <a:t>Types of IT Project Reports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Progress Reports: </a:t>
            </a:r>
            <a:r>
              <a:rPr lang="en-AU" dirty="0">
                <a:solidFill>
                  <a:schemeClr val="tx1">
                    <a:lumMod val="75000"/>
                    <a:lumOff val="25000"/>
                  </a:schemeClr>
                </a:solidFill>
                <a:highlight>
                  <a:srgbClr val="FFFFFF"/>
                </a:highlight>
                <a:latin typeface="+mn-lt"/>
                <a:cs typeface="+mn-cs"/>
              </a:rPr>
              <a:t>Updates on project activities and achievements.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Status Updates: </a:t>
            </a:r>
            <a:r>
              <a:rPr lang="en-AU" dirty="0">
                <a:solidFill>
                  <a:schemeClr val="tx1">
                    <a:lumMod val="75000"/>
                    <a:lumOff val="25000"/>
                  </a:schemeClr>
                </a:solidFill>
                <a:highlight>
                  <a:srgbClr val="FFFFFF"/>
                </a:highlight>
                <a:latin typeface="+mn-lt"/>
                <a:cs typeface="+mn-cs"/>
              </a:rPr>
              <a:t>Current project status and upcoming tasks.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Technical Documentation: </a:t>
            </a:r>
            <a:r>
              <a:rPr lang="en-AU" dirty="0">
                <a:solidFill>
                  <a:schemeClr val="tx1">
                    <a:lumMod val="75000"/>
                    <a:lumOff val="25000"/>
                  </a:schemeClr>
                </a:solidFill>
                <a:highlight>
                  <a:srgbClr val="FFFFFF"/>
                </a:highlight>
                <a:latin typeface="+mn-lt"/>
                <a:cs typeface="+mn-cs"/>
              </a:rPr>
              <a:t>Detailed project specifications and design decisions.</a:t>
            </a:r>
          </a:p>
          <a:p>
            <a:pPr marL="1296988" lvl="3" indent="-182563">
              <a:lnSpc>
                <a:spcPct val="90000"/>
              </a:lnSpc>
              <a:spcBef>
                <a:spcPts val="200"/>
              </a:spcBef>
              <a:spcAft>
                <a:spcPts val="400"/>
              </a:spcAft>
              <a:buClr>
                <a:schemeClr val="accent1"/>
              </a:buClr>
              <a:buFont typeface="Arial" panose="020B0604020202020204" pitchFamily="34" charset="0"/>
              <a:buChar char="•"/>
            </a:pPr>
            <a:r>
              <a:rPr lang="en-AU" sz="2000" u="sng" dirty="0">
                <a:solidFill>
                  <a:schemeClr val="tx1">
                    <a:lumMod val="75000"/>
                    <a:lumOff val="25000"/>
                  </a:schemeClr>
                </a:solidFill>
                <a:highlight>
                  <a:srgbClr val="FFFFFF"/>
                </a:highlight>
                <a:latin typeface="+mn-lt"/>
                <a:cs typeface="+mn-cs"/>
              </a:rPr>
              <a:t>Final Project Reports: </a:t>
            </a:r>
            <a:r>
              <a:rPr lang="en-AU" dirty="0">
                <a:solidFill>
                  <a:schemeClr val="tx1">
                    <a:lumMod val="75000"/>
                    <a:lumOff val="25000"/>
                  </a:schemeClr>
                </a:solidFill>
                <a:highlight>
                  <a:srgbClr val="FFFFFF"/>
                </a:highlight>
                <a:latin typeface="+mn-lt"/>
                <a:cs typeface="+mn-cs"/>
              </a:rPr>
              <a:t>Summarise project lifecycle, outcomes, and recommendations.</a:t>
            </a:r>
          </a:p>
        </p:txBody>
      </p:sp>
    </p:spTree>
    <p:extLst>
      <p:ext uri="{BB962C8B-B14F-4D97-AF65-F5344CB8AC3E}">
        <p14:creationId xmlns:p14="http://schemas.microsoft.com/office/powerpoint/2010/main" val="13534877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Gathering the Facts and Data</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89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0" name="Picture 2" descr="The Data Analysis Process | Lifecycle Of a Data Analytics Project">
            <a:extLst>
              <a:ext uri="{FF2B5EF4-FFF2-40B4-BE49-F238E27FC236}">
                <a16:creationId xmlns:a16="http://schemas.microsoft.com/office/drawing/2014/main" id="{B1ADC456-063B-A2FF-3172-F94927A8F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7881" y="1961088"/>
            <a:ext cx="6548999" cy="3929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9451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latin typeface="+mn-lt"/>
              </a:rPr>
              <a:t>Week 9: </a:t>
            </a:r>
            <a:br>
              <a:rPr lang="en-AU" sz="3600" b="1" dirty="0">
                <a:solidFill>
                  <a:srgbClr val="00B0F0"/>
                </a:solidFill>
                <a:latin typeface="+mn-lt"/>
              </a:rPr>
            </a:br>
            <a:r>
              <a:rPr lang="en-AU" sz="3600" b="1" dirty="0">
                <a:solidFill>
                  <a:srgbClr val="00B0F0"/>
                </a:solidFill>
                <a:latin typeface="+mn-lt"/>
              </a:rPr>
              <a:t>Project Evaluation and Reflection</a:t>
            </a:r>
            <a:endParaRPr lang="en-AU" altLang="en-US" sz="3600" b="1" dirty="0">
              <a:solidFill>
                <a:srgbClr val="00B0F0"/>
              </a:solidFill>
              <a:latin typeface="+mn-l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a:extLst>
              <a:ext uri="{FF2B5EF4-FFF2-40B4-BE49-F238E27FC236}">
                <a16:creationId xmlns:a16="http://schemas.microsoft.com/office/drawing/2014/main" id="{92167231-57CC-79C7-3D8A-0413BD702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207" y="2030989"/>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3515709" y="2026648"/>
            <a:ext cx="5344511" cy="2778196"/>
          </a:xfrm>
          <a:prstGeom prst="rect">
            <a:avLst/>
          </a:prstGeom>
          <a:noFill/>
        </p:spPr>
        <p:txBody>
          <a:bodyPr wrap="square">
            <a:spAutoFit/>
          </a:bodyPr>
          <a:lstStyle/>
          <a:p>
            <a:pPr marL="342900"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400" b="1" dirty="0">
                <a:solidFill>
                  <a:schemeClr val="tx1">
                    <a:lumMod val="75000"/>
                    <a:lumOff val="25000"/>
                  </a:schemeClr>
                </a:solidFill>
                <a:highlight>
                  <a:srgbClr val="FFFFFF"/>
                </a:highlight>
                <a:latin typeface="+mn-lt"/>
                <a:cs typeface="+mn-cs"/>
              </a:rPr>
              <a:t>Overview of Project Evaluation in IT:</a:t>
            </a: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Project evaluation in IT focuses on assessing the effectiveness, efficiency, and success of IT initiatives, such as software development, system upgrades, or infrastructure enhancements.</a:t>
            </a: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Importance of evaluating IT projects to ensure alignment with organisational goals, budget adherence, and stakeholder satisfaction</a:t>
            </a:r>
            <a:r>
              <a:rPr lang="en-AU" sz="1600" dirty="0">
                <a:solidFill>
                  <a:srgbClr val="404040"/>
                </a:solidFill>
                <a:latin typeface="Times New Roman" panose="02020603050405020304" pitchFamily="18" charset="0"/>
                <a:cs typeface="+mn-cs"/>
              </a:rPr>
              <a:t>.</a:t>
            </a:r>
          </a:p>
        </p:txBody>
      </p:sp>
    </p:spTree>
    <p:extLst>
      <p:ext uri="{BB962C8B-B14F-4D97-AF65-F5344CB8AC3E}">
        <p14:creationId xmlns:p14="http://schemas.microsoft.com/office/powerpoint/2010/main" val="21755072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chemeClr val="accent2">
                    <a:lumMod val="75000"/>
                  </a:schemeClr>
                </a:solidFill>
              </a:rPr>
              <a:t>Quantitative VS. Qualitative </a:t>
            </a:r>
            <a:endParaRPr lang="en-AU" altLang="en-US" sz="4000" b="1" dirty="0">
              <a:solidFill>
                <a:srgbClr val="00B0F0"/>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91</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2" name="Picture 2" descr="Qualitative and Quantitative Data Collection Methodologies in ...">
            <a:extLst>
              <a:ext uri="{FF2B5EF4-FFF2-40B4-BE49-F238E27FC236}">
                <a16:creationId xmlns:a16="http://schemas.microsoft.com/office/drawing/2014/main" id="{BF260B94-E2B5-CD17-7499-6A35019E1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143" y="1831111"/>
            <a:ext cx="7156442" cy="4228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0698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Critical Reflection on Project Performance</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92</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225871" y="1831112"/>
            <a:ext cx="9098937" cy="3451201"/>
          </a:xfrm>
          <a:prstGeom prst="rect">
            <a:avLst/>
          </a:prstGeom>
          <a:noFill/>
        </p:spPr>
        <p:txBody>
          <a:bodyPr wrap="square">
            <a:spAutoFit/>
          </a:bodyPr>
          <a:lstStyle/>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Benefits of Critical Reflection:</a:t>
            </a:r>
          </a:p>
          <a:p>
            <a:pPr marL="200025" lvl="1">
              <a:lnSpc>
                <a:spcPct val="90000"/>
              </a:lnSpc>
              <a:buClr>
                <a:schemeClr val="accent1"/>
              </a:buClr>
            </a:pPr>
            <a:endParaRPr lang="en-AU" sz="2400" b="1" dirty="0">
              <a:solidFill>
                <a:schemeClr val="accent2">
                  <a:lumMod val="75000"/>
                </a:schemeClr>
              </a:solidFill>
            </a:endParaRP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Improved Decision-Making: </a:t>
            </a:r>
            <a:r>
              <a:rPr lang="en-AU" sz="2000" dirty="0">
                <a:solidFill>
                  <a:schemeClr val="tx1">
                    <a:lumMod val="75000"/>
                    <a:lumOff val="25000"/>
                  </a:schemeClr>
                </a:solidFill>
                <a:highlight>
                  <a:srgbClr val="FFFFFF"/>
                </a:highlight>
                <a:latin typeface="+mn-lt"/>
                <a:cs typeface="+mn-cs"/>
              </a:rPr>
              <a:t>Helps in making informed decisions based on past experiences and lessons learned.</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Enhanced Team Collaboration: </a:t>
            </a:r>
            <a:r>
              <a:rPr lang="en-AU" sz="2000" dirty="0">
                <a:solidFill>
                  <a:schemeClr val="tx1">
                    <a:lumMod val="75000"/>
                    <a:lumOff val="25000"/>
                  </a:schemeClr>
                </a:solidFill>
                <a:highlight>
                  <a:srgbClr val="FFFFFF"/>
                </a:highlight>
                <a:latin typeface="+mn-lt"/>
                <a:cs typeface="+mn-cs"/>
              </a:rPr>
              <a:t>Fosters an environment of continuous learning and open communication among team members.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Identification of Best Practices: </a:t>
            </a:r>
            <a:r>
              <a:rPr lang="en-AU" sz="2000" dirty="0">
                <a:solidFill>
                  <a:schemeClr val="tx1">
                    <a:lumMod val="75000"/>
                    <a:lumOff val="25000"/>
                  </a:schemeClr>
                </a:solidFill>
                <a:highlight>
                  <a:srgbClr val="FFFFFF"/>
                </a:highlight>
                <a:latin typeface="+mn-lt"/>
                <a:cs typeface="+mn-cs"/>
              </a:rPr>
              <a:t>Allows the organisation to document and replicate successful strategies in future projects.</a:t>
            </a:r>
          </a:p>
          <a:p>
            <a:pPr marL="839788" lvl="2" indent="-182563">
              <a:lnSpc>
                <a:spcPct val="90000"/>
              </a:lnSpc>
              <a:spcBef>
                <a:spcPts val="200"/>
              </a:spcBef>
              <a:spcAft>
                <a:spcPts val="400"/>
              </a:spcAft>
              <a:buClr>
                <a:schemeClr val="accent1"/>
              </a:buClr>
              <a:buFont typeface="Arial" panose="020B0604020202020204" pitchFamily="34" charset="0"/>
              <a:buChar char="•"/>
            </a:pPr>
            <a:r>
              <a:rPr lang="en-AU" sz="2400" b="1" dirty="0">
                <a:solidFill>
                  <a:schemeClr val="tx1">
                    <a:lumMod val="75000"/>
                    <a:lumOff val="25000"/>
                  </a:schemeClr>
                </a:solidFill>
                <a:highlight>
                  <a:srgbClr val="FFFFFF"/>
                </a:highlight>
                <a:latin typeface="+mn-lt"/>
                <a:cs typeface="+mn-cs"/>
              </a:rPr>
              <a:t>Risk Management: </a:t>
            </a:r>
            <a:r>
              <a:rPr lang="en-AU" sz="2000" dirty="0">
                <a:solidFill>
                  <a:schemeClr val="tx1">
                    <a:lumMod val="75000"/>
                    <a:lumOff val="25000"/>
                  </a:schemeClr>
                </a:solidFill>
                <a:highlight>
                  <a:srgbClr val="FFFFFF"/>
                </a:highlight>
                <a:latin typeface="+mn-lt"/>
                <a:cs typeface="+mn-cs"/>
              </a:rPr>
              <a:t>Aids in identifying potential risks early and developing mitigation strategies.</a:t>
            </a:r>
          </a:p>
        </p:txBody>
      </p:sp>
    </p:spTree>
    <p:extLst>
      <p:ext uri="{BB962C8B-B14F-4D97-AF65-F5344CB8AC3E}">
        <p14:creationId xmlns:p14="http://schemas.microsoft.com/office/powerpoint/2010/main" val="3008923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altLang="en-US" sz="3600" b="1" dirty="0">
                <a:solidFill>
                  <a:srgbClr val="00B0F0"/>
                </a:solidFill>
                <a:latin typeface="+mn-lt"/>
              </a:rPr>
              <a:t>Week </a:t>
            </a:r>
            <a:r>
              <a:rPr lang="en-US" altLang="en-US" sz="3600" b="1" dirty="0">
                <a:solidFill>
                  <a:srgbClr val="00B0F0"/>
                </a:solidFill>
                <a:latin typeface="+mn-lt"/>
              </a:rPr>
              <a:t>10: </a:t>
            </a:r>
            <a:br>
              <a:rPr lang="en-US" altLang="en-US" sz="3600" b="1" dirty="0">
                <a:solidFill>
                  <a:srgbClr val="00B0F0"/>
                </a:solidFill>
                <a:latin typeface="+mn-lt"/>
              </a:rPr>
            </a:br>
            <a:r>
              <a:rPr lang="en-AU" sz="3600" b="1" dirty="0">
                <a:solidFill>
                  <a:srgbClr val="00B0F0"/>
                </a:solidFill>
                <a:latin typeface="+mn-lt"/>
              </a:rPr>
              <a:t>Ethical and Management Issues in IT Projects</a:t>
            </a:r>
            <a:endParaRPr lang="en-AU" altLang="en-US" sz="3600" b="1" dirty="0">
              <a:solidFill>
                <a:srgbClr val="00B0F0"/>
              </a:solidFill>
              <a:latin typeface="+mn-l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93</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60630" y="1486523"/>
            <a:ext cx="8856369" cy="4745915"/>
          </a:xfrm>
          <a:prstGeom prst="rect">
            <a:avLst/>
          </a:prstGeom>
          <a:noFill/>
        </p:spPr>
        <p:txBody>
          <a:bodyPr wrap="square">
            <a:spAutoFit/>
          </a:bodyPr>
          <a:lstStyle/>
          <a:p>
            <a:pPr marL="200025" lvl="1">
              <a:lnSpc>
                <a:spcPct val="90000"/>
              </a:lnSpc>
              <a:buClr>
                <a:schemeClr val="accent1"/>
              </a:buClr>
            </a:pPr>
            <a:endParaRPr lang="en-AU" sz="2400" b="1" dirty="0">
              <a:solidFill>
                <a:schemeClr val="accent2">
                  <a:lumMod val="75000"/>
                </a:schemeClr>
              </a:solidFill>
            </a:endParaRPr>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Key Components of Ethical Decision-Making</a:t>
            </a:r>
          </a:p>
          <a:p>
            <a:pPr marL="485775" lvl="1" indent="-285750">
              <a:lnSpc>
                <a:spcPct val="90000"/>
              </a:lnSpc>
              <a:buClr>
                <a:schemeClr val="accent1"/>
              </a:buClr>
              <a:buFont typeface="Arial" panose="020B0604020202020204" pitchFamily="34" charset="0"/>
              <a:buChar char="•"/>
            </a:pPr>
            <a:endParaRPr lang="en-AU" sz="2400" b="1" dirty="0">
              <a:solidFill>
                <a:schemeClr val="accent2">
                  <a:lumMod val="75000"/>
                </a:schemeClr>
              </a:solidFill>
            </a:endParaRPr>
          </a:p>
          <a:p>
            <a:pPr marL="942975" lvl="2" indent="-285750">
              <a:lnSpc>
                <a:spcPct val="90000"/>
              </a:lnSpc>
              <a:buClr>
                <a:schemeClr val="accent1"/>
              </a:buClr>
              <a:buFont typeface="Arial" panose="020B0604020202020204" pitchFamily="34" charset="0"/>
              <a:buChar char="•"/>
            </a:pPr>
            <a:r>
              <a:rPr lang="en-AU" sz="2200" b="1" dirty="0">
                <a:solidFill>
                  <a:schemeClr val="tx1">
                    <a:lumMod val="75000"/>
                    <a:lumOff val="25000"/>
                  </a:schemeClr>
                </a:solidFill>
                <a:highlight>
                  <a:srgbClr val="FFFFFF"/>
                </a:highlight>
                <a:latin typeface="+mn-lt"/>
                <a:cs typeface="+mn-cs"/>
              </a:rPr>
              <a:t>Identifying Ethical Issues: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Recognising situations where moral values or principles may be at stake.</a:t>
            </a:r>
          </a:p>
          <a:p>
            <a:pPr marL="1114425" lvl="3">
              <a:lnSpc>
                <a:spcPct val="90000"/>
              </a:lnSpc>
              <a:buClr>
                <a:schemeClr val="accent1"/>
              </a:buClr>
            </a:pPr>
            <a:endParaRPr lang="en-AU"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200" b="1" dirty="0">
                <a:solidFill>
                  <a:schemeClr val="tx1">
                    <a:lumMod val="75000"/>
                    <a:lumOff val="25000"/>
                  </a:schemeClr>
                </a:solidFill>
                <a:highlight>
                  <a:srgbClr val="FFFFFF"/>
                </a:highlight>
                <a:latin typeface="+mn-lt"/>
                <a:cs typeface="+mn-cs"/>
              </a:rPr>
              <a:t>Considering Stakeholder Interests: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Evaluating how decisions impact various stakeholders, including employees, customers, and the broader community.</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Example: Assessing the environmental impact of project activities and stakeholders' concerns.</a:t>
            </a:r>
          </a:p>
          <a:p>
            <a:pPr marL="1114425" lvl="3">
              <a:lnSpc>
                <a:spcPct val="90000"/>
              </a:lnSpc>
              <a:buClr>
                <a:schemeClr val="accent1"/>
              </a:buClr>
            </a:pPr>
            <a:endParaRPr lang="en-AU" dirty="0">
              <a:solidFill>
                <a:schemeClr val="tx1">
                  <a:lumMod val="75000"/>
                  <a:lumOff val="25000"/>
                </a:schemeClr>
              </a:solidFill>
              <a:highlight>
                <a:srgbClr val="FFFFFF"/>
              </a:highlight>
              <a:latin typeface="+mn-lt"/>
              <a:cs typeface="+mn-cs"/>
            </a:endParaRPr>
          </a:p>
          <a:p>
            <a:pPr marL="942975" lvl="2" indent="-285750">
              <a:lnSpc>
                <a:spcPct val="90000"/>
              </a:lnSpc>
              <a:buClr>
                <a:schemeClr val="accent1"/>
              </a:buClr>
              <a:buFont typeface="Arial" panose="020B0604020202020204" pitchFamily="34" charset="0"/>
              <a:buChar char="•"/>
            </a:pPr>
            <a:r>
              <a:rPr lang="en-AU" sz="2200" b="1" dirty="0">
                <a:solidFill>
                  <a:schemeClr val="tx1">
                    <a:lumMod val="75000"/>
                    <a:lumOff val="25000"/>
                  </a:schemeClr>
                </a:solidFill>
                <a:highlight>
                  <a:srgbClr val="FFFFFF"/>
                </a:highlight>
                <a:latin typeface="+mn-lt"/>
                <a:cs typeface="+mn-cs"/>
              </a:rPr>
              <a:t>Applying Ethical Theories and Frameworks:</a:t>
            </a:r>
            <a:endParaRPr lang="en-AU" sz="2200" dirty="0">
              <a:solidFill>
                <a:schemeClr val="tx1">
                  <a:lumMod val="75000"/>
                  <a:lumOff val="25000"/>
                </a:schemeClr>
              </a:solidFill>
              <a:highlight>
                <a:srgbClr val="FFFFFF"/>
              </a:highlight>
              <a:latin typeface="+mn-lt"/>
              <a:cs typeface="+mn-cs"/>
            </a:endParaRP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Utilitarianism: Maximising overall benefit while minimising harm.</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Deontology: Adhering to moral rules and principles regardless of outcomes.</a:t>
            </a:r>
          </a:p>
          <a:p>
            <a:pPr marL="1400175" lvl="3" indent="-285750">
              <a:lnSpc>
                <a:spcPct val="90000"/>
              </a:lnSpc>
              <a:buClr>
                <a:schemeClr val="accent1"/>
              </a:buClr>
              <a:buFont typeface="Arial" panose="020B0604020202020204" pitchFamily="34" charset="0"/>
              <a:buChar char="•"/>
            </a:pPr>
            <a:r>
              <a:rPr lang="en-AU" dirty="0">
                <a:solidFill>
                  <a:schemeClr val="tx1">
                    <a:lumMod val="75000"/>
                    <a:lumOff val="25000"/>
                  </a:schemeClr>
                </a:solidFill>
                <a:highlight>
                  <a:srgbClr val="FFFFFF"/>
                </a:highlight>
                <a:latin typeface="+mn-lt"/>
                <a:cs typeface="+mn-cs"/>
              </a:rPr>
              <a:t>Virtue Ethics: Emphasising character traits and ethical virtues in decision-making.</a:t>
            </a:r>
          </a:p>
        </p:txBody>
      </p:sp>
    </p:spTree>
    <p:extLst>
      <p:ext uri="{BB962C8B-B14F-4D97-AF65-F5344CB8AC3E}">
        <p14:creationId xmlns:p14="http://schemas.microsoft.com/office/powerpoint/2010/main" val="2706319390"/>
      </p:ext>
    </p:extLst>
  </p:cSld>
  <p:clrMapOvr>
    <a:overrideClrMapping bg1="lt1" tx1="dk1" bg2="lt2" tx2="dk2" accent1="accent1" accent2="accent2" accent3="accent3" accent4="accent4" accent5="accent5" accent6="accent6" hlink="hlink" folHlink="folHlink"/>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IT Governance and Compliance</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94</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2" name="Picture 2" descr="IT Management Prioritizing IT Assets - Dragon1">
            <a:extLst>
              <a:ext uri="{FF2B5EF4-FFF2-40B4-BE49-F238E27FC236}">
                <a16:creationId xmlns:a16="http://schemas.microsoft.com/office/drawing/2014/main" id="{636857D6-B6FF-F491-C646-959BFE036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80" y="1804168"/>
            <a:ext cx="7302843" cy="4417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80804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rgbClr val="00B0F0"/>
                </a:solidFill>
                <a:latin typeface="+mn-lt"/>
              </a:rPr>
              <a:t>Week 11: </a:t>
            </a:r>
            <a:br>
              <a:rPr lang="en-AU" sz="3600" b="1" dirty="0">
                <a:solidFill>
                  <a:srgbClr val="00B0F0"/>
                </a:solidFill>
                <a:latin typeface="+mn-lt"/>
              </a:rPr>
            </a:br>
            <a:r>
              <a:rPr lang="en-AU" sz="3600" b="1" dirty="0">
                <a:solidFill>
                  <a:srgbClr val="00B0F0"/>
                </a:solidFill>
                <a:latin typeface="+mn-lt"/>
              </a:rPr>
              <a:t>Project Management Principles and Practices</a:t>
            </a:r>
            <a:endParaRPr lang="en-AU" altLang="en-US" sz="3600" b="1" dirty="0">
              <a:solidFill>
                <a:srgbClr val="00B0F0"/>
              </a:solidFill>
              <a:latin typeface="+mn-lt"/>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95</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40995" y="1509465"/>
            <a:ext cx="8367993" cy="3358868"/>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0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b="1" dirty="0">
                <a:solidFill>
                  <a:schemeClr val="tx1">
                    <a:lumMod val="75000"/>
                    <a:lumOff val="25000"/>
                  </a:schemeClr>
                </a:solidFill>
                <a:highlight>
                  <a:srgbClr val="FFFFFF"/>
                </a:highlight>
                <a:latin typeface="+mn-lt"/>
                <a:cs typeface="+mn-cs"/>
              </a:rPr>
              <a:t>Overview of Agile Methodology</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Agile methodologies originated as a response to traditional, plan-driven approaches (like Waterfall), focusing on iterative development, flexibility, and customer collaboration.</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Agile is characterised by its iterative cycles (sprints), continuous feedback loops, and the ability to adapt to changing requirements throughout the project lifecycle.</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dirty="0">
                <a:solidFill>
                  <a:schemeClr val="tx1">
                    <a:lumMod val="75000"/>
                    <a:lumOff val="25000"/>
                  </a:schemeClr>
                </a:solidFill>
                <a:highlight>
                  <a:srgbClr val="FFFFFF"/>
                </a:highlight>
                <a:latin typeface="+mn-lt"/>
                <a:cs typeface="+mn-cs"/>
              </a:rPr>
              <a:t>Agile frameworks, such as Scrum and Kanban, emphasise teamwork, self-organisation, and delivering incremental value to stakeholders.</a:t>
            </a:r>
            <a:endParaRPr lang="en-AU" sz="1600"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20911974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chemeClr val="accent2">
                    <a:lumMod val="75000"/>
                  </a:schemeClr>
                </a:solidFill>
              </a:rPr>
              <a:t>Project management methodologies: Agile</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96</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60A349E7-4DC9-4385-E7CA-732971BAE76E}"/>
              </a:ext>
            </a:extLst>
          </p:cNvPr>
          <p:cNvPicPr>
            <a:picLocks noChangeAspect="1"/>
          </p:cNvPicPr>
          <p:nvPr/>
        </p:nvPicPr>
        <p:blipFill>
          <a:blip r:embed="rId3"/>
          <a:stretch>
            <a:fillRect/>
          </a:stretch>
        </p:blipFill>
        <p:spPr>
          <a:xfrm>
            <a:off x="1975150" y="2115323"/>
            <a:ext cx="4885230" cy="3944596"/>
          </a:xfrm>
          <a:prstGeom prst="rect">
            <a:avLst/>
          </a:prstGeom>
        </p:spPr>
      </p:pic>
    </p:spTree>
    <p:extLst>
      <p:ext uri="{BB962C8B-B14F-4D97-AF65-F5344CB8AC3E}">
        <p14:creationId xmlns:p14="http://schemas.microsoft.com/office/powerpoint/2010/main" val="21774114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chemeClr val="accent2">
                    <a:lumMod val="75000"/>
                  </a:schemeClr>
                </a:solidFill>
              </a:rPr>
              <a:t>Project management methodologies:</a:t>
            </a:r>
            <a:r>
              <a:rPr lang="en-AU" sz="4000" b="1" dirty="0">
                <a:solidFill>
                  <a:srgbClr val="00B0F0"/>
                </a:solidFill>
              </a:rPr>
              <a:t> </a:t>
            </a:r>
            <a:r>
              <a:rPr lang="en-AU" sz="4000" b="1" dirty="0">
                <a:solidFill>
                  <a:schemeClr val="accent2">
                    <a:lumMod val="75000"/>
                  </a:schemeClr>
                </a:solidFill>
              </a:rPr>
              <a:t>Waterfall </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97</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669909DD-F270-7DB9-9934-ADDCEE7F7744}"/>
              </a:ext>
            </a:extLst>
          </p:cNvPr>
          <p:cNvSpPr txBox="1"/>
          <p:nvPr/>
        </p:nvSpPr>
        <p:spPr>
          <a:xfrm>
            <a:off x="201633" y="1850256"/>
            <a:ext cx="8367993" cy="2501198"/>
          </a:xfrm>
          <a:prstGeom prst="rect">
            <a:avLst/>
          </a:prstGeom>
          <a:noFill/>
        </p:spPr>
        <p:txBody>
          <a:bodyPr wrap="square">
            <a:spAutoFit/>
          </a:bodyPr>
          <a:lstStyle/>
          <a:p>
            <a:pPr lvl="1">
              <a:lnSpc>
                <a:spcPct val="90000"/>
              </a:lnSpc>
              <a:spcBef>
                <a:spcPts val="1200"/>
              </a:spcBef>
              <a:spcAft>
                <a:spcPts val="200"/>
              </a:spcAft>
              <a:buClr>
                <a:schemeClr val="accent1"/>
              </a:buClr>
              <a:buSzPts val="1000"/>
              <a:tabLst>
                <a:tab pos="457200" algn="l"/>
              </a:tabLst>
            </a:pPr>
            <a:endParaRPr lang="en-AU" sz="2400" dirty="0">
              <a:solidFill>
                <a:schemeClr val="tx1">
                  <a:lumMod val="75000"/>
                  <a:lumOff val="25000"/>
                </a:schemeClr>
              </a:solidFill>
              <a:highlight>
                <a:srgbClr val="FFFFFF"/>
              </a:highlight>
              <a:latin typeface="+mn-lt"/>
              <a:cs typeface="+mn-cs"/>
            </a:endParaRPr>
          </a:p>
          <a:p>
            <a:pPr marL="800100" lvl="1"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400" b="1" dirty="0">
                <a:solidFill>
                  <a:schemeClr val="tx1">
                    <a:lumMod val="75000"/>
                    <a:lumOff val="25000"/>
                  </a:schemeClr>
                </a:solidFill>
                <a:highlight>
                  <a:srgbClr val="FFFFFF"/>
                </a:highlight>
                <a:latin typeface="+mn-lt"/>
                <a:cs typeface="+mn-cs"/>
              </a:rPr>
              <a:t>Overview of Waterfall Methodology</a:t>
            </a:r>
          </a:p>
          <a:p>
            <a:pPr marL="1257300" lvl="2" indent="-342900">
              <a:lnSpc>
                <a:spcPct val="90000"/>
              </a:lnSpc>
              <a:spcBef>
                <a:spcPts val="1200"/>
              </a:spcBef>
              <a:spcAft>
                <a:spcPts val="200"/>
              </a:spcAft>
              <a:buClr>
                <a:schemeClr val="accent1"/>
              </a:buClr>
              <a:buSzPts val="1000"/>
              <a:buFont typeface="Symbol" panose="05050102010706020507" pitchFamily="18" charset="2"/>
              <a:buChar char=""/>
              <a:tabLst>
                <a:tab pos="457200" algn="l"/>
              </a:tabLst>
            </a:pPr>
            <a:r>
              <a:rPr lang="en-AU" sz="2000" dirty="0">
                <a:solidFill>
                  <a:schemeClr val="tx1">
                    <a:lumMod val="75000"/>
                    <a:lumOff val="25000"/>
                  </a:schemeClr>
                </a:solidFill>
                <a:highlight>
                  <a:srgbClr val="FFFFFF"/>
                </a:highlight>
                <a:latin typeface="+mn-lt"/>
                <a:cs typeface="+mn-cs"/>
              </a:rPr>
              <a:t>Waterfall methodology is a sequential project management approach that follows a linear and structured process flow. It is characterised by its distinct phases, where progress flows downwards (like a waterfall) through each phase before proceeding to the next.</a:t>
            </a:r>
          </a:p>
        </p:txBody>
      </p:sp>
    </p:spTree>
    <p:extLst>
      <p:ext uri="{BB962C8B-B14F-4D97-AF65-F5344CB8AC3E}">
        <p14:creationId xmlns:p14="http://schemas.microsoft.com/office/powerpoint/2010/main" val="183319734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4000" b="1" dirty="0">
                <a:solidFill>
                  <a:schemeClr val="accent2">
                    <a:lumMod val="75000"/>
                  </a:schemeClr>
                </a:solidFill>
              </a:rPr>
              <a:t>Project management methodologies:</a:t>
            </a:r>
            <a:br>
              <a:rPr lang="en-AU" sz="4000" b="1" dirty="0">
                <a:solidFill>
                  <a:srgbClr val="00B0F0"/>
                </a:solidFill>
              </a:rPr>
            </a:br>
            <a:r>
              <a:rPr lang="en-AU" sz="4000" b="1" dirty="0">
                <a:solidFill>
                  <a:schemeClr val="accent2">
                    <a:lumMod val="75000"/>
                  </a:schemeClr>
                </a:solidFill>
              </a:rPr>
              <a:t>Waterfall (cont.)</a:t>
            </a:r>
            <a:endParaRPr lang="en-AU" altLang="en-US" sz="40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98</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4" descr="Waterfall Methodology – Ultimate Guide">
            <a:extLst>
              <a:ext uri="{FF2B5EF4-FFF2-40B4-BE49-F238E27FC236}">
                <a16:creationId xmlns:a16="http://schemas.microsoft.com/office/drawing/2014/main" id="{127B6D4D-C80E-9F0D-80FD-280A72FE2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540" y="1753199"/>
            <a:ext cx="6251447" cy="4511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83380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AU" sz="3600" b="1" dirty="0">
                <a:solidFill>
                  <a:schemeClr val="accent2">
                    <a:lumMod val="75000"/>
                  </a:schemeClr>
                </a:solidFill>
              </a:rPr>
              <a:t>Tools and Software for Project Management</a:t>
            </a:r>
            <a:endParaRPr lang="en-AU" altLang="en-US" sz="3600" b="1" dirty="0">
              <a:solidFill>
                <a:schemeClr val="accent2">
                  <a:lumMod val="75000"/>
                </a:schemeClr>
              </a:solidFill>
            </a:endParaRPr>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99</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84AD1AD-26D9-2944-D7E9-92E44A9DB350}"/>
              </a:ext>
            </a:extLst>
          </p:cNvPr>
          <p:cNvSpPr txBox="1"/>
          <p:nvPr/>
        </p:nvSpPr>
        <p:spPr>
          <a:xfrm>
            <a:off x="143815" y="1661681"/>
            <a:ext cx="8856370" cy="4635115"/>
          </a:xfrm>
          <a:prstGeom prst="rect">
            <a:avLst/>
          </a:prstGeom>
          <a:noFill/>
        </p:spPr>
        <p:txBody>
          <a:bodyPr wrap="square">
            <a:spAutoFit/>
          </a:bodyPr>
          <a:lstStyle/>
          <a:p>
            <a:endParaRPr lang="en-AU" dirty="0"/>
          </a:p>
          <a:p>
            <a:pPr marL="485775" lvl="1" indent="-285750">
              <a:lnSpc>
                <a:spcPct val="90000"/>
              </a:lnSpc>
              <a:buClr>
                <a:schemeClr val="accent1"/>
              </a:buClr>
              <a:buFont typeface="Arial" panose="020B0604020202020204" pitchFamily="34" charset="0"/>
              <a:buChar char="•"/>
            </a:pPr>
            <a:r>
              <a:rPr lang="en-AU" sz="2400" b="1" dirty="0">
                <a:solidFill>
                  <a:schemeClr val="accent2">
                    <a:lumMod val="75000"/>
                  </a:schemeClr>
                </a:solidFill>
              </a:rPr>
              <a:t>Types of Project Management Tools</a:t>
            </a:r>
          </a:p>
          <a:p>
            <a:pPr marL="200025" lvl="1">
              <a:lnSpc>
                <a:spcPct val="90000"/>
              </a:lnSpc>
              <a:buClr>
                <a:schemeClr val="accent1"/>
              </a:buClr>
            </a:pPr>
            <a:endParaRPr lang="en-AU" sz="2400" b="1" dirty="0">
              <a:solidFill>
                <a:schemeClr val="accent2">
                  <a:lumMod val="75000"/>
                </a:schemeClr>
              </a:solidFill>
            </a:endParaRP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Task Management Tools: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Features: Create, assign, and track tasks; set deadlines and priorities; collaborate on task status.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Examples: Asana, Trello, Jira.</a:t>
            </a: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Collaboration Tools: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Features: Facilitate team communication, file sharing, real-time editing, and document management.</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Examples: Microsoft Teams, Slack, Google Workspace.</a:t>
            </a:r>
          </a:p>
          <a:p>
            <a:pPr marL="942975" lvl="2" indent="-285750">
              <a:lnSpc>
                <a:spcPct val="90000"/>
              </a:lnSpc>
              <a:buClr>
                <a:schemeClr val="accent1"/>
              </a:buClr>
              <a:buFont typeface="Arial" panose="020B0604020202020204" pitchFamily="34" charset="0"/>
              <a:buChar char="•"/>
            </a:pPr>
            <a:r>
              <a:rPr lang="en-AU" sz="2000" b="1" dirty="0">
                <a:solidFill>
                  <a:schemeClr val="tx1">
                    <a:lumMod val="75000"/>
                    <a:lumOff val="25000"/>
                  </a:schemeClr>
                </a:solidFill>
                <a:highlight>
                  <a:srgbClr val="FFFFFF"/>
                </a:highlight>
                <a:latin typeface="+mn-lt"/>
                <a:cs typeface="+mn-cs"/>
              </a:rPr>
              <a:t>Scheduling Tools: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Features: Create project timelines, manage dependencies, allocate resources, and monitor progress.</a:t>
            </a:r>
          </a:p>
          <a:p>
            <a:pPr marL="1400175" lvl="3" indent="-285750">
              <a:lnSpc>
                <a:spcPct val="90000"/>
              </a:lnSpc>
              <a:buClr>
                <a:schemeClr val="accent1"/>
              </a:buClr>
              <a:buFont typeface="Arial" panose="020B0604020202020204" pitchFamily="34" charset="0"/>
              <a:buChar char="•"/>
            </a:pPr>
            <a:r>
              <a:rPr lang="en-AU" sz="2000" dirty="0">
                <a:solidFill>
                  <a:schemeClr val="tx1">
                    <a:lumMod val="75000"/>
                    <a:lumOff val="25000"/>
                  </a:schemeClr>
                </a:solidFill>
                <a:highlight>
                  <a:srgbClr val="FFFFFF"/>
                </a:highlight>
                <a:latin typeface="+mn-lt"/>
                <a:cs typeface="+mn-cs"/>
              </a:rPr>
              <a:t>Examples: Microsoft Project, Smartsheet, Monday.com.</a:t>
            </a:r>
          </a:p>
          <a:p>
            <a:pPr marL="942975" lvl="2" indent="-285750">
              <a:lnSpc>
                <a:spcPct val="90000"/>
              </a:lnSpc>
              <a:buClr>
                <a:schemeClr val="accent1"/>
              </a:buClr>
              <a:buFont typeface="Arial" panose="020B0604020202020204" pitchFamily="34" charset="0"/>
              <a:buChar char="•"/>
            </a:pPr>
            <a:endParaRPr lang="en-AU" sz="2000" dirty="0">
              <a:solidFill>
                <a:schemeClr val="tx1">
                  <a:lumMod val="75000"/>
                  <a:lumOff val="25000"/>
                </a:schemeClr>
              </a:solidFill>
              <a:highlight>
                <a:srgbClr val="FFFFFF"/>
              </a:highlight>
              <a:latin typeface="+mn-lt"/>
              <a:cs typeface="+mn-cs"/>
            </a:endParaRPr>
          </a:p>
        </p:txBody>
      </p:sp>
    </p:spTree>
    <p:extLst>
      <p:ext uri="{BB962C8B-B14F-4D97-AF65-F5344CB8AC3E}">
        <p14:creationId xmlns:p14="http://schemas.microsoft.com/office/powerpoint/2010/main" val="12667376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3420AC8-E61C-458D-9532-7C3A2E114EAB}"/>
              </a:ext>
            </a:extLst>
          </p:cNvPr>
          <p:cNvSpPr>
            <a:spLocks noGrp="1"/>
          </p:cNvSpPr>
          <p:nvPr>
            <p:ph type="title"/>
          </p:nvPr>
        </p:nvSpPr>
        <p:spPr>
          <a:xfrm>
            <a:off x="63501" y="798081"/>
            <a:ext cx="9016998" cy="863600"/>
          </a:xfrm>
        </p:spPr>
        <p:txBody>
          <a:bodyPr>
            <a:noAutofit/>
          </a:bodyPr>
          <a:lstStyle/>
          <a:p>
            <a:pPr algn="ctr" eaLnBrk="1" fontAlgn="auto" hangingPunct="1">
              <a:spcAft>
                <a:spcPts val="0"/>
              </a:spcAft>
              <a:defRPr/>
            </a:pPr>
            <a:r>
              <a:rPr lang="en-US" altLang="zh-CN" sz="3600" b="1" dirty="0">
                <a:solidFill>
                  <a:srgbClr val="00B0F0"/>
                </a:solidFill>
              </a:rPr>
              <a:t>Q&amp;A</a:t>
            </a:r>
            <a:endParaRPr lang="en-AU" altLang="en-US" sz="3600" b="1" dirty="0">
              <a:solidFill>
                <a:srgbClr val="00B0F0"/>
              </a:solidFill>
            </a:endParaRPr>
          </a:p>
        </p:txBody>
      </p:sp>
      <p:sp>
        <p:nvSpPr>
          <p:cNvPr id="23555" name="Content Placeholder 2">
            <a:extLst>
              <a:ext uri="{FF2B5EF4-FFF2-40B4-BE49-F238E27FC236}">
                <a16:creationId xmlns:a16="http://schemas.microsoft.com/office/drawing/2014/main" id="{2D765F26-F4C3-4C79-A70A-3579B29A9517}"/>
              </a:ext>
            </a:extLst>
          </p:cNvPr>
          <p:cNvSpPr>
            <a:spLocks noGrp="1" noChangeArrowheads="1"/>
          </p:cNvSpPr>
          <p:nvPr>
            <p:ph idx="1"/>
          </p:nvPr>
        </p:nvSpPr>
        <p:spPr>
          <a:xfrm>
            <a:off x="250166" y="3127488"/>
            <a:ext cx="8643668" cy="2191204"/>
          </a:xfrm>
        </p:spPr>
        <p:txBody>
          <a:bodyPr/>
          <a:lstStyle/>
          <a:p>
            <a:pPr marL="0" indent="0" algn="ctr" eaLnBrk="1" hangingPunct="1">
              <a:buClr>
                <a:schemeClr val="hlink"/>
              </a:buClr>
              <a:buNone/>
            </a:pPr>
            <a:r>
              <a:rPr lang="en-US" altLang="zh-CN" sz="4000" dirty="0"/>
              <a:t>Question?</a:t>
            </a:r>
            <a:endParaRPr lang="en-US" altLang="en-US" sz="4000" dirty="0"/>
          </a:p>
          <a:p>
            <a:pPr marL="0" indent="0" algn="ctr" eaLnBrk="1" hangingPunct="1">
              <a:buClr>
                <a:schemeClr val="hlink"/>
              </a:buClr>
              <a:buNone/>
            </a:pPr>
            <a:endParaRPr lang="en-US" altLang="en-US" sz="4000" dirty="0"/>
          </a:p>
        </p:txBody>
      </p:sp>
      <p:sp>
        <p:nvSpPr>
          <p:cNvPr id="2" name="Footer Placeholder 1">
            <a:extLst>
              <a:ext uri="{FF2B5EF4-FFF2-40B4-BE49-F238E27FC236}">
                <a16:creationId xmlns:a16="http://schemas.microsoft.com/office/drawing/2014/main" id="{46717AA1-E9E7-4C43-9D90-AC614EC90791}"/>
              </a:ext>
            </a:extLst>
          </p:cNvPr>
          <p:cNvSpPr>
            <a:spLocks noGrp="1"/>
          </p:cNvSpPr>
          <p:nvPr>
            <p:ph type="ftr" sz="quarter" idx="11"/>
          </p:nvPr>
        </p:nvSpPr>
        <p:spPr/>
        <p:txBody>
          <a:bodyPr/>
          <a:lstStyle/>
          <a:p>
            <a:pPr algn="ctr">
              <a:lnSpc>
                <a:spcPct val="100000"/>
              </a:lnSpc>
              <a:spcBef>
                <a:spcPct val="0"/>
              </a:spcBef>
              <a:spcAft>
                <a:spcPct val="0"/>
              </a:spcAft>
              <a:buClrTx/>
              <a:buSzTx/>
              <a:buFontTx/>
              <a:buNone/>
            </a:pPr>
            <a:r>
              <a:rPr lang="en-US" altLang="en-US" sz="900" b="1" dirty="0">
                <a:solidFill>
                  <a:schemeClr val="bg1"/>
                </a:solidFill>
                <a:latin typeface="+mn-lt"/>
              </a:rPr>
              <a:t>ICT502  </a:t>
            </a:r>
            <a:r>
              <a:rPr lang="en-AU" sz="900" b="1" dirty="0">
                <a:solidFill>
                  <a:schemeClr val="bg1"/>
                </a:solidFill>
                <a:latin typeface="+mn-lt"/>
              </a:rPr>
              <a:t>Applied IT Project A</a:t>
            </a:r>
            <a:endParaRPr lang="en-US" altLang="en-US" sz="900" b="1" dirty="0">
              <a:solidFill>
                <a:schemeClr val="bg1"/>
              </a:solidFill>
              <a:latin typeface="+mn-lt"/>
            </a:endParaRPr>
          </a:p>
        </p:txBody>
      </p:sp>
      <p:sp>
        <p:nvSpPr>
          <p:cNvPr id="23557" name="Slide Number Placeholder 3">
            <a:extLst>
              <a:ext uri="{FF2B5EF4-FFF2-40B4-BE49-F238E27FC236}">
                <a16:creationId xmlns:a16="http://schemas.microsoft.com/office/drawing/2014/main" id="{AC8DD261-DCDD-4B56-BCC7-4128308947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AE33E21-E097-4280-BDD5-001E172A859C}" type="slidenum">
              <a:rPr lang="en-US" altLang="en-US" sz="900" smtClean="0">
                <a:solidFill>
                  <a:srgbClr val="FFFFFF"/>
                </a:solidFill>
              </a:rPr>
              <a:pPr/>
              <a:t>100</a:t>
            </a:fld>
            <a:endParaRPr lang="en-US" altLang="en-US" sz="900">
              <a:solidFill>
                <a:srgbClr val="FFFFFF"/>
              </a:solidFill>
            </a:endParaRPr>
          </a:p>
        </p:txBody>
      </p:sp>
      <p:pic>
        <p:nvPicPr>
          <p:cNvPr id="23558" name="Picture 5">
            <a:extLst>
              <a:ext uri="{FF2B5EF4-FFF2-40B4-BE49-F238E27FC236}">
                <a16:creationId xmlns:a16="http://schemas.microsoft.com/office/drawing/2014/main" id="{76F9D15E-A22A-4790-B503-B1CDBAF89A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063" y="0"/>
            <a:ext cx="31829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65675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7.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260&quot;/&gt;&lt;/object&gt;&lt;object type=&quot;3&quot; unique_id=&quot;10005&quot;&gt;&lt;property id=&quot;20148&quot; value=&quot;5&quot;/&gt;&lt;property id=&quot;20300&quot; value=&quot;Slide 3 - &amp;quot;What is management?&amp;quot;&quot;/&gt;&lt;property id=&quot;20307&quot; value=&quot;297&quot;/&gt;&lt;/object&gt;&lt;object type=&quot;3&quot; unique_id=&quot;10006&quot;&gt;&lt;property id=&quot;20148&quot; value=&quot;5&quot;/&gt;&lt;property id=&quot;20300&quot; value=&quot;Slide 4 - &amp;quot;Management is…&amp;quot;&quot;/&gt;&lt;property id=&quot;20307&quot; value=&quot;298&quot;/&gt;&lt;/object&gt;&lt;object type=&quot;3&quot; unique_id=&quot;10007&quot;&gt;&lt;property id=&quot;20148&quot; value=&quot;5&quot;/&gt;&lt;property id=&quot;20300&quot; value=&quot;Slide 5 - &amp;quot;Management  functions&amp;quot;&quot;/&gt;&lt;property id=&quot;20307&quot; value=&quot;299&quot;/&gt;&lt;/object&gt;&lt;object type=&quot;3&quot; unique_id=&quot;10008&quot;&gt;&lt;property id=&quot;20148&quot; value=&quot;5&quot;/&gt;&lt;property id=&quot;20300&quot; value=&quot;Slide 6 - &amp;quot;Planning&amp;quot;&quot;/&gt;&lt;property id=&quot;20307&quot; value=&quot;300&quot;/&gt;&lt;/object&gt;&lt;object type=&quot;3&quot; unique_id=&quot;10009&quot;&gt;&lt;property id=&quot;20148&quot; value=&quot;5&quot;/&gt;&lt;property id=&quot;20300&quot; value=&quot;Slide 7 - &amp;quot;Organising&amp;quot;&quot;/&gt;&lt;property id=&quot;20307&quot; value=&quot;301&quot;/&gt;&lt;/object&gt;&lt;object type=&quot;3&quot; unique_id=&quot;10010&quot;&gt;&lt;property id=&quot;20148&quot; value=&quot;5&quot;/&gt;&lt;property id=&quot;20300&quot; value=&quot;Slide 8 - &amp;quot;Leading&amp;quot;&quot;/&gt;&lt;property id=&quot;20307&quot; value=&quot;302&quot;/&gt;&lt;/object&gt;&lt;object type=&quot;3&quot; unique_id=&quot;10011&quot;&gt;&lt;property id=&quot;20148&quot; value=&quot;5&quot;/&gt;&lt;property id=&quot;20300&quot; value=&quot;Slide 9 - &amp;quot;Controlling&amp;quot;&quot;/&gt;&lt;property id=&quot;20307&quot; value=&quot;303&quot;/&gt;&lt;/object&gt;&lt;object type=&quot;3&quot; unique_id=&quot;10012&quot;&gt;&lt;property id=&quot;20148&quot; value=&quot;5&quot;/&gt;&lt;property id=&quot;20300&quot; value=&quot;Slide 10 - &amp;quot;The control process&amp;quot;&quot;/&gt;&lt;property id=&quot;20307&quot; value=&quot;304&quot;/&gt;&lt;/object&gt;&lt;object type=&quot;3&quot; unique_id=&quot;10013&quot;&gt;&lt;property id=&quot;20148&quot; value=&quot;5&quot;/&gt;&lt;property id=&quot;20300&quot; value=&quot;Slide 11 - &amp;quot;What do managers do?&amp;quot;&quot;/&gt;&lt;property id=&quot;20307&quot; value=&quot;305&quot;/&gt;&lt;/object&gt;&lt;object type=&quot;3&quot; unique_id=&quot;10014&quot;&gt;&lt;property id=&quot;20148&quot; value=&quot;5&quot;/&gt;&lt;property id=&quot;20300&quot; value=&quot;Slide 12 - &amp;quot;Kinds of managers&amp;quot;&quot;/&gt;&lt;property id=&quot;20307&quot; value=&quot;306&quot;/&gt;&lt;/object&gt;&lt;object type=&quot;3&quot; unique_id=&quot;10015&quot;&gt;&lt;property id=&quot;20148&quot; value=&quot;5&quot;/&gt;&lt;property id=&quot;20300&quot; value=&quot;Slide 13 - &amp;quot;Top managers hold positions such as:&amp;quot;&quot;/&gt;&lt;property id=&quot;20307&quot; value=&quot;307&quot;/&gt;&lt;/object&gt;&lt;object type=&quot;3&quot; unique_id=&quot;10016&quot;&gt;&lt;property id=&quot;20148&quot; value=&quot;5&quot;/&gt;&lt;property id=&quot;20300&quot; value=&quot;Slide 14 - &amp;quot;Responsibilities of top managers&amp;quot;&quot;/&gt;&lt;property id=&quot;20307&quot; value=&quot;308&quot;/&gt;&lt;/object&gt;&lt;object type=&quot;3&quot; unique_id=&quot;10017&quot;&gt;&lt;property id=&quot;20148&quot; value=&quot;5&quot;/&gt;&lt;property id=&quot;20300&quot; value=&quot;Slide 15 - &amp;quot;Middle managers hold such positions as:&amp;quot;&quot;/&gt;&lt;property id=&quot;20307&quot; value=&quot;309&quot;/&gt;&lt;/object&gt;&lt;object type=&quot;3&quot; unique_id=&quot;10018&quot;&gt;&lt;property id=&quot;20148&quot; value=&quot;5&quot;/&gt;&lt;property id=&quot;20300&quot; value=&quot;Slide 16 - &amp;quot;Responsibilities of middle managers&amp;quot;&quot;/&gt;&lt;property id=&quot;20307&quot; value=&quot;310&quot;/&gt;&lt;/object&gt;&lt;object type=&quot;3&quot; unique_id=&quot;10019&quot;&gt;&lt;property id=&quot;20148&quot; value=&quot;5&quot;/&gt;&lt;property id=&quot;20300&quot; value=&quot;Slide 17 - &amp;quot;First-line managers hold such positions as:&amp;quot;&quot;/&gt;&lt;property id=&quot;20307&quot; value=&quot;311&quot;/&gt;&lt;/object&gt;&lt;object type=&quot;3&quot; unique_id=&quot;10020&quot;&gt;&lt;property id=&quot;20148&quot; value=&quot;5&quot;/&gt;&lt;property id=&quot;20300&quot; value=&quot;Slide 18 - &amp;quot;Responsibilities of first-line managers&amp;quot;&quot;/&gt;&lt;property id=&quot;20307&quot; value=&quot;312&quot;/&gt;&lt;/object&gt;&lt;object type=&quot;3&quot; unique_id=&quot;10021&quot;&gt;&lt;property id=&quot;20148&quot; value=&quot;5&quot;/&gt;&lt;property id=&quot;20300&quot; value=&quot;Slide 19 - &amp;quot;Responsibilities of team leaders&amp;quot;&quot;/&gt;&lt;property id=&quot;20307&quot; value=&quot;313&quot;/&gt;&lt;/object&gt;&lt;object type=&quot;3&quot; unique_id=&quot;10022&quot;&gt;&lt;property id=&quot;20148&quot; value=&quot;5&quot;/&gt;&lt;property id=&quot;20300&quot; value=&quot;Slide 20 - &amp;quot;Mintzberg’s managerial roles&amp;quot;&quot;/&gt;&lt;property id=&quot;20307&quot; value=&quot;314&quot;/&gt;&lt;/object&gt;&lt;object type=&quot;3&quot; unique_id=&quot;10023&quot;&gt;&lt;property id=&quot;20148&quot; value=&quot;5&quot;/&gt;&lt;property id=&quot;20300&quot; value=&quot;Slide 21 - &amp;quot;Managerial roles&amp;quot;&quot;/&gt;&lt;property id=&quot;20307&quot; value=&quot;315&quot;/&gt;&lt;/object&gt;&lt;object type=&quot;3&quot; unique_id=&quot;10024&quot;&gt;&lt;property id=&quot;20148&quot; value=&quot;5&quot;/&gt;&lt;property id=&quot;20300&quot; value=&quot;Slide 22 - &amp;quot;Managerial roles&amp;quot;&quot;/&gt;&lt;property id=&quot;20307&quot; value=&quot;316&quot;/&gt;&lt;/object&gt;&lt;object type=&quot;3&quot; unique_id=&quot;10025&quot;&gt;&lt;property id=&quot;20148&quot; value=&quot;5&quot;/&gt;&lt;property id=&quot;20300&quot; value=&quot;Slide 23 - &amp;quot;Managerial roles&amp;quot;&quot;/&gt;&lt;property id=&quot;20307&quot; value=&quot;317&quot;/&gt;&lt;/object&gt;&lt;object type=&quot;3&quot; unique_id=&quot;10026&quot;&gt;&lt;property id=&quot;20148&quot; value=&quot;5&quot;/&gt;&lt;property id=&quot;20300&quot; value=&quot;Slide 24 - &amp;quot;Manager’s quick response &amp;#x0D;&amp;#x0A;saves clients&amp;quot;&quot;/&gt;&lt;property id=&quot;20307&quot; value=&quot;318&quot;/&gt;&lt;/object&gt;&lt;object type=&quot;3&quot; unique_id=&quot;10027&quot;&gt;&lt;property id=&quot;20148&quot; value=&quot;5&quot;/&gt;&lt;property id=&quot;20300&quot; value=&quot;Slide 25 - &amp;quot;What does it take to be a manager?&amp;quot;&quot;/&gt;&lt;property id=&quot;20307&quot; value=&quot;319&quot;/&gt;&lt;/object&gt;&lt;object type=&quot;3&quot; unique_id=&quot;10028&quot;&gt;&lt;property id=&quot;20148&quot; value=&quot;5&quot;/&gt;&lt;property id=&quot;20300&quot; value=&quot;Slide 26 - &amp;quot;Skills companies look for in managers&amp;quot;&quot;/&gt;&lt;property id=&quot;20307&quot; value=&quot;320&quot;/&gt;&lt;/object&gt;&lt;object type=&quot;3&quot; unique_id=&quot;10029&quot;&gt;&lt;property id=&quot;20148&quot; value=&quot;5&quot;/&gt;&lt;property id=&quot;20300&quot; value=&quot;Slide 27 - &amp;quot;Management skills&amp;quot;&quot;/&gt;&lt;property id=&quot;20307&quot; value=&quot;321&quot;/&gt;&lt;/object&gt;&lt;object type=&quot;3&quot; unique_id=&quot;10030&quot;&gt;&lt;property id=&quot;20148&quot; value=&quot;5&quot;/&gt;&lt;property id=&quot;20300&quot; value=&quot;Slide 28 - &amp;quot;Some common mistakes managers make&amp;quot;&quot;/&gt;&lt;property id=&quot;20307&quot; value=&quot;322&quot;/&gt;&lt;/object&gt;&lt;object type=&quot;3&quot; unique_id=&quot;10031&quot;&gt;&lt;property id=&quot;20148&quot; value=&quot;5&quot;/&gt;&lt;property id=&quot;20300&quot; value=&quot;Slide 29 - &amp;quot;Transition to management (the first year)&amp;quot;&quot;/&gt;&lt;property id=&quot;20307&quot; value=&quot;323&quot;/&gt;&lt;/object&gt;&lt;object type=&quot;3&quot; unique_id=&quot;10032&quot;&gt;&lt;property id=&quot;20148&quot; value=&quot;5&quot;/&gt;&lt;property id=&quot;20300&quot; value=&quot;Slide 30 - &amp;quot;Why management matters&amp;quot;&quot;/&gt;&lt;property id=&quot;20307&quot; value=&quot;324&quot;/&gt;&lt;/object&gt;&lt;object type=&quot;3&quot; unique_id=&quot;10033&quot;&gt;&lt;property id=&quot;20148&quot; value=&quot;5&quot;/&gt;&lt;property id=&quot;20300&quot; value=&quot;Slide 31 - &amp;quot;Competitive advantage through people&amp;quot;&quot;/&gt;&lt;property id=&quot;20307&quot; value=&quot;325&quot;/&gt;&lt;/object&gt;&lt;object type=&quot;3&quot; unique_id=&quot;10034&quot;&gt;&lt;property id=&quot;20148&quot; value=&quot;5&quot;/&gt;&lt;property id=&quot;20300&quot; value=&quot;Slide 32 - &amp;quot;Competitive advantage through people&amp;quot;&quot;/&gt;&lt;property id=&quot;20307&quot; value=&quot;326&quot;/&gt;&lt;/object&gt;&lt;object type=&quot;3&quot; unique_id=&quot;10035&quot;&gt;&lt;property id=&quot;20148&quot; value=&quot;5&quot;/&gt;&lt;property id=&quot;20300&quot; value=&quot;Slide 33 - &amp;quot;Competitive advantage through people&amp;quot;&quot;/&gt;&lt;property id=&quot;20307&quot; value=&quot;327&quot;/&gt;&lt;/object&gt;&lt;/object&gt;&lt;object type=&quot;8&quot; unique_id=&quot;10070&quot;&gt;&lt;/object&gt;&lt;/object&gt;&lt;/database&gt;"/>
  <p:tag name="MMPROD_NEXTUNIQUEID" val="10009"/>
  <p:tag name="SECTOMILLISECCONVERTED" val="1"/>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4196</TotalTime>
  <Words>4080</Words>
  <Application>Microsoft Office PowerPoint</Application>
  <PresentationFormat>On-screen Show (4:3)</PresentationFormat>
  <Paragraphs>772</Paragraphs>
  <Slides>100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100</vt:i4>
      </vt:variant>
    </vt:vector>
  </HeadingPairs>
  <TitlesOfParts>
    <vt:vector size="107" baseType="lpstr">
      <vt:lpstr>Arial</vt:lpstr>
      <vt:lpstr>Arial Narrow</vt:lpstr>
      <vt:lpstr>Calibri</vt:lpstr>
      <vt:lpstr>Calibri Light</vt:lpstr>
      <vt:lpstr>Symbol</vt:lpstr>
      <vt:lpstr>Times New Roman</vt:lpstr>
      <vt:lpstr>Retrospect</vt:lpstr>
      <vt:lpstr>PowerPoint Presentation</vt:lpstr>
      <vt:lpstr>Assessment 4: Project Proposal – Solution and Design Documentation</vt:lpstr>
      <vt:lpstr>What is Assessment 4?</vt:lpstr>
      <vt:lpstr>Think Like an IT Consultant</vt:lpstr>
      <vt:lpstr>What Markers Want To See</vt:lpstr>
      <vt:lpstr>Weak Projects</vt:lpstr>
      <vt:lpstr>Example Case Study (Similar to Assessment 4)</vt:lpstr>
      <vt:lpstr>Example Case Study (Similar to Assessment 4)</vt:lpstr>
      <vt:lpstr>Example Solution</vt:lpstr>
      <vt:lpstr>Example Solution</vt:lpstr>
      <vt:lpstr>Example Functional Requirements</vt:lpstr>
      <vt:lpstr>Example Functional Requirements</vt:lpstr>
      <vt:lpstr>Example Non-Functional Requirements</vt:lpstr>
      <vt:lpstr>Sustainability Example</vt:lpstr>
      <vt:lpstr>NSW IT Support Example</vt:lpstr>
      <vt:lpstr>NSW IT Support Example</vt:lpstr>
      <vt:lpstr>NSW IT Support Example</vt:lpstr>
      <vt:lpstr>NSW IT Support Example</vt:lpstr>
      <vt:lpstr>Common Australian IT Challenges</vt:lpstr>
      <vt:lpstr>Common Australian IT Challenges</vt:lpstr>
      <vt:lpstr>Example Problem → Solution</vt:lpstr>
      <vt:lpstr>Assessment 4 Section-by-Section Guide</vt:lpstr>
      <vt:lpstr>Assessment 4 Section-by-Section Guide</vt:lpstr>
      <vt:lpstr>Assessment 4 Section-by-Section Guide</vt:lpstr>
      <vt:lpstr>Assessment 4 Section-by-Section Guide</vt:lpstr>
      <vt:lpstr>Assessment 4 Section-by-Section Guide</vt:lpstr>
      <vt:lpstr>Assessment 4 Section-by-Section Guide</vt:lpstr>
      <vt:lpstr>What To Submit</vt:lpstr>
      <vt:lpstr>Common Mistakes To Avoid</vt:lpstr>
      <vt:lpstr>Final Assessment 4 Tips</vt:lpstr>
      <vt:lpstr>Discussion Questions</vt:lpstr>
      <vt:lpstr>Discussion Questions</vt:lpstr>
      <vt:lpstr>Discussion Questions</vt:lpstr>
      <vt:lpstr>Discussion Questions</vt:lpstr>
      <vt:lpstr>Discussion Questions</vt:lpstr>
      <vt:lpstr>Discussion Questions</vt:lpstr>
      <vt:lpstr>Discussion Questions</vt:lpstr>
      <vt:lpstr>Final Revision Message for Students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Week 12 Revision Questions</vt:lpstr>
      <vt:lpstr>Assessment 4 Revision Questions</vt:lpstr>
      <vt:lpstr>Assessment 4 Revision Questions</vt:lpstr>
      <vt:lpstr>Assessment 4 Revision Questions</vt:lpstr>
      <vt:lpstr>Assessment 4 Revision Questions</vt:lpstr>
      <vt:lpstr>Assessment 4 Revision Questions</vt:lpstr>
      <vt:lpstr>Assessment 4 Revision Questions</vt:lpstr>
      <vt:lpstr>Assessment 4 Revision Questions</vt:lpstr>
      <vt:lpstr>Assessment 4 Revision Questions</vt:lpstr>
      <vt:lpstr>Assessment 4 Revision Questions</vt:lpstr>
      <vt:lpstr>Assessment 4 Revision Questions</vt:lpstr>
      <vt:lpstr>Assessment 4 Revision Questions</vt:lpstr>
      <vt:lpstr>Assessment 4 Revision Questions</vt:lpstr>
      <vt:lpstr>Week 1:  Introduction to Project Design and Proposals</vt:lpstr>
      <vt:lpstr>Introduction to the Design Process(Cont.)</vt:lpstr>
      <vt:lpstr>Project Proposal</vt:lpstr>
      <vt:lpstr>Week 2 : Requirement Gathering Techniques and Design Thinking</vt:lpstr>
      <vt:lpstr>Data Collection Techniques</vt:lpstr>
      <vt:lpstr> Design Thinking in IT Project</vt:lpstr>
      <vt:lpstr>Week 3:  Evaluating Design Options for IT Projects</vt:lpstr>
      <vt:lpstr>User-Centered Design Approaches in IT Projects</vt:lpstr>
      <vt:lpstr>Week 4:  Introduction to Modelling &amp; UML</vt:lpstr>
      <vt:lpstr>What is UML ? </vt:lpstr>
      <vt:lpstr>Week 5:  Skills and Capabilities in IT Projects</vt:lpstr>
      <vt:lpstr>Understanding Patents in IT Projects</vt:lpstr>
      <vt:lpstr>Understanding Prior Art in IT Projects (Cont.)</vt:lpstr>
      <vt:lpstr> Week 6:  Project Implementation</vt:lpstr>
      <vt:lpstr>            Stakeholder Engagement Planning </vt:lpstr>
      <vt:lpstr>Week 7:  Effective Communication Skills in IT Projects</vt:lpstr>
      <vt:lpstr>Types of Communication in Project Management</vt:lpstr>
      <vt:lpstr>Week 8:  Writing and Presenting IT Project Reports</vt:lpstr>
      <vt:lpstr>Gathering the Facts and Data</vt:lpstr>
      <vt:lpstr>Week 9:  Project Evaluation and Reflection</vt:lpstr>
      <vt:lpstr>Quantitative VS. Qualitative </vt:lpstr>
      <vt:lpstr>Critical Reflection on Project Performance</vt:lpstr>
      <vt:lpstr>Week 10:  Ethical and Management Issues in IT Projects</vt:lpstr>
      <vt:lpstr>IT Governance and Compliance</vt:lpstr>
      <vt:lpstr>Week 11:  Project Management Principles and Practices</vt:lpstr>
      <vt:lpstr>Project management methodologies: Agile</vt:lpstr>
      <vt:lpstr>Project management methodologies: Waterfall </vt:lpstr>
      <vt:lpstr>Project management methodologies: Waterfall (cont.)</vt:lpstr>
      <vt:lpstr>Tools and Software for Project Management</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Lavecchia, Olga (CL AUS)</dc:creator>
  <cp:lastModifiedBy>Farshid Keivanian</cp:lastModifiedBy>
  <cp:revision>326</cp:revision>
  <dcterms:created xsi:type="dcterms:W3CDTF">2009-10-28T23:36:30Z</dcterms:created>
  <dcterms:modified xsi:type="dcterms:W3CDTF">2026-06-14T01:59:43Z</dcterms:modified>
</cp:coreProperties>
</file>