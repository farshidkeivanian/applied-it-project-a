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24"/>
  </p:notesMasterIdLst>
  <p:handoutMasterIdLst>
    <p:handoutMasterId r:id="rId125"/>
  </p:handoutMasterIdLst>
  <p:sldIdLst>
    <p:sldId id="260" r:id="rId2"/>
    <p:sldId id="286" r:id="rId3"/>
    <p:sldId id="304" r:id="rId4"/>
    <p:sldId id="539" r:id="rId5"/>
    <p:sldId id="540" r:id="rId6"/>
    <p:sldId id="541" r:id="rId7"/>
    <p:sldId id="542" r:id="rId8"/>
    <p:sldId id="543" r:id="rId9"/>
    <p:sldId id="544" r:id="rId10"/>
    <p:sldId id="545" r:id="rId11"/>
    <p:sldId id="546" r:id="rId12"/>
    <p:sldId id="547" r:id="rId13"/>
    <p:sldId id="548" r:id="rId14"/>
    <p:sldId id="549" r:id="rId15"/>
    <p:sldId id="550" r:id="rId16"/>
    <p:sldId id="551" r:id="rId17"/>
    <p:sldId id="552" r:id="rId18"/>
    <p:sldId id="553" r:id="rId19"/>
    <p:sldId id="554" r:id="rId20"/>
    <p:sldId id="555" r:id="rId21"/>
    <p:sldId id="556" r:id="rId22"/>
    <p:sldId id="557" r:id="rId23"/>
    <p:sldId id="558" r:id="rId24"/>
    <p:sldId id="559" r:id="rId25"/>
    <p:sldId id="560" r:id="rId26"/>
    <p:sldId id="561" r:id="rId27"/>
    <p:sldId id="562" r:id="rId28"/>
    <p:sldId id="563" r:id="rId29"/>
    <p:sldId id="564" r:id="rId30"/>
    <p:sldId id="565" r:id="rId31"/>
    <p:sldId id="566" r:id="rId32"/>
    <p:sldId id="567" r:id="rId33"/>
    <p:sldId id="568" r:id="rId34"/>
    <p:sldId id="569" r:id="rId35"/>
    <p:sldId id="570" r:id="rId36"/>
    <p:sldId id="571" r:id="rId37"/>
    <p:sldId id="572" r:id="rId38"/>
    <p:sldId id="573" r:id="rId39"/>
    <p:sldId id="574" r:id="rId40"/>
    <p:sldId id="575" r:id="rId41"/>
    <p:sldId id="576" r:id="rId42"/>
    <p:sldId id="577" r:id="rId43"/>
    <p:sldId id="578" r:id="rId44"/>
    <p:sldId id="579" r:id="rId45"/>
    <p:sldId id="305" r:id="rId46"/>
    <p:sldId id="457" r:id="rId47"/>
    <p:sldId id="580" r:id="rId48"/>
    <p:sldId id="581" r:id="rId49"/>
    <p:sldId id="582" r:id="rId50"/>
    <p:sldId id="583" r:id="rId51"/>
    <p:sldId id="584" r:id="rId52"/>
    <p:sldId id="585" r:id="rId53"/>
    <p:sldId id="586" r:id="rId54"/>
    <p:sldId id="587" r:id="rId55"/>
    <p:sldId id="588" r:id="rId56"/>
    <p:sldId id="589" r:id="rId57"/>
    <p:sldId id="590" r:id="rId58"/>
    <p:sldId id="591" r:id="rId59"/>
    <p:sldId id="592" r:id="rId60"/>
    <p:sldId id="593" r:id="rId61"/>
    <p:sldId id="594" r:id="rId62"/>
    <p:sldId id="595" r:id="rId63"/>
    <p:sldId id="596" r:id="rId64"/>
    <p:sldId id="597" r:id="rId65"/>
    <p:sldId id="598" r:id="rId66"/>
    <p:sldId id="599" r:id="rId67"/>
    <p:sldId id="600" r:id="rId68"/>
    <p:sldId id="601" r:id="rId69"/>
    <p:sldId id="602" r:id="rId70"/>
    <p:sldId id="603" r:id="rId71"/>
    <p:sldId id="604" r:id="rId72"/>
    <p:sldId id="605" r:id="rId73"/>
    <p:sldId id="606" r:id="rId74"/>
    <p:sldId id="607" r:id="rId75"/>
    <p:sldId id="608" r:id="rId76"/>
    <p:sldId id="609" r:id="rId77"/>
    <p:sldId id="610" r:id="rId78"/>
    <p:sldId id="611" r:id="rId79"/>
    <p:sldId id="612" r:id="rId80"/>
    <p:sldId id="613" r:id="rId81"/>
    <p:sldId id="614" r:id="rId82"/>
    <p:sldId id="615" r:id="rId83"/>
    <p:sldId id="616" r:id="rId84"/>
    <p:sldId id="617" r:id="rId85"/>
    <p:sldId id="618" r:id="rId86"/>
    <p:sldId id="619" r:id="rId87"/>
    <p:sldId id="620" r:id="rId88"/>
    <p:sldId id="621" r:id="rId89"/>
    <p:sldId id="622" r:id="rId90"/>
    <p:sldId id="412" r:id="rId91"/>
    <p:sldId id="519" r:id="rId92"/>
    <p:sldId id="518" r:id="rId93"/>
    <p:sldId id="521" r:id="rId94"/>
    <p:sldId id="525" r:id="rId95"/>
    <p:sldId id="526" r:id="rId96"/>
    <p:sldId id="522" r:id="rId97"/>
    <p:sldId id="528" r:id="rId98"/>
    <p:sldId id="523" r:id="rId99"/>
    <p:sldId id="524" r:id="rId100"/>
    <p:sldId id="529" r:id="rId101"/>
    <p:sldId id="531" r:id="rId102"/>
    <p:sldId id="532" r:id="rId103"/>
    <p:sldId id="533" r:id="rId104"/>
    <p:sldId id="534" r:id="rId105"/>
    <p:sldId id="535" r:id="rId106"/>
    <p:sldId id="536" r:id="rId107"/>
    <p:sldId id="438" r:id="rId108"/>
    <p:sldId id="537" r:id="rId109"/>
    <p:sldId id="292" r:id="rId110"/>
    <p:sldId id="363" r:id="rId111"/>
    <p:sldId id="500" r:id="rId112"/>
    <p:sldId id="295" r:id="rId113"/>
    <p:sldId id="296" r:id="rId114"/>
    <p:sldId id="369" r:id="rId115"/>
    <p:sldId id="362" r:id="rId116"/>
    <p:sldId id="373" r:id="rId117"/>
    <p:sldId id="370" r:id="rId118"/>
    <p:sldId id="350" r:id="rId119"/>
    <p:sldId id="343" r:id="rId120"/>
    <p:sldId id="538" r:id="rId121"/>
    <p:sldId id="344" r:id="rId122"/>
    <p:sldId id="306" r:id="rId123"/>
  </p:sldIdLst>
  <p:sldSz cx="9144000" cy="6858000" type="screen4x3"/>
  <p:notesSz cx="6858000" cy="9144000"/>
  <p:custDataLst>
    <p:tags r:id="rId126"/>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9" autoAdjust="0"/>
    <p:restoredTop sz="95714" autoAdjust="0"/>
  </p:normalViewPr>
  <p:slideViewPr>
    <p:cSldViewPr snapToGrid="0" snapToObjects="1">
      <p:cViewPr>
        <p:scale>
          <a:sx n="50" d="100"/>
          <a:sy n="50" d="100"/>
        </p:scale>
        <p:origin x="1258" y="470"/>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2/06/2026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6/2/2026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114</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extLst>
      <p:ext uri="{BB962C8B-B14F-4D97-AF65-F5344CB8AC3E}">
        <p14:creationId xmlns:p14="http://schemas.microsoft.com/office/powerpoint/2010/main" val="126730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3KgjfqiN2fE"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5cO5nHmMxrw"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seguetech.com/waterfall-vs-agile-methodology/"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B7VucspZA68"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127000" y="372858"/>
            <a:ext cx="8605044"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11: </a:t>
            </a:r>
            <a:r>
              <a:rPr lang="en-AU" sz="5400" dirty="0">
                <a:solidFill>
                  <a:srgbClr val="00B0F0"/>
                </a:solidFill>
              </a:rPr>
              <a:t>Project Management Principles and Practices</a:t>
            </a: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Ethics of Emerging Technologies</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Ethical Decision-Making in Project Management</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IT Governance and Compliance</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Managing Stakeholder Expectations and Relationships</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a:t>
            </a:r>
          </a:p>
          <a:p>
            <a:endParaRPr lang="en-AU" sz="2400" b="0" i="0" u="none" strike="noStrike" baseline="0" dirty="0">
              <a:solidFill>
                <a:srgbClr val="4B1858"/>
              </a:solidFill>
              <a:highlight>
                <a:srgbClr val="FFFF00"/>
              </a:highlight>
              <a:latin typeface="Arial" panose="020B0604020202020204" pitchFamily="34" charset="0"/>
            </a:endParaRPr>
          </a:p>
          <a:p>
            <a:r>
              <a:rPr lang="en-AU" sz="2400" dirty="0">
                <a:solidFill>
                  <a:srgbClr val="4B1858"/>
                </a:solidFill>
                <a:latin typeface="Arial" panose="020B0604020202020204" pitchFamily="34" charset="0"/>
              </a:rPr>
              <a:t>AGILE versus WATERFALL Project Plans</a:t>
            </a:r>
          </a:p>
          <a:p>
            <a:r>
              <a:rPr lang="en-AU" sz="2400" dirty="0">
                <a:solidFill>
                  <a:srgbClr val="4B1858"/>
                </a:solidFill>
                <a:latin typeface="Arial" panose="020B0604020202020204" pitchFamily="34" charset="0"/>
                <a:hlinkClick r:id="rId2"/>
              </a:rPr>
              <a:t>https://www.youtube.com/watch?v=3KgjfqiN2fE</a:t>
            </a:r>
            <a:endParaRPr lang="en-AU" sz="240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DC29B-717F-9AA7-DA09-C225340B1BB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9505FF2-EC06-5353-DE04-58AD5E0C832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2392F62-EF2F-A723-0FAE-12465542A90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1BC9F7D-EDD0-A29F-5BB5-92677449516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6064147A-4E61-9F1A-9AA1-CFDA547E1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A92BAFA-7D8D-CFF3-3F30-E4D0C8F0E98F}"/>
              </a:ext>
            </a:extLst>
          </p:cNvPr>
          <p:cNvSpPr txBox="1"/>
          <p:nvPr/>
        </p:nvSpPr>
        <p:spPr>
          <a:xfrm>
            <a:off x="0" y="1720840"/>
            <a:ext cx="9144000" cy="3903504"/>
          </a:xfrm>
          <a:prstGeom prst="rect">
            <a:avLst/>
          </a:prstGeom>
          <a:solidFill>
            <a:schemeClr val="bg1"/>
          </a:solidFill>
        </p:spPr>
        <p:txBody>
          <a:bodyPr wrap="square">
            <a:spAutoFit/>
          </a:bodyPr>
          <a:lstStyle/>
          <a:p>
            <a:pPr>
              <a:lnSpc>
                <a:spcPct val="150000"/>
              </a:lnSpc>
              <a:buNone/>
            </a:pPr>
            <a:r>
              <a:rPr lang="en-US" sz="2800" dirty="0">
                <a:latin typeface="+mn-lt"/>
              </a:rPr>
              <a:t>Key Lessons / Messages from the Video</a:t>
            </a:r>
          </a:p>
          <a:p>
            <a:pPr>
              <a:lnSpc>
                <a:spcPct val="150000"/>
              </a:lnSpc>
              <a:buNone/>
            </a:pPr>
            <a:r>
              <a:rPr lang="en-US" sz="2800" dirty="0">
                <a:latin typeface="+mn-lt"/>
              </a:rPr>
              <a:t>1. Agile and Waterfall have the same goal</a:t>
            </a:r>
          </a:p>
          <a:p>
            <a:pPr>
              <a:lnSpc>
                <a:spcPct val="150000"/>
              </a:lnSpc>
              <a:buNone/>
            </a:pPr>
            <a:r>
              <a:rPr lang="en-US" sz="2800" dirty="0">
                <a:latin typeface="+mn-lt"/>
              </a:rPr>
              <a:t>Both methods aim to successfully deliver a project.</a:t>
            </a:r>
          </a:p>
          <a:p>
            <a:pPr>
              <a:lnSpc>
                <a:spcPct val="150000"/>
              </a:lnSpc>
              <a:buNone/>
            </a:pPr>
            <a:r>
              <a:rPr lang="en-US" sz="2800" dirty="0">
                <a:latin typeface="+mn-lt"/>
              </a:rPr>
              <a:t>The difference is how the work is </a:t>
            </a:r>
            <a:r>
              <a:rPr lang="en-US" sz="2800" dirty="0" err="1">
                <a:latin typeface="+mn-lt"/>
              </a:rPr>
              <a:t>organised</a:t>
            </a:r>
            <a:r>
              <a:rPr lang="en-US" sz="2800" dirty="0">
                <a:latin typeface="+mn-lt"/>
              </a:rPr>
              <a:t> and managed.</a:t>
            </a:r>
          </a:p>
          <a:p>
            <a:pPr>
              <a:lnSpc>
                <a:spcPct val="150000"/>
              </a:lnSpc>
            </a:pPr>
            <a:r>
              <a:rPr lang="en-US" sz="2800" dirty="0">
                <a:latin typeface="+mn-lt"/>
              </a:rPr>
              <a:t>- Waterfall: Plan most things at the beginning. </a:t>
            </a:r>
          </a:p>
          <a:p>
            <a:pPr>
              <a:lnSpc>
                <a:spcPct val="150000"/>
              </a:lnSpc>
            </a:pPr>
            <a:r>
              <a:rPr lang="en-US" sz="2800" dirty="0">
                <a:latin typeface="+mn-lt"/>
              </a:rPr>
              <a:t>- Agile: Deliver work in small steps and adjust as you go.</a:t>
            </a:r>
          </a:p>
        </p:txBody>
      </p:sp>
    </p:spTree>
    <p:extLst>
      <p:ext uri="{BB962C8B-B14F-4D97-AF65-F5344CB8AC3E}">
        <p14:creationId xmlns:p14="http://schemas.microsoft.com/office/powerpoint/2010/main" val="1399000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A09C-E553-0AEE-3EAC-02C7B8F7E9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1505067-1C84-99D3-E79F-82BCB77EDFE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928B4EE-19A6-7114-1E7E-67FDE280A4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0FC88A4-2958-D2C6-95C7-0D414719254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84F38D21-6B77-AF35-AB1D-DEE2B5A072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6EE3969-9653-617E-280A-40FE492C9EB1}"/>
              </a:ext>
            </a:extLst>
          </p:cNvPr>
          <p:cNvSpPr txBox="1"/>
          <p:nvPr/>
        </p:nvSpPr>
        <p:spPr>
          <a:xfrm>
            <a:off x="0" y="-187118"/>
            <a:ext cx="9144000" cy="7232236"/>
          </a:xfrm>
          <a:prstGeom prst="rect">
            <a:avLst/>
          </a:prstGeom>
          <a:solidFill>
            <a:schemeClr val="bg1"/>
          </a:solidFill>
        </p:spPr>
        <p:txBody>
          <a:bodyPr wrap="square">
            <a:spAutoFit/>
          </a:bodyPr>
          <a:lstStyle/>
          <a:p>
            <a:pPr>
              <a:lnSpc>
                <a:spcPct val="150000"/>
              </a:lnSpc>
            </a:pPr>
            <a:r>
              <a:rPr lang="en-US" sz="2600" b="1" dirty="0">
                <a:latin typeface="+mn-lt"/>
              </a:rPr>
              <a:t>2. Agile is not a shortcut</a:t>
            </a:r>
          </a:p>
          <a:p>
            <a:pPr>
              <a:lnSpc>
                <a:spcPct val="150000"/>
              </a:lnSpc>
            </a:pPr>
            <a:r>
              <a:rPr lang="en-US" sz="2600" dirty="0">
                <a:latin typeface="+mn-lt"/>
              </a:rPr>
              <a:t>Some people think Agile means less planning.</a:t>
            </a:r>
          </a:p>
          <a:p>
            <a:pPr>
              <a:lnSpc>
                <a:spcPct val="150000"/>
              </a:lnSpc>
            </a:pPr>
            <a:r>
              <a:rPr lang="en-US" sz="2600" dirty="0">
                <a:latin typeface="+mn-lt"/>
              </a:rPr>
              <a:t>This is not true.</a:t>
            </a:r>
          </a:p>
          <a:p>
            <a:pPr>
              <a:lnSpc>
                <a:spcPct val="150000"/>
              </a:lnSpc>
            </a:pPr>
            <a:r>
              <a:rPr lang="en-US" sz="2600" dirty="0">
                <a:latin typeface="+mn-lt"/>
              </a:rPr>
              <a:t>Even in Agile projects, teams still need to manage:</a:t>
            </a:r>
          </a:p>
          <a:p>
            <a:pPr>
              <a:lnSpc>
                <a:spcPct val="150000"/>
              </a:lnSpc>
            </a:pPr>
            <a:r>
              <a:rPr lang="en-US" sz="2600" dirty="0">
                <a:latin typeface="+mn-lt"/>
              </a:rPr>
              <a:t>- Scope </a:t>
            </a:r>
          </a:p>
          <a:p>
            <a:pPr>
              <a:lnSpc>
                <a:spcPct val="150000"/>
              </a:lnSpc>
            </a:pPr>
            <a:r>
              <a:rPr lang="en-US" sz="2600" dirty="0">
                <a:latin typeface="+mn-lt"/>
              </a:rPr>
              <a:t>- Time </a:t>
            </a:r>
          </a:p>
          <a:p>
            <a:pPr>
              <a:lnSpc>
                <a:spcPct val="150000"/>
              </a:lnSpc>
            </a:pPr>
            <a:r>
              <a:rPr lang="en-US" sz="2600" dirty="0">
                <a:latin typeface="+mn-lt"/>
              </a:rPr>
              <a:t>- Cost </a:t>
            </a:r>
          </a:p>
          <a:p>
            <a:pPr>
              <a:lnSpc>
                <a:spcPct val="150000"/>
              </a:lnSpc>
            </a:pPr>
            <a:r>
              <a:rPr lang="en-US" sz="2600" dirty="0">
                <a:latin typeface="+mn-lt"/>
              </a:rPr>
              <a:t>- Quality </a:t>
            </a:r>
          </a:p>
          <a:p>
            <a:pPr>
              <a:lnSpc>
                <a:spcPct val="150000"/>
              </a:lnSpc>
            </a:pPr>
            <a:r>
              <a:rPr lang="en-US" sz="2600" dirty="0">
                <a:latin typeface="+mn-lt"/>
              </a:rPr>
              <a:t>- Risks </a:t>
            </a:r>
          </a:p>
          <a:p>
            <a:pPr>
              <a:lnSpc>
                <a:spcPct val="150000"/>
              </a:lnSpc>
            </a:pPr>
            <a:r>
              <a:rPr lang="en-US" sz="2600" dirty="0">
                <a:latin typeface="+mn-lt"/>
              </a:rPr>
              <a:t>- Stakeholders </a:t>
            </a:r>
          </a:p>
          <a:p>
            <a:pPr>
              <a:lnSpc>
                <a:spcPct val="150000"/>
              </a:lnSpc>
            </a:pPr>
            <a:r>
              <a:rPr lang="en-US" sz="2600" dirty="0">
                <a:latin typeface="+mn-lt"/>
              </a:rPr>
              <a:t>- Communication </a:t>
            </a:r>
          </a:p>
          <a:p>
            <a:pPr>
              <a:lnSpc>
                <a:spcPct val="150000"/>
              </a:lnSpc>
            </a:pPr>
            <a:r>
              <a:rPr lang="en-US" sz="2600" dirty="0">
                <a:latin typeface="+mn-lt"/>
              </a:rPr>
              <a:t>The responsibilities remain the same. </a:t>
            </a:r>
          </a:p>
        </p:txBody>
      </p:sp>
    </p:spTree>
    <p:extLst>
      <p:ext uri="{BB962C8B-B14F-4D97-AF65-F5344CB8AC3E}">
        <p14:creationId xmlns:p14="http://schemas.microsoft.com/office/powerpoint/2010/main" val="1286093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6295-B221-3D77-07BB-B73F99905FA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CE80B7B-1BEF-E3B5-D22E-B085060F5F8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C194535-479F-11B3-2CE7-70F4450A145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FB4B110-0FD3-8687-51F0-599B266693F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0CCBC87C-A08E-2F8D-CA1A-E954BCC5E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4BA2DB6-46E2-8174-CD2B-92F85D8FD71E}"/>
              </a:ext>
            </a:extLst>
          </p:cNvPr>
          <p:cNvSpPr txBox="1"/>
          <p:nvPr/>
        </p:nvSpPr>
        <p:spPr>
          <a:xfrm>
            <a:off x="0" y="377930"/>
            <a:ext cx="9144000" cy="6488828"/>
          </a:xfrm>
          <a:prstGeom prst="rect">
            <a:avLst/>
          </a:prstGeom>
          <a:solidFill>
            <a:schemeClr val="bg1"/>
          </a:solidFill>
        </p:spPr>
        <p:txBody>
          <a:bodyPr wrap="square">
            <a:spAutoFit/>
          </a:bodyPr>
          <a:lstStyle/>
          <a:p>
            <a:pPr>
              <a:lnSpc>
                <a:spcPct val="150000"/>
              </a:lnSpc>
            </a:pPr>
            <a:r>
              <a:rPr lang="en-US" sz="2800" b="1" dirty="0">
                <a:latin typeface="+mn-lt"/>
              </a:rPr>
              <a:t>3. Waterfall focuses more on documentation</a:t>
            </a:r>
          </a:p>
          <a:p>
            <a:pPr>
              <a:lnSpc>
                <a:spcPct val="150000"/>
              </a:lnSpc>
            </a:pPr>
            <a:r>
              <a:rPr lang="en-US" sz="2800" dirty="0">
                <a:latin typeface="+mn-lt"/>
              </a:rPr>
              <a:t>Waterfall projects usually create:</a:t>
            </a:r>
          </a:p>
          <a:p>
            <a:pPr>
              <a:lnSpc>
                <a:spcPct val="150000"/>
              </a:lnSpc>
            </a:pPr>
            <a:r>
              <a:rPr lang="en-US" sz="2800" dirty="0">
                <a:latin typeface="+mn-lt"/>
              </a:rPr>
              <a:t>- Business cases </a:t>
            </a:r>
          </a:p>
          <a:p>
            <a:pPr>
              <a:lnSpc>
                <a:spcPct val="150000"/>
              </a:lnSpc>
            </a:pPr>
            <a:r>
              <a:rPr lang="en-US" sz="2800" dirty="0">
                <a:latin typeface="+mn-lt"/>
              </a:rPr>
              <a:t>- Project charters </a:t>
            </a:r>
          </a:p>
          <a:p>
            <a:pPr>
              <a:lnSpc>
                <a:spcPct val="150000"/>
              </a:lnSpc>
            </a:pPr>
            <a:r>
              <a:rPr lang="en-US" sz="2800" dirty="0">
                <a:latin typeface="+mn-lt"/>
              </a:rPr>
              <a:t>- Requirement documents </a:t>
            </a:r>
          </a:p>
          <a:p>
            <a:pPr>
              <a:lnSpc>
                <a:spcPct val="150000"/>
              </a:lnSpc>
            </a:pPr>
            <a:r>
              <a:rPr lang="en-US" sz="2800" dirty="0">
                <a:latin typeface="+mn-lt"/>
              </a:rPr>
              <a:t>- Schedules </a:t>
            </a:r>
          </a:p>
          <a:p>
            <a:pPr>
              <a:lnSpc>
                <a:spcPct val="150000"/>
              </a:lnSpc>
            </a:pPr>
            <a:r>
              <a:rPr lang="en-US" sz="2800" dirty="0">
                <a:latin typeface="+mn-lt"/>
              </a:rPr>
              <a:t>- Risk registers </a:t>
            </a:r>
          </a:p>
          <a:p>
            <a:pPr>
              <a:lnSpc>
                <a:spcPct val="150000"/>
              </a:lnSpc>
            </a:pPr>
            <a:r>
              <a:rPr lang="en-US" sz="2800" dirty="0">
                <a:latin typeface="+mn-lt"/>
              </a:rPr>
              <a:t>- Communication plans </a:t>
            </a:r>
          </a:p>
          <a:p>
            <a:pPr>
              <a:lnSpc>
                <a:spcPct val="150000"/>
              </a:lnSpc>
            </a:pPr>
            <a:r>
              <a:rPr lang="en-US" sz="2800" dirty="0">
                <a:latin typeface="+mn-lt"/>
              </a:rPr>
              <a:t>Everything is documented and approved before major work begins.</a:t>
            </a:r>
          </a:p>
        </p:txBody>
      </p:sp>
    </p:spTree>
    <p:extLst>
      <p:ext uri="{BB962C8B-B14F-4D97-AF65-F5344CB8AC3E}">
        <p14:creationId xmlns:p14="http://schemas.microsoft.com/office/powerpoint/2010/main" val="1006642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87AA-7022-8137-F70E-52E4A563301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AC22C0C-9F01-71B2-5B91-18015990643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18FE37F-91C7-7170-9FD5-DFDC25247C3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72D3290-92F3-120B-6EED-55C12A43FA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D4483CCE-B21C-5617-81CC-D12289D3E7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91F7361-0F2F-6D51-B0C0-84BEE46D69FC}"/>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b="1" dirty="0">
                <a:latin typeface="+mn-lt"/>
              </a:rPr>
              <a:t>4. Agile focuses more on people and collaboration</a:t>
            </a:r>
          </a:p>
          <a:p>
            <a:pPr>
              <a:lnSpc>
                <a:spcPct val="150000"/>
              </a:lnSpc>
            </a:pPr>
            <a:r>
              <a:rPr lang="en-US" sz="2800" dirty="0">
                <a:latin typeface="+mn-lt"/>
              </a:rPr>
              <a:t>Agile relies on:</a:t>
            </a:r>
          </a:p>
          <a:p>
            <a:pPr>
              <a:lnSpc>
                <a:spcPct val="150000"/>
              </a:lnSpc>
            </a:pPr>
            <a:r>
              <a:rPr lang="en-US" sz="2800" dirty="0">
                <a:latin typeface="+mn-lt"/>
              </a:rPr>
              <a:t>- Team communication </a:t>
            </a:r>
          </a:p>
          <a:p>
            <a:pPr>
              <a:lnSpc>
                <a:spcPct val="150000"/>
              </a:lnSpc>
            </a:pPr>
            <a:r>
              <a:rPr lang="en-US" sz="2800" dirty="0">
                <a:latin typeface="+mn-lt"/>
              </a:rPr>
              <a:t>- Customer feedback </a:t>
            </a:r>
          </a:p>
          <a:p>
            <a:pPr>
              <a:lnSpc>
                <a:spcPct val="150000"/>
              </a:lnSpc>
            </a:pPr>
            <a:r>
              <a:rPr lang="en-US" sz="2800" dirty="0">
                <a:latin typeface="+mn-lt"/>
              </a:rPr>
              <a:t>- Short development cycles </a:t>
            </a:r>
          </a:p>
          <a:p>
            <a:pPr>
              <a:lnSpc>
                <a:spcPct val="150000"/>
              </a:lnSpc>
            </a:pPr>
            <a:r>
              <a:rPr lang="en-US" sz="2800" dirty="0">
                <a:latin typeface="+mn-lt"/>
              </a:rPr>
              <a:t>- Continuous improvement</a:t>
            </a:r>
          </a:p>
        </p:txBody>
      </p:sp>
    </p:spTree>
    <p:extLst>
      <p:ext uri="{BB962C8B-B14F-4D97-AF65-F5344CB8AC3E}">
        <p14:creationId xmlns:p14="http://schemas.microsoft.com/office/powerpoint/2010/main" val="1103867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57C75-CCD7-A501-8389-187031F4186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152DA21-3653-401F-ECEC-43816D1D0F3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86FBB4C-AB73-C8A2-7CAB-1F5EBA1064A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12C4078-45DD-A73F-8689-B32DE895D9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DB56D737-A510-F741-4B2D-9025153B9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C20B94A-AD74-DF8D-E109-D1C8F2870A97}"/>
              </a:ext>
            </a:extLst>
          </p:cNvPr>
          <p:cNvSpPr txBox="1"/>
          <p:nvPr/>
        </p:nvSpPr>
        <p:spPr>
          <a:xfrm>
            <a:off x="0" y="1485595"/>
            <a:ext cx="9144000" cy="4549835"/>
          </a:xfrm>
          <a:prstGeom prst="rect">
            <a:avLst/>
          </a:prstGeom>
          <a:solidFill>
            <a:schemeClr val="bg1"/>
          </a:solidFill>
        </p:spPr>
        <p:txBody>
          <a:bodyPr wrap="square">
            <a:spAutoFit/>
          </a:bodyPr>
          <a:lstStyle/>
          <a:p>
            <a:pPr>
              <a:lnSpc>
                <a:spcPct val="150000"/>
              </a:lnSpc>
            </a:pPr>
            <a:r>
              <a:rPr lang="en-US" sz="2800" dirty="0">
                <a:latin typeface="+mn-lt"/>
              </a:rPr>
              <a:t>Instead of large documents, Agile uses:</a:t>
            </a:r>
          </a:p>
          <a:p>
            <a:pPr>
              <a:lnSpc>
                <a:spcPct val="150000"/>
              </a:lnSpc>
            </a:pPr>
            <a:r>
              <a:rPr lang="en-US" sz="2800" dirty="0">
                <a:latin typeface="+mn-lt"/>
              </a:rPr>
              <a:t>- Team charters </a:t>
            </a:r>
          </a:p>
          <a:p>
            <a:pPr>
              <a:lnSpc>
                <a:spcPct val="150000"/>
              </a:lnSpc>
            </a:pPr>
            <a:r>
              <a:rPr lang="en-US" sz="2800" dirty="0">
                <a:latin typeface="+mn-lt"/>
              </a:rPr>
              <a:t>- Product backlogs </a:t>
            </a:r>
          </a:p>
          <a:p>
            <a:pPr>
              <a:lnSpc>
                <a:spcPct val="150000"/>
              </a:lnSpc>
            </a:pPr>
            <a:r>
              <a:rPr lang="en-US" sz="2800" dirty="0">
                <a:latin typeface="+mn-lt"/>
              </a:rPr>
              <a:t>- User stories </a:t>
            </a:r>
          </a:p>
          <a:p>
            <a:pPr>
              <a:lnSpc>
                <a:spcPct val="150000"/>
              </a:lnSpc>
            </a:pPr>
            <a:r>
              <a:rPr lang="en-US" sz="2800" dirty="0">
                <a:latin typeface="+mn-lt"/>
              </a:rPr>
              <a:t>- Sprint planning </a:t>
            </a:r>
          </a:p>
          <a:p>
            <a:pPr>
              <a:lnSpc>
                <a:spcPct val="150000"/>
              </a:lnSpc>
            </a:pPr>
            <a:r>
              <a:rPr lang="en-US" sz="2800" dirty="0">
                <a:latin typeface="+mn-lt"/>
              </a:rPr>
              <a:t>- Sprint reviews </a:t>
            </a:r>
          </a:p>
          <a:p>
            <a:pPr>
              <a:lnSpc>
                <a:spcPct val="150000"/>
              </a:lnSpc>
            </a:pPr>
            <a:r>
              <a:rPr lang="en-US" sz="2800" dirty="0">
                <a:latin typeface="+mn-lt"/>
              </a:rPr>
              <a:t>The customer is involved throughout the project. </a:t>
            </a:r>
          </a:p>
        </p:txBody>
      </p:sp>
    </p:spTree>
    <p:extLst>
      <p:ext uri="{BB962C8B-B14F-4D97-AF65-F5344CB8AC3E}">
        <p14:creationId xmlns:p14="http://schemas.microsoft.com/office/powerpoint/2010/main" val="408142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ACE4A-254B-8DCB-31C9-C0DADD9ACB5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9605692-2004-5EE2-37DF-3188757C733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43DF916-2F16-9008-3C90-1EC365EE54F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984AE0A-0D1F-4018-F220-B731773074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F70DD889-F592-7C07-5BD6-07EEB47DD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05331F4-6A78-6B9B-CA1A-699803321458}"/>
              </a:ext>
            </a:extLst>
          </p:cNvPr>
          <p:cNvSpPr txBox="1"/>
          <p:nvPr/>
        </p:nvSpPr>
        <p:spPr>
          <a:xfrm>
            <a:off x="0" y="1485595"/>
            <a:ext cx="9144000" cy="4549835"/>
          </a:xfrm>
          <a:prstGeom prst="rect">
            <a:avLst/>
          </a:prstGeom>
          <a:solidFill>
            <a:schemeClr val="bg1"/>
          </a:solidFill>
        </p:spPr>
        <p:txBody>
          <a:bodyPr wrap="square">
            <a:spAutoFit/>
          </a:bodyPr>
          <a:lstStyle/>
          <a:p>
            <a:pPr>
              <a:lnSpc>
                <a:spcPct val="150000"/>
              </a:lnSpc>
            </a:pPr>
            <a:r>
              <a:rPr lang="en-US" sz="2800" b="1" dirty="0">
                <a:latin typeface="+mn-lt"/>
              </a:rPr>
              <a:t>5. Stakeholder communication is critical</a:t>
            </a:r>
          </a:p>
          <a:p>
            <a:pPr>
              <a:lnSpc>
                <a:spcPct val="150000"/>
              </a:lnSpc>
            </a:pPr>
            <a:r>
              <a:rPr lang="en-US" sz="2800" dirty="0">
                <a:latin typeface="+mn-lt"/>
              </a:rPr>
              <a:t>Projects succeed when stakeholders:</a:t>
            </a:r>
          </a:p>
          <a:p>
            <a:pPr>
              <a:lnSpc>
                <a:spcPct val="150000"/>
              </a:lnSpc>
            </a:pPr>
            <a:r>
              <a:rPr lang="en-US" sz="2800" dirty="0">
                <a:latin typeface="+mn-lt"/>
              </a:rPr>
              <a:t>- Understand their roles </a:t>
            </a:r>
          </a:p>
          <a:p>
            <a:pPr>
              <a:lnSpc>
                <a:spcPct val="150000"/>
              </a:lnSpc>
            </a:pPr>
            <a:r>
              <a:rPr lang="en-US" sz="2800" dirty="0">
                <a:latin typeface="+mn-lt"/>
              </a:rPr>
              <a:t>- Receive regular updates </a:t>
            </a:r>
          </a:p>
          <a:p>
            <a:pPr>
              <a:lnSpc>
                <a:spcPct val="150000"/>
              </a:lnSpc>
            </a:pPr>
            <a:r>
              <a:rPr lang="en-US" sz="2800" dirty="0">
                <a:latin typeface="+mn-lt"/>
              </a:rPr>
              <a:t>- Provide feedback </a:t>
            </a:r>
          </a:p>
          <a:p>
            <a:pPr>
              <a:lnSpc>
                <a:spcPct val="150000"/>
              </a:lnSpc>
            </a:pPr>
            <a:r>
              <a:rPr lang="en-US" sz="2800" dirty="0">
                <a:latin typeface="+mn-lt"/>
              </a:rPr>
              <a:t>Agile encourages more frequent communication through daily meetings and reviews.</a:t>
            </a:r>
          </a:p>
        </p:txBody>
      </p:sp>
    </p:spTree>
    <p:extLst>
      <p:ext uri="{BB962C8B-B14F-4D97-AF65-F5344CB8AC3E}">
        <p14:creationId xmlns:p14="http://schemas.microsoft.com/office/powerpoint/2010/main" val="150517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1E27-B58A-C8AA-EE96-ADE648F5E7B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ECF72D9-2083-EC63-3297-BE386A01BC9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C2FDB27-AA4C-99CA-090B-74EF128AFD8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86E1C27-E6BF-8CFD-2FBA-C8CE7DA98E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DAE3511D-326B-001C-926A-D2D85EF40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F420523-30CE-D106-D0D5-612F84FA7E7F}"/>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b="1" dirty="0">
                <a:latin typeface="+mn-lt"/>
              </a:rPr>
              <a:t>6. Requirements must be understood clearly</a:t>
            </a:r>
          </a:p>
          <a:p>
            <a:pPr>
              <a:lnSpc>
                <a:spcPct val="150000"/>
              </a:lnSpc>
            </a:pPr>
            <a:r>
              <a:rPr lang="en-US" sz="2800" dirty="0">
                <a:latin typeface="+mn-lt"/>
              </a:rPr>
              <a:t>Before building a solution, project teams must understand:</a:t>
            </a:r>
          </a:p>
          <a:p>
            <a:pPr>
              <a:lnSpc>
                <a:spcPct val="150000"/>
              </a:lnSpc>
            </a:pPr>
            <a:r>
              <a:rPr lang="en-US" sz="2800" dirty="0">
                <a:latin typeface="+mn-lt"/>
              </a:rPr>
              <a:t>- Customer needs </a:t>
            </a:r>
          </a:p>
          <a:p>
            <a:pPr>
              <a:lnSpc>
                <a:spcPct val="150000"/>
              </a:lnSpc>
            </a:pPr>
            <a:r>
              <a:rPr lang="en-US" sz="2800" dirty="0">
                <a:latin typeface="+mn-lt"/>
              </a:rPr>
              <a:t>- Business problems </a:t>
            </a:r>
          </a:p>
          <a:p>
            <a:pPr>
              <a:lnSpc>
                <a:spcPct val="150000"/>
              </a:lnSpc>
            </a:pPr>
            <a:r>
              <a:rPr lang="en-US" sz="2800" dirty="0">
                <a:latin typeface="+mn-lt"/>
              </a:rPr>
              <a:t>- User expectations </a:t>
            </a:r>
          </a:p>
          <a:p>
            <a:pPr>
              <a:lnSpc>
                <a:spcPct val="150000"/>
              </a:lnSpc>
            </a:pPr>
            <a:r>
              <a:rPr lang="en-US" sz="2800" dirty="0">
                <a:latin typeface="+mn-lt"/>
              </a:rPr>
              <a:t>Waterfall often uses detailed requirement documents.</a:t>
            </a:r>
          </a:p>
        </p:txBody>
      </p:sp>
    </p:spTree>
    <p:extLst>
      <p:ext uri="{BB962C8B-B14F-4D97-AF65-F5344CB8AC3E}">
        <p14:creationId xmlns:p14="http://schemas.microsoft.com/office/powerpoint/2010/main" val="656041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0E4C-0099-9171-0072-66E70E93E2A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155943F-2982-5F06-0710-3EB2F3557F5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1992F54-2CB4-8675-7DC8-1F7D99DD32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00B5671-F0D3-790B-FC79-66115CB9849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6C012B2D-700A-0AEA-C2DD-C49208E45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1D895E8-C965-E8AA-CBF1-2ECAC964C3C8}"/>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dirty="0">
                <a:latin typeface="+mn-lt"/>
              </a:rPr>
              <a:t>Agile often uses:</a:t>
            </a:r>
          </a:p>
          <a:p>
            <a:pPr>
              <a:lnSpc>
                <a:spcPct val="150000"/>
              </a:lnSpc>
            </a:pPr>
            <a:r>
              <a:rPr lang="en-US" sz="2800" dirty="0">
                <a:latin typeface="+mn-lt"/>
              </a:rPr>
              <a:t>- User stories </a:t>
            </a:r>
          </a:p>
          <a:p>
            <a:pPr>
              <a:lnSpc>
                <a:spcPct val="150000"/>
              </a:lnSpc>
            </a:pPr>
            <a:r>
              <a:rPr lang="en-US" sz="2800" dirty="0">
                <a:latin typeface="+mn-lt"/>
              </a:rPr>
              <a:t>- Prototypes </a:t>
            </a:r>
          </a:p>
          <a:p>
            <a:pPr>
              <a:lnSpc>
                <a:spcPct val="150000"/>
              </a:lnSpc>
            </a:pPr>
            <a:r>
              <a:rPr lang="en-US" sz="2800" dirty="0">
                <a:latin typeface="+mn-lt"/>
              </a:rPr>
              <a:t>- Mock-ups </a:t>
            </a:r>
          </a:p>
          <a:p>
            <a:pPr>
              <a:lnSpc>
                <a:spcPct val="150000"/>
              </a:lnSpc>
            </a:pPr>
            <a:r>
              <a:rPr lang="en-US" sz="2800" dirty="0">
                <a:latin typeface="+mn-lt"/>
              </a:rPr>
              <a:t>- Customer feedback sessions </a:t>
            </a:r>
          </a:p>
          <a:p>
            <a:pPr>
              <a:lnSpc>
                <a:spcPct val="150000"/>
              </a:lnSpc>
            </a:pPr>
            <a:r>
              <a:rPr lang="en-US" sz="2800" dirty="0">
                <a:latin typeface="+mn-lt"/>
              </a:rPr>
              <a:t>to understand requirements better. </a:t>
            </a:r>
          </a:p>
        </p:txBody>
      </p:sp>
    </p:spTree>
    <p:extLst>
      <p:ext uri="{BB962C8B-B14F-4D97-AF65-F5344CB8AC3E}">
        <p14:creationId xmlns:p14="http://schemas.microsoft.com/office/powerpoint/2010/main" val="150420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51D1-A7C8-FE8E-BEB8-04E5BB4BAF3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53077E7-1ED5-5E47-EFD2-0E6935AE73A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E1C1AA89-D746-DF9D-31C6-1A61E74290F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2263205-1F7A-CA0C-22F3-C94F5A5C8A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64CFD7A0-A466-C3A7-13F7-74974E69D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6AE7B32-783A-D151-E64A-7B339494B429}"/>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7. Agile welcomes change</a:t>
            </a:r>
          </a:p>
          <a:p>
            <a:pPr>
              <a:lnSpc>
                <a:spcPct val="150000"/>
              </a:lnSpc>
            </a:pPr>
            <a:r>
              <a:rPr lang="en-US" sz="2800" dirty="0">
                <a:latin typeface="+mn-lt"/>
              </a:rPr>
              <a:t>Waterfall prefers stable requirements.</a:t>
            </a:r>
          </a:p>
          <a:p>
            <a:pPr>
              <a:lnSpc>
                <a:spcPct val="150000"/>
              </a:lnSpc>
            </a:pPr>
            <a:r>
              <a:rPr lang="en-US" sz="2800" dirty="0">
                <a:latin typeface="+mn-lt"/>
              </a:rPr>
              <a:t>Agile accepts that requirements may change as customers learn more about what they need.</a:t>
            </a:r>
          </a:p>
          <a:p>
            <a:pPr>
              <a:lnSpc>
                <a:spcPct val="150000"/>
              </a:lnSpc>
            </a:pPr>
            <a:r>
              <a:rPr lang="en-US" sz="2800" dirty="0">
                <a:latin typeface="+mn-lt"/>
              </a:rPr>
              <a:t>This flexibility helps teams deliver greater customer value.</a:t>
            </a:r>
          </a:p>
        </p:txBody>
      </p:sp>
    </p:spTree>
    <p:extLst>
      <p:ext uri="{BB962C8B-B14F-4D97-AF65-F5344CB8AC3E}">
        <p14:creationId xmlns:p14="http://schemas.microsoft.com/office/powerpoint/2010/main" val="1943622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5AC9C-3D3F-1B7C-E9F6-72D82CE5ADB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5D27598-43AC-CACC-5F80-C57496FEBB9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8481E07-89E6-1276-1611-53ED9DEE0A7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A393A28-24A8-64D9-F4A2-D3A292950A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754D656A-0946-50C7-F754-81778BC2DD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9F2CFA4-1A83-E2DC-99B0-64DD8DB4EEAF}"/>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8. Quality should be checked regularly</a:t>
            </a:r>
          </a:p>
          <a:p>
            <a:pPr>
              <a:lnSpc>
                <a:spcPct val="150000"/>
              </a:lnSpc>
            </a:pPr>
            <a:r>
              <a:rPr lang="en-US" sz="2800" dirty="0">
                <a:latin typeface="+mn-lt"/>
              </a:rPr>
              <a:t>Waterfall often tests near the end of the project.</a:t>
            </a:r>
          </a:p>
          <a:p>
            <a:pPr>
              <a:lnSpc>
                <a:spcPct val="150000"/>
              </a:lnSpc>
            </a:pPr>
            <a:r>
              <a:rPr lang="en-US" sz="2800" dirty="0">
                <a:latin typeface="+mn-lt"/>
              </a:rPr>
              <a:t>Agile tests continuously throughout development.</a:t>
            </a:r>
          </a:p>
          <a:p>
            <a:pPr>
              <a:lnSpc>
                <a:spcPct val="150000"/>
              </a:lnSpc>
            </a:pPr>
            <a:r>
              <a:rPr lang="en-US" sz="2800" dirty="0">
                <a:latin typeface="+mn-lt"/>
              </a:rPr>
              <a:t>This helps identify problems earlier and reduces rework. </a:t>
            </a:r>
          </a:p>
        </p:txBody>
      </p:sp>
    </p:spTree>
    <p:extLst>
      <p:ext uri="{BB962C8B-B14F-4D97-AF65-F5344CB8AC3E}">
        <p14:creationId xmlns:p14="http://schemas.microsoft.com/office/powerpoint/2010/main" val="2325243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21D4F-D274-416F-D78E-40288E3822A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383DB57-1984-6C97-C5DD-591EB284A55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976A8FA-0AEB-30A5-483C-91A55B8AB13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C8C8867-87E8-66F9-C338-78A32EBADE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42176904-F191-B712-314F-208E276F8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FF75D14-82FC-2C52-3AAA-C13C3A3F136C}"/>
              </a:ext>
            </a:extLst>
          </p:cNvPr>
          <p:cNvSpPr txBox="1"/>
          <p:nvPr/>
        </p:nvSpPr>
        <p:spPr>
          <a:xfrm>
            <a:off x="0" y="1485595"/>
            <a:ext cx="9144000" cy="5196166"/>
          </a:xfrm>
          <a:prstGeom prst="rect">
            <a:avLst/>
          </a:prstGeom>
          <a:solidFill>
            <a:schemeClr val="bg1"/>
          </a:solidFill>
        </p:spPr>
        <p:txBody>
          <a:bodyPr wrap="square">
            <a:spAutoFit/>
          </a:bodyPr>
          <a:lstStyle/>
          <a:p>
            <a:pPr>
              <a:lnSpc>
                <a:spcPct val="150000"/>
              </a:lnSpc>
            </a:pPr>
            <a:r>
              <a:rPr lang="en-US" sz="2800" b="1" dirty="0">
                <a:latin typeface="+mn-lt"/>
              </a:rPr>
              <a:t>9. Risks must always be managed</a:t>
            </a:r>
          </a:p>
          <a:p>
            <a:pPr>
              <a:lnSpc>
                <a:spcPct val="150000"/>
              </a:lnSpc>
            </a:pPr>
            <a:r>
              <a:rPr lang="en-US" sz="2800" dirty="0">
                <a:latin typeface="+mn-lt"/>
              </a:rPr>
              <a:t>Regardless of methodology, project managers must:</a:t>
            </a:r>
          </a:p>
          <a:p>
            <a:pPr>
              <a:lnSpc>
                <a:spcPct val="150000"/>
              </a:lnSpc>
            </a:pPr>
            <a:r>
              <a:rPr lang="en-US" sz="2800" dirty="0">
                <a:latin typeface="+mn-lt"/>
              </a:rPr>
              <a:t>- Identify risks </a:t>
            </a:r>
          </a:p>
          <a:p>
            <a:pPr>
              <a:lnSpc>
                <a:spcPct val="150000"/>
              </a:lnSpc>
            </a:pPr>
            <a:r>
              <a:rPr lang="en-US" sz="2800" dirty="0">
                <a:latin typeface="+mn-lt"/>
              </a:rPr>
              <a:t>- Assess risks </a:t>
            </a:r>
          </a:p>
          <a:p>
            <a:pPr>
              <a:lnSpc>
                <a:spcPct val="150000"/>
              </a:lnSpc>
            </a:pPr>
            <a:r>
              <a:rPr lang="en-US" sz="2800" dirty="0">
                <a:latin typeface="+mn-lt"/>
              </a:rPr>
              <a:t>- Monitor risks </a:t>
            </a:r>
          </a:p>
          <a:p>
            <a:pPr>
              <a:lnSpc>
                <a:spcPct val="150000"/>
              </a:lnSpc>
            </a:pPr>
            <a:r>
              <a:rPr lang="en-US" sz="2800" dirty="0">
                <a:latin typeface="+mn-lt"/>
              </a:rPr>
              <a:t>- Reduce risks </a:t>
            </a:r>
          </a:p>
          <a:p>
            <a:pPr>
              <a:lnSpc>
                <a:spcPct val="150000"/>
              </a:lnSpc>
            </a:pPr>
            <a:r>
              <a:rPr lang="en-US" sz="2800" dirty="0">
                <a:latin typeface="+mn-lt"/>
              </a:rPr>
              <a:t>Risk management is important in both Agile and Waterfall projects. </a:t>
            </a:r>
          </a:p>
        </p:txBody>
      </p:sp>
    </p:spTree>
    <p:extLst>
      <p:ext uri="{BB962C8B-B14F-4D97-AF65-F5344CB8AC3E}">
        <p14:creationId xmlns:p14="http://schemas.microsoft.com/office/powerpoint/2010/main" val="170925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CE0C-4953-8AE3-C941-FA20836273D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12B4DEC-DFEB-E143-8BE2-2283B03E23D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10 Pre-Class Readings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B07F05B-994F-242C-B0A4-BDDA100CC13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4CDC276-D314-2BC9-ABD1-38BC6959A72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56EFF7F3-CD38-B51C-0A21-3B410B647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14694D8-19AD-80AA-F6A2-193602295F18}"/>
              </a:ext>
            </a:extLst>
          </p:cNvPr>
          <p:cNvSpPr txBox="1"/>
          <p:nvPr/>
        </p:nvSpPr>
        <p:spPr>
          <a:xfrm>
            <a:off x="0" y="1485595"/>
            <a:ext cx="9144000" cy="4549835"/>
          </a:xfrm>
          <a:prstGeom prst="rect">
            <a:avLst/>
          </a:prstGeom>
          <a:solidFill>
            <a:schemeClr val="bg1"/>
          </a:solidFill>
        </p:spPr>
        <p:txBody>
          <a:bodyPr wrap="square">
            <a:spAutoFit/>
          </a:bodyPr>
          <a:lstStyle/>
          <a:p>
            <a:pPr>
              <a:lnSpc>
                <a:spcPct val="150000"/>
              </a:lnSpc>
            </a:pPr>
            <a:r>
              <a:rPr lang="en-US" sz="2800" b="1" dirty="0">
                <a:latin typeface="+mn-lt"/>
              </a:rPr>
              <a:t>10. Project success depends on teamwork</a:t>
            </a:r>
          </a:p>
          <a:p>
            <a:pPr>
              <a:lnSpc>
                <a:spcPct val="150000"/>
              </a:lnSpc>
            </a:pPr>
            <a:r>
              <a:rPr lang="en-US" sz="2800" dirty="0">
                <a:latin typeface="+mn-lt"/>
              </a:rPr>
              <a:t>Successful projects require:</a:t>
            </a:r>
          </a:p>
          <a:p>
            <a:pPr>
              <a:lnSpc>
                <a:spcPct val="150000"/>
              </a:lnSpc>
            </a:pPr>
            <a:r>
              <a:rPr lang="en-US" sz="2800" dirty="0">
                <a:latin typeface="+mn-lt"/>
              </a:rPr>
              <a:t>- Good communication </a:t>
            </a:r>
          </a:p>
          <a:p>
            <a:pPr>
              <a:lnSpc>
                <a:spcPct val="150000"/>
              </a:lnSpc>
            </a:pPr>
            <a:r>
              <a:rPr lang="en-US" sz="2800" dirty="0">
                <a:latin typeface="+mn-lt"/>
              </a:rPr>
              <a:t>- Collaboration </a:t>
            </a:r>
          </a:p>
          <a:p>
            <a:pPr>
              <a:lnSpc>
                <a:spcPct val="150000"/>
              </a:lnSpc>
            </a:pPr>
            <a:r>
              <a:rPr lang="en-US" sz="2800" dirty="0">
                <a:latin typeface="+mn-lt"/>
              </a:rPr>
              <a:t>- Shared goals </a:t>
            </a:r>
          </a:p>
          <a:p>
            <a:pPr>
              <a:lnSpc>
                <a:spcPct val="150000"/>
              </a:lnSpc>
            </a:pPr>
            <a:r>
              <a:rPr lang="en-US" sz="2800" dirty="0">
                <a:latin typeface="+mn-lt"/>
              </a:rPr>
              <a:t>- Clear responsibilities </a:t>
            </a:r>
          </a:p>
          <a:p>
            <a:pPr>
              <a:lnSpc>
                <a:spcPct val="150000"/>
              </a:lnSpc>
            </a:pPr>
            <a:r>
              <a:rPr lang="en-US" sz="2800" dirty="0">
                <a:latin typeface="+mn-lt"/>
              </a:rPr>
              <a:t>People are often more important than processes or tools.</a:t>
            </a:r>
          </a:p>
        </p:txBody>
      </p:sp>
    </p:spTree>
    <p:extLst>
      <p:ext uri="{BB962C8B-B14F-4D97-AF65-F5344CB8AC3E}">
        <p14:creationId xmlns:p14="http://schemas.microsoft.com/office/powerpoint/2010/main" val="906002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5A8C-A159-E30B-84F8-C567C2B5A70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BE3031B-6570-D107-7672-B3A3C1AC37C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B769C280-BED7-C16C-35F8-6129DA5191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441589-1449-5BD6-D371-83191F31B2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E15814A5-74B6-4DA8-527B-59E18141C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33868E1-70B8-DC4E-16E5-A92D657DFA32}"/>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b="1" dirty="0">
                <a:latin typeface="+mn-lt"/>
              </a:rPr>
              <a:t>Choosing a Project Management Methodology</a:t>
            </a:r>
          </a:p>
          <a:p>
            <a:pPr>
              <a:lnSpc>
                <a:spcPct val="150000"/>
              </a:lnSpc>
            </a:pPr>
            <a:r>
              <a:rPr lang="en-US" sz="2800" b="1" dirty="0">
                <a:latin typeface="+mn-lt"/>
              </a:rPr>
              <a:t>Question for NSW IT Support</a:t>
            </a:r>
            <a:endParaRPr lang="en-US" sz="2800" dirty="0">
              <a:latin typeface="+mn-lt"/>
            </a:endParaRPr>
          </a:p>
          <a:p>
            <a:pPr>
              <a:lnSpc>
                <a:spcPct val="150000"/>
              </a:lnSpc>
            </a:pPr>
            <a:r>
              <a:rPr lang="en-US" sz="2800" dirty="0">
                <a:latin typeface="+mn-lt"/>
              </a:rPr>
              <a:t>- Do you mainly use Agile, Waterfall, or a combination? </a:t>
            </a:r>
          </a:p>
          <a:p>
            <a:pPr>
              <a:lnSpc>
                <a:spcPct val="150000"/>
              </a:lnSpc>
            </a:pPr>
            <a:r>
              <a:rPr lang="en-US" sz="2800" dirty="0">
                <a:latin typeface="+mn-lt"/>
              </a:rPr>
              <a:t>- Which projects suit Agile best? </a:t>
            </a:r>
          </a:p>
          <a:p>
            <a:pPr>
              <a:lnSpc>
                <a:spcPct val="150000"/>
              </a:lnSpc>
            </a:pPr>
            <a:r>
              <a:rPr lang="en-US" sz="2800" dirty="0">
                <a:latin typeface="+mn-lt"/>
              </a:rPr>
              <a:t>- Which projects suit Waterfall best? </a:t>
            </a:r>
          </a:p>
          <a:p>
            <a:pPr>
              <a:lnSpc>
                <a:spcPct val="150000"/>
              </a:lnSpc>
            </a:pPr>
            <a:r>
              <a:rPr lang="en-US" sz="2800" dirty="0">
                <a:latin typeface="+mn-lt"/>
              </a:rPr>
              <a:t>- What project management tools do you use? </a:t>
            </a:r>
          </a:p>
        </p:txBody>
      </p:sp>
    </p:spTree>
    <p:extLst>
      <p:ext uri="{BB962C8B-B14F-4D97-AF65-F5344CB8AC3E}">
        <p14:creationId xmlns:p14="http://schemas.microsoft.com/office/powerpoint/2010/main" val="183240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BD11B-36CA-8310-E130-418F2B44706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B102872-DB0E-1074-A640-6FBDBB8784B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D3C9DA8-C686-B915-D01C-4FE36BAC7B7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0AB50BA-5EDE-CB61-488A-0E07A542DE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0E3F4F41-823A-FAC9-ADDC-8D929141F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46E7978-2DC5-0D77-22DA-EAD2D3AEA3E1}"/>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Possible Australian Industry Answer</a:t>
            </a:r>
            <a:endParaRPr lang="en-US" sz="2800" dirty="0">
              <a:latin typeface="+mn-lt"/>
            </a:endParaRPr>
          </a:p>
          <a:p>
            <a:pPr>
              <a:lnSpc>
                <a:spcPct val="150000"/>
              </a:lnSpc>
            </a:pPr>
            <a:r>
              <a:rPr lang="en-US" sz="2800" dirty="0">
                <a:latin typeface="+mn-lt"/>
              </a:rPr>
              <a:t>- Agile for software development and cloud projects. </a:t>
            </a:r>
          </a:p>
          <a:p>
            <a:pPr>
              <a:lnSpc>
                <a:spcPct val="150000"/>
              </a:lnSpc>
            </a:pPr>
            <a:r>
              <a:rPr lang="en-US" sz="2800" dirty="0">
                <a:latin typeface="+mn-lt"/>
              </a:rPr>
              <a:t>- Waterfall for infrastructure upgrades and compliance projects. </a:t>
            </a:r>
          </a:p>
          <a:p>
            <a:pPr>
              <a:lnSpc>
                <a:spcPct val="150000"/>
              </a:lnSpc>
            </a:pPr>
            <a:r>
              <a:rPr lang="en-US" sz="2800" dirty="0">
                <a:latin typeface="+mn-lt"/>
              </a:rPr>
              <a:t>- Hybrid approach is common.</a:t>
            </a:r>
          </a:p>
        </p:txBody>
      </p:sp>
    </p:spTree>
    <p:extLst>
      <p:ext uri="{BB962C8B-B14F-4D97-AF65-F5344CB8AC3E}">
        <p14:creationId xmlns:p14="http://schemas.microsoft.com/office/powerpoint/2010/main" val="3347322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D6F86-A518-B4B9-4B4A-ADEC492233E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B973F92-7DB4-91B3-513B-3EE8153472F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B6E7CDF-7122-5F60-8C20-15DB99BABF3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350BC37-6209-8CCE-0DF6-4B9EFC1ED7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6D41F848-3A30-72F4-82EF-0FAB7B988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4B6F665-72E9-4747-8ED5-571F2060EE65}"/>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Project Planning Challenges</a:t>
            </a:r>
          </a:p>
          <a:p>
            <a:pPr>
              <a:lnSpc>
                <a:spcPct val="150000"/>
              </a:lnSpc>
            </a:pPr>
            <a:r>
              <a:rPr lang="en-US" sz="2800" b="1" dirty="0">
                <a:latin typeface="+mn-lt"/>
              </a:rPr>
              <a:t>Questions to Ask</a:t>
            </a:r>
            <a:endParaRPr lang="en-US" sz="2800" dirty="0">
              <a:latin typeface="+mn-lt"/>
            </a:endParaRPr>
          </a:p>
          <a:p>
            <a:pPr>
              <a:lnSpc>
                <a:spcPct val="150000"/>
              </a:lnSpc>
            </a:pPr>
            <a:r>
              <a:rPr lang="en-US" sz="2800" dirty="0">
                <a:latin typeface="+mn-lt"/>
              </a:rPr>
              <a:t>- What planning challenges do your clients face? </a:t>
            </a:r>
          </a:p>
          <a:p>
            <a:pPr>
              <a:lnSpc>
                <a:spcPct val="150000"/>
              </a:lnSpc>
            </a:pPr>
            <a:r>
              <a:rPr lang="en-US" sz="2800" dirty="0">
                <a:latin typeface="+mn-lt"/>
              </a:rPr>
              <a:t>- How do project delays occur? </a:t>
            </a:r>
          </a:p>
          <a:p>
            <a:pPr>
              <a:lnSpc>
                <a:spcPct val="150000"/>
              </a:lnSpc>
            </a:pPr>
            <a:r>
              <a:rPr lang="en-US" sz="2800" dirty="0">
                <a:latin typeface="+mn-lt"/>
              </a:rPr>
              <a:t>- How do you estimate project timelines?</a:t>
            </a:r>
          </a:p>
        </p:txBody>
      </p:sp>
    </p:spTree>
    <p:extLst>
      <p:ext uri="{BB962C8B-B14F-4D97-AF65-F5344CB8AC3E}">
        <p14:creationId xmlns:p14="http://schemas.microsoft.com/office/powerpoint/2010/main" val="4166905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BA50-2CB6-2AC3-2C2F-9768C119C92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EFCEBBB-5575-AC6E-B23E-E222E56FD6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6AB480D-9CCD-A4B4-0B5E-D18C5E76670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33DA680-8D38-01F4-E6F8-FCFBB00BF1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46F277A3-76E6-CCBD-3272-EFD6017B9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1474F4F-CDE7-75C9-89D9-CB1130661DAF}"/>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Possible Challenges</a:t>
            </a:r>
            <a:endParaRPr lang="en-US" sz="2800" dirty="0">
              <a:latin typeface="+mn-lt"/>
            </a:endParaRPr>
          </a:p>
          <a:p>
            <a:pPr>
              <a:lnSpc>
                <a:spcPct val="150000"/>
              </a:lnSpc>
            </a:pPr>
            <a:r>
              <a:rPr lang="en-US" sz="2800" dirty="0">
                <a:latin typeface="+mn-lt"/>
              </a:rPr>
              <a:t>- Unclear requirements. </a:t>
            </a:r>
          </a:p>
          <a:p>
            <a:pPr>
              <a:lnSpc>
                <a:spcPct val="150000"/>
              </a:lnSpc>
            </a:pPr>
            <a:r>
              <a:rPr lang="en-US" sz="2800" dirty="0">
                <a:latin typeface="+mn-lt"/>
              </a:rPr>
              <a:t>- Scope changes. </a:t>
            </a:r>
          </a:p>
          <a:p>
            <a:pPr>
              <a:lnSpc>
                <a:spcPct val="150000"/>
              </a:lnSpc>
            </a:pPr>
            <a:r>
              <a:rPr lang="en-US" sz="2800" dirty="0">
                <a:latin typeface="+mn-lt"/>
              </a:rPr>
              <a:t>- Limited resources. </a:t>
            </a:r>
          </a:p>
          <a:p>
            <a:pPr>
              <a:lnSpc>
                <a:spcPct val="150000"/>
              </a:lnSpc>
            </a:pPr>
            <a:r>
              <a:rPr lang="en-US" sz="2800" dirty="0">
                <a:latin typeface="+mn-lt"/>
              </a:rPr>
              <a:t>- Client communication issues.</a:t>
            </a:r>
          </a:p>
        </p:txBody>
      </p:sp>
    </p:spTree>
    <p:extLst>
      <p:ext uri="{BB962C8B-B14F-4D97-AF65-F5344CB8AC3E}">
        <p14:creationId xmlns:p14="http://schemas.microsoft.com/office/powerpoint/2010/main" val="3191444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4652-BD66-1D14-0320-05007066214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DD3BAF6-E762-DDB8-B630-74C4FB42F0D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B2AE1F3-D141-08E8-6D21-863DA34DA7B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45D5010-014D-DA50-07B1-E0AA56227C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42E3A85A-04E4-6C26-561C-2BF4DFE6E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E4DBD03-D649-68A5-8805-AD51A0C5C9BD}"/>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Possible Solutions</a:t>
            </a:r>
            <a:endParaRPr lang="en-US" sz="2800" dirty="0">
              <a:latin typeface="+mn-lt"/>
            </a:endParaRPr>
          </a:p>
          <a:p>
            <a:pPr>
              <a:lnSpc>
                <a:spcPct val="150000"/>
              </a:lnSpc>
            </a:pPr>
            <a:r>
              <a:rPr lang="en-US" sz="2800" dirty="0">
                <a:latin typeface="+mn-lt"/>
              </a:rPr>
              <a:t>- Better requirement gathering. </a:t>
            </a:r>
          </a:p>
          <a:p>
            <a:pPr>
              <a:lnSpc>
                <a:spcPct val="150000"/>
              </a:lnSpc>
            </a:pPr>
            <a:r>
              <a:rPr lang="en-US" sz="2800" dirty="0">
                <a:latin typeface="+mn-lt"/>
              </a:rPr>
              <a:t>- Regular client meetings. </a:t>
            </a:r>
          </a:p>
          <a:p>
            <a:pPr>
              <a:lnSpc>
                <a:spcPct val="150000"/>
              </a:lnSpc>
            </a:pPr>
            <a:r>
              <a:rPr lang="en-US" sz="2800" dirty="0">
                <a:latin typeface="+mn-lt"/>
              </a:rPr>
              <a:t>- Clear project scope documentation. </a:t>
            </a:r>
          </a:p>
          <a:p>
            <a:pPr>
              <a:lnSpc>
                <a:spcPct val="150000"/>
              </a:lnSpc>
            </a:pPr>
            <a:r>
              <a:rPr lang="en-US" sz="2800" dirty="0">
                <a:latin typeface="+mn-lt"/>
              </a:rPr>
              <a:t>- Agile sprint planning.</a:t>
            </a:r>
          </a:p>
        </p:txBody>
      </p:sp>
    </p:spTree>
    <p:extLst>
      <p:ext uri="{BB962C8B-B14F-4D97-AF65-F5344CB8AC3E}">
        <p14:creationId xmlns:p14="http://schemas.microsoft.com/office/powerpoint/2010/main" val="448492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1108-A2DD-1B7D-49EF-15293B20022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6060DE6-A212-2B60-D1CA-65D8296ED72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38C49CC1-8913-BC45-E8D3-B14E10C32B1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55F8919-C696-58B1-C41C-04D5D1BD47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234FBAAD-CEEF-EBF5-9999-6E006ADEE8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ACD6363-145A-A9F9-1A1A-49A8FC7FEEAC}"/>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Scheduling and Resource Management</a:t>
            </a:r>
          </a:p>
          <a:p>
            <a:pPr>
              <a:lnSpc>
                <a:spcPct val="150000"/>
              </a:lnSpc>
            </a:pPr>
            <a:r>
              <a:rPr lang="en-US" sz="2800" b="1" dirty="0">
                <a:latin typeface="+mn-lt"/>
              </a:rPr>
              <a:t>Questions to Ask</a:t>
            </a:r>
            <a:endParaRPr lang="en-US" sz="2800" dirty="0">
              <a:latin typeface="+mn-lt"/>
            </a:endParaRPr>
          </a:p>
          <a:p>
            <a:pPr>
              <a:lnSpc>
                <a:spcPct val="150000"/>
              </a:lnSpc>
            </a:pPr>
            <a:r>
              <a:rPr lang="en-US" sz="2800" dirty="0">
                <a:latin typeface="+mn-lt"/>
              </a:rPr>
              <a:t>- How do you allocate staff to projects? </a:t>
            </a:r>
          </a:p>
          <a:p>
            <a:pPr>
              <a:lnSpc>
                <a:spcPct val="150000"/>
              </a:lnSpc>
            </a:pPr>
            <a:r>
              <a:rPr lang="en-US" sz="2800" dirty="0">
                <a:latin typeface="+mn-lt"/>
              </a:rPr>
              <a:t>- How do you manage resource shortages? </a:t>
            </a:r>
          </a:p>
          <a:p>
            <a:pPr>
              <a:lnSpc>
                <a:spcPct val="150000"/>
              </a:lnSpc>
            </a:pPr>
            <a:r>
              <a:rPr lang="en-US" sz="2800" dirty="0">
                <a:latin typeface="+mn-lt"/>
              </a:rPr>
              <a:t>- How do you monitor project progress?</a:t>
            </a:r>
          </a:p>
        </p:txBody>
      </p:sp>
    </p:spTree>
    <p:extLst>
      <p:ext uri="{BB962C8B-B14F-4D97-AF65-F5344CB8AC3E}">
        <p14:creationId xmlns:p14="http://schemas.microsoft.com/office/powerpoint/2010/main" val="748203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B9DD-71AD-C5F7-248F-18922021DCD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CD20163-C9DE-8844-2692-FFE7B4A39F0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F4B0BCF-1E40-0957-0FC6-A8BED2C5A2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66E7031-760B-F570-91D7-45AE52677AE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CBD587E2-10D6-F62F-9B9E-884DD3CC1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DC219A5-1257-1915-3BD4-7D8858A37AB5}"/>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Potential Solutions</a:t>
            </a:r>
            <a:endParaRPr lang="en-US" sz="2800" dirty="0">
              <a:latin typeface="+mn-lt"/>
            </a:endParaRPr>
          </a:p>
          <a:p>
            <a:pPr>
              <a:lnSpc>
                <a:spcPct val="150000"/>
              </a:lnSpc>
            </a:pPr>
            <a:r>
              <a:rPr lang="en-US" sz="2800" dirty="0">
                <a:latin typeface="+mn-lt"/>
              </a:rPr>
              <a:t>- Resource planning tools. </a:t>
            </a:r>
          </a:p>
          <a:p>
            <a:pPr>
              <a:lnSpc>
                <a:spcPct val="150000"/>
              </a:lnSpc>
            </a:pPr>
            <a:r>
              <a:rPr lang="en-US" sz="2800" dirty="0">
                <a:latin typeface="+mn-lt"/>
              </a:rPr>
              <a:t>- Weekly status meetings. </a:t>
            </a:r>
          </a:p>
          <a:p>
            <a:pPr>
              <a:lnSpc>
                <a:spcPct val="150000"/>
              </a:lnSpc>
            </a:pPr>
            <a:r>
              <a:rPr lang="en-US" sz="2800" dirty="0">
                <a:latin typeface="+mn-lt"/>
              </a:rPr>
              <a:t>- Project dashboards. </a:t>
            </a:r>
          </a:p>
          <a:p>
            <a:pPr>
              <a:lnSpc>
                <a:spcPct val="150000"/>
              </a:lnSpc>
            </a:pPr>
            <a:r>
              <a:rPr lang="en-US" sz="2800" dirty="0">
                <a:latin typeface="+mn-lt"/>
              </a:rPr>
              <a:t>- Workload balancing.</a:t>
            </a:r>
          </a:p>
        </p:txBody>
      </p:sp>
    </p:spTree>
    <p:extLst>
      <p:ext uri="{BB962C8B-B14F-4D97-AF65-F5344CB8AC3E}">
        <p14:creationId xmlns:p14="http://schemas.microsoft.com/office/powerpoint/2010/main" val="385273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D325-B2EF-BE49-2A26-65D98FF1BF9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4417126-1707-0A88-063E-BED47A1CD9D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4D80F572-5724-6122-3DF9-B3AA3D004EE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7D4E224-A372-E305-274F-FAAFA69C68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06B9490B-D77B-9D30-542B-F0153CCA3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12602BC-DF65-B715-0EF6-5408D98EE112}"/>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Tools Used in Real Projects</a:t>
            </a:r>
          </a:p>
          <a:p>
            <a:pPr>
              <a:lnSpc>
                <a:spcPct val="150000"/>
              </a:lnSpc>
            </a:pPr>
            <a:r>
              <a:rPr lang="en-US" sz="2800" b="1" dirty="0">
                <a:latin typeface="+mn-lt"/>
              </a:rPr>
              <a:t>Questions to Ask</a:t>
            </a:r>
            <a:endParaRPr lang="en-US" sz="2800" dirty="0">
              <a:latin typeface="+mn-lt"/>
            </a:endParaRPr>
          </a:p>
          <a:p>
            <a:pPr>
              <a:lnSpc>
                <a:spcPct val="150000"/>
              </a:lnSpc>
            </a:pPr>
            <a:r>
              <a:rPr lang="en-US" sz="2800" dirty="0">
                <a:latin typeface="+mn-lt"/>
              </a:rPr>
              <a:t>- Which project management tools do you use? </a:t>
            </a:r>
          </a:p>
          <a:p>
            <a:pPr>
              <a:lnSpc>
                <a:spcPct val="150000"/>
              </a:lnSpc>
            </a:pPr>
            <a:r>
              <a:rPr lang="en-US" sz="2800" dirty="0">
                <a:latin typeface="+mn-lt"/>
              </a:rPr>
              <a:t>- Why were those tools selected? </a:t>
            </a:r>
          </a:p>
          <a:p>
            <a:pPr>
              <a:lnSpc>
                <a:spcPct val="150000"/>
              </a:lnSpc>
            </a:pPr>
            <a:r>
              <a:rPr lang="en-US" sz="2800" dirty="0">
                <a:latin typeface="+mn-lt"/>
              </a:rPr>
              <a:t>- What benefits do they provide?</a:t>
            </a:r>
          </a:p>
        </p:txBody>
      </p:sp>
    </p:spTree>
    <p:extLst>
      <p:ext uri="{BB962C8B-B14F-4D97-AF65-F5344CB8AC3E}">
        <p14:creationId xmlns:p14="http://schemas.microsoft.com/office/powerpoint/2010/main" val="3366210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F73BA-60D2-24B1-E595-1D3C4180F2E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634B26A-0E2C-538B-ECBB-DCE5D19E67C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6FE46AC-F98C-92F2-71CE-0662D8180A9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9D474E3-8C89-1443-72BA-147CBAE49F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B4E22990-3211-A08E-A837-159D6CBA7C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75A909B-DCA7-148E-B0B6-93018028A34A}"/>
              </a:ext>
            </a:extLst>
          </p:cNvPr>
          <p:cNvSpPr txBox="1"/>
          <p:nvPr/>
        </p:nvSpPr>
        <p:spPr>
          <a:xfrm>
            <a:off x="0" y="1485595"/>
            <a:ext cx="9144000" cy="5196166"/>
          </a:xfrm>
          <a:prstGeom prst="rect">
            <a:avLst/>
          </a:prstGeom>
          <a:solidFill>
            <a:schemeClr val="bg1"/>
          </a:solidFill>
        </p:spPr>
        <p:txBody>
          <a:bodyPr wrap="square">
            <a:spAutoFit/>
          </a:bodyPr>
          <a:lstStyle/>
          <a:p>
            <a:pPr>
              <a:lnSpc>
                <a:spcPct val="150000"/>
              </a:lnSpc>
            </a:pPr>
            <a:r>
              <a:rPr lang="en-US" sz="2800" b="1" dirty="0">
                <a:latin typeface="+mn-lt"/>
              </a:rPr>
              <a:t>Common Industry Tools</a:t>
            </a:r>
            <a:endParaRPr lang="en-US" sz="2800" dirty="0">
              <a:latin typeface="+mn-lt"/>
            </a:endParaRPr>
          </a:p>
          <a:p>
            <a:pPr>
              <a:lnSpc>
                <a:spcPct val="150000"/>
              </a:lnSpc>
            </a:pPr>
            <a:r>
              <a:rPr lang="en-US" sz="2800" dirty="0">
                <a:latin typeface="+mn-lt"/>
              </a:rPr>
              <a:t>- Jira </a:t>
            </a:r>
          </a:p>
          <a:p>
            <a:pPr>
              <a:lnSpc>
                <a:spcPct val="150000"/>
              </a:lnSpc>
            </a:pPr>
            <a:r>
              <a:rPr lang="en-US" sz="2800" dirty="0">
                <a:latin typeface="+mn-lt"/>
              </a:rPr>
              <a:t>- Trello </a:t>
            </a:r>
          </a:p>
          <a:p>
            <a:pPr>
              <a:lnSpc>
                <a:spcPct val="150000"/>
              </a:lnSpc>
            </a:pPr>
            <a:r>
              <a:rPr lang="en-US" sz="2800" dirty="0">
                <a:latin typeface="+mn-lt"/>
              </a:rPr>
              <a:t>- Microsoft Project </a:t>
            </a:r>
          </a:p>
          <a:p>
            <a:pPr>
              <a:lnSpc>
                <a:spcPct val="150000"/>
              </a:lnSpc>
            </a:pPr>
            <a:r>
              <a:rPr lang="en-US" sz="2800" dirty="0">
                <a:latin typeface="+mn-lt"/>
              </a:rPr>
              <a:t>- Monday.com </a:t>
            </a:r>
          </a:p>
          <a:p>
            <a:pPr>
              <a:lnSpc>
                <a:spcPct val="150000"/>
              </a:lnSpc>
            </a:pPr>
            <a:r>
              <a:rPr lang="en-US" sz="2800" dirty="0">
                <a:latin typeface="+mn-lt"/>
              </a:rPr>
              <a:t>- Asana </a:t>
            </a:r>
          </a:p>
          <a:p>
            <a:pPr>
              <a:lnSpc>
                <a:spcPct val="150000"/>
              </a:lnSpc>
            </a:pPr>
            <a:r>
              <a:rPr lang="en-US" sz="2800" dirty="0">
                <a:latin typeface="+mn-lt"/>
              </a:rPr>
              <a:t>- Microsoft Teams </a:t>
            </a:r>
          </a:p>
          <a:p>
            <a:pPr>
              <a:lnSpc>
                <a:spcPct val="150000"/>
              </a:lnSpc>
            </a:pPr>
            <a:r>
              <a:rPr lang="en-US" sz="2800" dirty="0">
                <a:latin typeface="+mn-lt"/>
              </a:rPr>
              <a:t>- SharePoint </a:t>
            </a:r>
          </a:p>
        </p:txBody>
      </p:sp>
    </p:spTree>
    <p:extLst>
      <p:ext uri="{BB962C8B-B14F-4D97-AF65-F5344CB8AC3E}">
        <p14:creationId xmlns:p14="http://schemas.microsoft.com/office/powerpoint/2010/main" val="2173058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7D87-8472-EB6F-6E6B-D245F31EB74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7771C2F-876C-E1EA-57A6-097E1365753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6AC9AE81-584F-A2EE-CEF8-33ADB0C132E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7696378-80D4-7125-0AF1-B34CF937D8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13407EBE-3E9A-8C30-83FE-25B7C3AD9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FDCF9C1-69C9-2AFD-411A-690D6530916D}"/>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Communication and Collaboration</a:t>
            </a:r>
          </a:p>
          <a:p>
            <a:pPr>
              <a:lnSpc>
                <a:spcPct val="150000"/>
              </a:lnSpc>
            </a:pPr>
            <a:r>
              <a:rPr lang="en-US" sz="2800" b="1" dirty="0">
                <a:latin typeface="+mn-lt"/>
              </a:rPr>
              <a:t>Questions to Ask</a:t>
            </a:r>
            <a:endParaRPr lang="en-US" sz="2800" dirty="0">
              <a:latin typeface="+mn-lt"/>
            </a:endParaRPr>
          </a:p>
          <a:p>
            <a:pPr>
              <a:lnSpc>
                <a:spcPct val="150000"/>
              </a:lnSpc>
            </a:pPr>
            <a:r>
              <a:rPr lang="en-US" sz="2800" dirty="0">
                <a:latin typeface="+mn-lt"/>
              </a:rPr>
              <a:t>- How do you communicate with clients? </a:t>
            </a:r>
          </a:p>
          <a:p>
            <a:pPr>
              <a:lnSpc>
                <a:spcPct val="150000"/>
              </a:lnSpc>
            </a:pPr>
            <a:r>
              <a:rPr lang="en-US" sz="2800" dirty="0">
                <a:latin typeface="+mn-lt"/>
              </a:rPr>
              <a:t>- How often are project updates provided? </a:t>
            </a:r>
          </a:p>
          <a:p>
            <a:pPr>
              <a:lnSpc>
                <a:spcPct val="150000"/>
              </a:lnSpc>
            </a:pPr>
            <a:r>
              <a:rPr lang="en-US" sz="2800" dirty="0">
                <a:latin typeface="+mn-lt"/>
              </a:rPr>
              <a:t>- What causes communication failures?</a:t>
            </a:r>
          </a:p>
        </p:txBody>
      </p:sp>
    </p:spTree>
    <p:extLst>
      <p:ext uri="{BB962C8B-B14F-4D97-AF65-F5344CB8AC3E}">
        <p14:creationId xmlns:p14="http://schemas.microsoft.com/office/powerpoint/2010/main" val="3442651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FABA-60CF-50AC-F770-A8325034238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4F66463-ED1D-CE11-91E8-5EEA96D4222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0D4973B-37B0-4439-5328-A432EB92481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D4489A1-F0C2-ACF9-BDF4-0109462948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3D827E09-A4E9-193F-BF06-7A38ED80C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2189DFE-A7F0-D401-E286-D424309C2F9F}"/>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Solutions</a:t>
            </a:r>
            <a:endParaRPr lang="en-US" sz="2800" dirty="0">
              <a:latin typeface="+mn-lt"/>
            </a:endParaRPr>
          </a:p>
          <a:p>
            <a:pPr>
              <a:lnSpc>
                <a:spcPct val="150000"/>
              </a:lnSpc>
            </a:pPr>
            <a:r>
              <a:rPr lang="en-US" sz="2800" dirty="0">
                <a:latin typeface="+mn-lt"/>
              </a:rPr>
              <a:t>- Weekly meetings. </a:t>
            </a:r>
          </a:p>
          <a:p>
            <a:pPr>
              <a:lnSpc>
                <a:spcPct val="150000"/>
              </a:lnSpc>
            </a:pPr>
            <a:r>
              <a:rPr lang="en-US" sz="2800" dirty="0">
                <a:latin typeface="+mn-lt"/>
              </a:rPr>
              <a:t>- Shared dashboards. </a:t>
            </a:r>
          </a:p>
          <a:p>
            <a:pPr>
              <a:lnSpc>
                <a:spcPct val="150000"/>
              </a:lnSpc>
            </a:pPr>
            <a:r>
              <a:rPr lang="en-US" sz="2800" dirty="0">
                <a:latin typeface="+mn-lt"/>
              </a:rPr>
              <a:t>- Progress reports. </a:t>
            </a:r>
          </a:p>
          <a:p>
            <a:pPr>
              <a:lnSpc>
                <a:spcPct val="150000"/>
              </a:lnSpc>
            </a:pPr>
            <a:r>
              <a:rPr lang="en-US" sz="2800" dirty="0">
                <a:latin typeface="+mn-lt"/>
              </a:rPr>
              <a:t>- Clear escalation procedures.</a:t>
            </a:r>
          </a:p>
        </p:txBody>
      </p:sp>
    </p:spTree>
    <p:extLst>
      <p:ext uri="{BB962C8B-B14F-4D97-AF65-F5344CB8AC3E}">
        <p14:creationId xmlns:p14="http://schemas.microsoft.com/office/powerpoint/2010/main" val="2443617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2E19E-5CFC-82FF-9046-3FAEA59D847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C2E8C6B-8AA8-FFFD-3627-408106638AF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14BCD1C7-F7C7-19B7-A6DA-C17C5826B11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B58C36C-97B1-2F02-4940-341F812721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7E37966B-8B90-3703-89DC-3E07F27E5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BF79344-AD2F-3684-D764-FAEBB1142C7F}"/>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Challenges Facing Australian IT Projects</a:t>
            </a:r>
          </a:p>
          <a:p>
            <a:pPr>
              <a:lnSpc>
                <a:spcPct val="150000"/>
              </a:lnSpc>
            </a:pPr>
            <a:r>
              <a:rPr lang="en-US" sz="2800" b="1" dirty="0">
                <a:latin typeface="+mn-lt"/>
              </a:rPr>
              <a:t>Questions to Ask</a:t>
            </a:r>
            <a:endParaRPr lang="en-US" sz="2800" dirty="0">
              <a:latin typeface="+mn-lt"/>
            </a:endParaRPr>
          </a:p>
          <a:p>
            <a:pPr>
              <a:lnSpc>
                <a:spcPct val="150000"/>
              </a:lnSpc>
            </a:pPr>
            <a:r>
              <a:rPr lang="en-US" sz="2800" dirty="0">
                <a:latin typeface="+mn-lt"/>
              </a:rPr>
              <a:t>- What project risks are most common in Australia? </a:t>
            </a:r>
          </a:p>
          <a:p>
            <a:pPr>
              <a:lnSpc>
                <a:spcPct val="150000"/>
              </a:lnSpc>
            </a:pPr>
            <a:r>
              <a:rPr lang="en-US" sz="2800" dirty="0">
                <a:latin typeface="+mn-lt"/>
              </a:rPr>
              <a:t>- What causes project failure?</a:t>
            </a:r>
          </a:p>
        </p:txBody>
      </p:sp>
    </p:spTree>
    <p:extLst>
      <p:ext uri="{BB962C8B-B14F-4D97-AF65-F5344CB8AC3E}">
        <p14:creationId xmlns:p14="http://schemas.microsoft.com/office/powerpoint/2010/main" val="2073612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570E-7DBD-8058-D658-4DE39808082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4A9C862-D2E1-233D-FEED-16AFAE2DEF0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3E7CA32-9582-5CD0-383C-4FE503BAA8B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C32216-351C-69C3-1382-8980947D392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53CA33D9-7DF1-B721-6DAD-65D2D360B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30CA7B4-D860-F0AF-31D6-728ED2B3E148}"/>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b="1" dirty="0">
                <a:latin typeface="+mn-lt"/>
              </a:rPr>
              <a:t>Common Challenges</a:t>
            </a:r>
            <a:endParaRPr lang="en-US" sz="2800" dirty="0">
              <a:latin typeface="+mn-lt"/>
            </a:endParaRPr>
          </a:p>
          <a:p>
            <a:pPr>
              <a:lnSpc>
                <a:spcPct val="150000"/>
              </a:lnSpc>
            </a:pPr>
            <a:r>
              <a:rPr lang="en-US" sz="2800" dirty="0">
                <a:latin typeface="+mn-lt"/>
              </a:rPr>
              <a:t>- Cybersecurity threats. </a:t>
            </a:r>
          </a:p>
          <a:p>
            <a:pPr>
              <a:lnSpc>
                <a:spcPct val="150000"/>
              </a:lnSpc>
            </a:pPr>
            <a:r>
              <a:rPr lang="en-US" sz="2800" dirty="0">
                <a:latin typeface="+mn-lt"/>
              </a:rPr>
              <a:t>- Budget constraints. </a:t>
            </a:r>
          </a:p>
          <a:p>
            <a:pPr>
              <a:lnSpc>
                <a:spcPct val="150000"/>
              </a:lnSpc>
            </a:pPr>
            <a:r>
              <a:rPr lang="en-US" sz="2800" dirty="0">
                <a:latin typeface="+mn-lt"/>
              </a:rPr>
              <a:t>- Staff shortages. </a:t>
            </a:r>
          </a:p>
          <a:p>
            <a:pPr>
              <a:lnSpc>
                <a:spcPct val="150000"/>
              </a:lnSpc>
            </a:pPr>
            <a:r>
              <a:rPr lang="en-US" sz="2800" dirty="0">
                <a:latin typeface="+mn-lt"/>
              </a:rPr>
              <a:t>- Compliance requirements. </a:t>
            </a:r>
          </a:p>
          <a:p>
            <a:pPr>
              <a:lnSpc>
                <a:spcPct val="150000"/>
              </a:lnSpc>
            </a:pPr>
            <a:r>
              <a:rPr lang="en-US" sz="2800" dirty="0">
                <a:latin typeface="+mn-lt"/>
              </a:rPr>
              <a:t>- Changing client requirements.</a:t>
            </a:r>
          </a:p>
        </p:txBody>
      </p:sp>
    </p:spTree>
    <p:extLst>
      <p:ext uri="{BB962C8B-B14F-4D97-AF65-F5344CB8AC3E}">
        <p14:creationId xmlns:p14="http://schemas.microsoft.com/office/powerpoint/2010/main" val="3302506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7A461-F35F-E403-149F-8772F310CDD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6B3C3C6-8C31-3BA0-D08B-D2F11C092AC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DDD2E56-D301-AFE1-DC8E-123CBD8C8D3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D59F63-4D4C-BB35-2959-0ADFA4966D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3B651E43-8D49-8D56-576E-AC8DC29FA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0146185-019F-043E-4253-1FB632027008}"/>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Possible Solutions</a:t>
            </a:r>
            <a:endParaRPr lang="en-US" sz="2800" dirty="0">
              <a:latin typeface="+mn-lt"/>
            </a:endParaRPr>
          </a:p>
          <a:p>
            <a:pPr>
              <a:lnSpc>
                <a:spcPct val="150000"/>
              </a:lnSpc>
            </a:pPr>
            <a:r>
              <a:rPr lang="en-US" sz="2800" dirty="0">
                <a:latin typeface="+mn-lt"/>
              </a:rPr>
              <a:t>- Early risk assessment. </a:t>
            </a:r>
          </a:p>
          <a:p>
            <a:pPr>
              <a:lnSpc>
                <a:spcPct val="150000"/>
              </a:lnSpc>
            </a:pPr>
            <a:r>
              <a:rPr lang="en-US" sz="2800" dirty="0">
                <a:latin typeface="+mn-lt"/>
              </a:rPr>
              <a:t>- Agile project management. </a:t>
            </a:r>
          </a:p>
          <a:p>
            <a:pPr>
              <a:lnSpc>
                <a:spcPct val="150000"/>
              </a:lnSpc>
            </a:pPr>
            <a:r>
              <a:rPr lang="en-US" sz="2800" dirty="0">
                <a:latin typeface="+mn-lt"/>
              </a:rPr>
              <a:t>- Staff training. </a:t>
            </a:r>
          </a:p>
          <a:p>
            <a:pPr>
              <a:lnSpc>
                <a:spcPct val="150000"/>
              </a:lnSpc>
            </a:pPr>
            <a:r>
              <a:rPr lang="en-US" sz="2800" dirty="0">
                <a:latin typeface="+mn-lt"/>
              </a:rPr>
              <a:t>- Security reviews.</a:t>
            </a:r>
          </a:p>
        </p:txBody>
      </p:sp>
    </p:spTree>
    <p:extLst>
      <p:ext uri="{BB962C8B-B14F-4D97-AF65-F5344CB8AC3E}">
        <p14:creationId xmlns:p14="http://schemas.microsoft.com/office/powerpoint/2010/main" val="184708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425A8-0F12-EC6B-C0EB-3B8931AA4F8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0EF2C2C-ABD0-536F-345A-94EADD16389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1D22479-6E96-F897-D65C-7BF59F5A134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6DBBA76-68B6-DF1C-1C9F-9139F992E3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40070A87-3FB6-CA8D-6852-5A40311D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E358388-80A4-4D20-3F13-03DA7082B6CD}"/>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Questions Students Can Use for Assessment 4</a:t>
            </a:r>
          </a:p>
          <a:p>
            <a:pPr>
              <a:lnSpc>
                <a:spcPct val="150000"/>
              </a:lnSpc>
            </a:pPr>
            <a:r>
              <a:rPr lang="en-US" sz="2800" b="1" dirty="0">
                <a:latin typeface="+mn-lt"/>
              </a:rPr>
              <a:t>Project Management</a:t>
            </a:r>
          </a:p>
          <a:p>
            <a:pPr>
              <a:lnSpc>
                <a:spcPct val="150000"/>
              </a:lnSpc>
            </a:pPr>
            <a:r>
              <a:rPr lang="en-US" sz="2800" dirty="0">
                <a:latin typeface="+mn-lt"/>
              </a:rPr>
              <a:t>- How do you manage IT projects from start to finish? </a:t>
            </a:r>
          </a:p>
          <a:p>
            <a:pPr>
              <a:lnSpc>
                <a:spcPct val="150000"/>
              </a:lnSpc>
            </a:pPr>
            <a:r>
              <a:rPr lang="en-US" sz="2800" dirty="0">
                <a:latin typeface="+mn-lt"/>
              </a:rPr>
              <a:t>- Do you use Agile, Waterfall, or Hybrid? </a:t>
            </a:r>
          </a:p>
          <a:p>
            <a:pPr>
              <a:lnSpc>
                <a:spcPct val="150000"/>
              </a:lnSpc>
            </a:pPr>
            <a:r>
              <a:rPr lang="en-US" sz="2800" dirty="0">
                <a:latin typeface="+mn-lt"/>
              </a:rPr>
              <a:t>- What project management software do you use?</a:t>
            </a:r>
          </a:p>
        </p:txBody>
      </p:sp>
    </p:spTree>
    <p:extLst>
      <p:ext uri="{BB962C8B-B14F-4D97-AF65-F5344CB8AC3E}">
        <p14:creationId xmlns:p14="http://schemas.microsoft.com/office/powerpoint/2010/main" val="1005216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808F2-1DAC-D36F-F923-EE0BBC347BC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4578004-54A1-0318-8CBF-93E22351138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9510A9A8-755A-D079-3F4C-567DE05D340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5080F77-B453-DFF6-65C7-666B8AAEA7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0E8DC52A-49C5-1B4F-9F57-FDA3B8AC4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2537F52-6407-8E21-F068-267FD90E26E0}"/>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Resource Management</a:t>
            </a:r>
          </a:p>
          <a:p>
            <a:pPr>
              <a:lnSpc>
                <a:spcPct val="150000"/>
              </a:lnSpc>
            </a:pPr>
            <a:r>
              <a:rPr lang="en-US" sz="2800" dirty="0">
                <a:latin typeface="+mn-lt"/>
              </a:rPr>
              <a:t>- How do you allocate resources? </a:t>
            </a:r>
          </a:p>
          <a:p>
            <a:pPr>
              <a:lnSpc>
                <a:spcPct val="150000"/>
              </a:lnSpc>
            </a:pPr>
            <a:r>
              <a:rPr lang="en-US" sz="2800" dirty="0">
                <a:latin typeface="+mn-lt"/>
              </a:rPr>
              <a:t>- How do you manage multiple projects simultaneously? </a:t>
            </a:r>
          </a:p>
        </p:txBody>
      </p:sp>
    </p:spTree>
    <p:extLst>
      <p:ext uri="{BB962C8B-B14F-4D97-AF65-F5344CB8AC3E}">
        <p14:creationId xmlns:p14="http://schemas.microsoft.com/office/powerpoint/2010/main" val="3029425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58C9-317B-F067-08DB-1D65C4A193A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8090EF7-0F2D-DA61-1A29-B590E6CB8B9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E29E487-E1FE-A2EA-06B0-D73C0276347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23005A2-DB73-7800-2913-98F3AD7B5F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14EC9179-AE1D-A5AB-AF66-CACF3540D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4E25AAB-8AB8-26AB-9E0E-20BF135B1BE6}"/>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Communication</a:t>
            </a:r>
          </a:p>
          <a:p>
            <a:pPr>
              <a:lnSpc>
                <a:spcPct val="150000"/>
              </a:lnSpc>
            </a:pPr>
            <a:r>
              <a:rPr lang="en-US" sz="2800" dirty="0">
                <a:latin typeface="+mn-lt"/>
              </a:rPr>
              <a:t>- How do you communicate with clients and stakeholders? </a:t>
            </a:r>
          </a:p>
          <a:p>
            <a:pPr>
              <a:lnSpc>
                <a:spcPct val="150000"/>
              </a:lnSpc>
            </a:pPr>
            <a:r>
              <a:rPr lang="en-US" sz="2800" dirty="0">
                <a:latin typeface="+mn-lt"/>
              </a:rPr>
              <a:t>- What communication challenges occur most often?</a:t>
            </a:r>
          </a:p>
        </p:txBody>
      </p:sp>
    </p:spTree>
    <p:extLst>
      <p:ext uri="{BB962C8B-B14F-4D97-AF65-F5344CB8AC3E}">
        <p14:creationId xmlns:p14="http://schemas.microsoft.com/office/powerpoint/2010/main" val="2976657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8914-056D-78F4-1E9C-70A29FBAF7D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7F943FF-4BE5-4578-3CE2-9CE96587495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715518A-7E60-39B4-B160-205788C490A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CA48CBF-2ADA-7D7C-52CD-A58EA06D01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8C1EB5BC-A9EF-8D78-69D1-09A5A662E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16F7E5C-05AA-3F40-F515-6720706B4ABA}"/>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Risk Management</a:t>
            </a:r>
          </a:p>
          <a:p>
            <a:pPr>
              <a:lnSpc>
                <a:spcPct val="150000"/>
              </a:lnSpc>
            </a:pPr>
            <a:r>
              <a:rPr lang="en-US" sz="2800" dirty="0">
                <a:latin typeface="+mn-lt"/>
              </a:rPr>
              <a:t>- What are the biggest risks in IT projects? </a:t>
            </a:r>
          </a:p>
          <a:p>
            <a:pPr>
              <a:lnSpc>
                <a:spcPct val="150000"/>
              </a:lnSpc>
            </a:pPr>
            <a:r>
              <a:rPr lang="en-US" sz="2800" dirty="0">
                <a:latin typeface="+mn-lt"/>
              </a:rPr>
              <a:t>- How do you manage cybersecurity risks?</a:t>
            </a:r>
          </a:p>
        </p:txBody>
      </p:sp>
    </p:spTree>
    <p:extLst>
      <p:ext uri="{BB962C8B-B14F-4D97-AF65-F5344CB8AC3E}">
        <p14:creationId xmlns:p14="http://schemas.microsoft.com/office/powerpoint/2010/main" val="209075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10E6-7894-4EA2-51C5-E6BCF5CC523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4AA8E42-8BD2-5458-BB0D-A943D8D98F5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Working with NSW IT Support</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89977218-D9DD-48F8-3CE1-652FA90B8E9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2FF9C2E-4AB1-B8B9-B807-1B4B7E0930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34</a:t>
            </a:fld>
            <a:endParaRPr lang="en-US" altLang="en-US" sz="900">
              <a:solidFill>
                <a:srgbClr val="FFFFFF"/>
              </a:solidFill>
            </a:endParaRPr>
          </a:p>
        </p:txBody>
      </p:sp>
      <p:pic>
        <p:nvPicPr>
          <p:cNvPr id="22534" name="Picture 5">
            <a:extLst>
              <a:ext uri="{FF2B5EF4-FFF2-40B4-BE49-F238E27FC236}">
                <a16:creationId xmlns:a16="http://schemas.microsoft.com/office/drawing/2014/main" id="{C36FD391-8FD1-52CE-1CC3-408EEDDBE5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0E9DC23-85D4-D146-966E-85C3F6156694}"/>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Future Trends</a:t>
            </a:r>
          </a:p>
          <a:p>
            <a:pPr>
              <a:lnSpc>
                <a:spcPct val="150000"/>
              </a:lnSpc>
            </a:pPr>
            <a:r>
              <a:rPr lang="en-US" sz="2800" dirty="0">
                <a:latin typeface="+mn-lt"/>
              </a:rPr>
              <a:t>- How are AI and automation changing project management? </a:t>
            </a:r>
          </a:p>
          <a:p>
            <a:pPr>
              <a:lnSpc>
                <a:spcPct val="150000"/>
              </a:lnSpc>
            </a:pPr>
            <a:r>
              <a:rPr lang="en-US" sz="2800" dirty="0">
                <a:latin typeface="+mn-lt"/>
              </a:rPr>
              <a:t>- What project management skills are most important for graduates? </a:t>
            </a:r>
          </a:p>
        </p:txBody>
      </p:sp>
    </p:spTree>
    <p:extLst>
      <p:ext uri="{BB962C8B-B14F-4D97-AF65-F5344CB8AC3E}">
        <p14:creationId xmlns:p14="http://schemas.microsoft.com/office/powerpoint/2010/main" val="1222638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62FA0-735E-A3F5-19F0-2A067FFBBCD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73AF8FD-2C10-664D-6667-AF85EC0D1C8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2D2975C-A230-A682-6EB4-F769618677C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657F4C7-BDE7-933B-AE0C-884BB336CD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35</a:t>
            </a:fld>
            <a:endParaRPr lang="en-US" altLang="en-US" sz="900">
              <a:solidFill>
                <a:srgbClr val="FFFFFF"/>
              </a:solidFill>
            </a:endParaRPr>
          </a:p>
        </p:txBody>
      </p:sp>
      <p:pic>
        <p:nvPicPr>
          <p:cNvPr id="22534" name="Picture 5">
            <a:extLst>
              <a:ext uri="{FF2B5EF4-FFF2-40B4-BE49-F238E27FC236}">
                <a16:creationId xmlns:a16="http://schemas.microsoft.com/office/drawing/2014/main" id="{AD7AABBB-0E18-A4D9-8D92-2220EFA38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B4886B1-4D2B-47A6-493A-14A2DBCFB466}"/>
              </a:ext>
            </a:extLst>
          </p:cNvPr>
          <p:cNvSpPr txBox="1"/>
          <p:nvPr/>
        </p:nvSpPr>
        <p:spPr>
          <a:xfrm>
            <a:off x="0" y="1485595"/>
            <a:ext cx="9144000" cy="3257174"/>
          </a:xfrm>
          <a:prstGeom prst="rect">
            <a:avLst/>
          </a:prstGeom>
          <a:solidFill>
            <a:schemeClr val="bg1"/>
          </a:solidFill>
        </p:spPr>
        <p:txBody>
          <a:bodyPr wrap="square">
            <a:spAutoFit/>
          </a:bodyPr>
          <a:lstStyle/>
          <a:p>
            <a:pPr>
              <a:lnSpc>
                <a:spcPct val="150000"/>
              </a:lnSpc>
            </a:pPr>
            <a:r>
              <a:rPr lang="en-US" sz="2800" b="1" dirty="0">
                <a:latin typeface="+mn-lt"/>
              </a:rPr>
              <a:t>Q1. What is the main difference between Agile and Waterfall?</a:t>
            </a:r>
          </a:p>
          <a:p>
            <a:pPr>
              <a:lnSpc>
                <a:spcPct val="150000"/>
              </a:lnSpc>
            </a:pPr>
            <a:r>
              <a:rPr lang="en-US" sz="2800" dirty="0">
                <a:latin typeface="+mn-lt"/>
              </a:rPr>
              <a:t>Waterfall plans most work before development begins. Agile delivers work in small stages and allows changes during the project.</a:t>
            </a:r>
          </a:p>
        </p:txBody>
      </p:sp>
    </p:spTree>
    <p:extLst>
      <p:ext uri="{BB962C8B-B14F-4D97-AF65-F5344CB8AC3E}">
        <p14:creationId xmlns:p14="http://schemas.microsoft.com/office/powerpoint/2010/main" val="161784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393CE-131D-FB0D-6206-317E3345D24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1DDFBB2-ECC5-08D3-EB04-B79DCD1E7D5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23F63DB0-1D9B-9A4A-5E8A-82618A8CE73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6E226FD-E898-8502-B101-E39CD068CDB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36</a:t>
            </a:fld>
            <a:endParaRPr lang="en-US" altLang="en-US" sz="900">
              <a:solidFill>
                <a:srgbClr val="FFFFFF"/>
              </a:solidFill>
            </a:endParaRPr>
          </a:p>
        </p:txBody>
      </p:sp>
      <p:pic>
        <p:nvPicPr>
          <p:cNvPr id="22534" name="Picture 5">
            <a:extLst>
              <a:ext uri="{FF2B5EF4-FFF2-40B4-BE49-F238E27FC236}">
                <a16:creationId xmlns:a16="http://schemas.microsoft.com/office/drawing/2014/main" id="{8F966DDB-E126-F5A7-7B47-B2A3322823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E5E49D4-2076-E616-B0D0-C7DF3D9432F5}"/>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Q2. Does Agile eliminate planning?</a:t>
            </a:r>
          </a:p>
          <a:p>
            <a:pPr>
              <a:lnSpc>
                <a:spcPct val="150000"/>
              </a:lnSpc>
            </a:pPr>
            <a:r>
              <a:rPr lang="en-US" sz="2800" dirty="0">
                <a:latin typeface="+mn-lt"/>
              </a:rPr>
              <a:t>No. Agile still requires planning, but planning happens continuously throughout the project.</a:t>
            </a:r>
          </a:p>
        </p:txBody>
      </p:sp>
    </p:spTree>
    <p:extLst>
      <p:ext uri="{BB962C8B-B14F-4D97-AF65-F5344CB8AC3E}">
        <p14:creationId xmlns:p14="http://schemas.microsoft.com/office/powerpoint/2010/main" val="152041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9234A-7CBB-4450-B2D1-EE0B07896E7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ABE24E0-FF7C-0677-D957-531D36B60FF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FA62707-91EE-968E-A626-67418623CFD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5552CC4-9AE0-AD57-058D-0CFDD1AEF8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37</a:t>
            </a:fld>
            <a:endParaRPr lang="en-US" altLang="en-US" sz="900">
              <a:solidFill>
                <a:srgbClr val="FFFFFF"/>
              </a:solidFill>
            </a:endParaRPr>
          </a:p>
        </p:txBody>
      </p:sp>
      <p:pic>
        <p:nvPicPr>
          <p:cNvPr id="22534" name="Picture 5">
            <a:extLst>
              <a:ext uri="{FF2B5EF4-FFF2-40B4-BE49-F238E27FC236}">
                <a16:creationId xmlns:a16="http://schemas.microsoft.com/office/drawing/2014/main" id="{A683DB12-4642-286C-E559-1B028F5B9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CF777DC-7A31-0135-D427-71D6D84DF2C2}"/>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Q3. Why is customer feedback important in Agile?</a:t>
            </a:r>
          </a:p>
          <a:p>
            <a:pPr>
              <a:lnSpc>
                <a:spcPct val="150000"/>
              </a:lnSpc>
            </a:pPr>
            <a:r>
              <a:rPr lang="en-US" sz="2800" dirty="0">
                <a:latin typeface="+mn-lt"/>
              </a:rPr>
              <a:t>Customer feedback helps teams improve the product and ensure it meets user needs.</a:t>
            </a:r>
          </a:p>
        </p:txBody>
      </p:sp>
    </p:spTree>
    <p:extLst>
      <p:ext uri="{BB962C8B-B14F-4D97-AF65-F5344CB8AC3E}">
        <p14:creationId xmlns:p14="http://schemas.microsoft.com/office/powerpoint/2010/main" val="286777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B691-219C-EC23-5675-F33C6542E86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1154C35-B0C1-7E14-88BC-D0672F9D0EA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700A9E6-3AAF-99B6-D766-FD1C7663E78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5A601CC-4787-FA23-F671-6D7E4DA2D8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38</a:t>
            </a:fld>
            <a:endParaRPr lang="en-US" altLang="en-US" sz="900">
              <a:solidFill>
                <a:srgbClr val="FFFFFF"/>
              </a:solidFill>
            </a:endParaRPr>
          </a:p>
        </p:txBody>
      </p:sp>
      <p:pic>
        <p:nvPicPr>
          <p:cNvPr id="22534" name="Picture 5">
            <a:extLst>
              <a:ext uri="{FF2B5EF4-FFF2-40B4-BE49-F238E27FC236}">
                <a16:creationId xmlns:a16="http://schemas.microsoft.com/office/drawing/2014/main" id="{14C4B711-2031-13DF-F8F5-F81956024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457EBBC-5D67-4889-03EF-C7E525E93FDE}"/>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Q4. Why is communication important in project management?</a:t>
            </a:r>
          </a:p>
          <a:p>
            <a:pPr>
              <a:lnSpc>
                <a:spcPct val="150000"/>
              </a:lnSpc>
            </a:pPr>
            <a:r>
              <a:rPr lang="en-US" sz="2800" dirty="0">
                <a:latin typeface="+mn-lt"/>
              </a:rPr>
              <a:t>Good communication reduces misunderstandings, improves teamwork, and helps projects stay on track.</a:t>
            </a:r>
          </a:p>
        </p:txBody>
      </p:sp>
    </p:spTree>
    <p:extLst>
      <p:ext uri="{BB962C8B-B14F-4D97-AF65-F5344CB8AC3E}">
        <p14:creationId xmlns:p14="http://schemas.microsoft.com/office/powerpoint/2010/main" val="51961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571F3-682C-6366-475F-3C320FDE31C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3AC764F-70EE-585B-3518-861DDB1D6A8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0DA10364-26C2-15F1-E31C-0888355412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0065559-93AD-1E65-B0E5-82CEA173D59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39</a:t>
            </a:fld>
            <a:endParaRPr lang="en-US" altLang="en-US" sz="900">
              <a:solidFill>
                <a:srgbClr val="FFFFFF"/>
              </a:solidFill>
            </a:endParaRPr>
          </a:p>
        </p:txBody>
      </p:sp>
      <p:pic>
        <p:nvPicPr>
          <p:cNvPr id="22534" name="Picture 5">
            <a:extLst>
              <a:ext uri="{FF2B5EF4-FFF2-40B4-BE49-F238E27FC236}">
                <a16:creationId xmlns:a16="http://schemas.microsoft.com/office/drawing/2014/main" id="{F6ACD70F-96F0-D677-8355-10E814F73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F659F4B-B2F2-037A-DFC5-3107D0308BEF}"/>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Q5. What project management tools are commonly used in industry?</a:t>
            </a:r>
          </a:p>
          <a:p>
            <a:pPr>
              <a:lnSpc>
                <a:spcPct val="150000"/>
              </a:lnSpc>
            </a:pPr>
            <a:r>
              <a:rPr lang="en-US" sz="2800" dirty="0">
                <a:latin typeface="+mn-lt"/>
              </a:rPr>
              <a:t>Jira, Trello, Microsoft Project, Monday.com, Asana, Microsoft Teams, and SharePoint.</a:t>
            </a:r>
          </a:p>
        </p:txBody>
      </p:sp>
    </p:spTree>
    <p:extLst>
      <p:ext uri="{BB962C8B-B14F-4D97-AF65-F5344CB8AC3E}">
        <p14:creationId xmlns:p14="http://schemas.microsoft.com/office/powerpoint/2010/main" val="106094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541B3-D15A-C699-501A-C32E9278B38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C5FF928-882D-8818-2895-ABC405E9ED7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2FAA448-FD89-1556-2F74-1E9D8FB0F88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C25A16A-8A16-D81A-131E-E2A0859D6A8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40</a:t>
            </a:fld>
            <a:endParaRPr lang="en-US" altLang="en-US" sz="900">
              <a:solidFill>
                <a:srgbClr val="FFFFFF"/>
              </a:solidFill>
            </a:endParaRPr>
          </a:p>
        </p:txBody>
      </p:sp>
      <p:pic>
        <p:nvPicPr>
          <p:cNvPr id="22534" name="Picture 5">
            <a:extLst>
              <a:ext uri="{FF2B5EF4-FFF2-40B4-BE49-F238E27FC236}">
                <a16:creationId xmlns:a16="http://schemas.microsoft.com/office/drawing/2014/main" id="{76785A75-E802-3BC7-4E8B-D9ACD7E12D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527D275-9F86-109C-0DED-B6A241189D2E}"/>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Q6. What are common reasons IT projects fail?</a:t>
            </a:r>
          </a:p>
          <a:p>
            <a:pPr>
              <a:lnSpc>
                <a:spcPct val="150000"/>
              </a:lnSpc>
            </a:pPr>
            <a:r>
              <a:rPr lang="en-US" sz="2800" dirty="0">
                <a:latin typeface="+mn-lt"/>
              </a:rPr>
              <a:t>Poor planning, unclear requirements, weak communication, scope creep, and inadequate risk management.</a:t>
            </a:r>
          </a:p>
        </p:txBody>
      </p:sp>
    </p:spTree>
    <p:extLst>
      <p:ext uri="{BB962C8B-B14F-4D97-AF65-F5344CB8AC3E}">
        <p14:creationId xmlns:p14="http://schemas.microsoft.com/office/powerpoint/2010/main" val="117300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23AF6-E4A1-3FA7-2BA8-F1106382420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5AF91B9-30B0-1A86-5734-8B78D3E3200C}"/>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A1024C63-A02A-939F-BE49-E835C5ADFF7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DDA4980-10A5-996B-8BF6-7D5AAC05CD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41</a:t>
            </a:fld>
            <a:endParaRPr lang="en-US" altLang="en-US" sz="900">
              <a:solidFill>
                <a:srgbClr val="FFFFFF"/>
              </a:solidFill>
            </a:endParaRPr>
          </a:p>
        </p:txBody>
      </p:sp>
      <p:pic>
        <p:nvPicPr>
          <p:cNvPr id="22534" name="Picture 5">
            <a:extLst>
              <a:ext uri="{FF2B5EF4-FFF2-40B4-BE49-F238E27FC236}">
                <a16:creationId xmlns:a16="http://schemas.microsoft.com/office/drawing/2014/main" id="{D971BA48-99D7-85AC-BA99-D31D25E03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6F98F05-A7EE-0826-8E51-D8569FD265DF}"/>
              </a:ext>
            </a:extLst>
          </p:cNvPr>
          <p:cNvSpPr txBox="1"/>
          <p:nvPr/>
        </p:nvSpPr>
        <p:spPr>
          <a:xfrm>
            <a:off x="0" y="1485595"/>
            <a:ext cx="9144000" cy="1964512"/>
          </a:xfrm>
          <a:prstGeom prst="rect">
            <a:avLst/>
          </a:prstGeom>
          <a:solidFill>
            <a:schemeClr val="bg1"/>
          </a:solidFill>
        </p:spPr>
        <p:txBody>
          <a:bodyPr wrap="square">
            <a:spAutoFit/>
          </a:bodyPr>
          <a:lstStyle/>
          <a:p>
            <a:pPr>
              <a:lnSpc>
                <a:spcPct val="150000"/>
              </a:lnSpc>
            </a:pPr>
            <a:r>
              <a:rPr lang="en-US" sz="2800" b="1" dirty="0">
                <a:latin typeface="+mn-lt"/>
              </a:rPr>
              <a:t>Q7. Why is risk management important?</a:t>
            </a:r>
          </a:p>
          <a:p>
            <a:pPr>
              <a:lnSpc>
                <a:spcPct val="150000"/>
              </a:lnSpc>
            </a:pPr>
            <a:r>
              <a:rPr lang="en-US" sz="2800" dirty="0">
                <a:latin typeface="+mn-lt"/>
              </a:rPr>
              <a:t>Risk management helps identify potential problems early and reduces the chance of project failure.</a:t>
            </a:r>
          </a:p>
        </p:txBody>
      </p:sp>
    </p:spTree>
    <p:extLst>
      <p:ext uri="{BB962C8B-B14F-4D97-AF65-F5344CB8AC3E}">
        <p14:creationId xmlns:p14="http://schemas.microsoft.com/office/powerpoint/2010/main" val="393915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43120-136F-4373-D0B9-122C892CD88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D01B83D-84D0-7170-A24B-AFCD441B10FD}"/>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13D5D45-6714-06B8-B6D6-DCECF6BAEF4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AAB56B7-B760-924B-64F0-B51F0F363F2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42</a:t>
            </a:fld>
            <a:endParaRPr lang="en-US" altLang="en-US" sz="900">
              <a:solidFill>
                <a:srgbClr val="FFFFFF"/>
              </a:solidFill>
            </a:endParaRPr>
          </a:p>
        </p:txBody>
      </p:sp>
      <p:pic>
        <p:nvPicPr>
          <p:cNvPr id="22534" name="Picture 5">
            <a:extLst>
              <a:ext uri="{FF2B5EF4-FFF2-40B4-BE49-F238E27FC236}">
                <a16:creationId xmlns:a16="http://schemas.microsoft.com/office/drawing/2014/main" id="{D80761CC-D5C6-DB60-E027-39600A4B9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10F6AC2-0FDA-F0A4-3845-C102FD6ADA5F}"/>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Q8. Which methodology is better: Agile or Waterfall?</a:t>
            </a:r>
          </a:p>
          <a:p>
            <a:pPr>
              <a:lnSpc>
                <a:spcPct val="150000"/>
              </a:lnSpc>
            </a:pPr>
            <a:r>
              <a:rPr lang="en-US" sz="2800" dirty="0">
                <a:latin typeface="+mn-lt"/>
              </a:rPr>
              <a:t>Neither is always better. The best choice depends on the project type, customer requirements, and business environment.</a:t>
            </a:r>
          </a:p>
        </p:txBody>
      </p:sp>
    </p:spTree>
    <p:extLst>
      <p:ext uri="{BB962C8B-B14F-4D97-AF65-F5344CB8AC3E}">
        <p14:creationId xmlns:p14="http://schemas.microsoft.com/office/powerpoint/2010/main" val="13408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711B-5876-5A2F-0DB7-9D0C52F912D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63E5852-2E63-DEBD-16A6-49F107AAB38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9A268EF-871A-0910-9157-D03D8F6F17D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DFC00B2-0F89-090D-B61E-371B8626C3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43</a:t>
            </a:fld>
            <a:endParaRPr lang="en-US" altLang="en-US" sz="900">
              <a:solidFill>
                <a:srgbClr val="FFFFFF"/>
              </a:solidFill>
            </a:endParaRPr>
          </a:p>
        </p:txBody>
      </p:sp>
      <p:pic>
        <p:nvPicPr>
          <p:cNvPr id="22534" name="Picture 5">
            <a:extLst>
              <a:ext uri="{FF2B5EF4-FFF2-40B4-BE49-F238E27FC236}">
                <a16:creationId xmlns:a16="http://schemas.microsoft.com/office/drawing/2014/main" id="{B3FBCE08-9CA4-FED6-D000-9A62E214A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3B521D7-1C08-E85A-BE15-E2FB480AA4B3}"/>
              </a:ext>
            </a:extLst>
          </p:cNvPr>
          <p:cNvSpPr txBox="1"/>
          <p:nvPr/>
        </p:nvSpPr>
        <p:spPr>
          <a:xfrm>
            <a:off x="0" y="1485595"/>
            <a:ext cx="9144000" cy="3903504"/>
          </a:xfrm>
          <a:prstGeom prst="rect">
            <a:avLst/>
          </a:prstGeom>
          <a:solidFill>
            <a:schemeClr val="bg1"/>
          </a:solidFill>
        </p:spPr>
        <p:txBody>
          <a:bodyPr wrap="square">
            <a:spAutoFit/>
          </a:bodyPr>
          <a:lstStyle/>
          <a:p>
            <a:pPr>
              <a:lnSpc>
                <a:spcPct val="150000"/>
              </a:lnSpc>
            </a:pPr>
            <a:r>
              <a:rPr lang="en-US" sz="2800" b="1" dirty="0">
                <a:latin typeface="+mn-lt"/>
              </a:rPr>
              <a:t>Q9. How can NSW IT Support help students with Assessment 4?</a:t>
            </a:r>
          </a:p>
          <a:p>
            <a:pPr>
              <a:lnSpc>
                <a:spcPct val="150000"/>
              </a:lnSpc>
            </a:pPr>
            <a:r>
              <a:rPr lang="en-US" sz="2800" dirty="0">
                <a:latin typeface="+mn-lt"/>
              </a:rPr>
              <a:t>They can provide real-world insights about project management methods, project challenges, communication practices, resource management, cybersecurity concerns, and industry tools.</a:t>
            </a:r>
          </a:p>
        </p:txBody>
      </p:sp>
    </p:spTree>
    <p:extLst>
      <p:ext uri="{BB962C8B-B14F-4D97-AF65-F5344CB8AC3E}">
        <p14:creationId xmlns:p14="http://schemas.microsoft.com/office/powerpoint/2010/main" val="18008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08362-F9D1-32BD-789A-C5B18525985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7549CE7-2DF2-F445-4B14-CAF79EBB71F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F0B09CA9-6422-5AD4-FAC0-C3F53935479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D4D2562-26FD-E473-3360-A6EA7232FE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44</a:t>
            </a:fld>
            <a:endParaRPr lang="en-US" altLang="en-US" sz="900">
              <a:solidFill>
                <a:srgbClr val="FFFFFF"/>
              </a:solidFill>
            </a:endParaRPr>
          </a:p>
        </p:txBody>
      </p:sp>
      <p:pic>
        <p:nvPicPr>
          <p:cNvPr id="22534" name="Picture 5">
            <a:extLst>
              <a:ext uri="{FF2B5EF4-FFF2-40B4-BE49-F238E27FC236}">
                <a16:creationId xmlns:a16="http://schemas.microsoft.com/office/drawing/2014/main" id="{C1CB369D-64D7-9D5B-7FFE-4D2C233552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854D917-D18F-5947-D93A-6FCBD9A50A2F}"/>
              </a:ext>
            </a:extLst>
          </p:cNvPr>
          <p:cNvSpPr txBox="1"/>
          <p:nvPr/>
        </p:nvSpPr>
        <p:spPr>
          <a:xfrm>
            <a:off x="0" y="1485595"/>
            <a:ext cx="9144000" cy="2610843"/>
          </a:xfrm>
          <a:prstGeom prst="rect">
            <a:avLst/>
          </a:prstGeom>
          <a:solidFill>
            <a:schemeClr val="bg1"/>
          </a:solidFill>
        </p:spPr>
        <p:txBody>
          <a:bodyPr wrap="square">
            <a:spAutoFit/>
          </a:bodyPr>
          <a:lstStyle/>
          <a:p>
            <a:pPr>
              <a:lnSpc>
                <a:spcPct val="150000"/>
              </a:lnSpc>
            </a:pPr>
            <a:r>
              <a:rPr lang="en-US" sz="2800" b="1" dirty="0">
                <a:latin typeface="+mn-lt"/>
              </a:rPr>
              <a:t>Q10. What is the most important lesson from this video?</a:t>
            </a:r>
          </a:p>
          <a:p>
            <a:pPr>
              <a:lnSpc>
                <a:spcPct val="150000"/>
              </a:lnSpc>
            </a:pPr>
            <a:r>
              <a:rPr lang="en-US" sz="2800" dirty="0">
                <a:latin typeface="+mn-lt"/>
              </a:rPr>
              <a:t>Regardless of whether a project uses Agile or Waterfall, successful projects require good planning, communication, stakeholder management, quality control, and teamwork.</a:t>
            </a:r>
          </a:p>
        </p:txBody>
      </p:sp>
    </p:spTree>
    <p:extLst>
      <p:ext uri="{BB962C8B-B14F-4D97-AF65-F5344CB8AC3E}">
        <p14:creationId xmlns:p14="http://schemas.microsoft.com/office/powerpoint/2010/main" val="84224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10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2074480"/>
            <a:ext cx="8027988" cy="3776662"/>
          </a:xfrm>
        </p:spPr>
        <p:txBody>
          <a:bodyPr/>
          <a:lstStyle/>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Project management methodologies (Agile, Waterfall).</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Key project management skills (planning, scheduling, resource management)</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Tools and software for project management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45</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5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nSpc>
                <a:spcPct val="150000"/>
              </a:lnSpc>
            </a:pPr>
            <a:r>
              <a:rPr lang="en-AU" sz="2800" b="0" i="0" u="none" strike="noStrike" baseline="0" dirty="0">
                <a:solidFill>
                  <a:srgbClr val="4B1858"/>
                </a:solidFill>
                <a:highlight>
                  <a:srgbClr val="FFFF00"/>
                </a:highlight>
              </a:rPr>
              <a:t>YouTube Video: </a:t>
            </a:r>
            <a:r>
              <a:rPr lang="en-AU" sz="2800" dirty="0">
                <a:solidFill>
                  <a:srgbClr val="000000"/>
                </a:solidFill>
              </a:rPr>
              <a:t>(Watch) </a:t>
            </a:r>
          </a:p>
          <a:p>
            <a:pPr>
              <a:lnSpc>
                <a:spcPct val="150000"/>
              </a:lnSpc>
            </a:pPr>
            <a:r>
              <a:rPr lang="en-AU" sz="2800" dirty="0">
                <a:solidFill>
                  <a:srgbClr val="4B1858"/>
                </a:solidFill>
              </a:rPr>
              <a:t>What is Project Management?</a:t>
            </a:r>
          </a:p>
          <a:p>
            <a:pPr>
              <a:lnSpc>
                <a:spcPct val="150000"/>
              </a:lnSpc>
            </a:pPr>
            <a:r>
              <a:rPr lang="en-AU" sz="2800" dirty="0">
                <a:solidFill>
                  <a:srgbClr val="4B1858"/>
                </a:solidFill>
                <a:hlinkClick r:id="rId2"/>
              </a:rPr>
              <a:t>https://www.youtube.com/watch?v=5cO5nHmMxrw</a:t>
            </a:r>
            <a:endParaRPr lang="en-AU" sz="2800" dirty="0">
              <a:solidFill>
                <a:srgbClr val="4B1858"/>
              </a:solidFill>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46</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282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4DCE-D610-8932-19F1-30D74871923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BFC588-293E-EF3C-1F1C-69304061473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087AD14-2980-8206-B32E-D2505C2F7B2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47</a:t>
            </a:fld>
            <a:endParaRPr lang="en-US" altLang="en-US" sz="900">
              <a:solidFill>
                <a:srgbClr val="FFFFFF"/>
              </a:solidFill>
            </a:endParaRPr>
          </a:p>
        </p:txBody>
      </p:sp>
      <p:pic>
        <p:nvPicPr>
          <p:cNvPr id="22534" name="Picture 5">
            <a:extLst>
              <a:ext uri="{FF2B5EF4-FFF2-40B4-BE49-F238E27FC236}">
                <a16:creationId xmlns:a16="http://schemas.microsoft.com/office/drawing/2014/main" id="{2C9A59F4-5DDC-5CAC-C70E-7A22F7CE4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1FBE254-3B61-0E19-8F69-0EE5505E5BF3}"/>
              </a:ext>
            </a:extLst>
          </p:cNvPr>
          <p:cNvSpPr txBox="1"/>
          <p:nvPr/>
        </p:nvSpPr>
        <p:spPr>
          <a:xfrm>
            <a:off x="0" y="417155"/>
            <a:ext cx="9144000" cy="6488828"/>
          </a:xfrm>
          <a:prstGeom prst="rect">
            <a:avLst/>
          </a:prstGeom>
          <a:solidFill>
            <a:schemeClr val="bg1"/>
          </a:solidFill>
        </p:spPr>
        <p:txBody>
          <a:bodyPr wrap="square">
            <a:spAutoFit/>
          </a:bodyPr>
          <a:lstStyle/>
          <a:p>
            <a:pPr>
              <a:lnSpc>
                <a:spcPct val="150000"/>
              </a:lnSpc>
              <a:buNone/>
            </a:pPr>
            <a:r>
              <a:rPr lang="en-US" sz="2800" b="1" dirty="0">
                <a:latin typeface="+mn-lt"/>
              </a:rPr>
              <a:t>Key Lessons / Messages from the Video</a:t>
            </a:r>
          </a:p>
          <a:p>
            <a:pPr>
              <a:lnSpc>
                <a:spcPct val="150000"/>
              </a:lnSpc>
              <a:buNone/>
            </a:pPr>
            <a:r>
              <a:rPr lang="en-US" sz="2800" b="1" dirty="0">
                <a:latin typeface="+mn-lt"/>
              </a:rPr>
              <a:t>1. Project Management is a Process</a:t>
            </a:r>
          </a:p>
          <a:p>
            <a:pPr>
              <a:lnSpc>
                <a:spcPct val="150000"/>
              </a:lnSpc>
              <a:buNone/>
            </a:pPr>
            <a:r>
              <a:rPr lang="en-US" sz="2800" dirty="0">
                <a:latin typeface="+mn-lt"/>
              </a:rPr>
              <a:t>Project management is a structured process used to help teams achieve specific goals and deliverables successfully.</a:t>
            </a:r>
          </a:p>
          <a:p>
            <a:pPr>
              <a:lnSpc>
                <a:spcPct val="150000"/>
              </a:lnSpc>
              <a:buNone/>
            </a:pPr>
            <a:r>
              <a:rPr lang="en-US" sz="2800" dirty="0">
                <a:latin typeface="+mn-lt"/>
              </a:rPr>
              <a:t>It ensures that projects are:</a:t>
            </a:r>
          </a:p>
          <a:p>
            <a:pPr>
              <a:lnSpc>
                <a:spcPct val="150000"/>
              </a:lnSpc>
            </a:pPr>
            <a:r>
              <a:rPr lang="en-US" sz="2800" dirty="0">
                <a:latin typeface="+mn-lt"/>
              </a:rPr>
              <a:t>- </a:t>
            </a:r>
            <a:r>
              <a:rPr lang="en-US" sz="2800" dirty="0" err="1">
                <a:latin typeface="+mn-lt"/>
              </a:rPr>
              <a:t>Organised</a:t>
            </a:r>
            <a:r>
              <a:rPr lang="en-US" sz="2800" dirty="0">
                <a:latin typeface="+mn-lt"/>
              </a:rPr>
              <a:t> </a:t>
            </a:r>
          </a:p>
          <a:p>
            <a:pPr>
              <a:lnSpc>
                <a:spcPct val="150000"/>
              </a:lnSpc>
            </a:pPr>
            <a:r>
              <a:rPr lang="en-US" sz="2800" dirty="0">
                <a:latin typeface="+mn-lt"/>
              </a:rPr>
              <a:t>- Controlled </a:t>
            </a:r>
          </a:p>
          <a:p>
            <a:pPr>
              <a:lnSpc>
                <a:spcPct val="150000"/>
              </a:lnSpc>
            </a:pPr>
            <a:r>
              <a:rPr lang="en-US" sz="2800" dirty="0">
                <a:latin typeface="+mn-lt"/>
              </a:rPr>
              <a:t>- Delivered on time </a:t>
            </a:r>
          </a:p>
          <a:p>
            <a:pPr>
              <a:lnSpc>
                <a:spcPct val="150000"/>
              </a:lnSpc>
            </a:pPr>
            <a:r>
              <a:rPr lang="en-US" sz="2800" dirty="0">
                <a:latin typeface="+mn-lt"/>
              </a:rPr>
              <a:t>- Delivered within budget </a:t>
            </a:r>
          </a:p>
          <a:p>
            <a:pPr>
              <a:lnSpc>
                <a:spcPct val="150000"/>
              </a:lnSpc>
            </a:pPr>
            <a:r>
              <a:rPr lang="en-US" sz="2800" dirty="0">
                <a:latin typeface="+mn-lt"/>
              </a:rPr>
              <a:t>- Aligned with stakeholder expectations</a:t>
            </a:r>
          </a:p>
        </p:txBody>
      </p:sp>
      <p:sp>
        <p:nvSpPr>
          <p:cNvPr id="6146" name="Title 1">
            <a:extLst>
              <a:ext uri="{FF2B5EF4-FFF2-40B4-BE49-F238E27FC236}">
                <a16:creationId xmlns:a16="http://schemas.microsoft.com/office/drawing/2014/main" id="{4D792E94-683C-F79E-28E8-8954D2C7CD7F}"/>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Tree>
    <p:extLst>
      <p:ext uri="{BB962C8B-B14F-4D97-AF65-F5344CB8AC3E}">
        <p14:creationId xmlns:p14="http://schemas.microsoft.com/office/powerpoint/2010/main" val="1248600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79771-EAA1-EA90-BC85-6974FCA99DE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62522C-ED60-443A-4A32-F95E86BAF1A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C1E194C-58EA-D3D0-21A3-9BCB85BE6D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48</a:t>
            </a:fld>
            <a:endParaRPr lang="en-US" altLang="en-US" sz="900">
              <a:solidFill>
                <a:srgbClr val="FFFFFF"/>
              </a:solidFill>
            </a:endParaRPr>
          </a:p>
        </p:txBody>
      </p:sp>
      <p:pic>
        <p:nvPicPr>
          <p:cNvPr id="22534" name="Picture 5">
            <a:extLst>
              <a:ext uri="{FF2B5EF4-FFF2-40B4-BE49-F238E27FC236}">
                <a16:creationId xmlns:a16="http://schemas.microsoft.com/office/drawing/2014/main" id="{C4983F6E-5F45-0483-9B3B-985AFCC668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971F14B-1551-BF41-30D6-9BF0000D1C6C}"/>
              </a:ext>
            </a:extLst>
          </p:cNvPr>
          <p:cNvSpPr txBox="1"/>
          <p:nvPr/>
        </p:nvSpPr>
        <p:spPr>
          <a:xfrm>
            <a:off x="0" y="2009981"/>
            <a:ext cx="9144000" cy="1964512"/>
          </a:xfrm>
          <a:prstGeom prst="rect">
            <a:avLst/>
          </a:prstGeom>
          <a:solidFill>
            <a:schemeClr val="bg1"/>
          </a:solidFill>
        </p:spPr>
        <p:txBody>
          <a:bodyPr wrap="square">
            <a:spAutoFit/>
          </a:bodyPr>
          <a:lstStyle/>
          <a:p>
            <a:pPr>
              <a:lnSpc>
                <a:spcPct val="150000"/>
              </a:lnSpc>
            </a:pPr>
            <a:r>
              <a:rPr lang="en-US" sz="2800" b="1" dirty="0">
                <a:latin typeface="+mn-lt"/>
              </a:rPr>
              <a:t>Key Message:</a:t>
            </a:r>
          </a:p>
          <a:p>
            <a:pPr>
              <a:lnSpc>
                <a:spcPct val="150000"/>
              </a:lnSpc>
            </a:pPr>
            <a:r>
              <a:rPr lang="en-US" sz="2800" dirty="0">
                <a:latin typeface="+mn-lt"/>
              </a:rPr>
              <a:t>Project management provides the roadmap that guides a project from idea to completion.</a:t>
            </a:r>
          </a:p>
        </p:txBody>
      </p:sp>
      <p:sp>
        <p:nvSpPr>
          <p:cNvPr id="6146" name="Title 1">
            <a:extLst>
              <a:ext uri="{FF2B5EF4-FFF2-40B4-BE49-F238E27FC236}">
                <a16:creationId xmlns:a16="http://schemas.microsoft.com/office/drawing/2014/main" id="{D0041699-D182-8090-86FD-28233AF0EBB4}"/>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Tree>
    <p:extLst>
      <p:ext uri="{BB962C8B-B14F-4D97-AF65-F5344CB8AC3E}">
        <p14:creationId xmlns:p14="http://schemas.microsoft.com/office/powerpoint/2010/main" val="1447939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5432-3AA8-2522-937E-FD451FA2301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3900DA-8592-A6E1-BCF6-9717AEBE6BE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3C5EE17-F01E-6C36-2013-2E23B14FBF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49</a:t>
            </a:fld>
            <a:endParaRPr lang="en-US" altLang="en-US" sz="900">
              <a:solidFill>
                <a:srgbClr val="FFFFFF"/>
              </a:solidFill>
            </a:endParaRPr>
          </a:p>
        </p:txBody>
      </p:sp>
      <p:pic>
        <p:nvPicPr>
          <p:cNvPr id="22534" name="Picture 5">
            <a:extLst>
              <a:ext uri="{FF2B5EF4-FFF2-40B4-BE49-F238E27FC236}">
                <a16:creationId xmlns:a16="http://schemas.microsoft.com/office/drawing/2014/main" id="{76FEC3D7-8E48-F1ED-4934-E570A1134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23AF73E-E52D-AA80-7751-1B253D0B024F}"/>
              </a:ext>
            </a:extLst>
          </p:cNvPr>
          <p:cNvSpPr txBox="1"/>
          <p:nvPr/>
        </p:nvSpPr>
        <p:spPr>
          <a:xfrm>
            <a:off x="0" y="2009981"/>
            <a:ext cx="9144000" cy="3903504"/>
          </a:xfrm>
          <a:prstGeom prst="rect">
            <a:avLst/>
          </a:prstGeom>
          <a:solidFill>
            <a:schemeClr val="bg1"/>
          </a:solidFill>
        </p:spPr>
        <p:txBody>
          <a:bodyPr wrap="square">
            <a:spAutoFit/>
          </a:bodyPr>
          <a:lstStyle/>
          <a:p>
            <a:pPr>
              <a:lnSpc>
                <a:spcPct val="150000"/>
              </a:lnSpc>
            </a:pPr>
            <a:r>
              <a:rPr lang="en-US" sz="2800" b="1" dirty="0">
                <a:latin typeface="+mn-lt"/>
              </a:rPr>
              <a:t>2. Projects Have a Clear Beginning and End</a:t>
            </a:r>
          </a:p>
          <a:p>
            <a:pPr>
              <a:lnSpc>
                <a:spcPct val="150000"/>
              </a:lnSpc>
            </a:pPr>
            <a:r>
              <a:rPr lang="en-US" sz="2800" dirty="0">
                <a:latin typeface="+mn-lt"/>
              </a:rPr>
              <a:t>A project is different from daily operations because it has:</a:t>
            </a:r>
          </a:p>
          <a:p>
            <a:pPr>
              <a:lnSpc>
                <a:spcPct val="150000"/>
              </a:lnSpc>
            </a:pPr>
            <a:r>
              <a:rPr lang="en-US" sz="2800" dirty="0">
                <a:latin typeface="+mn-lt"/>
              </a:rPr>
              <a:t>- A specific objective </a:t>
            </a:r>
          </a:p>
          <a:p>
            <a:pPr>
              <a:lnSpc>
                <a:spcPct val="150000"/>
              </a:lnSpc>
            </a:pPr>
            <a:r>
              <a:rPr lang="en-US" sz="2800" dirty="0">
                <a:latin typeface="+mn-lt"/>
              </a:rPr>
              <a:t>- A defined start date </a:t>
            </a:r>
          </a:p>
          <a:p>
            <a:pPr>
              <a:lnSpc>
                <a:spcPct val="150000"/>
              </a:lnSpc>
            </a:pPr>
            <a:r>
              <a:rPr lang="en-US" sz="2800" dirty="0">
                <a:latin typeface="+mn-lt"/>
              </a:rPr>
              <a:t>- A defined finish date </a:t>
            </a:r>
          </a:p>
          <a:p>
            <a:pPr>
              <a:lnSpc>
                <a:spcPct val="150000"/>
              </a:lnSpc>
            </a:pPr>
            <a:r>
              <a:rPr lang="en-US" sz="2800" dirty="0">
                <a:latin typeface="+mn-lt"/>
              </a:rPr>
              <a:t>- Specific deliverables</a:t>
            </a:r>
          </a:p>
        </p:txBody>
      </p:sp>
      <p:sp>
        <p:nvSpPr>
          <p:cNvPr id="6146" name="Title 1">
            <a:extLst>
              <a:ext uri="{FF2B5EF4-FFF2-40B4-BE49-F238E27FC236}">
                <a16:creationId xmlns:a16="http://schemas.microsoft.com/office/drawing/2014/main" id="{9BE87950-693D-CF8D-6554-F6C4B0064E0D}"/>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Tree>
    <p:extLst>
      <p:ext uri="{BB962C8B-B14F-4D97-AF65-F5344CB8AC3E}">
        <p14:creationId xmlns:p14="http://schemas.microsoft.com/office/powerpoint/2010/main" val="1859754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135E7-1520-BE00-5D6A-D07C15BE26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7DFB83C-6E6E-D13B-D3FE-4C4E4E75E23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E1DFEAA-CF23-D797-F0F9-AB3CBB411B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50</a:t>
            </a:fld>
            <a:endParaRPr lang="en-US" altLang="en-US" sz="900">
              <a:solidFill>
                <a:srgbClr val="FFFFFF"/>
              </a:solidFill>
            </a:endParaRPr>
          </a:p>
        </p:txBody>
      </p:sp>
      <p:pic>
        <p:nvPicPr>
          <p:cNvPr id="22534" name="Picture 5">
            <a:extLst>
              <a:ext uri="{FF2B5EF4-FFF2-40B4-BE49-F238E27FC236}">
                <a16:creationId xmlns:a16="http://schemas.microsoft.com/office/drawing/2014/main" id="{55A8EDE8-6268-A48B-05D2-AB8A1BC6C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7C06509-1764-C605-5DC9-0A347BAE3396}"/>
              </a:ext>
            </a:extLst>
          </p:cNvPr>
          <p:cNvSpPr txBox="1"/>
          <p:nvPr/>
        </p:nvSpPr>
        <p:spPr>
          <a:xfrm>
            <a:off x="0" y="912046"/>
            <a:ext cx="9144000" cy="5842497"/>
          </a:xfrm>
          <a:prstGeom prst="rect">
            <a:avLst/>
          </a:prstGeom>
          <a:solidFill>
            <a:schemeClr val="bg1"/>
          </a:solidFill>
        </p:spPr>
        <p:txBody>
          <a:bodyPr wrap="square">
            <a:spAutoFit/>
          </a:bodyPr>
          <a:lstStyle/>
          <a:p>
            <a:pPr>
              <a:lnSpc>
                <a:spcPct val="150000"/>
              </a:lnSpc>
            </a:pPr>
            <a:r>
              <a:rPr lang="en-US" sz="2800" dirty="0">
                <a:latin typeface="+mn-lt"/>
              </a:rPr>
              <a:t>Examples include:</a:t>
            </a:r>
          </a:p>
          <a:p>
            <a:pPr>
              <a:lnSpc>
                <a:spcPct val="150000"/>
              </a:lnSpc>
            </a:pPr>
            <a:r>
              <a:rPr lang="en-US" sz="2800" dirty="0">
                <a:latin typeface="+mn-lt"/>
              </a:rPr>
              <a:t>- Software development </a:t>
            </a:r>
          </a:p>
          <a:p>
            <a:pPr>
              <a:lnSpc>
                <a:spcPct val="150000"/>
              </a:lnSpc>
            </a:pPr>
            <a:r>
              <a:rPr lang="en-US" sz="2800" dirty="0">
                <a:latin typeface="+mn-lt"/>
              </a:rPr>
              <a:t>- Product launches </a:t>
            </a:r>
          </a:p>
          <a:p>
            <a:pPr>
              <a:lnSpc>
                <a:spcPct val="150000"/>
              </a:lnSpc>
            </a:pPr>
            <a:r>
              <a:rPr lang="en-US" sz="2800" dirty="0">
                <a:latin typeface="+mn-lt"/>
              </a:rPr>
              <a:t>- Construction projects </a:t>
            </a:r>
          </a:p>
          <a:p>
            <a:pPr>
              <a:lnSpc>
                <a:spcPct val="150000"/>
              </a:lnSpc>
            </a:pPr>
            <a:r>
              <a:rPr lang="en-US" sz="2800" dirty="0">
                <a:latin typeface="+mn-lt"/>
              </a:rPr>
              <a:t>- Process improvements </a:t>
            </a:r>
          </a:p>
          <a:p>
            <a:pPr>
              <a:lnSpc>
                <a:spcPct val="150000"/>
              </a:lnSpc>
            </a:pPr>
            <a:r>
              <a:rPr lang="en-US" sz="2800" dirty="0">
                <a:latin typeface="+mn-lt"/>
              </a:rPr>
              <a:t>- IT system upgrades </a:t>
            </a:r>
          </a:p>
          <a:p>
            <a:pPr>
              <a:lnSpc>
                <a:spcPct val="150000"/>
              </a:lnSpc>
            </a:pPr>
            <a:r>
              <a:rPr lang="en-US" sz="2800" b="1" dirty="0">
                <a:latin typeface="+mn-lt"/>
              </a:rPr>
              <a:t>Key Message:</a:t>
            </a:r>
          </a:p>
          <a:p>
            <a:pPr>
              <a:lnSpc>
                <a:spcPct val="150000"/>
              </a:lnSpc>
            </a:pPr>
            <a:r>
              <a:rPr lang="en-US" sz="2800" dirty="0">
                <a:latin typeface="+mn-lt"/>
              </a:rPr>
              <a:t>Projects are temporary efforts designed to create a unique outcome.</a:t>
            </a:r>
          </a:p>
        </p:txBody>
      </p:sp>
      <p:sp>
        <p:nvSpPr>
          <p:cNvPr id="6146" name="Title 1">
            <a:extLst>
              <a:ext uri="{FF2B5EF4-FFF2-40B4-BE49-F238E27FC236}">
                <a16:creationId xmlns:a16="http://schemas.microsoft.com/office/drawing/2014/main" id="{189D93DD-64A4-A0AC-394B-3F47BD85A2B1}"/>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spTree>
    <p:extLst>
      <p:ext uri="{BB962C8B-B14F-4D97-AF65-F5344CB8AC3E}">
        <p14:creationId xmlns:p14="http://schemas.microsoft.com/office/powerpoint/2010/main" val="3384002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FE2A-29F3-B32F-979F-2C97143E4DE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CB6AA8-AFCC-42AE-D9F6-885867330F1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CAF6C37-7E82-3F01-2AB7-420322141C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51</a:t>
            </a:fld>
            <a:endParaRPr lang="en-US" altLang="en-US" sz="900">
              <a:solidFill>
                <a:srgbClr val="FFFFFF"/>
              </a:solidFill>
            </a:endParaRPr>
          </a:p>
        </p:txBody>
      </p:sp>
      <p:sp>
        <p:nvSpPr>
          <p:cNvPr id="5" name="TextBox 4">
            <a:extLst>
              <a:ext uri="{FF2B5EF4-FFF2-40B4-BE49-F238E27FC236}">
                <a16:creationId xmlns:a16="http://schemas.microsoft.com/office/drawing/2014/main" id="{7A27E114-B904-F95E-397A-95D14BF384B2}"/>
              </a:ext>
            </a:extLst>
          </p:cNvPr>
          <p:cNvSpPr txBox="1"/>
          <p:nvPr/>
        </p:nvSpPr>
        <p:spPr>
          <a:xfrm>
            <a:off x="0" y="417155"/>
            <a:ext cx="9144000" cy="6488828"/>
          </a:xfrm>
          <a:prstGeom prst="rect">
            <a:avLst/>
          </a:prstGeom>
          <a:solidFill>
            <a:schemeClr val="bg1"/>
          </a:solidFill>
        </p:spPr>
        <p:txBody>
          <a:bodyPr wrap="square">
            <a:spAutoFit/>
          </a:bodyPr>
          <a:lstStyle/>
          <a:p>
            <a:pPr>
              <a:lnSpc>
                <a:spcPct val="150000"/>
              </a:lnSpc>
            </a:pPr>
            <a:r>
              <a:rPr lang="en-US" sz="2800" b="1" dirty="0">
                <a:latin typeface="+mn-lt"/>
              </a:rPr>
              <a:t>3. Projects Require Teamwork</a:t>
            </a:r>
          </a:p>
          <a:p>
            <a:pPr>
              <a:lnSpc>
                <a:spcPct val="150000"/>
              </a:lnSpc>
            </a:pPr>
            <a:r>
              <a:rPr lang="en-US" sz="2800" dirty="0">
                <a:latin typeface="+mn-lt"/>
              </a:rPr>
              <a:t>Projects often involve multiple subject matter experts (SMEs) working together.</a:t>
            </a:r>
          </a:p>
          <a:p>
            <a:pPr>
              <a:lnSpc>
                <a:spcPct val="150000"/>
              </a:lnSpc>
            </a:pPr>
            <a:r>
              <a:rPr lang="en-US" sz="2800" dirty="0">
                <a:latin typeface="+mn-lt"/>
              </a:rPr>
              <a:t>Examples:</a:t>
            </a:r>
          </a:p>
          <a:p>
            <a:pPr>
              <a:lnSpc>
                <a:spcPct val="150000"/>
              </a:lnSpc>
            </a:pPr>
            <a:r>
              <a:rPr lang="en-US" sz="2800" dirty="0">
                <a:latin typeface="+mn-lt"/>
              </a:rPr>
              <a:t>- Business Analysts </a:t>
            </a:r>
          </a:p>
          <a:p>
            <a:pPr>
              <a:lnSpc>
                <a:spcPct val="150000"/>
              </a:lnSpc>
            </a:pPr>
            <a:r>
              <a:rPr lang="en-US" sz="2800" dirty="0">
                <a:latin typeface="+mn-lt"/>
              </a:rPr>
              <a:t>- Developers </a:t>
            </a:r>
          </a:p>
          <a:p>
            <a:pPr>
              <a:lnSpc>
                <a:spcPct val="150000"/>
              </a:lnSpc>
            </a:pPr>
            <a:r>
              <a:rPr lang="en-US" sz="2800" dirty="0">
                <a:latin typeface="+mn-lt"/>
              </a:rPr>
              <a:t>- Cyber Security Specialists </a:t>
            </a:r>
          </a:p>
          <a:p>
            <a:pPr>
              <a:lnSpc>
                <a:spcPct val="150000"/>
              </a:lnSpc>
            </a:pPr>
            <a:r>
              <a:rPr lang="en-US" sz="2800" dirty="0">
                <a:latin typeface="+mn-lt"/>
              </a:rPr>
              <a:t>- Database Designers </a:t>
            </a:r>
          </a:p>
          <a:p>
            <a:pPr>
              <a:lnSpc>
                <a:spcPct val="150000"/>
              </a:lnSpc>
            </a:pPr>
            <a:r>
              <a:rPr lang="en-US" sz="2800" dirty="0">
                <a:latin typeface="+mn-lt"/>
              </a:rPr>
              <a:t>- Project Managers </a:t>
            </a:r>
          </a:p>
          <a:p>
            <a:pPr>
              <a:lnSpc>
                <a:spcPct val="150000"/>
              </a:lnSpc>
            </a:pPr>
            <a:r>
              <a:rPr lang="en-US" sz="2800" dirty="0">
                <a:latin typeface="+mn-lt"/>
              </a:rPr>
              <a:t>- End Users</a:t>
            </a:r>
          </a:p>
        </p:txBody>
      </p:sp>
      <p:sp>
        <p:nvSpPr>
          <p:cNvPr id="6146" name="Title 1">
            <a:extLst>
              <a:ext uri="{FF2B5EF4-FFF2-40B4-BE49-F238E27FC236}">
                <a16:creationId xmlns:a16="http://schemas.microsoft.com/office/drawing/2014/main" id="{6B95C82A-1761-B35C-3BEA-B2DE9073302B}"/>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80239998-DE5B-C30B-1A2B-C3EC3C92D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2196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573A-75EF-4F6F-3DFB-1D97126FC3A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29A18D-2030-A2F4-73F9-8AADA956009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E3F9FE7-A6EA-A115-3FE8-BE5344B1AB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52</a:t>
            </a:fld>
            <a:endParaRPr lang="en-US" altLang="en-US" sz="900">
              <a:solidFill>
                <a:srgbClr val="FFFFFF"/>
              </a:solidFill>
            </a:endParaRPr>
          </a:p>
        </p:txBody>
      </p:sp>
      <p:sp>
        <p:nvSpPr>
          <p:cNvPr id="5" name="TextBox 4">
            <a:extLst>
              <a:ext uri="{FF2B5EF4-FFF2-40B4-BE49-F238E27FC236}">
                <a16:creationId xmlns:a16="http://schemas.microsoft.com/office/drawing/2014/main" id="{D23F8C80-ABCC-1A73-0CED-A7A43F00BB55}"/>
              </a:ext>
            </a:extLst>
          </p:cNvPr>
          <p:cNvSpPr txBox="1"/>
          <p:nvPr/>
        </p:nvSpPr>
        <p:spPr>
          <a:xfrm>
            <a:off x="0" y="1950988"/>
            <a:ext cx="9144000" cy="1964512"/>
          </a:xfrm>
          <a:prstGeom prst="rect">
            <a:avLst/>
          </a:prstGeom>
          <a:solidFill>
            <a:schemeClr val="bg1"/>
          </a:solidFill>
        </p:spPr>
        <p:txBody>
          <a:bodyPr wrap="square">
            <a:spAutoFit/>
          </a:bodyPr>
          <a:lstStyle/>
          <a:p>
            <a:pPr>
              <a:lnSpc>
                <a:spcPct val="150000"/>
              </a:lnSpc>
            </a:pPr>
            <a:r>
              <a:rPr lang="en-US" sz="2800" b="1" dirty="0">
                <a:latin typeface="+mn-lt"/>
              </a:rPr>
              <a:t>Key Message:</a:t>
            </a:r>
          </a:p>
          <a:p>
            <a:pPr>
              <a:lnSpc>
                <a:spcPct val="150000"/>
              </a:lnSpc>
            </a:pPr>
            <a:r>
              <a:rPr lang="en-US" sz="2800" dirty="0">
                <a:latin typeface="+mn-lt"/>
              </a:rPr>
              <a:t>Successful projects depend on collaboration between people with different expertise.</a:t>
            </a:r>
          </a:p>
        </p:txBody>
      </p:sp>
      <p:sp>
        <p:nvSpPr>
          <p:cNvPr id="6146" name="Title 1">
            <a:extLst>
              <a:ext uri="{FF2B5EF4-FFF2-40B4-BE49-F238E27FC236}">
                <a16:creationId xmlns:a16="http://schemas.microsoft.com/office/drawing/2014/main" id="{5FFF0756-627F-8CBF-6DE4-0B424E2905A8}"/>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D31DE7EA-862D-40D3-51F1-4D8D224FC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3369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82D26-F0A3-1F81-59FF-C1AA0C633C5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692AD5-04F0-F081-08D8-7685B564AE3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05E43A1-2A84-73D9-5BEA-70A370AA41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53</a:t>
            </a:fld>
            <a:endParaRPr lang="en-US" altLang="en-US" sz="900">
              <a:solidFill>
                <a:srgbClr val="FFFFFF"/>
              </a:solidFill>
            </a:endParaRPr>
          </a:p>
        </p:txBody>
      </p:sp>
      <p:sp>
        <p:nvSpPr>
          <p:cNvPr id="5" name="TextBox 4">
            <a:extLst>
              <a:ext uri="{FF2B5EF4-FFF2-40B4-BE49-F238E27FC236}">
                <a16:creationId xmlns:a16="http://schemas.microsoft.com/office/drawing/2014/main" id="{384A43D7-69E1-E442-01D7-321D93A45341}"/>
              </a:ext>
            </a:extLst>
          </p:cNvPr>
          <p:cNvSpPr txBox="1"/>
          <p:nvPr/>
        </p:nvSpPr>
        <p:spPr>
          <a:xfrm>
            <a:off x="0" y="1420349"/>
            <a:ext cx="9144000" cy="4549835"/>
          </a:xfrm>
          <a:prstGeom prst="rect">
            <a:avLst/>
          </a:prstGeom>
          <a:solidFill>
            <a:schemeClr val="bg1"/>
          </a:solidFill>
        </p:spPr>
        <p:txBody>
          <a:bodyPr wrap="square">
            <a:spAutoFit/>
          </a:bodyPr>
          <a:lstStyle/>
          <a:p>
            <a:pPr>
              <a:lnSpc>
                <a:spcPct val="150000"/>
              </a:lnSpc>
            </a:pPr>
            <a:r>
              <a:rPr lang="en-US" sz="2800" b="1" dirty="0">
                <a:latin typeface="+mn-lt"/>
              </a:rPr>
              <a:t>4. Project Management Helps Control Scope, Time, and Budget</a:t>
            </a:r>
          </a:p>
          <a:p>
            <a:pPr>
              <a:lnSpc>
                <a:spcPct val="150000"/>
              </a:lnSpc>
            </a:pPr>
            <a:r>
              <a:rPr lang="en-US" sz="2800" dirty="0">
                <a:latin typeface="+mn-lt"/>
              </a:rPr>
              <a:t>One of the main responsibilities of project management is balancing:</a:t>
            </a:r>
          </a:p>
          <a:p>
            <a:pPr>
              <a:lnSpc>
                <a:spcPct val="150000"/>
              </a:lnSpc>
            </a:pPr>
            <a:r>
              <a:rPr lang="en-US" sz="2800" dirty="0">
                <a:latin typeface="+mn-lt"/>
              </a:rPr>
              <a:t>- Scope (what will be delivered) </a:t>
            </a:r>
          </a:p>
          <a:p>
            <a:pPr>
              <a:lnSpc>
                <a:spcPct val="150000"/>
              </a:lnSpc>
            </a:pPr>
            <a:r>
              <a:rPr lang="en-US" sz="2800" dirty="0">
                <a:latin typeface="+mn-lt"/>
              </a:rPr>
              <a:t>- Time (when it will be delivered) </a:t>
            </a:r>
          </a:p>
          <a:p>
            <a:pPr>
              <a:lnSpc>
                <a:spcPct val="150000"/>
              </a:lnSpc>
            </a:pPr>
            <a:r>
              <a:rPr lang="en-US" sz="2800" dirty="0">
                <a:latin typeface="+mn-lt"/>
              </a:rPr>
              <a:t>- Budget (how much it costs)</a:t>
            </a:r>
          </a:p>
        </p:txBody>
      </p:sp>
      <p:sp>
        <p:nvSpPr>
          <p:cNvPr id="6146" name="Title 1">
            <a:extLst>
              <a:ext uri="{FF2B5EF4-FFF2-40B4-BE49-F238E27FC236}">
                <a16:creationId xmlns:a16="http://schemas.microsoft.com/office/drawing/2014/main" id="{36774921-C656-7DF0-422C-3D73840A882E}"/>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FFB168B1-ED89-FE3F-4711-57711CFC1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9067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A024A-E5E4-3B68-D689-1B21DB444D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A517AD-C9D0-3A8F-216E-7E7097F66F8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1E2E5AC-B1D5-4B3F-6A52-0F28A64AEBA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54</a:t>
            </a:fld>
            <a:endParaRPr lang="en-US" altLang="en-US" sz="900">
              <a:solidFill>
                <a:srgbClr val="FFFFFF"/>
              </a:solidFill>
            </a:endParaRPr>
          </a:p>
        </p:txBody>
      </p:sp>
      <p:sp>
        <p:nvSpPr>
          <p:cNvPr id="5" name="TextBox 4">
            <a:extLst>
              <a:ext uri="{FF2B5EF4-FFF2-40B4-BE49-F238E27FC236}">
                <a16:creationId xmlns:a16="http://schemas.microsoft.com/office/drawing/2014/main" id="{3F50523F-7293-2DBA-D370-931D8C7EBE30}"/>
              </a:ext>
            </a:extLst>
          </p:cNvPr>
          <p:cNvSpPr txBox="1"/>
          <p:nvPr/>
        </p:nvSpPr>
        <p:spPr>
          <a:xfrm>
            <a:off x="0" y="1420349"/>
            <a:ext cx="9144000" cy="1964512"/>
          </a:xfrm>
          <a:prstGeom prst="rect">
            <a:avLst/>
          </a:prstGeom>
          <a:solidFill>
            <a:schemeClr val="bg1"/>
          </a:solidFill>
        </p:spPr>
        <p:txBody>
          <a:bodyPr wrap="square">
            <a:spAutoFit/>
          </a:bodyPr>
          <a:lstStyle/>
          <a:p>
            <a:pPr>
              <a:lnSpc>
                <a:spcPct val="150000"/>
              </a:lnSpc>
            </a:pPr>
            <a:r>
              <a:rPr lang="en-US" sz="2800" b="1" dirty="0">
                <a:latin typeface="+mn-lt"/>
              </a:rPr>
              <a:t>Key Message:</a:t>
            </a:r>
          </a:p>
          <a:p>
            <a:pPr>
              <a:lnSpc>
                <a:spcPct val="150000"/>
              </a:lnSpc>
            </a:pPr>
            <a:r>
              <a:rPr lang="en-US" sz="2800" dirty="0">
                <a:latin typeface="+mn-lt"/>
              </a:rPr>
              <a:t>Good project management prevents projects from becoming too expensive, too late, or too large.</a:t>
            </a:r>
          </a:p>
        </p:txBody>
      </p:sp>
      <p:sp>
        <p:nvSpPr>
          <p:cNvPr id="6146" name="Title 1">
            <a:extLst>
              <a:ext uri="{FF2B5EF4-FFF2-40B4-BE49-F238E27FC236}">
                <a16:creationId xmlns:a16="http://schemas.microsoft.com/office/drawing/2014/main" id="{C111E2EF-E0C9-B185-0B86-B7040589A414}"/>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81867599-31D1-930B-53ED-EF52394A1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8404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2336B-E647-B870-413E-1B406207CA4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417B524-D317-8D19-1321-DA78DBB9512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21E1F29-0142-194D-B2D0-DFEF676974B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55</a:t>
            </a:fld>
            <a:endParaRPr lang="en-US" altLang="en-US" sz="900">
              <a:solidFill>
                <a:srgbClr val="FFFFFF"/>
              </a:solidFill>
            </a:endParaRPr>
          </a:p>
        </p:txBody>
      </p:sp>
      <p:sp>
        <p:nvSpPr>
          <p:cNvPr id="5" name="TextBox 4">
            <a:extLst>
              <a:ext uri="{FF2B5EF4-FFF2-40B4-BE49-F238E27FC236}">
                <a16:creationId xmlns:a16="http://schemas.microsoft.com/office/drawing/2014/main" id="{49F40C17-59AF-8C13-D89E-F57A4848CE5D}"/>
              </a:ext>
            </a:extLst>
          </p:cNvPr>
          <p:cNvSpPr txBox="1"/>
          <p:nvPr/>
        </p:nvSpPr>
        <p:spPr>
          <a:xfrm>
            <a:off x="0" y="1420349"/>
            <a:ext cx="9144000" cy="4549835"/>
          </a:xfrm>
          <a:prstGeom prst="rect">
            <a:avLst/>
          </a:prstGeom>
          <a:solidFill>
            <a:schemeClr val="bg1"/>
          </a:solidFill>
        </p:spPr>
        <p:txBody>
          <a:bodyPr wrap="square">
            <a:spAutoFit/>
          </a:bodyPr>
          <a:lstStyle/>
          <a:p>
            <a:pPr>
              <a:lnSpc>
                <a:spcPct val="150000"/>
              </a:lnSpc>
            </a:pPr>
            <a:r>
              <a:rPr lang="en-US" sz="2800" b="1" dirty="0">
                <a:latin typeface="+mn-lt"/>
              </a:rPr>
              <a:t>5. Communication is Critical</a:t>
            </a:r>
          </a:p>
          <a:p>
            <a:pPr>
              <a:lnSpc>
                <a:spcPct val="150000"/>
              </a:lnSpc>
            </a:pPr>
            <a:r>
              <a:rPr lang="en-US" sz="2800" dirty="0">
                <a:latin typeface="+mn-lt"/>
              </a:rPr>
              <a:t>Project managers communicate with:</a:t>
            </a:r>
          </a:p>
          <a:p>
            <a:pPr>
              <a:lnSpc>
                <a:spcPct val="150000"/>
              </a:lnSpc>
            </a:pPr>
            <a:r>
              <a:rPr lang="en-US" sz="2800" dirty="0">
                <a:latin typeface="+mn-lt"/>
              </a:rPr>
              <a:t>- Team members </a:t>
            </a:r>
          </a:p>
          <a:p>
            <a:pPr>
              <a:lnSpc>
                <a:spcPct val="150000"/>
              </a:lnSpc>
            </a:pPr>
            <a:r>
              <a:rPr lang="en-US" sz="2800" dirty="0">
                <a:latin typeface="+mn-lt"/>
              </a:rPr>
              <a:t>- Customers </a:t>
            </a:r>
          </a:p>
          <a:p>
            <a:pPr>
              <a:lnSpc>
                <a:spcPct val="150000"/>
              </a:lnSpc>
            </a:pPr>
            <a:r>
              <a:rPr lang="en-US" sz="2800" dirty="0">
                <a:latin typeface="+mn-lt"/>
              </a:rPr>
              <a:t>- Sponsors </a:t>
            </a:r>
          </a:p>
          <a:p>
            <a:pPr>
              <a:lnSpc>
                <a:spcPct val="150000"/>
              </a:lnSpc>
            </a:pPr>
            <a:r>
              <a:rPr lang="en-US" sz="2800" dirty="0">
                <a:latin typeface="+mn-lt"/>
              </a:rPr>
              <a:t>- Stakeholders </a:t>
            </a:r>
          </a:p>
          <a:p>
            <a:pPr>
              <a:lnSpc>
                <a:spcPct val="150000"/>
              </a:lnSpc>
            </a:pPr>
            <a:r>
              <a:rPr lang="en-US" sz="2800" dirty="0">
                <a:latin typeface="+mn-lt"/>
              </a:rPr>
              <a:t>- Management</a:t>
            </a:r>
          </a:p>
        </p:txBody>
      </p:sp>
      <p:sp>
        <p:nvSpPr>
          <p:cNvPr id="6146" name="Title 1">
            <a:extLst>
              <a:ext uri="{FF2B5EF4-FFF2-40B4-BE49-F238E27FC236}">
                <a16:creationId xmlns:a16="http://schemas.microsoft.com/office/drawing/2014/main" id="{32599416-FDD6-55E9-9D69-60C95FE203DC}"/>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D81BEC19-0D66-0C7B-FF77-733323C4A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6167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D61B-C8FF-112E-CF77-B6D14F853A5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AA2321-6714-3E95-558B-FF220D7C25F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83FE41B-B5A5-8FE9-B7EC-932909F178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56</a:t>
            </a:fld>
            <a:endParaRPr lang="en-US" altLang="en-US" sz="900">
              <a:solidFill>
                <a:srgbClr val="FFFFFF"/>
              </a:solidFill>
            </a:endParaRPr>
          </a:p>
        </p:txBody>
      </p:sp>
      <p:sp>
        <p:nvSpPr>
          <p:cNvPr id="5" name="TextBox 4">
            <a:extLst>
              <a:ext uri="{FF2B5EF4-FFF2-40B4-BE49-F238E27FC236}">
                <a16:creationId xmlns:a16="http://schemas.microsoft.com/office/drawing/2014/main" id="{A4D4C731-973F-44A5-7CD4-9137C5CCEDA4}"/>
              </a:ext>
            </a:extLst>
          </p:cNvPr>
          <p:cNvSpPr txBox="1"/>
          <p:nvPr/>
        </p:nvSpPr>
        <p:spPr>
          <a:xfrm>
            <a:off x="0" y="1420349"/>
            <a:ext cx="9144000" cy="4549835"/>
          </a:xfrm>
          <a:prstGeom prst="rect">
            <a:avLst/>
          </a:prstGeom>
          <a:solidFill>
            <a:schemeClr val="bg1"/>
          </a:solidFill>
        </p:spPr>
        <p:txBody>
          <a:bodyPr wrap="square">
            <a:spAutoFit/>
          </a:bodyPr>
          <a:lstStyle/>
          <a:p>
            <a:pPr>
              <a:lnSpc>
                <a:spcPct val="150000"/>
              </a:lnSpc>
            </a:pPr>
            <a:r>
              <a:rPr lang="en-US" sz="2800" dirty="0">
                <a:latin typeface="+mn-lt"/>
              </a:rPr>
              <a:t>Communication ensures:</a:t>
            </a:r>
          </a:p>
          <a:p>
            <a:pPr>
              <a:lnSpc>
                <a:spcPct val="150000"/>
              </a:lnSpc>
            </a:pPr>
            <a:r>
              <a:rPr lang="en-US" sz="2800" dirty="0">
                <a:latin typeface="+mn-lt"/>
              </a:rPr>
              <a:t>- Everyone understands objectives </a:t>
            </a:r>
          </a:p>
          <a:p>
            <a:pPr>
              <a:lnSpc>
                <a:spcPct val="150000"/>
              </a:lnSpc>
            </a:pPr>
            <a:r>
              <a:rPr lang="en-US" sz="2800" dirty="0">
                <a:latin typeface="+mn-lt"/>
              </a:rPr>
              <a:t>- Issues are identified early </a:t>
            </a:r>
          </a:p>
          <a:p>
            <a:pPr>
              <a:lnSpc>
                <a:spcPct val="150000"/>
              </a:lnSpc>
            </a:pPr>
            <a:r>
              <a:rPr lang="en-US" sz="2800" dirty="0">
                <a:latin typeface="+mn-lt"/>
              </a:rPr>
              <a:t>- Expectations are managed </a:t>
            </a:r>
          </a:p>
          <a:p>
            <a:pPr>
              <a:lnSpc>
                <a:spcPct val="150000"/>
              </a:lnSpc>
            </a:pPr>
            <a:r>
              <a:rPr lang="en-US" sz="2800" b="1" dirty="0">
                <a:latin typeface="+mn-lt"/>
              </a:rPr>
              <a:t>Key Message:</a:t>
            </a:r>
          </a:p>
          <a:p>
            <a:pPr>
              <a:lnSpc>
                <a:spcPct val="150000"/>
              </a:lnSpc>
            </a:pPr>
            <a:r>
              <a:rPr lang="en-US" sz="2800" dirty="0">
                <a:latin typeface="+mn-lt"/>
              </a:rPr>
              <a:t>Poor communication is one of the most common causes of project failure.</a:t>
            </a:r>
          </a:p>
        </p:txBody>
      </p:sp>
      <p:sp>
        <p:nvSpPr>
          <p:cNvPr id="6146" name="Title 1">
            <a:extLst>
              <a:ext uri="{FF2B5EF4-FFF2-40B4-BE49-F238E27FC236}">
                <a16:creationId xmlns:a16="http://schemas.microsoft.com/office/drawing/2014/main" id="{6B092E26-0262-C02F-00A0-DA06493B8850}"/>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DA6CFC7E-F36A-9257-6796-D1BC374BC9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91576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ABF5-C174-508B-5AAE-8304D5F597E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D3BE6A-BEC0-62B4-CDF0-4927F65D7C7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B70004D-BC67-A048-96BB-810B3B8F53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57</a:t>
            </a:fld>
            <a:endParaRPr lang="en-US" altLang="en-US" sz="900">
              <a:solidFill>
                <a:srgbClr val="FFFFFF"/>
              </a:solidFill>
            </a:endParaRPr>
          </a:p>
        </p:txBody>
      </p:sp>
      <p:sp>
        <p:nvSpPr>
          <p:cNvPr id="5" name="TextBox 4">
            <a:extLst>
              <a:ext uri="{FF2B5EF4-FFF2-40B4-BE49-F238E27FC236}">
                <a16:creationId xmlns:a16="http://schemas.microsoft.com/office/drawing/2014/main" id="{BDE474B3-5E30-4FAC-A8C5-623317D1DC5C}"/>
              </a:ext>
            </a:extLst>
          </p:cNvPr>
          <p:cNvSpPr txBox="1"/>
          <p:nvPr/>
        </p:nvSpPr>
        <p:spPr>
          <a:xfrm>
            <a:off x="0"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6. Risk Management is Essential</a:t>
            </a:r>
          </a:p>
          <a:p>
            <a:pPr>
              <a:lnSpc>
                <a:spcPct val="150000"/>
              </a:lnSpc>
            </a:pPr>
            <a:r>
              <a:rPr lang="en-US" sz="2800" dirty="0">
                <a:latin typeface="+mn-lt"/>
              </a:rPr>
              <a:t>Every project faces risks.</a:t>
            </a:r>
          </a:p>
          <a:p>
            <a:pPr>
              <a:lnSpc>
                <a:spcPct val="150000"/>
              </a:lnSpc>
            </a:pPr>
            <a:r>
              <a:rPr lang="en-US" sz="2800" dirty="0">
                <a:latin typeface="+mn-lt"/>
              </a:rPr>
              <a:t>Examples:</a:t>
            </a:r>
          </a:p>
          <a:p>
            <a:pPr>
              <a:lnSpc>
                <a:spcPct val="150000"/>
              </a:lnSpc>
            </a:pPr>
            <a:r>
              <a:rPr lang="en-US" sz="2800" dirty="0">
                <a:latin typeface="+mn-lt"/>
              </a:rPr>
              <a:t>- Budget overruns </a:t>
            </a:r>
          </a:p>
          <a:p>
            <a:pPr>
              <a:lnSpc>
                <a:spcPct val="150000"/>
              </a:lnSpc>
            </a:pPr>
            <a:r>
              <a:rPr lang="en-US" sz="2800" dirty="0">
                <a:latin typeface="+mn-lt"/>
              </a:rPr>
              <a:t>- Security breaches </a:t>
            </a:r>
          </a:p>
          <a:p>
            <a:pPr>
              <a:lnSpc>
                <a:spcPct val="150000"/>
              </a:lnSpc>
            </a:pPr>
            <a:r>
              <a:rPr lang="en-US" sz="2800" dirty="0">
                <a:latin typeface="+mn-lt"/>
              </a:rPr>
              <a:t>- Resource shortages </a:t>
            </a:r>
          </a:p>
          <a:p>
            <a:pPr>
              <a:lnSpc>
                <a:spcPct val="150000"/>
              </a:lnSpc>
            </a:pPr>
            <a:r>
              <a:rPr lang="en-US" sz="2800" dirty="0">
                <a:latin typeface="+mn-lt"/>
              </a:rPr>
              <a:t>- Technical failures </a:t>
            </a:r>
          </a:p>
          <a:p>
            <a:pPr>
              <a:lnSpc>
                <a:spcPct val="150000"/>
              </a:lnSpc>
            </a:pPr>
            <a:r>
              <a:rPr lang="en-US" sz="2800" dirty="0">
                <a:latin typeface="+mn-lt"/>
              </a:rPr>
              <a:t>- Schedule delays</a:t>
            </a:r>
          </a:p>
        </p:txBody>
      </p:sp>
      <p:sp>
        <p:nvSpPr>
          <p:cNvPr id="6146" name="Title 1">
            <a:extLst>
              <a:ext uri="{FF2B5EF4-FFF2-40B4-BE49-F238E27FC236}">
                <a16:creationId xmlns:a16="http://schemas.microsoft.com/office/drawing/2014/main" id="{0152AB1F-3C70-3FB8-137A-021D3616B513}"/>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E855AAAD-0331-C5A2-F144-DAA2A2BC6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4077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AD46-AC0D-ABDC-512D-4A9551C7705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41999D3-8174-5243-D849-3E45E1D5B98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FFF501A-C89E-CBD6-8128-97A886EC212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58</a:t>
            </a:fld>
            <a:endParaRPr lang="en-US" altLang="en-US" sz="900">
              <a:solidFill>
                <a:srgbClr val="FFFFFF"/>
              </a:solidFill>
            </a:endParaRPr>
          </a:p>
        </p:txBody>
      </p:sp>
      <p:sp>
        <p:nvSpPr>
          <p:cNvPr id="5" name="TextBox 4">
            <a:extLst>
              <a:ext uri="{FF2B5EF4-FFF2-40B4-BE49-F238E27FC236}">
                <a16:creationId xmlns:a16="http://schemas.microsoft.com/office/drawing/2014/main" id="{98F304B9-8FD9-89D0-61A1-AD15E117FB05}"/>
              </a:ext>
            </a:extLst>
          </p:cNvPr>
          <p:cNvSpPr txBox="1"/>
          <p:nvPr/>
        </p:nvSpPr>
        <p:spPr>
          <a:xfrm>
            <a:off x="0" y="830917"/>
            <a:ext cx="9144000" cy="4549835"/>
          </a:xfrm>
          <a:prstGeom prst="rect">
            <a:avLst/>
          </a:prstGeom>
          <a:solidFill>
            <a:schemeClr val="bg1"/>
          </a:solidFill>
        </p:spPr>
        <p:txBody>
          <a:bodyPr wrap="square">
            <a:spAutoFit/>
          </a:bodyPr>
          <a:lstStyle/>
          <a:p>
            <a:pPr>
              <a:lnSpc>
                <a:spcPct val="150000"/>
              </a:lnSpc>
            </a:pPr>
            <a:r>
              <a:rPr lang="en-US" sz="2800" dirty="0">
                <a:latin typeface="+mn-lt"/>
              </a:rPr>
              <a:t>Project managers must:</a:t>
            </a:r>
          </a:p>
          <a:p>
            <a:pPr>
              <a:lnSpc>
                <a:spcPct val="150000"/>
              </a:lnSpc>
            </a:pPr>
            <a:r>
              <a:rPr lang="en-US" sz="2800" dirty="0">
                <a:latin typeface="+mn-lt"/>
              </a:rPr>
              <a:t>- Identify risks </a:t>
            </a:r>
          </a:p>
          <a:p>
            <a:pPr>
              <a:lnSpc>
                <a:spcPct val="150000"/>
              </a:lnSpc>
            </a:pPr>
            <a:r>
              <a:rPr lang="en-US" sz="2800" dirty="0">
                <a:latin typeface="+mn-lt"/>
              </a:rPr>
              <a:t>- </a:t>
            </a:r>
            <a:r>
              <a:rPr lang="en-US" sz="2800" dirty="0" err="1">
                <a:latin typeface="+mn-lt"/>
              </a:rPr>
              <a:t>Analyse</a:t>
            </a:r>
            <a:r>
              <a:rPr lang="en-US" sz="2800" dirty="0">
                <a:latin typeface="+mn-lt"/>
              </a:rPr>
              <a:t> risks </a:t>
            </a:r>
          </a:p>
          <a:p>
            <a:pPr>
              <a:lnSpc>
                <a:spcPct val="150000"/>
              </a:lnSpc>
            </a:pPr>
            <a:r>
              <a:rPr lang="en-US" sz="2800" dirty="0">
                <a:latin typeface="+mn-lt"/>
              </a:rPr>
              <a:t>- Monitor risks </a:t>
            </a:r>
          </a:p>
          <a:p>
            <a:pPr>
              <a:lnSpc>
                <a:spcPct val="150000"/>
              </a:lnSpc>
            </a:pPr>
            <a:r>
              <a:rPr lang="en-US" sz="2800" dirty="0">
                <a:latin typeface="+mn-lt"/>
              </a:rPr>
              <a:t>- Develop mitigation plans </a:t>
            </a:r>
          </a:p>
          <a:p>
            <a:pPr>
              <a:lnSpc>
                <a:spcPct val="150000"/>
              </a:lnSpc>
            </a:pPr>
            <a:r>
              <a:rPr lang="en-US" sz="2800" b="1" dirty="0">
                <a:latin typeface="+mn-lt"/>
              </a:rPr>
              <a:t>Key Message:</a:t>
            </a:r>
          </a:p>
          <a:p>
            <a:pPr>
              <a:lnSpc>
                <a:spcPct val="150000"/>
              </a:lnSpc>
            </a:pPr>
            <a:r>
              <a:rPr lang="en-US" sz="2800" dirty="0">
                <a:latin typeface="+mn-lt"/>
              </a:rPr>
              <a:t>Managing risks early increases project success.</a:t>
            </a:r>
          </a:p>
        </p:txBody>
      </p:sp>
      <p:sp>
        <p:nvSpPr>
          <p:cNvPr id="6146" name="Title 1">
            <a:extLst>
              <a:ext uri="{FF2B5EF4-FFF2-40B4-BE49-F238E27FC236}">
                <a16:creationId xmlns:a16="http://schemas.microsoft.com/office/drawing/2014/main" id="{30D99F55-F9AE-9B49-8318-7D376D0EFBB7}"/>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3043C60A-E3E2-ABE5-8EBB-B1E90030B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13111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365CE-6F08-5B2F-8606-58237BD38EA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D7272E-AF94-4C08-8E42-3E246E58355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8A065B0-DB9B-E781-4DBC-44A7A34734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59</a:t>
            </a:fld>
            <a:endParaRPr lang="en-US" altLang="en-US" sz="900">
              <a:solidFill>
                <a:srgbClr val="FFFFFF"/>
              </a:solidFill>
            </a:endParaRPr>
          </a:p>
        </p:txBody>
      </p:sp>
      <p:sp>
        <p:nvSpPr>
          <p:cNvPr id="5" name="TextBox 4">
            <a:extLst>
              <a:ext uri="{FF2B5EF4-FFF2-40B4-BE49-F238E27FC236}">
                <a16:creationId xmlns:a16="http://schemas.microsoft.com/office/drawing/2014/main" id="{212EA92D-7D8F-8CA6-A47F-6B1435863148}"/>
              </a:ext>
            </a:extLst>
          </p:cNvPr>
          <p:cNvSpPr txBox="1"/>
          <p:nvPr/>
        </p:nvSpPr>
        <p:spPr>
          <a:xfrm>
            <a:off x="0"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7. Change Management is Important</a:t>
            </a:r>
          </a:p>
          <a:p>
            <a:pPr>
              <a:lnSpc>
                <a:spcPct val="150000"/>
              </a:lnSpc>
            </a:pPr>
            <a:r>
              <a:rPr lang="en-US" sz="2800" dirty="0">
                <a:latin typeface="+mn-lt"/>
              </a:rPr>
              <a:t>Projects often introduce new systems or processes.</a:t>
            </a:r>
          </a:p>
          <a:p>
            <a:pPr>
              <a:lnSpc>
                <a:spcPct val="150000"/>
              </a:lnSpc>
            </a:pPr>
            <a:r>
              <a:rPr lang="en-US" sz="2800" dirty="0">
                <a:latin typeface="+mn-lt"/>
              </a:rPr>
              <a:t>Users may resist change.</a:t>
            </a:r>
          </a:p>
          <a:p>
            <a:pPr>
              <a:lnSpc>
                <a:spcPct val="150000"/>
              </a:lnSpc>
            </a:pPr>
            <a:r>
              <a:rPr lang="en-US" sz="2800" dirty="0">
                <a:latin typeface="+mn-lt"/>
              </a:rPr>
              <a:t>Change management helps </a:t>
            </a:r>
            <a:r>
              <a:rPr lang="en-US" sz="2800" dirty="0" err="1">
                <a:latin typeface="+mn-lt"/>
              </a:rPr>
              <a:t>organisations</a:t>
            </a:r>
            <a:r>
              <a:rPr lang="en-US" sz="2800" dirty="0">
                <a:latin typeface="+mn-lt"/>
              </a:rPr>
              <a:t>:</a:t>
            </a:r>
          </a:p>
          <a:p>
            <a:pPr>
              <a:lnSpc>
                <a:spcPct val="150000"/>
              </a:lnSpc>
            </a:pPr>
            <a:r>
              <a:rPr lang="en-US" sz="2800" dirty="0">
                <a:latin typeface="+mn-lt"/>
              </a:rPr>
              <a:t>- Prepare users </a:t>
            </a:r>
          </a:p>
          <a:p>
            <a:pPr>
              <a:lnSpc>
                <a:spcPct val="150000"/>
              </a:lnSpc>
            </a:pPr>
            <a:r>
              <a:rPr lang="en-US" sz="2800" dirty="0">
                <a:latin typeface="+mn-lt"/>
              </a:rPr>
              <a:t>- Train staff </a:t>
            </a:r>
          </a:p>
          <a:p>
            <a:pPr>
              <a:lnSpc>
                <a:spcPct val="150000"/>
              </a:lnSpc>
            </a:pPr>
            <a:r>
              <a:rPr lang="en-US" sz="2800" dirty="0">
                <a:latin typeface="+mn-lt"/>
              </a:rPr>
              <a:t>- Communicate benefits </a:t>
            </a:r>
          </a:p>
          <a:p>
            <a:pPr>
              <a:lnSpc>
                <a:spcPct val="150000"/>
              </a:lnSpc>
            </a:pPr>
            <a:r>
              <a:rPr lang="en-US" sz="2800" dirty="0">
                <a:latin typeface="+mn-lt"/>
              </a:rPr>
              <a:t>- Support adoption </a:t>
            </a:r>
          </a:p>
        </p:txBody>
      </p:sp>
      <p:sp>
        <p:nvSpPr>
          <p:cNvPr id="6146" name="Title 1">
            <a:extLst>
              <a:ext uri="{FF2B5EF4-FFF2-40B4-BE49-F238E27FC236}">
                <a16:creationId xmlns:a16="http://schemas.microsoft.com/office/drawing/2014/main" id="{99BA3555-5F88-6E67-52E1-70A7ACA7DF27}"/>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2EF075D0-6ADC-3760-A58B-7B749FDB5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7348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10FB1-8747-0D87-084C-D442BC5B0CC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E8F0DC-D8C9-9D76-6065-3552877C75C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17CE26E-E00C-882D-2A36-3FE5BEE5238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60</a:t>
            </a:fld>
            <a:endParaRPr lang="en-US" altLang="en-US" sz="900">
              <a:solidFill>
                <a:srgbClr val="FFFFFF"/>
              </a:solidFill>
            </a:endParaRPr>
          </a:p>
        </p:txBody>
      </p:sp>
      <p:sp>
        <p:nvSpPr>
          <p:cNvPr id="5" name="TextBox 4">
            <a:extLst>
              <a:ext uri="{FF2B5EF4-FFF2-40B4-BE49-F238E27FC236}">
                <a16:creationId xmlns:a16="http://schemas.microsoft.com/office/drawing/2014/main" id="{3B9F1AF3-69B4-3517-6865-3CC80B43CAA6}"/>
              </a:ext>
            </a:extLst>
          </p:cNvPr>
          <p:cNvSpPr txBox="1"/>
          <p:nvPr/>
        </p:nvSpPr>
        <p:spPr>
          <a:xfrm>
            <a:off x="0" y="830917"/>
            <a:ext cx="9144000" cy="1964512"/>
          </a:xfrm>
          <a:prstGeom prst="rect">
            <a:avLst/>
          </a:prstGeom>
          <a:solidFill>
            <a:schemeClr val="bg1"/>
          </a:solidFill>
        </p:spPr>
        <p:txBody>
          <a:bodyPr wrap="square">
            <a:spAutoFit/>
          </a:bodyPr>
          <a:lstStyle/>
          <a:p>
            <a:pPr>
              <a:lnSpc>
                <a:spcPct val="150000"/>
              </a:lnSpc>
            </a:pPr>
            <a:r>
              <a:rPr lang="en-US" sz="2800" b="1" dirty="0">
                <a:latin typeface="+mn-lt"/>
              </a:rPr>
              <a:t>Key Message:</a:t>
            </a:r>
          </a:p>
          <a:p>
            <a:pPr>
              <a:lnSpc>
                <a:spcPct val="150000"/>
              </a:lnSpc>
            </a:pPr>
            <a:r>
              <a:rPr lang="en-US" sz="2800" dirty="0">
                <a:latin typeface="+mn-lt"/>
              </a:rPr>
              <a:t>Technology projects succeed when people are willing to use the solution.</a:t>
            </a:r>
          </a:p>
        </p:txBody>
      </p:sp>
      <p:sp>
        <p:nvSpPr>
          <p:cNvPr id="6146" name="Title 1">
            <a:extLst>
              <a:ext uri="{FF2B5EF4-FFF2-40B4-BE49-F238E27FC236}">
                <a16:creationId xmlns:a16="http://schemas.microsoft.com/office/drawing/2014/main" id="{E997C535-4408-B0E2-111C-177A40470914}"/>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A376643D-ED4B-841B-9CA5-132347ABB0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98603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5C15-EB99-4AD5-ED80-EA223D0225D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F74C6F6-C58F-B6FD-8716-D89CDF769A3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8EF0325-B45C-39D7-8AC0-431E2509C5E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61</a:t>
            </a:fld>
            <a:endParaRPr lang="en-US" altLang="en-US" sz="900">
              <a:solidFill>
                <a:srgbClr val="FFFFFF"/>
              </a:solidFill>
            </a:endParaRPr>
          </a:p>
        </p:txBody>
      </p:sp>
      <p:sp>
        <p:nvSpPr>
          <p:cNvPr id="5" name="TextBox 4">
            <a:extLst>
              <a:ext uri="{FF2B5EF4-FFF2-40B4-BE49-F238E27FC236}">
                <a16:creationId xmlns:a16="http://schemas.microsoft.com/office/drawing/2014/main" id="{0EFC873D-704A-7F38-AD26-AA7E25741881}"/>
              </a:ext>
            </a:extLst>
          </p:cNvPr>
          <p:cNvSpPr txBox="1"/>
          <p:nvPr/>
        </p:nvSpPr>
        <p:spPr>
          <a:xfrm>
            <a:off x="0" y="830917"/>
            <a:ext cx="9144000" cy="5196166"/>
          </a:xfrm>
          <a:prstGeom prst="rect">
            <a:avLst/>
          </a:prstGeom>
          <a:solidFill>
            <a:schemeClr val="bg1"/>
          </a:solidFill>
        </p:spPr>
        <p:txBody>
          <a:bodyPr wrap="square">
            <a:spAutoFit/>
          </a:bodyPr>
          <a:lstStyle/>
          <a:p>
            <a:pPr>
              <a:lnSpc>
                <a:spcPct val="150000"/>
              </a:lnSpc>
            </a:pPr>
            <a:r>
              <a:rPr lang="en-US" sz="2800" b="1" dirty="0">
                <a:latin typeface="+mn-lt"/>
              </a:rPr>
              <a:t>8. Every Project Follows a Life Cycle</a:t>
            </a:r>
          </a:p>
          <a:p>
            <a:pPr>
              <a:lnSpc>
                <a:spcPct val="150000"/>
              </a:lnSpc>
            </a:pPr>
            <a:r>
              <a:rPr lang="en-US" sz="2800" dirty="0">
                <a:latin typeface="+mn-lt"/>
              </a:rPr>
              <a:t>The video explains the five major stages of project management:</a:t>
            </a:r>
          </a:p>
          <a:p>
            <a:pPr>
              <a:lnSpc>
                <a:spcPct val="150000"/>
              </a:lnSpc>
            </a:pPr>
            <a:r>
              <a:rPr lang="en-US" sz="2800" b="1" dirty="0">
                <a:latin typeface="+mn-lt"/>
              </a:rPr>
              <a:t>Stage 1: Initiation</a:t>
            </a:r>
          </a:p>
          <a:p>
            <a:pPr>
              <a:lnSpc>
                <a:spcPct val="150000"/>
              </a:lnSpc>
            </a:pPr>
            <a:r>
              <a:rPr lang="en-US" sz="2800" dirty="0">
                <a:latin typeface="+mn-lt"/>
              </a:rPr>
              <a:t>Questions asked:</a:t>
            </a:r>
          </a:p>
          <a:p>
            <a:pPr>
              <a:lnSpc>
                <a:spcPct val="150000"/>
              </a:lnSpc>
            </a:pPr>
            <a:r>
              <a:rPr lang="en-US" sz="2800" dirty="0">
                <a:latin typeface="+mn-lt"/>
              </a:rPr>
              <a:t>- Why are we doing this project? </a:t>
            </a:r>
          </a:p>
          <a:p>
            <a:pPr>
              <a:lnSpc>
                <a:spcPct val="150000"/>
              </a:lnSpc>
            </a:pPr>
            <a:r>
              <a:rPr lang="en-US" sz="2800" dirty="0">
                <a:latin typeface="+mn-lt"/>
              </a:rPr>
              <a:t>- What problem are we solving? </a:t>
            </a:r>
          </a:p>
          <a:p>
            <a:pPr>
              <a:lnSpc>
                <a:spcPct val="150000"/>
              </a:lnSpc>
            </a:pPr>
            <a:r>
              <a:rPr lang="en-US" sz="2800" dirty="0">
                <a:latin typeface="+mn-lt"/>
              </a:rPr>
              <a:t>- Is the project worthwhile?</a:t>
            </a:r>
          </a:p>
        </p:txBody>
      </p:sp>
      <p:sp>
        <p:nvSpPr>
          <p:cNvPr id="6146" name="Title 1">
            <a:extLst>
              <a:ext uri="{FF2B5EF4-FFF2-40B4-BE49-F238E27FC236}">
                <a16:creationId xmlns:a16="http://schemas.microsoft.com/office/drawing/2014/main" id="{B1E72FB0-FE48-8A8C-9C33-E636A6BC9E95}"/>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A6B7A283-8AD3-967D-B16F-AF8550C5B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92419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C889A-2E0A-1AE5-9D1B-0392C23E0F4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DAF3BD-7146-F8D1-6EE5-18437C76CF2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3B2B746-F9F4-B067-B772-DD015FC936D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62</a:t>
            </a:fld>
            <a:endParaRPr lang="en-US" altLang="en-US" sz="900">
              <a:solidFill>
                <a:srgbClr val="FFFFFF"/>
              </a:solidFill>
            </a:endParaRPr>
          </a:p>
        </p:txBody>
      </p:sp>
      <p:sp>
        <p:nvSpPr>
          <p:cNvPr id="5" name="TextBox 4">
            <a:extLst>
              <a:ext uri="{FF2B5EF4-FFF2-40B4-BE49-F238E27FC236}">
                <a16:creationId xmlns:a16="http://schemas.microsoft.com/office/drawing/2014/main" id="{D726F68E-855D-1CD7-AC12-7FF500CE0E10}"/>
              </a:ext>
            </a:extLst>
          </p:cNvPr>
          <p:cNvSpPr txBox="1"/>
          <p:nvPr/>
        </p:nvSpPr>
        <p:spPr>
          <a:xfrm>
            <a:off x="0" y="830917"/>
            <a:ext cx="9144000" cy="2610843"/>
          </a:xfrm>
          <a:prstGeom prst="rect">
            <a:avLst/>
          </a:prstGeom>
          <a:solidFill>
            <a:schemeClr val="bg1"/>
          </a:solidFill>
        </p:spPr>
        <p:txBody>
          <a:bodyPr wrap="square">
            <a:spAutoFit/>
          </a:bodyPr>
          <a:lstStyle/>
          <a:p>
            <a:pPr>
              <a:lnSpc>
                <a:spcPct val="150000"/>
              </a:lnSpc>
            </a:pPr>
            <a:r>
              <a:rPr lang="en-US" sz="2800" dirty="0">
                <a:latin typeface="+mn-lt"/>
              </a:rPr>
              <a:t>Deliverables:</a:t>
            </a:r>
          </a:p>
          <a:p>
            <a:pPr>
              <a:lnSpc>
                <a:spcPct val="150000"/>
              </a:lnSpc>
            </a:pPr>
            <a:r>
              <a:rPr lang="en-US" sz="2800" dirty="0">
                <a:latin typeface="+mn-lt"/>
              </a:rPr>
              <a:t>- Business case </a:t>
            </a:r>
          </a:p>
          <a:p>
            <a:pPr>
              <a:lnSpc>
                <a:spcPct val="150000"/>
              </a:lnSpc>
            </a:pPr>
            <a:r>
              <a:rPr lang="en-US" sz="2800" dirty="0">
                <a:latin typeface="+mn-lt"/>
              </a:rPr>
              <a:t>- Initial scope </a:t>
            </a:r>
          </a:p>
          <a:p>
            <a:pPr>
              <a:lnSpc>
                <a:spcPct val="150000"/>
              </a:lnSpc>
            </a:pPr>
            <a:r>
              <a:rPr lang="en-US" sz="2800" dirty="0">
                <a:latin typeface="+mn-lt"/>
              </a:rPr>
              <a:t>- Project justification</a:t>
            </a:r>
          </a:p>
        </p:txBody>
      </p:sp>
      <p:sp>
        <p:nvSpPr>
          <p:cNvPr id="6146" name="Title 1">
            <a:extLst>
              <a:ext uri="{FF2B5EF4-FFF2-40B4-BE49-F238E27FC236}">
                <a16:creationId xmlns:a16="http://schemas.microsoft.com/office/drawing/2014/main" id="{FB24BD2B-A4C8-3571-243C-04783A98DDD1}"/>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7EFA5DB8-63D7-9775-6593-0C8184474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43666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42816-0E9B-E504-111E-983ABB39136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DE0A47-ABF8-DBF4-818C-7BAC76593D7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D878650-8E1D-A7E0-F850-7D627DA8EC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63</a:t>
            </a:fld>
            <a:endParaRPr lang="en-US" altLang="en-US" sz="900">
              <a:solidFill>
                <a:srgbClr val="FFFFFF"/>
              </a:solidFill>
            </a:endParaRPr>
          </a:p>
        </p:txBody>
      </p:sp>
      <p:sp>
        <p:nvSpPr>
          <p:cNvPr id="5" name="TextBox 4">
            <a:extLst>
              <a:ext uri="{FF2B5EF4-FFF2-40B4-BE49-F238E27FC236}">
                <a16:creationId xmlns:a16="http://schemas.microsoft.com/office/drawing/2014/main" id="{75673C9E-F697-2E4F-6D9D-18B1119F72DE}"/>
              </a:ext>
            </a:extLst>
          </p:cNvPr>
          <p:cNvSpPr txBox="1"/>
          <p:nvPr/>
        </p:nvSpPr>
        <p:spPr>
          <a:xfrm>
            <a:off x="0" y="369172"/>
            <a:ext cx="9144000" cy="6488828"/>
          </a:xfrm>
          <a:prstGeom prst="rect">
            <a:avLst/>
          </a:prstGeom>
          <a:solidFill>
            <a:schemeClr val="bg1"/>
          </a:solidFill>
        </p:spPr>
        <p:txBody>
          <a:bodyPr wrap="square">
            <a:spAutoFit/>
          </a:bodyPr>
          <a:lstStyle/>
          <a:p>
            <a:pPr>
              <a:lnSpc>
                <a:spcPct val="150000"/>
              </a:lnSpc>
            </a:pPr>
            <a:r>
              <a:rPr lang="en-US" sz="2800" b="1" dirty="0">
                <a:latin typeface="+mn-lt"/>
              </a:rPr>
              <a:t>Planning</a:t>
            </a:r>
          </a:p>
          <a:p>
            <a:pPr>
              <a:lnSpc>
                <a:spcPct val="150000"/>
              </a:lnSpc>
            </a:pPr>
            <a:r>
              <a:rPr lang="en-US" sz="2800" dirty="0">
                <a:latin typeface="+mn-lt"/>
              </a:rPr>
              <a:t>Questions asked:</a:t>
            </a:r>
          </a:p>
          <a:p>
            <a:pPr>
              <a:lnSpc>
                <a:spcPct val="150000"/>
              </a:lnSpc>
            </a:pPr>
            <a:r>
              <a:rPr lang="en-US" sz="2800" dirty="0">
                <a:latin typeface="+mn-lt"/>
              </a:rPr>
              <a:t>- What work needs to be done? </a:t>
            </a:r>
          </a:p>
          <a:p>
            <a:pPr>
              <a:lnSpc>
                <a:spcPct val="150000"/>
              </a:lnSpc>
            </a:pPr>
            <a:r>
              <a:rPr lang="en-US" sz="2800" dirty="0">
                <a:latin typeface="+mn-lt"/>
              </a:rPr>
              <a:t>- Who will do it? </a:t>
            </a:r>
          </a:p>
          <a:p>
            <a:pPr>
              <a:lnSpc>
                <a:spcPct val="150000"/>
              </a:lnSpc>
            </a:pPr>
            <a:r>
              <a:rPr lang="en-US" sz="2800" dirty="0">
                <a:latin typeface="+mn-lt"/>
              </a:rPr>
              <a:t>- When will it be completed? </a:t>
            </a:r>
          </a:p>
          <a:p>
            <a:pPr>
              <a:lnSpc>
                <a:spcPct val="150000"/>
              </a:lnSpc>
            </a:pPr>
            <a:r>
              <a:rPr lang="en-US" sz="2800" dirty="0">
                <a:latin typeface="+mn-lt"/>
              </a:rPr>
              <a:t>Deliverables:</a:t>
            </a:r>
          </a:p>
          <a:p>
            <a:pPr>
              <a:lnSpc>
                <a:spcPct val="150000"/>
              </a:lnSpc>
            </a:pPr>
            <a:r>
              <a:rPr lang="en-US" sz="2800" dirty="0">
                <a:latin typeface="+mn-lt"/>
              </a:rPr>
              <a:t>- Project charter </a:t>
            </a:r>
          </a:p>
          <a:p>
            <a:pPr>
              <a:lnSpc>
                <a:spcPct val="150000"/>
              </a:lnSpc>
            </a:pPr>
            <a:r>
              <a:rPr lang="en-US" sz="2800" dirty="0">
                <a:latin typeface="+mn-lt"/>
              </a:rPr>
              <a:t>- Schedule </a:t>
            </a:r>
          </a:p>
          <a:p>
            <a:pPr>
              <a:lnSpc>
                <a:spcPct val="150000"/>
              </a:lnSpc>
            </a:pPr>
            <a:r>
              <a:rPr lang="en-US" sz="2800" dirty="0">
                <a:latin typeface="+mn-lt"/>
              </a:rPr>
              <a:t>- Resource plan </a:t>
            </a:r>
          </a:p>
          <a:p>
            <a:pPr>
              <a:lnSpc>
                <a:spcPct val="150000"/>
              </a:lnSpc>
            </a:pPr>
            <a:r>
              <a:rPr lang="en-US" sz="2800" dirty="0">
                <a:latin typeface="+mn-lt"/>
              </a:rPr>
              <a:t>- Risk plan</a:t>
            </a:r>
          </a:p>
        </p:txBody>
      </p:sp>
      <p:sp>
        <p:nvSpPr>
          <p:cNvPr id="6146" name="Title 1">
            <a:extLst>
              <a:ext uri="{FF2B5EF4-FFF2-40B4-BE49-F238E27FC236}">
                <a16:creationId xmlns:a16="http://schemas.microsoft.com/office/drawing/2014/main" id="{8AFB8799-3221-8286-9C48-C3465C539132}"/>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67750611-5B41-8644-315C-E77C22B91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5633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C3196-3062-A239-2911-11DDE618825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1AD5CD-78D2-923A-69B0-F67C99A714B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7CB264C-BA69-0EF6-B163-F922C1CE08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64</a:t>
            </a:fld>
            <a:endParaRPr lang="en-US" altLang="en-US" sz="900">
              <a:solidFill>
                <a:srgbClr val="FFFFFF"/>
              </a:solidFill>
            </a:endParaRPr>
          </a:p>
        </p:txBody>
      </p:sp>
      <p:sp>
        <p:nvSpPr>
          <p:cNvPr id="5" name="TextBox 4">
            <a:extLst>
              <a:ext uri="{FF2B5EF4-FFF2-40B4-BE49-F238E27FC236}">
                <a16:creationId xmlns:a16="http://schemas.microsoft.com/office/drawing/2014/main" id="{D8FB43DE-3BF9-D416-68F2-EADFBECB6364}"/>
              </a:ext>
            </a:extLst>
          </p:cNvPr>
          <p:cNvSpPr txBox="1"/>
          <p:nvPr/>
        </p:nvSpPr>
        <p:spPr>
          <a:xfrm>
            <a:off x="0" y="628650"/>
            <a:ext cx="9144000" cy="5842497"/>
          </a:xfrm>
          <a:prstGeom prst="rect">
            <a:avLst/>
          </a:prstGeom>
          <a:solidFill>
            <a:schemeClr val="bg1"/>
          </a:solidFill>
        </p:spPr>
        <p:txBody>
          <a:bodyPr wrap="square">
            <a:spAutoFit/>
          </a:bodyPr>
          <a:lstStyle/>
          <a:p>
            <a:pPr>
              <a:lnSpc>
                <a:spcPct val="150000"/>
              </a:lnSpc>
            </a:pPr>
            <a:r>
              <a:rPr lang="en-US" sz="2800" b="1" dirty="0">
                <a:latin typeface="+mn-lt"/>
              </a:rPr>
              <a:t>Stage 3: Execution</a:t>
            </a:r>
          </a:p>
          <a:p>
            <a:pPr>
              <a:lnSpc>
                <a:spcPct val="150000"/>
              </a:lnSpc>
            </a:pPr>
            <a:r>
              <a:rPr lang="en-US" sz="2800" dirty="0">
                <a:latin typeface="+mn-lt"/>
              </a:rPr>
              <a:t>The actual work begins.</a:t>
            </a:r>
          </a:p>
          <a:p>
            <a:pPr>
              <a:lnSpc>
                <a:spcPct val="150000"/>
              </a:lnSpc>
            </a:pPr>
            <a:r>
              <a:rPr lang="en-US" sz="2800" dirty="0">
                <a:latin typeface="+mn-lt"/>
              </a:rPr>
              <a:t>This is where methodologies such as:</a:t>
            </a:r>
          </a:p>
          <a:p>
            <a:pPr>
              <a:lnSpc>
                <a:spcPct val="150000"/>
              </a:lnSpc>
            </a:pPr>
            <a:r>
              <a:rPr lang="en-US" sz="2800" dirty="0">
                <a:latin typeface="+mn-lt"/>
              </a:rPr>
              <a:t>- Agile </a:t>
            </a:r>
          </a:p>
          <a:p>
            <a:pPr>
              <a:lnSpc>
                <a:spcPct val="150000"/>
              </a:lnSpc>
            </a:pPr>
            <a:r>
              <a:rPr lang="en-US" sz="2800" dirty="0">
                <a:latin typeface="+mn-lt"/>
              </a:rPr>
              <a:t>- Waterfall </a:t>
            </a:r>
          </a:p>
          <a:p>
            <a:pPr>
              <a:lnSpc>
                <a:spcPct val="150000"/>
              </a:lnSpc>
            </a:pPr>
            <a:r>
              <a:rPr lang="en-US" sz="2800" dirty="0">
                <a:latin typeface="+mn-lt"/>
              </a:rPr>
              <a:t>- Hybrid </a:t>
            </a:r>
          </a:p>
          <a:p>
            <a:pPr>
              <a:lnSpc>
                <a:spcPct val="150000"/>
              </a:lnSpc>
            </a:pPr>
            <a:r>
              <a:rPr lang="en-US" sz="2800" dirty="0">
                <a:latin typeface="+mn-lt"/>
              </a:rPr>
              <a:t>are applied.</a:t>
            </a:r>
          </a:p>
          <a:p>
            <a:pPr>
              <a:lnSpc>
                <a:spcPct val="150000"/>
              </a:lnSpc>
            </a:pPr>
            <a:r>
              <a:rPr lang="en-US" sz="2800" b="1" dirty="0">
                <a:latin typeface="+mn-lt"/>
              </a:rPr>
              <a:t>Key Message:</a:t>
            </a:r>
          </a:p>
          <a:p>
            <a:pPr>
              <a:lnSpc>
                <a:spcPct val="150000"/>
              </a:lnSpc>
            </a:pPr>
            <a:r>
              <a:rPr lang="en-US" sz="2800" dirty="0">
                <a:latin typeface="+mn-lt"/>
              </a:rPr>
              <a:t>Methodologies are mainly used during project execution</a:t>
            </a:r>
          </a:p>
        </p:txBody>
      </p:sp>
      <p:sp>
        <p:nvSpPr>
          <p:cNvPr id="6146" name="Title 1">
            <a:extLst>
              <a:ext uri="{FF2B5EF4-FFF2-40B4-BE49-F238E27FC236}">
                <a16:creationId xmlns:a16="http://schemas.microsoft.com/office/drawing/2014/main" id="{DC315D85-28F7-83DF-1E2F-791A732AB7E8}"/>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FF924750-8919-5A53-8A46-C2F8DF868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47113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344E0-0491-D212-B3A0-26E6FE519B7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834A11D-AE7C-19AB-C332-234E887A41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9D5B6E9-FB03-F4DF-7F9B-E77CA4BD602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65</a:t>
            </a:fld>
            <a:endParaRPr lang="en-US" altLang="en-US" sz="900">
              <a:solidFill>
                <a:srgbClr val="FFFFFF"/>
              </a:solidFill>
            </a:endParaRPr>
          </a:p>
        </p:txBody>
      </p:sp>
      <p:sp>
        <p:nvSpPr>
          <p:cNvPr id="5" name="TextBox 4">
            <a:extLst>
              <a:ext uri="{FF2B5EF4-FFF2-40B4-BE49-F238E27FC236}">
                <a16:creationId xmlns:a16="http://schemas.microsoft.com/office/drawing/2014/main" id="{B779E45D-EA46-848A-217F-11CB0E0869EB}"/>
              </a:ext>
            </a:extLst>
          </p:cNvPr>
          <p:cNvSpPr txBox="1"/>
          <p:nvPr/>
        </p:nvSpPr>
        <p:spPr>
          <a:xfrm>
            <a:off x="0" y="381922"/>
            <a:ext cx="9144000" cy="6488828"/>
          </a:xfrm>
          <a:prstGeom prst="rect">
            <a:avLst/>
          </a:prstGeom>
          <a:solidFill>
            <a:schemeClr val="bg1"/>
          </a:solidFill>
        </p:spPr>
        <p:txBody>
          <a:bodyPr wrap="square">
            <a:spAutoFit/>
          </a:bodyPr>
          <a:lstStyle/>
          <a:p>
            <a:pPr>
              <a:lnSpc>
                <a:spcPct val="150000"/>
              </a:lnSpc>
            </a:pPr>
            <a:r>
              <a:rPr lang="en-US" sz="2800" b="1" dirty="0">
                <a:latin typeface="+mn-lt"/>
              </a:rPr>
              <a:t>Stage 4: Monitoring and Controlling</a:t>
            </a:r>
          </a:p>
          <a:p>
            <a:pPr>
              <a:lnSpc>
                <a:spcPct val="150000"/>
              </a:lnSpc>
            </a:pPr>
            <a:r>
              <a:rPr lang="en-US" sz="2800" dirty="0">
                <a:latin typeface="+mn-lt"/>
              </a:rPr>
              <a:t>Project managers monitor:</a:t>
            </a:r>
          </a:p>
          <a:p>
            <a:pPr>
              <a:lnSpc>
                <a:spcPct val="150000"/>
              </a:lnSpc>
            </a:pPr>
            <a:r>
              <a:rPr lang="en-US" sz="2800" dirty="0">
                <a:latin typeface="+mn-lt"/>
              </a:rPr>
              <a:t>- Progress </a:t>
            </a:r>
          </a:p>
          <a:p>
            <a:pPr>
              <a:lnSpc>
                <a:spcPct val="150000"/>
              </a:lnSpc>
            </a:pPr>
            <a:r>
              <a:rPr lang="en-US" sz="2800" dirty="0">
                <a:latin typeface="+mn-lt"/>
              </a:rPr>
              <a:t>- Risks </a:t>
            </a:r>
          </a:p>
          <a:p>
            <a:pPr>
              <a:lnSpc>
                <a:spcPct val="150000"/>
              </a:lnSpc>
            </a:pPr>
            <a:r>
              <a:rPr lang="en-US" sz="2800" dirty="0">
                <a:latin typeface="+mn-lt"/>
              </a:rPr>
              <a:t>- Costs </a:t>
            </a:r>
          </a:p>
          <a:p>
            <a:pPr>
              <a:lnSpc>
                <a:spcPct val="150000"/>
              </a:lnSpc>
            </a:pPr>
            <a:r>
              <a:rPr lang="en-US" sz="2800" dirty="0">
                <a:latin typeface="+mn-lt"/>
              </a:rPr>
              <a:t>- Quality </a:t>
            </a:r>
          </a:p>
          <a:p>
            <a:pPr>
              <a:lnSpc>
                <a:spcPct val="150000"/>
              </a:lnSpc>
            </a:pPr>
            <a:r>
              <a:rPr lang="en-US" sz="2800" dirty="0">
                <a:latin typeface="+mn-lt"/>
              </a:rPr>
              <a:t>- Changes </a:t>
            </a:r>
          </a:p>
          <a:p>
            <a:pPr>
              <a:lnSpc>
                <a:spcPct val="150000"/>
              </a:lnSpc>
            </a:pPr>
            <a:r>
              <a:rPr lang="en-US" sz="2800" dirty="0">
                <a:latin typeface="+mn-lt"/>
              </a:rPr>
              <a:t>Adjustments are made when needed.</a:t>
            </a:r>
          </a:p>
          <a:p>
            <a:pPr>
              <a:lnSpc>
                <a:spcPct val="150000"/>
              </a:lnSpc>
            </a:pPr>
            <a:r>
              <a:rPr lang="en-US" sz="2800" b="1" dirty="0">
                <a:latin typeface="+mn-lt"/>
              </a:rPr>
              <a:t>Key Message:</a:t>
            </a:r>
          </a:p>
          <a:p>
            <a:pPr>
              <a:lnSpc>
                <a:spcPct val="150000"/>
              </a:lnSpc>
            </a:pPr>
            <a:r>
              <a:rPr lang="en-US" sz="2800" dirty="0">
                <a:latin typeface="+mn-lt"/>
              </a:rPr>
              <a:t>Projects must be continuously monitored to stay on track.</a:t>
            </a:r>
          </a:p>
        </p:txBody>
      </p:sp>
      <p:sp>
        <p:nvSpPr>
          <p:cNvPr id="6146" name="Title 1">
            <a:extLst>
              <a:ext uri="{FF2B5EF4-FFF2-40B4-BE49-F238E27FC236}">
                <a16:creationId xmlns:a16="http://schemas.microsoft.com/office/drawing/2014/main" id="{62519171-3845-A245-9C20-0EB57702F7FF}"/>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23DC348B-2FCD-B0F1-F54B-36355F1735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2132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5A2E-190C-3334-9CA0-CDF42D68C6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2E67D2-9D82-F2EA-4692-0F3938CD7FA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5966ED8-917F-56E3-0051-D9A574AE13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66</a:t>
            </a:fld>
            <a:endParaRPr lang="en-US" altLang="en-US" sz="900">
              <a:solidFill>
                <a:srgbClr val="FFFFFF"/>
              </a:solidFill>
            </a:endParaRPr>
          </a:p>
        </p:txBody>
      </p:sp>
      <p:sp>
        <p:nvSpPr>
          <p:cNvPr id="5" name="TextBox 4">
            <a:extLst>
              <a:ext uri="{FF2B5EF4-FFF2-40B4-BE49-F238E27FC236}">
                <a16:creationId xmlns:a16="http://schemas.microsoft.com/office/drawing/2014/main" id="{7D44EF5F-EE3E-A688-E940-9A07F578C4F8}"/>
              </a:ext>
            </a:extLst>
          </p:cNvPr>
          <p:cNvSpPr txBox="1"/>
          <p:nvPr/>
        </p:nvSpPr>
        <p:spPr>
          <a:xfrm>
            <a:off x="0" y="746125"/>
            <a:ext cx="9144000" cy="5196166"/>
          </a:xfrm>
          <a:prstGeom prst="rect">
            <a:avLst/>
          </a:prstGeom>
          <a:solidFill>
            <a:schemeClr val="bg1"/>
          </a:solidFill>
        </p:spPr>
        <p:txBody>
          <a:bodyPr wrap="square">
            <a:spAutoFit/>
          </a:bodyPr>
          <a:lstStyle/>
          <a:p>
            <a:pPr>
              <a:lnSpc>
                <a:spcPct val="150000"/>
              </a:lnSpc>
            </a:pPr>
            <a:r>
              <a:rPr lang="en-US" sz="2800" b="1" dirty="0">
                <a:latin typeface="+mn-lt"/>
              </a:rPr>
              <a:t>Stage 5: Closing</a:t>
            </a:r>
          </a:p>
          <a:p>
            <a:pPr>
              <a:lnSpc>
                <a:spcPct val="150000"/>
              </a:lnSpc>
            </a:pPr>
            <a:r>
              <a:rPr lang="en-US" sz="2800" dirty="0">
                <a:latin typeface="+mn-lt"/>
              </a:rPr>
              <a:t>Project teams:</a:t>
            </a:r>
          </a:p>
          <a:p>
            <a:pPr>
              <a:lnSpc>
                <a:spcPct val="150000"/>
              </a:lnSpc>
            </a:pPr>
            <a:r>
              <a:rPr lang="en-US" sz="2800" dirty="0">
                <a:latin typeface="+mn-lt"/>
              </a:rPr>
              <a:t>- </a:t>
            </a:r>
            <a:r>
              <a:rPr lang="en-US" sz="2800" dirty="0" err="1">
                <a:latin typeface="+mn-lt"/>
              </a:rPr>
              <a:t>Finalise</a:t>
            </a:r>
            <a:r>
              <a:rPr lang="en-US" sz="2800" dirty="0">
                <a:latin typeface="+mn-lt"/>
              </a:rPr>
              <a:t> deliverables </a:t>
            </a:r>
          </a:p>
          <a:p>
            <a:pPr>
              <a:lnSpc>
                <a:spcPct val="150000"/>
              </a:lnSpc>
            </a:pPr>
            <a:r>
              <a:rPr lang="en-US" sz="2800" dirty="0">
                <a:latin typeface="+mn-lt"/>
              </a:rPr>
              <a:t>- Document lessons learned </a:t>
            </a:r>
          </a:p>
          <a:p>
            <a:pPr>
              <a:lnSpc>
                <a:spcPct val="150000"/>
              </a:lnSpc>
            </a:pPr>
            <a:r>
              <a:rPr lang="en-US" sz="2800" dirty="0">
                <a:latin typeface="+mn-lt"/>
              </a:rPr>
              <a:t>- Complete reports </a:t>
            </a:r>
          </a:p>
          <a:p>
            <a:pPr>
              <a:lnSpc>
                <a:spcPct val="150000"/>
              </a:lnSpc>
            </a:pPr>
            <a:r>
              <a:rPr lang="en-US" sz="2800" dirty="0">
                <a:latin typeface="+mn-lt"/>
              </a:rPr>
              <a:t>- Close contracts </a:t>
            </a:r>
          </a:p>
          <a:p>
            <a:pPr>
              <a:lnSpc>
                <a:spcPct val="150000"/>
              </a:lnSpc>
            </a:pPr>
            <a:r>
              <a:rPr lang="en-US" sz="2800" b="1" dirty="0">
                <a:latin typeface="+mn-lt"/>
              </a:rPr>
              <a:t>Key Message:</a:t>
            </a:r>
          </a:p>
          <a:p>
            <a:pPr>
              <a:lnSpc>
                <a:spcPct val="150000"/>
              </a:lnSpc>
            </a:pPr>
            <a:r>
              <a:rPr lang="en-US" sz="2800" dirty="0">
                <a:latin typeface="+mn-lt"/>
              </a:rPr>
              <a:t>Closing helps </a:t>
            </a:r>
            <a:r>
              <a:rPr lang="en-US" sz="2800" dirty="0" err="1">
                <a:latin typeface="+mn-lt"/>
              </a:rPr>
              <a:t>organisations</a:t>
            </a:r>
            <a:r>
              <a:rPr lang="en-US" sz="2800" dirty="0">
                <a:latin typeface="+mn-lt"/>
              </a:rPr>
              <a:t> improve future projects.</a:t>
            </a:r>
          </a:p>
        </p:txBody>
      </p:sp>
      <p:sp>
        <p:nvSpPr>
          <p:cNvPr id="6146" name="Title 1">
            <a:extLst>
              <a:ext uri="{FF2B5EF4-FFF2-40B4-BE49-F238E27FC236}">
                <a16:creationId xmlns:a16="http://schemas.microsoft.com/office/drawing/2014/main" id="{158619D0-94D8-FBC4-6495-CCF42B32DE9F}"/>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A19EEBDD-1AEB-A16A-D03E-FCD8585F9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09049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D16B-224D-8CDE-7D25-C2CD1038549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0743E4-8BBA-4620-A3B2-A6D721FC376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865CF7-6BC1-5249-B4C4-3F8F3E60D3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67</a:t>
            </a:fld>
            <a:endParaRPr lang="en-US" altLang="en-US" sz="900">
              <a:solidFill>
                <a:srgbClr val="FFFFFF"/>
              </a:solidFill>
            </a:endParaRPr>
          </a:p>
        </p:txBody>
      </p:sp>
      <p:sp>
        <p:nvSpPr>
          <p:cNvPr id="5" name="TextBox 4">
            <a:extLst>
              <a:ext uri="{FF2B5EF4-FFF2-40B4-BE49-F238E27FC236}">
                <a16:creationId xmlns:a16="http://schemas.microsoft.com/office/drawing/2014/main" id="{2DFD0A8E-5CB5-C59A-3810-783B93555704}"/>
              </a:ext>
            </a:extLst>
          </p:cNvPr>
          <p:cNvSpPr txBox="1"/>
          <p:nvPr/>
        </p:nvSpPr>
        <p:spPr>
          <a:xfrm>
            <a:off x="0" y="746125"/>
            <a:ext cx="9144000" cy="5842497"/>
          </a:xfrm>
          <a:prstGeom prst="rect">
            <a:avLst/>
          </a:prstGeom>
          <a:solidFill>
            <a:schemeClr val="bg1"/>
          </a:solidFill>
        </p:spPr>
        <p:txBody>
          <a:bodyPr wrap="square">
            <a:spAutoFit/>
          </a:bodyPr>
          <a:lstStyle/>
          <a:p>
            <a:pPr>
              <a:lnSpc>
                <a:spcPct val="150000"/>
              </a:lnSpc>
            </a:pPr>
            <a:r>
              <a:rPr lang="en-US" sz="2800" b="1" dirty="0">
                <a:latin typeface="+mn-lt"/>
              </a:rPr>
              <a:t>9. Agile and Waterfall Are Execution Approaches</a:t>
            </a:r>
          </a:p>
          <a:p>
            <a:pPr>
              <a:lnSpc>
                <a:spcPct val="150000"/>
              </a:lnSpc>
            </a:pPr>
            <a:r>
              <a:rPr lang="en-US" sz="2800" dirty="0">
                <a:latin typeface="+mn-lt"/>
              </a:rPr>
              <a:t>The video highlights an important misconception:</a:t>
            </a:r>
          </a:p>
          <a:p>
            <a:pPr>
              <a:lnSpc>
                <a:spcPct val="150000"/>
              </a:lnSpc>
            </a:pPr>
            <a:r>
              <a:rPr lang="en-US" sz="2800" dirty="0">
                <a:latin typeface="+mn-lt"/>
              </a:rPr>
              <a:t>Many people think Agile replaces project management.</a:t>
            </a:r>
          </a:p>
          <a:p>
            <a:pPr>
              <a:lnSpc>
                <a:spcPct val="150000"/>
              </a:lnSpc>
            </a:pPr>
            <a:r>
              <a:rPr lang="en-US" sz="2800" dirty="0">
                <a:latin typeface="+mn-lt"/>
              </a:rPr>
              <a:t>It does not.</a:t>
            </a:r>
          </a:p>
          <a:p>
            <a:pPr>
              <a:lnSpc>
                <a:spcPct val="150000"/>
              </a:lnSpc>
            </a:pPr>
            <a:r>
              <a:rPr lang="en-US" sz="2800" dirty="0">
                <a:latin typeface="+mn-lt"/>
              </a:rPr>
              <a:t>Projects still require:</a:t>
            </a:r>
          </a:p>
          <a:p>
            <a:pPr>
              <a:lnSpc>
                <a:spcPct val="150000"/>
              </a:lnSpc>
            </a:pPr>
            <a:r>
              <a:rPr lang="en-US" sz="2800" dirty="0">
                <a:latin typeface="+mn-lt"/>
              </a:rPr>
              <a:t>- Initiation </a:t>
            </a:r>
          </a:p>
          <a:p>
            <a:pPr>
              <a:lnSpc>
                <a:spcPct val="150000"/>
              </a:lnSpc>
            </a:pPr>
            <a:r>
              <a:rPr lang="en-US" sz="2800" dirty="0">
                <a:latin typeface="+mn-lt"/>
              </a:rPr>
              <a:t>- Planning </a:t>
            </a:r>
          </a:p>
          <a:p>
            <a:pPr>
              <a:lnSpc>
                <a:spcPct val="150000"/>
              </a:lnSpc>
            </a:pPr>
            <a:r>
              <a:rPr lang="en-US" sz="2800" dirty="0">
                <a:latin typeface="+mn-lt"/>
              </a:rPr>
              <a:t>- Monitoring </a:t>
            </a:r>
          </a:p>
          <a:p>
            <a:pPr>
              <a:lnSpc>
                <a:spcPct val="150000"/>
              </a:lnSpc>
            </a:pPr>
            <a:r>
              <a:rPr lang="en-US" sz="2800" dirty="0">
                <a:latin typeface="+mn-lt"/>
              </a:rPr>
              <a:t>- Closing </a:t>
            </a:r>
          </a:p>
        </p:txBody>
      </p:sp>
      <p:sp>
        <p:nvSpPr>
          <p:cNvPr id="6146" name="Title 1">
            <a:extLst>
              <a:ext uri="{FF2B5EF4-FFF2-40B4-BE49-F238E27FC236}">
                <a16:creationId xmlns:a16="http://schemas.microsoft.com/office/drawing/2014/main" id="{2C982A46-4452-5A85-B77C-244934922119}"/>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5F08A378-5071-AC80-73D9-C1B7E886E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0240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4F00-1F8D-01DC-D240-49DB8D7434C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9410D3-77C1-5AE4-36FE-F90A21FD710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58E7F57-BCE2-3C23-1760-E8B499E228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68</a:t>
            </a:fld>
            <a:endParaRPr lang="en-US" altLang="en-US" sz="900">
              <a:solidFill>
                <a:srgbClr val="FFFFFF"/>
              </a:solidFill>
            </a:endParaRPr>
          </a:p>
        </p:txBody>
      </p:sp>
      <p:sp>
        <p:nvSpPr>
          <p:cNvPr id="5" name="TextBox 4">
            <a:extLst>
              <a:ext uri="{FF2B5EF4-FFF2-40B4-BE49-F238E27FC236}">
                <a16:creationId xmlns:a16="http://schemas.microsoft.com/office/drawing/2014/main" id="{37CF5D03-12EF-76C0-B5D1-96C268841149}"/>
              </a:ext>
            </a:extLst>
          </p:cNvPr>
          <p:cNvSpPr txBox="1"/>
          <p:nvPr/>
        </p:nvSpPr>
        <p:spPr>
          <a:xfrm>
            <a:off x="0" y="746125"/>
            <a:ext cx="9144000" cy="2610843"/>
          </a:xfrm>
          <a:prstGeom prst="rect">
            <a:avLst/>
          </a:prstGeom>
          <a:solidFill>
            <a:schemeClr val="bg1"/>
          </a:solidFill>
        </p:spPr>
        <p:txBody>
          <a:bodyPr wrap="square">
            <a:spAutoFit/>
          </a:bodyPr>
          <a:lstStyle/>
          <a:p>
            <a:pPr>
              <a:lnSpc>
                <a:spcPct val="150000"/>
              </a:lnSpc>
            </a:pPr>
            <a:r>
              <a:rPr lang="en-US" sz="2800" dirty="0">
                <a:latin typeface="+mn-lt"/>
              </a:rPr>
              <a:t>Agile mainly influences how work is executed.</a:t>
            </a:r>
          </a:p>
          <a:p>
            <a:pPr>
              <a:lnSpc>
                <a:spcPct val="150000"/>
              </a:lnSpc>
            </a:pPr>
            <a:r>
              <a:rPr lang="en-US" sz="2800" b="1" dirty="0">
                <a:latin typeface="+mn-lt"/>
              </a:rPr>
              <a:t>Key Message:</a:t>
            </a:r>
          </a:p>
          <a:p>
            <a:pPr>
              <a:lnSpc>
                <a:spcPct val="150000"/>
              </a:lnSpc>
            </a:pPr>
            <a:r>
              <a:rPr lang="en-US" sz="2800" dirty="0">
                <a:latin typeface="+mn-lt"/>
              </a:rPr>
              <a:t>Agile is a project delivery methodology, not a replacement for project management.</a:t>
            </a:r>
          </a:p>
        </p:txBody>
      </p:sp>
      <p:sp>
        <p:nvSpPr>
          <p:cNvPr id="6146" name="Title 1">
            <a:extLst>
              <a:ext uri="{FF2B5EF4-FFF2-40B4-BE49-F238E27FC236}">
                <a16:creationId xmlns:a16="http://schemas.microsoft.com/office/drawing/2014/main" id="{63C8ABF1-AF1C-756C-E214-CE90866C2694}"/>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40F9FCAA-FA13-7FBF-5EBD-C9DC5639C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806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8BC27-0750-BFD5-31E8-BCA935E4EED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D5777DD-D192-CD6C-07D6-258012AD7C7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13480EE-90F1-8183-D546-FEB4AA1E97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69</a:t>
            </a:fld>
            <a:endParaRPr lang="en-US" altLang="en-US" sz="900">
              <a:solidFill>
                <a:srgbClr val="FFFFFF"/>
              </a:solidFill>
            </a:endParaRPr>
          </a:p>
        </p:txBody>
      </p:sp>
      <p:sp>
        <p:nvSpPr>
          <p:cNvPr id="5" name="TextBox 4">
            <a:extLst>
              <a:ext uri="{FF2B5EF4-FFF2-40B4-BE49-F238E27FC236}">
                <a16:creationId xmlns:a16="http://schemas.microsoft.com/office/drawing/2014/main" id="{6298B87A-E969-BED7-FB86-6ED028E4C3B4}"/>
              </a:ext>
            </a:extLst>
          </p:cNvPr>
          <p:cNvSpPr txBox="1"/>
          <p:nvPr/>
        </p:nvSpPr>
        <p:spPr>
          <a:xfrm>
            <a:off x="0" y="746125"/>
            <a:ext cx="9144000" cy="4549835"/>
          </a:xfrm>
          <a:prstGeom prst="rect">
            <a:avLst/>
          </a:prstGeom>
          <a:solidFill>
            <a:schemeClr val="bg1"/>
          </a:solidFill>
        </p:spPr>
        <p:txBody>
          <a:bodyPr wrap="square">
            <a:spAutoFit/>
          </a:bodyPr>
          <a:lstStyle/>
          <a:p>
            <a:pPr>
              <a:lnSpc>
                <a:spcPct val="150000"/>
              </a:lnSpc>
            </a:pPr>
            <a:r>
              <a:rPr lang="en-US" sz="2800" b="1" dirty="0">
                <a:latin typeface="+mn-lt"/>
              </a:rPr>
              <a:t>10. Project Management is Critical for </a:t>
            </a:r>
            <a:r>
              <a:rPr lang="en-US" sz="2800" b="1" dirty="0" err="1">
                <a:latin typeface="+mn-lt"/>
              </a:rPr>
              <a:t>Organisational</a:t>
            </a:r>
            <a:r>
              <a:rPr lang="en-US" sz="2800" b="1" dirty="0">
                <a:latin typeface="+mn-lt"/>
              </a:rPr>
              <a:t> Success</a:t>
            </a:r>
          </a:p>
          <a:p>
            <a:pPr>
              <a:lnSpc>
                <a:spcPct val="150000"/>
              </a:lnSpc>
            </a:pPr>
            <a:r>
              <a:rPr lang="en-US" sz="2800" dirty="0">
                <a:latin typeface="+mn-lt"/>
              </a:rPr>
              <a:t>Without project management:</a:t>
            </a:r>
          </a:p>
          <a:p>
            <a:pPr>
              <a:lnSpc>
                <a:spcPct val="150000"/>
              </a:lnSpc>
            </a:pPr>
            <a:r>
              <a:rPr lang="en-US" sz="2800" dirty="0">
                <a:latin typeface="+mn-lt"/>
              </a:rPr>
              <a:t>- Projects may exceed budgets </a:t>
            </a:r>
          </a:p>
          <a:p>
            <a:pPr>
              <a:lnSpc>
                <a:spcPct val="150000"/>
              </a:lnSpc>
            </a:pPr>
            <a:r>
              <a:rPr lang="en-US" sz="2800" dirty="0">
                <a:latin typeface="+mn-lt"/>
              </a:rPr>
              <a:t>- Deadlines may be missed </a:t>
            </a:r>
          </a:p>
          <a:p>
            <a:pPr>
              <a:lnSpc>
                <a:spcPct val="150000"/>
              </a:lnSpc>
            </a:pPr>
            <a:r>
              <a:rPr lang="en-US" sz="2800" dirty="0">
                <a:latin typeface="+mn-lt"/>
              </a:rPr>
              <a:t>- Risks may increase </a:t>
            </a:r>
          </a:p>
          <a:p>
            <a:pPr>
              <a:lnSpc>
                <a:spcPct val="150000"/>
              </a:lnSpc>
            </a:pPr>
            <a:r>
              <a:rPr lang="en-US" sz="2800" dirty="0">
                <a:latin typeface="+mn-lt"/>
              </a:rPr>
              <a:t>- Stakeholders may become dissatisfied </a:t>
            </a:r>
          </a:p>
        </p:txBody>
      </p:sp>
      <p:sp>
        <p:nvSpPr>
          <p:cNvPr id="6146" name="Title 1">
            <a:extLst>
              <a:ext uri="{FF2B5EF4-FFF2-40B4-BE49-F238E27FC236}">
                <a16:creationId xmlns:a16="http://schemas.microsoft.com/office/drawing/2014/main" id="{C6DF88F5-3687-15A5-ADD9-3750910866BA}"/>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53B68C30-EDE6-0BE7-C714-AC550E5C8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17054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BE785-54CD-705A-1E3A-FA62AAF2AD8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60BB86-F2B1-F759-2EE1-C8D73D11174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FCDDDF2-81CE-AB8A-EF9A-F3634150DB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70</a:t>
            </a:fld>
            <a:endParaRPr lang="en-US" altLang="en-US" sz="900">
              <a:solidFill>
                <a:srgbClr val="FFFFFF"/>
              </a:solidFill>
            </a:endParaRPr>
          </a:p>
        </p:txBody>
      </p:sp>
      <p:sp>
        <p:nvSpPr>
          <p:cNvPr id="5" name="TextBox 4">
            <a:extLst>
              <a:ext uri="{FF2B5EF4-FFF2-40B4-BE49-F238E27FC236}">
                <a16:creationId xmlns:a16="http://schemas.microsoft.com/office/drawing/2014/main" id="{E5BF6C76-C7B3-D05D-B3CE-15874597680C}"/>
              </a:ext>
            </a:extLst>
          </p:cNvPr>
          <p:cNvSpPr txBox="1"/>
          <p:nvPr/>
        </p:nvSpPr>
        <p:spPr>
          <a:xfrm>
            <a:off x="0" y="746125"/>
            <a:ext cx="9144000" cy="1964512"/>
          </a:xfrm>
          <a:prstGeom prst="rect">
            <a:avLst/>
          </a:prstGeom>
          <a:solidFill>
            <a:schemeClr val="bg1"/>
          </a:solidFill>
        </p:spPr>
        <p:txBody>
          <a:bodyPr wrap="square">
            <a:spAutoFit/>
          </a:bodyPr>
          <a:lstStyle/>
          <a:p>
            <a:pPr>
              <a:lnSpc>
                <a:spcPct val="150000"/>
              </a:lnSpc>
            </a:pPr>
            <a:r>
              <a:rPr lang="en-US" sz="2800" b="1" dirty="0">
                <a:latin typeface="+mn-lt"/>
              </a:rPr>
              <a:t>Key Message:</a:t>
            </a:r>
          </a:p>
          <a:p>
            <a:pPr>
              <a:lnSpc>
                <a:spcPct val="150000"/>
              </a:lnSpc>
            </a:pPr>
            <a:r>
              <a:rPr lang="en-US" sz="2800" dirty="0">
                <a:latin typeface="+mn-lt"/>
              </a:rPr>
              <a:t>Project management transforms business ideas into successful outcomes.</a:t>
            </a:r>
          </a:p>
        </p:txBody>
      </p:sp>
      <p:sp>
        <p:nvSpPr>
          <p:cNvPr id="6146" name="Title 1">
            <a:extLst>
              <a:ext uri="{FF2B5EF4-FFF2-40B4-BE49-F238E27FC236}">
                <a16:creationId xmlns:a16="http://schemas.microsoft.com/office/drawing/2014/main" id="{CE6B9E5A-9DE0-73C9-1F7C-241FD174AC85}"/>
              </a:ext>
            </a:extLst>
          </p:cNvPr>
          <p:cNvSpPr>
            <a:spLocks noGrp="1"/>
          </p:cNvSpPr>
          <p:nvPr>
            <p:ph type="title"/>
          </p:nvPr>
        </p:nvSpPr>
        <p:spPr>
          <a:xfrm>
            <a:off x="-1646238" y="-117475"/>
            <a:ext cx="8027988" cy="863600"/>
          </a:xfrm>
        </p:spPr>
        <p:txBody>
          <a:bodyPr>
            <a:normAutofit/>
          </a:bodyPr>
          <a:lstStyle/>
          <a:p>
            <a:pPr algn="ctr" eaLnBrk="1" fontAlgn="auto" hangingPunct="1">
              <a:spcAft>
                <a:spcPts val="0"/>
              </a:spcAft>
              <a:defRPr/>
            </a:pPr>
            <a:r>
              <a:rPr lang="en-AU" sz="4800" b="1" dirty="0">
                <a:solidFill>
                  <a:srgbClr val="00B0F0"/>
                </a:solidFill>
              </a:rPr>
              <a:t>Pre-Class Discussion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1302DCA3-80DE-00DA-6A22-5ACF673D6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42064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C36AD-BC98-6571-AD50-AFEF0DEDF70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F02ABC-1487-2FF1-3C53-BC59B828192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6E43648-13A3-3697-F060-D751F830DB0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71</a:t>
            </a:fld>
            <a:endParaRPr lang="en-US" altLang="en-US" sz="900">
              <a:solidFill>
                <a:srgbClr val="FFFFFF"/>
              </a:solidFill>
            </a:endParaRPr>
          </a:p>
        </p:txBody>
      </p:sp>
      <p:sp>
        <p:nvSpPr>
          <p:cNvPr id="5" name="TextBox 4">
            <a:extLst>
              <a:ext uri="{FF2B5EF4-FFF2-40B4-BE49-F238E27FC236}">
                <a16:creationId xmlns:a16="http://schemas.microsoft.com/office/drawing/2014/main" id="{70F19404-2FEC-C4BB-D3EC-FF78388102DE}"/>
              </a:ext>
            </a:extLst>
          </p:cNvPr>
          <p:cNvSpPr txBox="1"/>
          <p:nvPr/>
        </p:nvSpPr>
        <p:spPr>
          <a:xfrm>
            <a:off x="0" y="1352441"/>
            <a:ext cx="9144000" cy="4549835"/>
          </a:xfrm>
          <a:prstGeom prst="rect">
            <a:avLst/>
          </a:prstGeom>
          <a:solidFill>
            <a:schemeClr val="bg1"/>
          </a:solidFill>
        </p:spPr>
        <p:txBody>
          <a:bodyPr wrap="square">
            <a:spAutoFit/>
          </a:bodyPr>
          <a:lstStyle/>
          <a:p>
            <a:pPr>
              <a:lnSpc>
                <a:spcPct val="150000"/>
              </a:lnSpc>
            </a:pPr>
            <a:r>
              <a:rPr lang="en-US" sz="2800" b="1" dirty="0">
                <a:latin typeface="+mn-lt"/>
              </a:rPr>
              <a:t>NSW IT Support Company Example</a:t>
            </a:r>
          </a:p>
          <a:p>
            <a:pPr>
              <a:lnSpc>
                <a:spcPct val="150000"/>
              </a:lnSpc>
            </a:pPr>
            <a:r>
              <a:rPr lang="en-US" sz="2800" dirty="0">
                <a:latin typeface="+mn-lt"/>
              </a:rPr>
              <a:t>Students communicating with a NSW IT Support company could ask questions such as:</a:t>
            </a:r>
          </a:p>
          <a:p>
            <a:pPr>
              <a:lnSpc>
                <a:spcPct val="150000"/>
              </a:lnSpc>
            </a:pPr>
            <a:r>
              <a:rPr lang="en-US" sz="2800" b="1" dirty="0">
                <a:latin typeface="+mn-lt"/>
              </a:rPr>
              <a:t>Project Initiation</a:t>
            </a:r>
          </a:p>
          <a:p>
            <a:pPr>
              <a:lnSpc>
                <a:spcPct val="150000"/>
              </a:lnSpc>
            </a:pPr>
            <a:r>
              <a:rPr lang="en-US" sz="2800" dirty="0">
                <a:latin typeface="+mn-lt"/>
              </a:rPr>
              <a:t>- How do you decide whether an IT project should proceed? </a:t>
            </a:r>
          </a:p>
          <a:p>
            <a:pPr>
              <a:lnSpc>
                <a:spcPct val="150000"/>
              </a:lnSpc>
            </a:pPr>
            <a:r>
              <a:rPr lang="en-US" sz="2800" dirty="0">
                <a:latin typeface="+mn-lt"/>
              </a:rPr>
              <a:t>- How do you define project objectives? </a:t>
            </a:r>
          </a:p>
          <a:p>
            <a:pPr>
              <a:lnSpc>
                <a:spcPct val="150000"/>
              </a:lnSpc>
            </a:pPr>
            <a:r>
              <a:rPr lang="en-US" sz="2800" dirty="0">
                <a:latin typeface="+mn-lt"/>
              </a:rPr>
              <a:t>- How do you justify project investments?</a:t>
            </a:r>
          </a:p>
        </p:txBody>
      </p:sp>
      <p:sp>
        <p:nvSpPr>
          <p:cNvPr id="6146" name="Title 1">
            <a:extLst>
              <a:ext uri="{FF2B5EF4-FFF2-40B4-BE49-F238E27FC236}">
                <a16:creationId xmlns:a16="http://schemas.microsoft.com/office/drawing/2014/main" id="{80B5617A-2912-D979-2258-74743A72DE62}"/>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9E915905-FA93-A774-32B0-487DB69C3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21103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1FB0-AB1B-56D7-5BC9-62383F17C7D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A42AC5-3182-E275-9E24-9E92BEDB94F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88DDACC-B0DF-4944-41D6-88AC44CE47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72</a:t>
            </a:fld>
            <a:endParaRPr lang="en-US" altLang="en-US" sz="900">
              <a:solidFill>
                <a:srgbClr val="FFFFFF"/>
              </a:solidFill>
            </a:endParaRPr>
          </a:p>
        </p:txBody>
      </p:sp>
      <p:sp>
        <p:nvSpPr>
          <p:cNvPr id="5" name="TextBox 4">
            <a:extLst>
              <a:ext uri="{FF2B5EF4-FFF2-40B4-BE49-F238E27FC236}">
                <a16:creationId xmlns:a16="http://schemas.microsoft.com/office/drawing/2014/main" id="{E2681019-BFA0-0254-9CF3-F11D8C50FA08}"/>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Project Planning</a:t>
            </a:r>
          </a:p>
          <a:p>
            <a:pPr>
              <a:lnSpc>
                <a:spcPct val="150000"/>
              </a:lnSpc>
            </a:pPr>
            <a:r>
              <a:rPr lang="en-US" sz="2800" dirty="0">
                <a:latin typeface="+mn-lt"/>
              </a:rPr>
              <a:t>- How do you estimate project timelines? </a:t>
            </a:r>
          </a:p>
          <a:p>
            <a:pPr>
              <a:lnSpc>
                <a:spcPct val="150000"/>
              </a:lnSpc>
            </a:pPr>
            <a:r>
              <a:rPr lang="en-US" sz="2800" dirty="0">
                <a:latin typeface="+mn-lt"/>
              </a:rPr>
              <a:t>- How do you estimate project costs? </a:t>
            </a:r>
          </a:p>
          <a:p>
            <a:pPr>
              <a:lnSpc>
                <a:spcPct val="150000"/>
              </a:lnSpc>
            </a:pPr>
            <a:r>
              <a:rPr lang="en-US" sz="2800" dirty="0">
                <a:latin typeface="+mn-lt"/>
              </a:rPr>
              <a:t>- How do you allocate resources?</a:t>
            </a:r>
          </a:p>
        </p:txBody>
      </p:sp>
      <p:sp>
        <p:nvSpPr>
          <p:cNvPr id="6146" name="Title 1">
            <a:extLst>
              <a:ext uri="{FF2B5EF4-FFF2-40B4-BE49-F238E27FC236}">
                <a16:creationId xmlns:a16="http://schemas.microsoft.com/office/drawing/2014/main" id="{3A68E523-5E61-C04C-F80C-DDC1B8EBA45A}"/>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86245896-2958-2111-BBEF-C0A2A4C0E6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59171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1C4D-D92E-FCEE-A8FF-B943CAE8A4B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67C74B-0ED3-470E-CA36-77504524C78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A7BECE0-8F49-5921-1A5C-95101A0A4B5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73</a:t>
            </a:fld>
            <a:endParaRPr lang="en-US" altLang="en-US" sz="900">
              <a:solidFill>
                <a:srgbClr val="FFFFFF"/>
              </a:solidFill>
            </a:endParaRPr>
          </a:p>
        </p:txBody>
      </p:sp>
      <p:sp>
        <p:nvSpPr>
          <p:cNvPr id="5" name="TextBox 4">
            <a:extLst>
              <a:ext uri="{FF2B5EF4-FFF2-40B4-BE49-F238E27FC236}">
                <a16:creationId xmlns:a16="http://schemas.microsoft.com/office/drawing/2014/main" id="{1679D873-4A8C-7C70-64FB-DFC82296DF0B}"/>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Project Methodology</a:t>
            </a:r>
          </a:p>
          <a:p>
            <a:pPr>
              <a:lnSpc>
                <a:spcPct val="150000"/>
              </a:lnSpc>
            </a:pPr>
            <a:r>
              <a:rPr lang="en-US" sz="2800" dirty="0">
                <a:latin typeface="+mn-lt"/>
              </a:rPr>
              <a:t>- Do you use Agile, Waterfall, or Hybrid methods? </a:t>
            </a:r>
          </a:p>
          <a:p>
            <a:pPr>
              <a:lnSpc>
                <a:spcPct val="150000"/>
              </a:lnSpc>
            </a:pPr>
            <a:r>
              <a:rPr lang="en-US" sz="2800" dirty="0">
                <a:latin typeface="+mn-lt"/>
              </a:rPr>
              <a:t>- Why do you choose one methodology over another? </a:t>
            </a:r>
          </a:p>
          <a:p>
            <a:pPr>
              <a:lnSpc>
                <a:spcPct val="150000"/>
              </a:lnSpc>
            </a:pPr>
            <a:r>
              <a:rPr lang="en-US" sz="2800" dirty="0">
                <a:latin typeface="+mn-lt"/>
              </a:rPr>
              <a:t>- What factors influence your decision?</a:t>
            </a:r>
          </a:p>
        </p:txBody>
      </p:sp>
      <p:sp>
        <p:nvSpPr>
          <p:cNvPr id="6146" name="Title 1">
            <a:extLst>
              <a:ext uri="{FF2B5EF4-FFF2-40B4-BE49-F238E27FC236}">
                <a16:creationId xmlns:a16="http://schemas.microsoft.com/office/drawing/2014/main" id="{097CB8FE-95B5-9736-0ED5-769DCA16F164}"/>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E4FFC3C9-9084-0349-E528-1E63F281C9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1270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819B6-D759-F50A-ABEA-DA1C51ECA00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8B8E3A-BFAD-55B4-1B3D-BD8EC524FDA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1BF18EA-5CA8-BE54-9025-02AED65B34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74</a:t>
            </a:fld>
            <a:endParaRPr lang="en-US" altLang="en-US" sz="900">
              <a:solidFill>
                <a:srgbClr val="FFFFFF"/>
              </a:solidFill>
            </a:endParaRPr>
          </a:p>
        </p:txBody>
      </p:sp>
      <p:sp>
        <p:nvSpPr>
          <p:cNvPr id="5" name="TextBox 4">
            <a:extLst>
              <a:ext uri="{FF2B5EF4-FFF2-40B4-BE49-F238E27FC236}">
                <a16:creationId xmlns:a16="http://schemas.microsoft.com/office/drawing/2014/main" id="{B65E5238-61CE-93AF-F3EC-38703DFCB7BD}"/>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Risk Management</a:t>
            </a:r>
          </a:p>
          <a:p>
            <a:pPr>
              <a:lnSpc>
                <a:spcPct val="150000"/>
              </a:lnSpc>
            </a:pPr>
            <a:r>
              <a:rPr lang="en-US" sz="2800" dirty="0">
                <a:latin typeface="+mn-lt"/>
              </a:rPr>
              <a:t>- What are the most common risks in Australian IT projects? </a:t>
            </a:r>
          </a:p>
          <a:p>
            <a:pPr>
              <a:lnSpc>
                <a:spcPct val="150000"/>
              </a:lnSpc>
            </a:pPr>
            <a:r>
              <a:rPr lang="en-US" sz="2800" dirty="0">
                <a:latin typeface="+mn-lt"/>
              </a:rPr>
              <a:t>- How do you manage cybersecurity risks? </a:t>
            </a:r>
          </a:p>
          <a:p>
            <a:pPr>
              <a:lnSpc>
                <a:spcPct val="150000"/>
              </a:lnSpc>
            </a:pPr>
            <a:r>
              <a:rPr lang="en-US" sz="2800" dirty="0">
                <a:latin typeface="+mn-lt"/>
              </a:rPr>
              <a:t>- How do you handle project delays?</a:t>
            </a:r>
          </a:p>
        </p:txBody>
      </p:sp>
      <p:sp>
        <p:nvSpPr>
          <p:cNvPr id="6146" name="Title 1">
            <a:extLst>
              <a:ext uri="{FF2B5EF4-FFF2-40B4-BE49-F238E27FC236}">
                <a16:creationId xmlns:a16="http://schemas.microsoft.com/office/drawing/2014/main" id="{A892A4B3-7F3F-D7D0-B9C2-23E0D9B1DF3A}"/>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C352F2AC-C52F-384E-D892-A5E4F8D14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77017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F7E2-8CE2-77F5-BFAA-AB4645CAB2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699013-67D1-5832-FFB3-D86E9AE26CC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A4FAC22-07F2-962F-6FC1-A395E892785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75</a:t>
            </a:fld>
            <a:endParaRPr lang="en-US" altLang="en-US" sz="900">
              <a:solidFill>
                <a:srgbClr val="FFFFFF"/>
              </a:solidFill>
            </a:endParaRPr>
          </a:p>
        </p:txBody>
      </p:sp>
      <p:sp>
        <p:nvSpPr>
          <p:cNvPr id="5" name="TextBox 4">
            <a:extLst>
              <a:ext uri="{FF2B5EF4-FFF2-40B4-BE49-F238E27FC236}">
                <a16:creationId xmlns:a16="http://schemas.microsoft.com/office/drawing/2014/main" id="{22D68365-C583-5743-83B7-ED5583E40B8F}"/>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Communication</a:t>
            </a:r>
          </a:p>
          <a:p>
            <a:pPr>
              <a:lnSpc>
                <a:spcPct val="150000"/>
              </a:lnSpc>
            </a:pPr>
            <a:r>
              <a:rPr lang="en-US" sz="2800" dirty="0">
                <a:latin typeface="+mn-lt"/>
              </a:rPr>
              <a:t>- How often do you communicate with clients? </a:t>
            </a:r>
          </a:p>
          <a:p>
            <a:pPr>
              <a:lnSpc>
                <a:spcPct val="150000"/>
              </a:lnSpc>
            </a:pPr>
            <a:r>
              <a:rPr lang="en-US" sz="2800" dirty="0">
                <a:latin typeface="+mn-lt"/>
              </a:rPr>
              <a:t>- What communication tools do you use? </a:t>
            </a:r>
          </a:p>
          <a:p>
            <a:pPr>
              <a:lnSpc>
                <a:spcPct val="150000"/>
              </a:lnSpc>
            </a:pPr>
            <a:r>
              <a:rPr lang="en-US" sz="2800" dirty="0">
                <a:latin typeface="+mn-lt"/>
              </a:rPr>
              <a:t>- How do you manage stakeholder expectations?</a:t>
            </a:r>
          </a:p>
        </p:txBody>
      </p:sp>
      <p:sp>
        <p:nvSpPr>
          <p:cNvPr id="6146" name="Title 1">
            <a:extLst>
              <a:ext uri="{FF2B5EF4-FFF2-40B4-BE49-F238E27FC236}">
                <a16:creationId xmlns:a16="http://schemas.microsoft.com/office/drawing/2014/main" id="{31843BD9-EBC5-494F-C6ED-7FDD49028F82}"/>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92FD70DC-49AE-0A6C-DBDD-3025124EF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21066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D42FC-AE82-7946-8637-CB82D4C381F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A1E409-C222-1461-4EDA-5B9041867F0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08A347C-5D54-29C0-B467-429A826F70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76</a:t>
            </a:fld>
            <a:endParaRPr lang="en-US" altLang="en-US" sz="900">
              <a:solidFill>
                <a:srgbClr val="FFFFFF"/>
              </a:solidFill>
            </a:endParaRPr>
          </a:p>
        </p:txBody>
      </p:sp>
      <p:sp>
        <p:nvSpPr>
          <p:cNvPr id="5" name="TextBox 4">
            <a:extLst>
              <a:ext uri="{FF2B5EF4-FFF2-40B4-BE49-F238E27FC236}">
                <a16:creationId xmlns:a16="http://schemas.microsoft.com/office/drawing/2014/main" id="{1B0F913E-793B-6FA6-C712-E17DF356E791}"/>
              </a:ext>
            </a:extLst>
          </p:cNvPr>
          <p:cNvSpPr txBox="1"/>
          <p:nvPr/>
        </p:nvSpPr>
        <p:spPr>
          <a:xfrm>
            <a:off x="0" y="1352441"/>
            <a:ext cx="9144000" cy="3257174"/>
          </a:xfrm>
          <a:prstGeom prst="rect">
            <a:avLst/>
          </a:prstGeom>
          <a:solidFill>
            <a:schemeClr val="bg1"/>
          </a:solidFill>
        </p:spPr>
        <p:txBody>
          <a:bodyPr wrap="square">
            <a:spAutoFit/>
          </a:bodyPr>
          <a:lstStyle/>
          <a:p>
            <a:pPr>
              <a:lnSpc>
                <a:spcPct val="150000"/>
              </a:lnSpc>
            </a:pPr>
            <a:r>
              <a:rPr lang="en-US" sz="2800" b="1" dirty="0">
                <a:latin typeface="+mn-lt"/>
              </a:rPr>
              <a:t>Project Tools</a:t>
            </a:r>
          </a:p>
          <a:p>
            <a:pPr>
              <a:lnSpc>
                <a:spcPct val="150000"/>
              </a:lnSpc>
            </a:pPr>
            <a:r>
              <a:rPr lang="en-US" sz="2800" dirty="0">
                <a:latin typeface="+mn-lt"/>
              </a:rPr>
              <a:t>- Do you use Jira? </a:t>
            </a:r>
          </a:p>
          <a:p>
            <a:pPr>
              <a:lnSpc>
                <a:spcPct val="150000"/>
              </a:lnSpc>
            </a:pPr>
            <a:r>
              <a:rPr lang="en-US" sz="2800" dirty="0">
                <a:latin typeface="+mn-lt"/>
              </a:rPr>
              <a:t>- Do you use Microsoft Project? </a:t>
            </a:r>
          </a:p>
          <a:p>
            <a:pPr>
              <a:lnSpc>
                <a:spcPct val="150000"/>
              </a:lnSpc>
            </a:pPr>
            <a:r>
              <a:rPr lang="en-US" sz="2800" dirty="0">
                <a:latin typeface="+mn-lt"/>
              </a:rPr>
              <a:t>- Do you use Trello or Asana? </a:t>
            </a:r>
          </a:p>
          <a:p>
            <a:pPr>
              <a:lnSpc>
                <a:spcPct val="150000"/>
              </a:lnSpc>
            </a:pPr>
            <a:r>
              <a:rPr lang="en-US" sz="2800" dirty="0">
                <a:latin typeface="+mn-lt"/>
              </a:rPr>
              <a:t>- Which tool works best for your projects?</a:t>
            </a:r>
          </a:p>
        </p:txBody>
      </p:sp>
      <p:sp>
        <p:nvSpPr>
          <p:cNvPr id="6146" name="Title 1">
            <a:extLst>
              <a:ext uri="{FF2B5EF4-FFF2-40B4-BE49-F238E27FC236}">
                <a16:creationId xmlns:a16="http://schemas.microsoft.com/office/drawing/2014/main" id="{08A1D921-1F8E-9150-7A63-9295C7BD561D}"/>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FA60C914-A489-668D-F15D-AE0B3F4E7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3166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5BBAA-1736-961F-DECD-D53BD4A6ADF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7B8C62-3C90-D388-A2A5-0B3EBE38A44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B03B480-A07D-663C-FC5E-F158D45EFD2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77</a:t>
            </a:fld>
            <a:endParaRPr lang="en-US" altLang="en-US" sz="900">
              <a:solidFill>
                <a:srgbClr val="FFFFFF"/>
              </a:solidFill>
            </a:endParaRPr>
          </a:p>
        </p:txBody>
      </p:sp>
      <p:sp>
        <p:nvSpPr>
          <p:cNvPr id="5" name="TextBox 4">
            <a:extLst>
              <a:ext uri="{FF2B5EF4-FFF2-40B4-BE49-F238E27FC236}">
                <a16:creationId xmlns:a16="http://schemas.microsoft.com/office/drawing/2014/main" id="{67E0831E-82E2-CE33-6C00-8135355C9D5C}"/>
              </a:ext>
            </a:extLst>
          </p:cNvPr>
          <p:cNvSpPr txBox="1"/>
          <p:nvPr/>
        </p:nvSpPr>
        <p:spPr>
          <a:xfrm>
            <a:off x="0" y="1352441"/>
            <a:ext cx="9144000" cy="3257174"/>
          </a:xfrm>
          <a:prstGeom prst="rect">
            <a:avLst/>
          </a:prstGeom>
          <a:solidFill>
            <a:schemeClr val="bg1"/>
          </a:solidFill>
        </p:spPr>
        <p:txBody>
          <a:bodyPr wrap="square">
            <a:spAutoFit/>
          </a:bodyPr>
          <a:lstStyle/>
          <a:p>
            <a:pPr>
              <a:lnSpc>
                <a:spcPct val="150000"/>
              </a:lnSpc>
            </a:pPr>
            <a:r>
              <a:rPr lang="en-US" sz="2800" b="1" dirty="0">
                <a:latin typeface="+mn-lt"/>
              </a:rPr>
              <a:t>Lessons Learned</a:t>
            </a:r>
          </a:p>
          <a:p>
            <a:pPr>
              <a:lnSpc>
                <a:spcPct val="150000"/>
              </a:lnSpc>
            </a:pPr>
            <a:r>
              <a:rPr lang="en-US" sz="2800" dirty="0">
                <a:latin typeface="+mn-lt"/>
              </a:rPr>
              <a:t>- What is the most common reason IT projects fail? </a:t>
            </a:r>
          </a:p>
          <a:p>
            <a:pPr>
              <a:lnSpc>
                <a:spcPct val="150000"/>
              </a:lnSpc>
            </a:pPr>
            <a:r>
              <a:rPr lang="en-US" sz="2800" dirty="0">
                <a:latin typeface="+mn-lt"/>
              </a:rPr>
              <a:t>- What project management skills are most valuable? </a:t>
            </a:r>
          </a:p>
          <a:p>
            <a:pPr>
              <a:lnSpc>
                <a:spcPct val="150000"/>
              </a:lnSpc>
            </a:pPr>
            <a:r>
              <a:rPr lang="en-US" sz="2800" dirty="0">
                <a:latin typeface="+mn-lt"/>
              </a:rPr>
              <a:t>- What advice would you give ICT students entering the industry?</a:t>
            </a:r>
          </a:p>
        </p:txBody>
      </p:sp>
      <p:sp>
        <p:nvSpPr>
          <p:cNvPr id="6146" name="Title 1">
            <a:extLst>
              <a:ext uri="{FF2B5EF4-FFF2-40B4-BE49-F238E27FC236}">
                <a16:creationId xmlns:a16="http://schemas.microsoft.com/office/drawing/2014/main" id="{4621221B-D41A-B8FB-7824-0FE14049A8BB}"/>
              </a:ext>
            </a:extLst>
          </p:cNvPr>
          <p:cNvSpPr>
            <a:spLocks noGrp="1"/>
          </p:cNvSpPr>
          <p:nvPr>
            <p:ph type="title"/>
          </p:nvPr>
        </p:nvSpPr>
        <p:spPr>
          <a:xfrm>
            <a:off x="0" y="-1"/>
            <a:ext cx="5663381" cy="1194619"/>
          </a:xfrm>
        </p:spPr>
        <p:txBody>
          <a:bodyPr>
            <a:normAutofit fontScale="90000"/>
          </a:bodyPr>
          <a:lstStyle/>
          <a:p>
            <a:pPr eaLnBrk="1" fontAlgn="auto" hangingPunct="1">
              <a:spcAft>
                <a:spcPts val="0"/>
              </a:spcAft>
              <a:defRPr/>
            </a:pPr>
            <a:r>
              <a:rPr lang="en-US" b="1" dirty="0">
                <a:solidFill>
                  <a:srgbClr val="00B0F0"/>
                </a:solidFill>
              </a:rPr>
              <a:t>Week 11 Assessment 4 Connection</a:t>
            </a:r>
            <a:endParaRPr lang="en-AU" altLang="en-US" b="1" dirty="0">
              <a:solidFill>
                <a:srgbClr val="00B0F0"/>
              </a:solidFill>
            </a:endParaRPr>
          </a:p>
        </p:txBody>
      </p:sp>
      <p:pic>
        <p:nvPicPr>
          <p:cNvPr id="22534" name="Picture 5">
            <a:extLst>
              <a:ext uri="{FF2B5EF4-FFF2-40B4-BE49-F238E27FC236}">
                <a16:creationId xmlns:a16="http://schemas.microsoft.com/office/drawing/2014/main" id="{DD5DF588-E40D-9A7E-FBEA-617FE9C97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8918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AB342-C570-8EDB-309C-30288B3918D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0F67B1-D5CA-4AA7-5DDF-9BB6C925EC2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8E3F213-7CA3-4AB2-759D-707736B72FD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78</a:t>
            </a:fld>
            <a:endParaRPr lang="en-US" altLang="en-US" sz="900">
              <a:solidFill>
                <a:srgbClr val="FFFFFF"/>
              </a:solidFill>
            </a:endParaRPr>
          </a:p>
        </p:txBody>
      </p:sp>
      <p:sp>
        <p:nvSpPr>
          <p:cNvPr id="5" name="TextBox 4">
            <a:extLst>
              <a:ext uri="{FF2B5EF4-FFF2-40B4-BE49-F238E27FC236}">
                <a16:creationId xmlns:a16="http://schemas.microsoft.com/office/drawing/2014/main" id="{EB6F032E-3BA4-F96B-9466-2735554AAE02}"/>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Q1. What is project management?</a:t>
            </a:r>
          </a:p>
          <a:p>
            <a:pPr>
              <a:lnSpc>
                <a:spcPct val="150000"/>
              </a:lnSpc>
            </a:pPr>
            <a:r>
              <a:rPr lang="en-US" sz="2800" dirty="0">
                <a:latin typeface="+mn-lt"/>
              </a:rPr>
              <a:t>Project management is the process of planning, </a:t>
            </a:r>
            <a:r>
              <a:rPr lang="en-US" sz="2800" dirty="0" err="1">
                <a:latin typeface="+mn-lt"/>
              </a:rPr>
              <a:t>organising</a:t>
            </a:r>
            <a:r>
              <a:rPr lang="en-US" sz="2800" dirty="0">
                <a:latin typeface="+mn-lt"/>
              </a:rPr>
              <a:t>, monitoring, and controlling resources to achieve specific project goals.</a:t>
            </a:r>
          </a:p>
        </p:txBody>
      </p:sp>
      <p:sp>
        <p:nvSpPr>
          <p:cNvPr id="6146" name="Title 1">
            <a:extLst>
              <a:ext uri="{FF2B5EF4-FFF2-40B4-BE49-F238E27FC236}">
                <a16:creationId xmlns:a16="http://schemas.microsoft.com/office/drawing/2014/main" id="{54C2D337-C380-AD36-0CD0-755E28C7F7D5}"/>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D3A460C0-AA11-6013-625D-10E730B7B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20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8A59-F960-68FF-F282-67F46FFCD92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ADB552-6958-B860-875F-35E2F59722E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B29EBA6-7E13-4CBF-0B60-73C41B3462A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79</a:t>
            </a:fld>
            <a:endParaRPr lang="en-US" altLang="en-US" sz="900">
              <a:solidFill>
                <a:srgbClr val="FFFFFF"/>
              </a:solidFill>
            </a:endParaRPr>
          </a:p>
        </p:txBody>
      </p:sp>
      <p:sp>
        <p:nvSpPr>
          <p:cNvPr id="5" name="TextBox 4">
            <a:extLst>
              <a:ext uri="{FF2B5EF4-FFF2-40B4-BE49-F238E27FC236}">
                <a16:creationId xmlns:a16="http://schemas.microsoft.com/office/drawing/2014/main" id="{0DE94DC8-B839-FD14-8A60-ED422CA12523}"/>
              </a:ext>
            </a:extLst>
          </p:cNvPr>
          <p:cNvSpPr txBox="1"/>
          <p:nvPr/>
        </p:nvSpPr>
        <p:spPr>
          <a:xfrm>
            <a:off x="0" y="1352441"/>
            <a:ext cx="9144000" cy="3903504"/>
          </a:xfrm>
          <a:prstGeom prst="rect">
            <a:avLst/>
          </a:prstGeom>
          <a:solidFill>
            <a:schemeClr val="bg1"/>
          </a:solidFill>
        </p:spPr>
        <p:txBody>
          <a:bodyPr wrap="square">
            <a:spAutoFit/>
          </a:bodyPr>
          <a:lstStyle/>
          <a:p>
            <a:pPr>
              <a:lnSpc>
                <a:spcPct val="150000"/>
              </a:lnSpc>
            </a:pPr>
            <a:r>
              <a:rPr lang="en-US" sz="2800" b="1" dirty="0">
                <a:latin typeface="+mn-lt"/>
              </a:rPr>
              <a:t>Q2. What are the three main project constraints?</a:t>
            </a:r>
          </a:p>
          <a:p>
            <a:pPr>
              <a:lnSpc>
                <a:spcPct val="150000"/>
              </a:lnSpc>
            </a:pPr>
            <a:r>
              <a:rPr lang="en-US" sz="2800" dirty="0">
                <a:latin typeface="+mn-lt"/>
              </a:rPr>
              <a:t>The three main constraints are:</a:t>
            </a:r>
          </a:p>
          <a:p>
            <a:pPr>
              <a:lnSpc>
                <a:spcPct val="150000"/>
              </a:lnSpc>
            </a:pPr>
            <a:r>
              <a:rPr lang="en-US" sz="2800" dirty="0">
                <a:latin typeface="+mn-lt"/>
              </a:rPr>
              <a:t>- Scope </a:t>
            </a:r>
          </a:p>
          <a:p>
            <a:pPr>
              <a:lnSpc>
                <a:spcPct val="150000"/>
              </a:lnSpc>
            </a:pPr>
            <a:r>
              <a:rPr lang="en-US" sz="2800" dirty="0">
                <a:latin typeface="+mn-lt"/>
              </a:rPr>
              <a:t>- Time </a:t>
            </a:r>
          </a:p>
          <a:p>
            <a:pPr>
              <a:lnSpc>
                <a:spcPct val="150000"/>
              </a:lnSpc>
            </a:pPr>
            <a:r>
              <a:rPr lang="en-US" sz="2800" dirty="0">
                <a:latin typeface="+mn-lt"/>
              </a:rPr>
              <a:t>- Cost </a:t>
            </a:r>
          </a:p>
          <a:p>
            <a:pPr>
              <a:lnSpc>
                <a:spcPct val="150000"/>
              </a:lnSpc>
            </a:pPr>
            <a:r>
              <a:rPr lang="en-US" sz="2800" dirty="0">
                <a:latin typeface="+mn-lt"/>
              </a:rPr>
              <a:t>These are often called the Project Management Triangle.</a:t>
            </a:r>
          </a:p>
        </p:txBody>
      </p:sp>
      <p:sp>
        <p:nvSpPr>
          <p:cNvPr id="6146" name="Title 1">
            <a:extLst>
              <a:ext uri="{FF2B5EF4-FFF2-40B4-BE49-F238E27FC236}">
                <a16:creationId xmlns:a16="http://schemas.microsoft.com/office/drawing/2014/main" id="{EF852091-D4C6-C1E9-61CF-45AC290ED3D1}"/>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E4AF990A-896F-C922-3C71-8770C45DD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361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D807F-306E-86D9-A313-AAEA3AED1F0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D92AA5-1578-335F-7B2C-D5D48E5259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F3E6C6D-93E5-9583-5A79-1A9265D542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80</a:t>
            </a:fld>
            <a:endParaRPr lang="en-US" altLang="en-US" sz="900">
              <a:solidFill>
                <a:srgbClr val="FFFFFF"/>
              </a:solidFill>
            </a:endParaRPr>
          </a:p>
        </p:txBody>
      </p:sp>
      <p:sp>
        <p:nvSpPr>
          <p:cNvPr id="5" name="TextBox 4">
            <a:extLst>
              <a:ext uri="{FF2B5EF4-FFF2-40B4-BE49-F238E27FC236}">
                <a16:creationId xmlns:a16="http://schemas.microsoft.com/office/drawing/2014/main" id="{ED9AC1CB-B353-56E1-D618-C11DCDEA5CC4}"/>
              </a:ext>
            </a:extLst>
          </p:cNvPr>
          <p:cNvSpPr txBox="1"/>
          <p:nvPr/>
        </p:nvSpPr>
        <p:spPr>
          <a:xfrm>
            <a:off x="0" y="1352441"/>
            <a:ext cx="9144000" cy="3257174"/>
          </a:xfrm>
          <a:prstGeom prst="rect">
            <a:avLst/>
          </a:prstGeom>
          <a:solidFill>
            <a:schemeClr val="bg1"/>
          </a:solidFill>
        </p:spPr>
        <p:txBody>
          <a:bodyPr wrap="square">
            <a:spAutoFit/>
          </a:bodyPr>
          <a:lstStyle/>
          <a:p>
            <a:pPr>
              <a:lnSpc>
                <a:spcPct val="150000"/>
              </a:lnSpc>
            </a:pPr>
            <a:r>
              <a:rPr lang="en-US" sz="2800" b="1" dirty="0">
                <a:latin typeface="+mn-lt"/>
              </a:rPr>
              <a:t>Q3. Why is communication important in project management?</a:t>
            </a:r>
          </a:p>
          <a:p>
            <a:pPr>
              <a:lnSpc>
                <a:spcPct val="150000"/>
              </a:lnSpc>
            </a:pPr>
            <a:r>
              <a:rPr lang="en-US" sz="2800" dirty="0">
                <a:latin typeface="+mn-lt"/>
              </a:rPr>
              <a:t>Communication ensures stakeholders understand project goals, progress, risks, and changes, reducing misunderstandings and project failures.</a:t>
            </a:r>
          </a:p>
        </p:txBody>
      </p:sp>
      <p:sp>
        <p:nvSpPr>
          <p:cNvPr id="6146" name="Title 1">
            <a:extLst>
              <a:ext uri="{FF2B5EF4-FFF2-40B4-BE49-F238E27FC236}">
                <a16:creationId xmlns:a16="http://schemas.microsoft.com/office/drawing/2014/main" id="{0AB642A8-5CA0-2E4D-EA41-BD7B95B3E5CB}"/>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07A34C58-7613-0052-FF5B-915F27A02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76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BF408-3F76-965E-7853-6701B3072D6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C9B4A3-87E9-00BC-B9BD-2D350EB44A8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3C87A585-F1CF-B476-C726-6A07A1BB2C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81</a:t>
            </a:fld>
            <a:endParaRPr lang="en-US" altLang="en-US" sz="900">
              <a:solidFill>
                <a:srgbClr val="FFFFFF"/>
              </a:solidFill>
            </a:endParaRPr>
          </a:p>
        </p:txBody>
      </p:sp>
      <p:sp>
        <p:nvSpPr>
          <p:cNvPr id="5" name="TextBox 4">
            <a:extLst>
              <a:ext uri="{FF2B5EF4-FFF2-40B4-BE49-F238E27FC236}">
                <a16:creationId xmlns:a16="http://schemas.microsoft.com/office/drawing/2014/main" id="{0B9A0799-69E1-49A4-FCA2-CCAAD34BD70D}"/>
              </a:ext>
            </a:extLst>
          </p:cNvPr>
          <p:cNvSpPr txBox="1"/>
          <p:nvPr/>
        </p:nvSpPr>
        <p:spPr>
          <a:xfrm>
            <a:off x="0" y="1352441"/>
            <a:ext cx="9144000" cy="1964512"/>
          </a:xfrm>
          <a:prstGeom prst="rect">
            <a:avLst/>
          </a:prstGeom>
          <a:solidFill>
            <a:schemeClr val="bg1"/>
          </a:solidFill>
        </p:spPr>
        <p:txBody>
          <a:bodyPr wrap="square">
            <a:spAutoFit/>
          </a:bodyPr>
          <a:lstStyle/>
          <a:p>
            <a:pPr>
              <a:lnSpc>
                <a:spcPct val="150000"/>
              </a:lnSpc>
            </a:pPr>
            <a:r>
              <a:rPr lang="en-US" sz="2800" b="1" dirty="0">
                <a:latin typeface="+mn-lt"/>
              </a:rPr>
              <a:t>Q4. What is the purpose of risk management?</a:t>
            </a:r>
          </a:p>
          <a:p>
            <a:pPr>
              <a:lnSpc>
                <a:spcPct val="150000"/>
              </a:lnSpc>
            </a:pPr>
            <a:r>
              <a:rPr lang="en-US" sz="2800" dirty="0">
                <a:latin typeface="+mn-lt"/>
              </a:rPr>
              <a:t>Risk management identifies potential problems before they occur and develops strategies to reduce their impact.</a:t>
            </a:r>
          </a:p>
        </p:txBody>
      </p:sp>
      <p:sp>
        <p:nvSpPr>
          <p:cNvPr id="6146" name="Title 1">
            <a:extLst>
              <a:ext uri="{FF2B5EF4-FFF2-40B4-BE49-F238E27FC236}">
                <a16:creationId xmlns:a16="http://schemas.microsoft.com/office/drawing/2014/main" id="{AFEC4B3B-5638-68CE-3EFD-35F77B778B8C}"/>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A3E6532C-EFA3-C0AB-7A32-7813EA8ED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970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DFAA-775C-A927-346C-A35CD9A874F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C3E2B8-AD37-68B4-FE1F-36EAD525E1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6881AD4-4F38-EEEE-9784-193CAEC8E82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82</a:t>
            </a:fld>
            <a:endParaRPr lang="en-US" altLang="en-US" sz="900">
              <a:solidFill>
                <a:srgbClr val="FFFFFF"/>
              </a:solidFill>
            </a:endParaRPr>
          </a:p>
        </p:txBody>
      </p:sp>
      <p:sp>
        <p:nvSpPr>
          <p:cNvPr id="5" name="TextBox 4">
            <a:extLst>
              <a:ext uri="{FF2B5EF4-FFF2-40B4-BE49-F238E27FC236}">
                <a16:creationId xmlns:a16="http://schemas.microsoft.com/office/drawing/2014/main" id="{74E01764-EC50-E073-D8AF-C3FDEFB3F417}"/>
              </a:ext>
            </a:extLst>
          </p:cNvPr>
          <p:cNvSpPr txBox="1"/>
          <p:nvPr/>
        </p:nvSpPr>
        <p:spPr>
          <a:xfrm>
            <a:off x="0" y="1352441"/>
            <a:ext cx="9144000" cy="3903504"/>
          </a:xfrm>
          <a:prstGeom prst="rect">
            <a:avLst/>
          </a:prstGeom>
          <a:solidFill>
            <a:schemeClr val="bg1"/>
          </a:solidFill>
        </p:spPr>
        <p:txBody>
          <a:bodyPr wrap="square">
            <a:spAutoFit/>
          </a:bodyPr>
          <a:lstStyle/>
          <a:p>
            <a:pPr>
              <a:lnSpc>
                <a:spcPct val="150000"/>
              </a:lnSpc>
            </a:pPr>
            <a:r>
              <a:rPr lang="en-US" sz="2800" b="1" dirty="0">
                <a:latin typeface="+mn-lt"/>
              </a:rPr>
              <a:t>Q5. What are the five phases of the project life cycle?</a:t>
            </a:r>
          </a:p>
          <a:p>
            <a:pPr marL="971550" lvl="1" indent="-514350">
              <a:lnSpc>
                <a:spcPct val="150000"/>
              </a:lnSpc>
              <a:buFont typeface="+mj-lt"/>
              <a:buAutoNum type="arabicPeriod"/>
            </a:pPr>
            <a:r>
              <a:rPr lang="en-US" sz="2800" dirty="0">
                <a:latin typeface="+mn-lt"/>
              </a:rPr>
              <a:t>Initiation </a:t>
            </a:r>
          </a:p>
          <a:p>
            <a:pPr marL="971550" lvl="1" indent="-514350">
              <a:lnSpc>
                <a:spcPct val="150000"/>
              </a:lnSpc>
              <a:buFont typeface="+mj-lt"/>
              <a:buAutoNum type="arabicPeriod"/>
            </a:pPr>
            <a:r>
              <a:rPr lang="en-US" sz="2800" dirty="0">
                <a:latin typeface="+mn-lt"/>
              </a:rPr>
              <a:t>Planning </a:t>
            </a:r>
          </a:p>
          <a:p>
            <a:pPr marL="971550" lvl="1" indent="-514350">
              <a:lnSpc>
                <a:spcPct val="150000"/>
              </a:lnSpc>
              <a:buFont typeface="+mj-lt"/>
              <a:buAutoNum type="arabicPeriod"/>
            </a:pPr>
            <a:r>
              <a:rPr lang="en-US" sz="2800" dirty="0">
                <a:latin typeface="+mn-lt"/>
              </a:rPr>
              <a:t>Execution </a:t>
            </a:r>
          </a:p>
          <a:p>
            <a:pPr marL="971550" lvl="1" indent="-514350">
              <a:lnSpc>
                <a:spcPct val="150000"/>
              </a:lnSpc>
              <a:buFont typeface="+mj-lt"/>
              <a:buAutoNum type="arabicPeriod"/>
            </a:pPr>
            <a:r>
              <a:rPr lang="en-US" sz="2800" dirty="0">
                <a:latin typeface="+mn-lt"/>
              </a:rPr>
              <a:t>Monitoring and Controlling </a:t>
            </a:r>
          </a:p>
          <a:p>
            <a:pPr marL="971550" lvl="1" indent="-514350">
              <a:lnSpc>
                <a:spcPct val="150000"/>
              </a:lnSpc>
              <a:buFont typeface="+mj-lt"/>
              <a:buAutoNum type="arabicPeriod"/>
            </a:pPr>
            <a:r>
              <a:rPr lang="en-US" sz="2800" dirty="0">
                <a:latin typeface="+mn-lt"/>
              </a:rPr>
              <a:t>Closing</a:t>
            </a:r>
          </a:p>
        </p:txBody>
      </p:sp>
      <p:sp>
        <p:nvSpPr>
          <p:cNvPr id="6146" name="Title 1">
            <a:extLst>
              <a:ext uri="{FF2B5EF4-FFF2-40B4-BE49-F238E27FC236}">
                <a16:creationId xmlns:a16="http://schemas.microsoft.com/office/drawing/2014/main" id="{72C219C9-1E82-B9A8-2702-C8FB3BA47671}"/>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73644ACE-30A3-FE16-D3BC-716A1A0BA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38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AF467-6F90-ED6E-0DDC-22A1177B6EE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D8831E-FD17-EC3C-5F4C-FF393D5BD9F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4CB81C5-BCAC-BC16-BA49-9726993487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83</a:t>
            </a:fld>
            <a:endParaRPr lang="en-US" altLang="en-US" sz="900">
              <a:solidFill>
                <a:srgbClr val="FFFFFF"/>
              </a:solidFill>
            </a:endParaRPr>
          </a:p>
        </p:txBody>
      </p:sp>
      <p:sp>
        <p:nvSpPr>
          <p:cNvPr id="5" name="TextBox 4">
            <a:extLst>
              <a:ext uri="{FF2B5EF4-FFF2-40B4-BE49-F238E27FC236}">
                <a16:creationId xmlns:a16="http://schemas.microsoft.com/office/drawing/2014/main" id="{1EE2152F-B95C-67E1-278E-083A8CFC89F0}"/>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Q6. What is the difference between Agile and Waterfall?</a:t>
            </a:r>
          </a:p>
          <a:p>
            <a:pPr>
              <a:lnSpc>
                <a:spcPct val="150000"/>
              </a:lnSpc>
            </a:pPr>
            <a:r>
              <a:rPr lang="en-US" sz="2800" dirty="0">
                <a:latin typeface="+mn-lt"/>
              </a:rPr>
              <a:t>- Waterfall follows a structured, sequential approach. </a:t>
            </a:r>
          </a:p>
          <a:p>
            <a:pPr>
              <a:lnSpc>
                <a:spcPct val="150000"/>
              </a:lnSpc>
            </a:pPr>
            <a:r>
              <a:rPr lang="en-US" sz="2800" dirty="0">
                <a:latin typeface="+mn-lt"/>
              </a:rPr>
              <a:t>- Agile delivers work in small increments and adapts to changing requirements.</a:t>
            </a:r>
          </a:p>
        </p:txBody>
      </p:sp>
      <p:sp>
        <p:nvSpPr>
          <p:cNvPr id="6146" name="Title 1">
            <a:extLst>
              <a:ext uri="{FF2B5EF4-FFF2-40B4-BE49-F238E27FC236}">
                <a16:creationId xmlns:a16="http://schemas.microsoft.com/office/drawing/2014/main" id="{13F7DE9E-B4C7-F3BC-9A44-C16E04FAB6E9}"/>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9A92218F-0249-1B21-4344-962FF3DBA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330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E9054-368A-D01D-5E78-982732C19B2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F1B985-CE63-F9FD-2575-93EB0BBC5C3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63612BD-0AB3-D708-ED47-91416B6E71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84</a:t>
            </a:fld>
            <a:endParaRPr lang="en-US" altLang="en-US" sz="900">
              <a:solidFill>
                <a:srgbClr val="FFFFFF"/>
              </a:solidFill>
            </a:endParaRPr>
          </a:p>
        </p:txBody>
      </p:sp>
      <p:sp>
        <p:nvSpPr>
          <p:cNvPr id="5" name="TextBox 4">
            <a:extLst>
              <a:ext uri="{FF2B5EF4-FFF2-40B4-BE49-F238E27FC236}">
                <a16:creationId xmlns:a16="http://schemas.microsoft.com/office/drawing/2014/main" id="{5D38742B-BB82-2102-49AF-48B9FA61797D}"/>
              </a:ext>
            </a:extLst>
          </p:cNvPr>
          <p:cNvSpPr txBox="1"/>
          <p:nvPr/>
        </p:nvSpPr>
        <p:spPr>
          <a:xfrm>
            <a:off x="0" y="1352441"/>
            <a:ext cx="9144000" cy="1964512"/>
          </a:xfrm>
          <a:prstGeom prst="rect">
            <a:avLst/>
          </a:prstGeom>
          <a:solidFill>
            <a:schemeClr val="bg1"/>
          </a:solidFill>
        </p:spPr>
        <p:txBody>
          <a:bodyPr wrap="square">
            <a:spAutoFit/>
          </a:bodyPr>
          <a:lstStyle/>
          <a:p>
            <a:pPr>
              <a:lnSpc>
                <a:spcPct val="150000"/>
              </a:lnSpc>
            </a:pPr>
            <a:r>
              <a:rPr lang="en-US" sz="2800" b="1" dirty="0">
                <a:latin typeface="+mn-lt"/>
              </a:rPr>
              <a:t>Q7. Why is project planning important?</a:t>
            </a:r>
          </a:p>
          <a:p>
            <a:pPr>
              <a:lnSpc>
                <a:spcPct val="150000"/>
              </a:lnSpc>
            </a:pPr>
            <a:r>
              <a:rPr lang="en-US" sz="2800" dirty="0">
                <a:latin typeface="+mn-lt"/>
              </a:rPr>
              <a:t>Planning helps define project objectives, schedules, budgets, resources, and risks before execution begins.</a:t>
            </a:r>
          </a:p>
        </p:txBody>
      </p:sp>
      <p:sp>
        <p:nvSpPr>
          <p:cNvPr id="6146" name="Title 1">
            <a:extLst>
              <a:ext uri="{FF2B5EF4-FFF2-40B4-BE49-F238E27FC236}">
                <a16:creationId xmlns:a16="http://schemas.microsoft.com/office/drawing/2014/main" id="{04229014-15DE-AB40-9C4A-7C08DC3688E2}"/>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46AB8F00-3B16-CA52-2595-C9719A6F6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872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D3F5F-0465-04B3-0CD7-7327C3D8982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D1C540-E13A-1B50-EB0F-076E6DC079E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23A33C2-7B17-4B27-F3F5-EB77A73C3A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85</a:t>
            </a:fld>
            <a:endParaRPr lang="en-US" altLang="en-US" sz="900">
              <a:solidFill>
                <a:srgbClr val="FFFFFF"/>
              </a:solidFill>
            </a:endParaRPr>
          </a:p>
        </p:txBody>
      </p:sp>
      <p:sp>
        <p:nvSpPr>
          <p:cNvPr id="5" name="TextBox 4">
            <a:extLst>
              <a:ext uri="{FF2B5EF4-FFF2-40B4-BE49-F238E27FC236}">
                <a16:creationId xmlns:a16="http://schemas.microsoft.com/office/drawing/2014/main" id="{6B0817F2-1CA8-48FD-0FDC-F67F1717A01F}"/>
              </a:ext>
            </a:extLst>
          </p:cNvPr>
          <p:cNvSpPr txBox="1"/>
          <p:nvPr/>
        </p:nvSpPr>
        <p:spPr>
          <a:xfrm>
            <a:off x="0" y="1352441"/>
            <a:ext cx="9144000" cy="1964512"/>
          </a:xfrm>
          <a:prstGeom prst="rect">
            <a:avLst/>
          </a:prstGeom>
          <a:solidFill>
            <a:schemeClr val="bg1"/>
          </a:solidFill>
        </p:spPr>
        <p:txBody>
          <a:bodyPr wrap="square">
            <a:spAutoFit/>
          </a:bodyPr>
          <a:lstStyle/>
          <a:p>
            <a:pPr>
              <a:lnSpc>
                <a:spcPct val="150000"/>
              </a:lnSpc>
            </a:pPr>
            <a:r>
              <a:rPr lang="en-US" sz="2800" b="1" dirty="0">
                <a:latin typeface="+mn-lt"/>
              </a:rPr>
              <a:t>Q8. What role do stakeholders play in projects?</a:t>
            </a:r>
          </a:p>
          <a:p>
            <a:pPr>
              <a:lnSpc>
                <a:spcPct val="150000"/>
              </a:lnSpc>
            </a:pPr>
            <a:r>
              <a:rPr lang="en-US" sz="2800" dirty="0">
                <a:latin typeface="+mn-lt"/>
              </a:rPr>
              <a:t>Stakeholders provide requirements, feedback, approvals, resources, and support throughout the project lifecycle.</a:t>
            </a:r>
          </a:p>
        </p:txBody>
      </p:sp>
      <p:sp>
        <p:nvSpPr>
          <p:cNvPr id="6146" name="Title 1">
            <a:extLst>
              <a:ext uri="{FF2B5EF4-FFF2-40B4-BE49-F238E27FC236}">
                <a16:creationId xmlns:a16="http://schemas.microsoft.com/office/drawing/2014/main" id="{A108796D-9573-3A7D-8DAB-B6FCA0DEA0E8}"/>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BB645BC8-5BAF-8B1A-8B56-7741CC318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22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872C-C9CF-AA7B-604D-D7B8D49B366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CBD254-0F0F-B17F-B12B-DF0D41A415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CB80B2D-0C2E-556E-8672-AE92E16750D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86</a:t>
            </a:fld>
            <a:endParaRPr lang="en-US" altLang="en-US" sz="900">
              <a:solidFill>
                <a:srgbClr val="FFFFFF"/>
              </a:solidFill>
            </a:endParaRPr>
          </a:p>
        </p:txBody>
      </p:sp>
      <p:sp>
        <p:nvSpPr>
          <p:cNvPr id="5" name="TextBox 4">
            <a:extLst>
              <a:ext uri="{FF2B5EF4-FFF2-40B4-BE49-F238E27FC236}">
                <a16:creationId xmlns:a16="http://schemas.microsoft.com/office/drawing/2014/main" id="{B909C55E-4D5B-79B4-DC82-67419E7118E8}"/>
              </a:ext>
            </a:extLst>
          </p:cNvPr>
          <p:cNvSpPr txBox="1"/>
          <p:nvPr/>
        </p:nvSpPr>
        <p:spPr>
          <a:xfrm>
            <a:off x="0" y="1352441"/>
            <a:ext cx="9144000" cy="1964512"/>
          </a:xfrm>
          <a:prstGeom prst="rect">
            <a:avLst/>
          </a:prstGeom>
          <a:solidFill>
            <a:schemeClr val="bg1"/>
          </a:solidFill>
        </p:spPr>
        <p:txBody>
          <a:bodyPr wrap="square">
            <a:spAutoFit/>
          </a:bodyPr>
          <a:lstStyle/>
          <a:p>
            <a:pPr>
              <a:lnSpc>
                <a:spcPct val="150000"/>
              </a:lnSpc>
            </a:pPr>
            <a:r>
              <a:rPr lang="en-US" sz="2800" b="1" dirty="0">
                <a:latin typeface="+mn-lt"/>
              </a:rPr>
              <a:t>Q9. Why is project closure important?</a:t>
            </a:r>
          </a:p>
          <a:p>
            <a:pPr>
              <a:lnSpc>
                <a:spcPct val="150000"/>
              </a:lnSpc>
            </a:pPr>
            <a:r>
              <a:rPr lang="en-US" sz="2800" dirty="0">
                <a:latin typeface="+mn-lt"/>
              </a:rPr>
              <a:t>Closure captures lessons learned, confirms deliverables are completed, and helps improve future projects.</a:t>
            </a:r>
          </a:p>
        </p:txBody>
      </p:sp>
      <p:sp>
        <p:nvSpPr>
          <p:cNvPr id="6146" name="Title 1">
            <a:extLst>
              <a:ext uri="{FF2B5EF4-FFF2-40B4-BE49-F238E27FC236}">
                <a16:creationId xmlns:a16="http://schemas.microsoft.com/office/drawing/2014/main" id="{4DF51A87-15CE-9555-B4CB-731FE2CB9101}"/>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FA23A00E-0AED-E29B-7874-033B19E5A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253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59A4-D31E-0558-83DC-1C47010A91D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38C4C2-D86E-7068-340A-69A7D3C540E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AD58BE2-BA64-7D9F-5E71-5A754EAE82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87</a:t>
            </a:fld>
            <a:endParaRPr lang="en-US" altLang="en-US" sz="900">
              <a:solidFill>
                <a:srgbClr val="FFFFFF"/>
              </a:solidFill>
            </a:endParaRPr>
          </a:p>
        </p:txBody>
      </p:sp>
      <p:sp>
        <p:nvSpPr>
          <p:cNvPr id="5" name="TextBox 4">
            <a:extLst>
              <a:ext uri="{FF2B5EF4-FFF2-40B4-BE49-F238E27FC236}">
                <a16:creationId xmlns:a16="http://schemas.microsoft.com/office/drawing/2014/main" id="{B469BF47-1B64-4655-BE31-4BE2C3883B7F}"/>
              </a:ext>
            </a:extLst>
          </p:cNvPr>
          <p:cNvSpPr txBox="1"/>
          <p:nvPr/>
        </p:nvSpPr>
        <p:spPr>
          <a:xfrm>
            <a:off x="0" y="1352441"/>
            <a:ext cx="9144000" cy="3903504"/>
          </a:xfrm>
          <a:prstGeom prst="rect">
            <a:avLst/>
          </a:prstGeom>
          <a:solidFill>
            <a:schemeClr val="bg1"/>
          </a:solidFill>
        </p:spPr>
        <p:txBody>
          <a:bodyPr wrap="square">
            <a:spAutoFit/>
          </a:bodyPr>
          <a:lstStyle/>
          <a:p>
            <a:pPr>
              <a:lnSpc>
                <a:spcPct val="150000"/>
              </a:lnSpc>
            </a:pPr>
            <a:r>
              <a:rPr lang="en-US" sz="2800" b="1" dirty="0">
                <a:latin typeface="+mn-lt"/>
              </a:rPr>
              <a:t>Q10. How can project management improve IT project success?</a:t>
            </a:r>
          </a:p>
          <a:p>
            <a:pPr>
              <a:lnSpc>
                <a:spcPct val="150000"/>
              </a:lnSpc>
            </a:pPr>
            <a:r>
              <a:rPr lang="en-US" sz="2800" dirty="0">
                <a:latin typeface="+mn-lt"/>
              </a:rPr>
              <a:t>Project management provides structure, communication, risk control, resource management, and monitoring processes that increase the likelihood of delivering successful IT solutions.</a:t>
            </a:r>
          </a:p>
        </p:txBody>
      </p:sp>
      <p:sp>
        <p:nvSpPr>
          <p:cNvPr id="6146" name="Title 1">
            <a:extLst>
              <a:ext uri="{FF2B5EF4-FFF2-40B4-BE49-F238E27FC236}">
                <a16:creationId xmlns:a16="http://schemas.microsoft.com/office/drawing/2014/main" id="{9AB47576-8D98-56DA-0C30-6A824E29EC80}"/>
              </a:ext>
            </a:extLst>
          </p:cNvPr>
          <p:cNvSpPr>
            <a:spLocks noGrp="1"/>
          </p:cNvSpPr>
          <p:nvPr>
            <p:ph type="title"/>
          </p:nvPr>
        </p:nvSpPr>
        <p:spPr>
          <a:xfrm>
            <a:off x="0" y="-1"/>
            <a:ext cx="5663381" cy="899653"/>
          </a:xfrm>
        </p:spPr>
        <p:txBody>
          <a:bodyPr>
            <a:normAutofit/>
          </a:bodyPr>
          <a:lstStyle/>
          <a:p>
            <a:pPr eaLnBrk="1" fontAlgn="auto" hangingPunct="1">
              <a:spcAft>
                <a:spcPts val="0"/>
              </a:spcAft>
              <a:defRPr/>
            </a:pPr>
            <a:r>
              <a:rPr lang="en-US" b="1" dirty="0">
                <a:solidFill>
                  <a:srgbClr val="00B0F0"/>
                </a:solidFill>
              </a:rPr>
              <a:t>Discussion Questions</a:t>
            </a:r>
            <a:endParaRPr lang="en-AU" altLang="en-US" b="1" dirty="0">
              <a:solidFill>
                <a:srgbClr val="00B0F0"/>
              </a:solidFill>
            </a:endParaRPr>
          </a:p>
        </p:txBody>
      </p:sp>
      <p:pic>
        <p:nvPicPr>
          <p:cNvPr id="22534" name="Picture 5">
            <a:extLst>
              <a:ext uri="{FF2B5EF4-FFF2-40B4-BE49-F238E27FC236}">
                <a16:creationId xmlns:a16="http://schemas.microsoft.com/office/drawing/2014/main" id="{DD922C97-DF4B-6AA5-C1AC-F266530EF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929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6027C-5D4C-0545-D030-5D6F2FAC044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CDABB7-7F36-EA34-B67F-51857F1DB8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6F6487C-380F-17C0-15C1-D3D24938CC1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88</a:t>
            </a:fld>
            <a:endParaRPr lang="en-US" altLang="en-US" sz="900">
              <a:solidFill>
                <a:srgbClr val="FFFFFF"/>
              </a:solidFill>
            </a:endParaRPr>
          </a:p>
        </p:txBody>
      </p:sp>
      <p:sp>
        <p:nvSpPr>
          <p:cNvPr id="5" name="TextBox 4">
            <a:extLst>
              <a:ext uri="{FF2B5EF4-FFF2-40B4-BE49-F238E27FC236}">
                <a16:creationId xmlns:a16="http://schemas.microsoft.com/office/drawing/2014/main" id="{A9353E77-6474-95A7-591B-53DFD8E811D0}"/>
              </a:ext>
            </a:extLst>
          </p:cNvPr>
          <p:cNvSpPr txBox="1"/>
          <p:nvPr/>
        </p:nvSpPr>
        <p:spPr>
          <a:xfrm>
            <a:off x="0" y="1352441"/>
            <a:ext cx="9144000" cy="2610843"/>
          </a:xfrm>
          <a:prstGeom prst="rect">
            <a:avLst/>
          </a:prstGeom>
          <a:solidFill>
            <a:schemeClr val="bg1"/>
          </a:solidFill>
        </p:spPr>
        <p:txBody>
          <a:bodyPr wrap="square">
            <a:spAutoFit/>
          </a:bodyPr>
          <a:lstStyle/>
          <a:p>
            <a:pPr>
              <a:lnSpc>
                <a:spcPct val="150000"/>
              </a:lnSpc>
            </a:pPr>
            <a:r>
              <a:rPr lang="en-US" sz="2800" b="1" dirty="0">
                <a:latin typeface="+mn-lt"/>
              </a:rPr>
              <a:t>Based on your discussion with the NSW IT Support company, which project management methodology (Agile, Waterfall, or Hybrid) would be most suitable for your proposed solution, and why?</a:t>
            </a:r>
            <a:endParaRPr lang="en-US" sz="2800" dirty="0">
              <a:latin typeface="+mn-lt"/>
            </a:endParaRPr>
          </a:p>
        </p:txBody>
      </p:sp>
      <p:pic>
        <p:nvPicPr>
          <p:cNvPr id="22534" name="Picture 5">
            <a:extLst>
              <a:ext uri="{FF2B5EF4-FFF2-40B4-BE49-F238E27FC236}">
                <a16:creationId xmlns:a16="http://schemas.microsoft.com/office/drawing/2014/main" id="{BD31A9AF-023A-34B8-9A0A-1D91DB91D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4769C823-D0E2-7D67-2322-07225E05350A}"/>
              </a:ext>
            </a:extLst>
          </p:cNvPr>
          <p:cNvSpPr>
            <a:spLocks noGrp="1"/>
          </p:cNvSpPr>
          <p:nvPr>
            <p:ph type="title"/>
          </p:nvPr>
        </p:nvSpPr>
        <p:spPr>
          <a:xfrm>
            <a:off x="0" y="-1"/>
            <a:ext cx="5663381" cy="1352442"/>
          </a:xfrm>
        </p:spPr>
        <p:txBody>
          <a:bodyPr>
            <a:normAutofit/>
          </a:bodyPr>
          <a:lstStyle/>
          <a:p>
            <a:pPr eaLnBrk="1" fontAlgn="auto" hangingPunct="1">
              <a:spcAft>
                <a:spcPts val="0"/>
              </a:spcAft>
              <a:defRPr/>
            </a:pPr>
            <a:r>
              <a:rPr lang="en-US" b="1" dirty="0">
                <a:solidFill>
                  <a:srgbClr val="00B0F0"/>
                </a:solidFill>
              </a:rPr>
              <a:t>Reflection Question for Assessment 4</a:t>
            </a:r>
            <a:endParaRPr lang="en-AU" altLang="en-US" b="1" dirty="0">
              <a:solidFill>
                <a:srgbClr val="00B0F0"/>
              </a:solidFill>
            </a:endParaRPr>
          </a:p>
        </p:txBody>
      </p:sp>
    </p:spTree>
    <p:extLst>
      <p:ext uri="{BB962C8B-B14F-4D97-AF65-F5344CB8AC3E}">
        <p14:creationId xmlns:p14="http://schemas.microsoft.com/office/powerpoint/2010/main" val="358809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66889-E91D-FFAD-5F61-0E46C64C60B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5467850-C171-55CF-D69D-95091DA8F4E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635C76F-B129-7173-DDCC-4DF8F36F29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89</a:t>
            </a:fld>
            <a:endParaRPr lang="en-US" altLang="en-US" sz="900">
              <a:solidFill>
                <a:srgbClr val="FFFFFF"/>
              </a:solidFill>
            </a:endParaRPr>
          </a:p>
        </p:txBody>
      </p:sp>
      <p:sp>
        <p:nvSpPr>
          <p:cNvPr id="5" name="TextBox 4">
            <a:extLst>
              <a:ext uri="{FF2B5EF4-FFF2-40B4-BE49-F238E27FC236}">
                <a16:creationId xmlns:a16="http://schemas.microsoft.com/office/drawing/2014/main" id="{77E9ABC7-60E9-B80B-C9B2-D05002736EDC}"/>
              </a:ext>
            </a:extLst>
          </p:cNvPr>
          <p:cNvSpPr txBox="1"/>
          <p:nvPr/>
        </p:nvSpPr>
        <p:spPr>
          <a:xfrm>
            <a:off x="0" y="1352441"/>
            <a:ext cx="9144000" cy="4547079"/>
          </a:xfrm>
          <a:prstGeom prst="rect">
            <a:avLst/>
          </a:prstGeom>
          <a:solidFill>
            <a:schemeClr val="bg1"/>
          </a:solidFill>
        </p:spPr>
        <p:txBody>
          <a:bodyPr wrap="square">
            <a:spAutoFit/>
          </a:bodyPr>
          <a:lstStyle/>
          <a:p>
            <a:pPr>
              <a:lnSpc>
                <a:spcPct val="150000"/>
              </a:lnSpc>
            </a:pPr>
            <a:r>
              <a:rPr lang="en-US" sz="2800" dirty="0">
                <a:latin typeface="+mn-lt"/>
              </a:rPr>
              <a:t>A Hybrid methodology would be most suitable because it combines the structured planning and documentation of Waterfall with the flexibility and customer feedback cycles of Agile. This approach supports effective stakeholder communication, risk management, and continuous improvement while ensuring project objectives remain aligned with business requirements.</a:t>
            </a:r>
          </a:p>
        </p:txBody>
      </p:sp>
      <p:sp>
        <p:nvSpPr>
          <p:cNvPr id="6146" name="Title 1">
            <a:extLst>
              <a:ext uri="{FF2B5EF4-FFF2-40B4-BE49-F238E27FC236}">
                <a16:creationId xmlns:a16="http://schemas.microsoft.com/office/drawing/2014/main" id="{EDA7CCB1-C92E-349A-1415-6728470CB8F0}"/>
              </a:ext>
            </a:extLst>
          </p:cNvPr>
          <p:cNvSpPr>
            <a:spLocks noGrp="1"/>
          </p:cNvSpPr>
          <p:nvPr>
            <p:ph type="title"/>
          </p:nvPr>
        </p:nvSpPr>
        <p:spPr>
          <a:xfrm>
            <a:off x="0" y="-1"/>
            <a:ext cx="5663381" cy="1352442"/>
          </a:xfrm>
        </p:spPr>
        <p:txBody>
          <a:bodyPr>
            <a:normAutofit/>
          </a:bodyPr>
          <a:lstStyle/>
          <a:p>
            <a:pPr eaLnBrk="1" fontAlgn="auto" hangingPunct="1">
              <a:spcAft>
                <a:spcPts val="0"/>
              </a:spcAft>
              <a:defRPr/>
            </a:pPr>
            <a:r>
              <a:rPr lang="en-US" b="1" dirty="0">
                <a:solidFill>
                  <a:srgbClr val="00B0F0"/>
                </a:solidFill>
              </a:rPr>
              <a:t>Reflection Question for Assessment 4</a:t>
            </a:r>
            <a:endParaRPr lang="en-AU" altLang="en-US" b="1" dirty="0">
              <a:solidFill>
                <a:srgbClr val="00B0F0"/>
              </a:solidFill>
            </a:endParaRPr>
          </a:p>
        </p:txBody>
      </p:sp>
      <p:pic>
        <p:nvPicPr>
          <p:cNvPr id="22534" name="Picture 5">
            <a:extLst>
              <a:ext uri="{FF2B5EF4-FFF2-40B4-BE49-F238E27FC236}">
                <a16:creationId xmlns:a16="http://schemas.microsoft.com/office/drawing/2014/main" id="{CD4DA279-8F34-568C-75B8-3F20A0237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61302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 </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40995" y="1509465"/>
            <a:ext cx="8367993" cy="4244239"/>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Understanding Project Management Methodologies</a:t>
            </a:r>
            <a:endParaRPr lang="en-AU" sz="20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Project management methodologies are structured approaches that guide how projects are planned, executed, monitored, and closed.</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These methodologies provide frameworks to ensure projects meet objectives efficiently within given constraints.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Significance of Methodology Selection</a:t>
            </a:r>
            <a:endParaRPr lang="en-AU" sz="20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Choosing the right methodology is crucial for project success, aligning project practices with organisational goals and enhancing team collaboration.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Factors influencing methodology selection include project complexity, team dynamics, and organisational culture.</a:t>
            </a:r>
          </a:p>
        </p:txBody>
      </p:sp>
    </p:spTree>
    <p:extLst>
      <p:ext uri="{BB962C8B-B14F-4D97-AF65-F5344CB8AC3E}">
        <p14:creationId xmlns:p14="http://schemas.microsoft.com/office/powerpoint/2010/main" val="2175507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Agile</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60A349E7-4DC9-4385-E7CA-732971BAE76E}"/>
              </a:ext>
            </a:extLst>
          </p:cNvPr>
          <p:cNvPicPr>
            <a:picLocks noChangeAspect="1"/>
          </p:cNvPicPr>
          <p:nvPr/>
        </p:nvPicPr>
        <p:blipFill>
          <a:blip r:embed="rId3"/>
          <a:stretch>
            <a:fillRect/>
          </a:stretch>
        </p:blipFill>
        <p:spPr>
          <a:xfrm>
            <a:off x="1975150" y="2115323"/>
            <a:ext cx="4885230" cy="3944596"/>
          </a:xfrm>
          <a:prstGeom prst="rect">
            <a:avLst/>
          </a:prstGeom>
        </p:spPr>
      </p:pic>
    </p:spTree>
    <p:extLst>
      <p:ext uri="{BB962C8B-B14F-4D97-AF65-F5344CB8AC3E}">
        <p14:creationId xmlns:p14="http://schemas.microsoft.com/office/powerpoint/2010/main" val="2177411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Agile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40995" y="1509465"/>
            <a:ext cx="8367993" cy="335886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Overview of Agile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methodologies originated as a response to traditional, plan-driven approaches (like Waterfall), focusing on iterative development, flexibility, and customer collaboration.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is characterised by its iterative cycles (sprints), continuous feedback loops, and the ability to adapt to changing requirements throughout the project lifecycle.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frameworks, such as Scrum and Kanban, emphasise teamwork, self-organisation, and delivering incremental value to stakeholders.</a:t>
            </a:r>
            <a:endParaRPr lang="en-AU" sz="16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4495064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Agile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D28826EB-A789-477D-8FCF-6012CC84D724}"/>
              </a:ext>
            </a:extLst>
          </p:cNvPr>
          <p:cNvPicPr>
            <a:picLocks noChangeAspect="1"/>
          </p:cNvPicPr>
          <p:nvPr/>
        </p:nvPicPr>
        <p:blipFill>
          <a:blip r:embed="rId3"/>
          <a:stretch>
            <a:fillRect/>
          </a:stretch>
        </p:blipFill>
        <p:spPr>
          <a:xfrm>
            <a:off x="378641" y="1823397"/>
            <a:ext cx="8469701" cy="4008992"/>
          </a:xfrm>
          <a:prstGeom prst="rect">
            <a:avLst/>
          </a:prstGeom>
        </p:spPr>
      </p:pic>
    </p:spTree>
    <p:extLst>
      <p:ext uri="{BB962C8B-B14F-4D97-AF65-F5344CB8AC3E}">
        <p14:creationId xmlns:p14="http://schemas.microsoft.com/office/powerpoint/2010/main" val="32582657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Agile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81998" y="1562359"/>
            <a:ext cx="9016999" cy="4216539"/>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200" b="1" dirty="0">
                <a:solidFill>
                  <a:schemeClr val="tx1">
                    <a:lumMod val="75000"/>
                    <a:lumOff val="25000"/>
                  </a:schemeClr>
                </a:solidFill>
                <a:highlight>
                  <a:srgbClr val="FFFFFF"/>
                </a:highlight>
                <a:latin typeface="+mn-lt"/>
                <a:cs typeface="+mn-cs"/>
              </a:rPr>
              <a:t>Advantages of Agile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Flexibility: Iterative development allows for adapting to changing requirements and market conditions quickly.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Customer Collaboration: Continuous feedback ensures alignment with customer expectations and delivers value-driven solutions.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Faster Time-to-Market: Incremental delivery enables quicker adaptation to market needs and competitive pressures.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Improved Quality: Continuous testing and integration result in higher product quality and customer satisfaction.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Enhanced Team Collaboration: Cross-functional teams collaborate effectively in self-organising units.</a:t>
            </a:r>
          </a:p>
        </p:txBody>
      </p:sp>
    </p:spTree>
    <p:extLst>
      <p:ext uri="{BB962C8B-B14F-4D97-AF65-F5344CB8AC3E}">
        <p14:creationId xmlns:p14="http://schemas.microsoft.com/office/powerpoint/2010/main" val="326127674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Agile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81997" y="1401721"/>
            <a:ext cx="8690986" cy="432733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200" b="1" dirty="0">
                <a:solidFill>
                  <a:schemeClr val="tx1">
                    <a:lumMod val="75000"/>
                    <a:lumOff val="25000"/>
                  </a:schemeClr>
                </a:solidFill>
                <a:highlight>
                  <a:srgbClr val="FFFFFF"/>
                </a:highlight>
                <a:latin typeface="+mn-lt"/>
                <a:cs typeface="+mn-cs"/>
              </a:rPr>
              <a:t>Challenges of Agile Methodology</a:t>
            </a:r>
            <a:endParaRPr lang="en-AU" sz="22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Managing Scope: Prioritising features and managing scope creep during iterative development.</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Documentation Balance: Agile values working software over comprehensive documentation.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Team Skills: Teams need training and experience in agile practices and frameworks.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Resistance to Change: Organisational culture may resist agile principles and practices.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Scalability: Scaling agile practices across large projects or distributed teams can be challenging.</a:t>
            </a:r>
          </a:p>
        </p:txBody>
      </p:sp>
    </p:spTree>
    <p:extLst>
      <p:ext uri="{BB962C8B-B14F-4D97-AF65-F5344CB8AC3E}">
        <p14:creationId xmlns:p14="http://schemas.microsoft.com/office/powerpoint/2010/main" val="3804454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Waterfall </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01633" y="1850256"/>
            <a:ext cx="8367993" cy="250119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Overview of Waterfall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Waterfall methodology is a sequential project management approach that follows a linear and structured process flow. It is characterised by its distinct phases, where progress flows downwards (like a waterfall) through each phase before proceeding to the next.</a:t>
            </a:r>
          </a:p>
        </p:txBody>
      </p:sp>
    </p:spTree>
    <p:extLst>
      <p:ext uri="{BB962C8B-B14F-4D97-AF65-F5344CB8AC3E}">
        <p14:creationId xmlns:p14="http://schemas.microsoft.com/office/powerpoint/2010/main" val="18331973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Waterfall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Waterfall Methodology – Ultimate Guide">
            <a:extLst>
              <a:ext uri="{FF2B5EF4-FFF2-40B4-BE49-F238E27FC236}">
                <a16:creationId xmlns:a16="http://schemas.microsoft.com/office/drawing/2014/main" id="{127B6D4D-C80E-9F0D-80FD-280A72FE2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540" y="1753199"/>
            <a:ext cx="6251447" cy="4511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8338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Waterfall (cont.) </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345497" y="1351224"/>
            <a:ext cx="9362497" cy="5073184"/>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Phases of Waterfall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Requirements Gathering:</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Initial phase where project requirements are gathered and documented in detail.</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Emphasis on capturing all stakeholder expectations and project scope.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System Design:</a:t>
            </a:r>
            <a:endParaRPr lang="en-AU"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Detailed system architecture and design planning based on gathered requirements.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Documentation includes system specifications, diagrams, and software architecture.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Implementation:</a:t>
            </a:r>
            <a:endParaRPr lang="en-AU" sz="1700"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Development phase where the actual system or product is constructed based on the design specifications.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Sequential progression from coding to unit testing to ensure each component meets requirements.</a:t>
            </a:r>
          </a:p>
        </p:txBody>
      </p:sp>
    </p:spTree>
    <p:extLst>
      <p:ext uri="{BB962C8B-B14F-4D97-AF65-F5344CB8AC3E}">
        <p14:creationId xmlns:p14="http://schemas.microsoft.com/office/powerpoint/2010/main" val="26178184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rPr>
              <a:t>Waterfall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81998" y="1401721"/>
            <a:ext cx="9362497" cy="465819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Advantages of Waterfall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b="1" dirty="0">
                <a:solidFill>
                  <a:schemeClr val="tx1">
                    <a:lumMod val="75000"/>
                    <a:lumOff val="25000"/>
                  </a:schemeClr>
                </a:solidFill>
                <a:highlight>
                  <a:srgbClr val="FFFFFF"/>
                </a:highlight>
                <a:latin typeface="+mn-lt"/>
                <a:cs typeface="+mn-cs"/>
              </a:rPr>
              <a:t>Clarity and Structure:</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Clearly defined phases and deliverables provide a structured approach to project management.</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Well-suited for projects with stable requirements and predictable outcomes.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endParaRPr lang="en-AU" sz="17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Challenges of Waterfall Methodology</a:t>
            </a:r>
            <a:endParaRPr lang="en-AU" sz="17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b="1" dirty="0">
                <a:solidFill>
                  <a:schemeClr val="tx1">
                    <a:lumMod val="75000"/>
                    <a:lumOff val="25000"/>
                  </a:schemeClr>
                </a:solidFill>
                <a:highlight>
                  <a:srgbClr val="FFFFFF"/>
                </a:highlight>
                <a:latin typeface="+mn-lt"/>
                <a:cs typeface="+mn-cs"/>
              </a:rPr>
              <a:t>Limited Flexibility:</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Lack of flexibility to accommodate changes once a phase is complete.</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Challenges in adapting to evolving requirements or unforeseen issues during later stages.</a:t>
            </a:r>
          </a:p>
        </p:txBody>
      </p:sp>
    </p:spTree>
    <p:extLst>
      <p:ext uri="{BB962C8B-B14F-4D97-AF65-F5344CB8AC3E}">
        <p14:creationId xmlns:p14="http://schemas.microsoft.com/office/powerpoint/2010/main" val="25315201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Project management methodologies:</a:t>
            </a:r>
            <a:br>
              <a:rPr lang="en-AU" sz="4000" b="1" dirty="0">
                <a:solidFill>
                  <a:srgbClr val="00B0F0"/>
                </a:solidFill>
              </a:rPr>
            </a:br>
            <a:r>
              <a:rPr lang="en-AU" sz="4000" b="1" dirty="0">
                <a:solidFill>
                  <a:schemeClr val="accent2">
                    <a:lumMod val="75000"/>
                  </a:schemeClr>
                </a:solidFill>
                <a:hlinkClick r:id="rId2">
                  <a:extLst>
                    <a:ext uri="{A12FA001-AC4F-418D-AE19-62706E023703}">
                      <ahyp:hlinkClr xmlns:ahyp="http://schemas.microsoft.com/office/drawing/2018/hyperlinkcolor" val="tx"/>
                    </a:ext>
                  </a:extLst>
                </a:hlinkClick>
              </a:rPr>
              <a:t>Waterfall vs. Agile</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4" name="Picture 2" descr="segue-blog-waterfall-vs-agile-which-is-right-development-methodology-for-your-project">
            <a:extLst>
              <a:ext uri="{FF2B5EF4-FFF2-40B4-BE49-F238E27FC236}">
                <a16:creationId xmlns:a16="http://schemas.microsoft.com/office/drawing/2014/main" id="{5BC229B3-40B4-A88B-C73C-49AF383185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363" y="1831112"/>
            <a:ext cx="5543421" cy="4395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9349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0" y="798081"/>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Planning</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97627" y="1794048"/>
            <a:ext cx="8311361" cy="2403735"/>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Introduction to Planning</a:t>
            </a:r>
            <a:endParaRPr lang="en-AU" sz="24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Definition: Planning in project management involves outlining the steps needed to achieve project goals and objectives.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Importance: Establishes project scope, timelines, and deliverables, ensuring clarity and direction for the project team.</a:t>
            </a:r>
          </a:p>
        </p:txBody>
      </p:sp>
    </p:spTree>
    <p:extLst>
      <p:ext uri="{BB962C8B-B14F-4D97-AF65-F5344CB8AC3E}">
        <p14:creationId xmlns:p14="http://schemas.microsoft.com/office/powerpoint/2010/main" val="2854562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0" y="798081"/>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Planning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18497" y="1326062"/>
            <a:ext cx="9362497" cy="5059334"/>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Key Elements of Planning</a:t>
            </a:r>
            <a:endParaRPr lang="en-AU" sz="2400"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Scope Definition:</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Identifying project objectives, requirements, and deliverables.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Establishing boundaries and determining what is included and excluded from the project scope.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Work Breakdown Structure (WBS):</a:t>
            </a:r>
            <a:endParaRPr lang="en-AU"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Hierarchical decomposition of project tasks into smaller, manageable components.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Helps in organising and planning project activities and assigning responsibilities.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Risk Management Planning:</a:t>
            </a:r>
            <a:endParaRPr lang="en-AU" sz="2400"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Identifying potential risks and developing strategies to mitigate them.</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Ensuring proactive risk management throughout the project lifecycle.</a:t>
            </a:r>
          </a:p>
        </p:txBody>
      </p:sp>
    </p:spTree>
    <p:extLst>
      <p:ext uri="{BB962C8B-B14F-4D97-AF65-F5344CB8AC3E}">
        <p14:creationId xmlns:p14="http://schemas.microsoft.com/office/powerpoint/2010/main" val="40060768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86780" y="819265"/>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Scheduling</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0" y="1667746"/>
            <a:ext cx="8550383" cy="2818720"/>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Introduction to Scheduling</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Definition: Scheduling involves determining the start and finish dates for project activities and milestones.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Purpose: Ensures timely completion of tasks and adherence to project timelines.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endParaRPr lang="en-AU" sz="17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6459450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86780" y="819265"/>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Scheduling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432486" y="1414092"/>
            <a:ext cx="9724768" cy="5238870"/>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Techniques for Project Scheduling</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Task Sequencing:</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Establishing logical relationships between project tasks (e.g., finish-to-start, start-to-start).</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Determining dependencies to ensure tasks are completed in the correct order.</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Estimating Durations: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Predicting the time required to complete each project activity.</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Using historical data, expert judgment, and analogies for accurate duration estimation.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Resource Allocation:</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Assigning resources (human, equipment, materials) to project tasks.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Balancing resource availability and workload to prevent overallocation or bottlenecks.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endParaRPr lang="en-AU" sz="16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28112525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86780" y="819265"/>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Resource Management </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0" y="1667746"/>
            <a:ext cx="8550383" cy="2818720"/>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Introduction to Resource Management</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Definition: Resource management involves effectively allocating, utilising, and monitoring resources throughout the project lifecycle.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Objective: Maximises resource efficiency while meeting project goals and requirements.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endParaRPr lang="en-AU" sz="17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4032658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86780" y="819265"/>
            <a:ext cx="9016998" cy="863600"/>
          </a:xfrm>
        </p:spPr>
        <p:txBody>
          <a:bodyPr>
            <a:noAutofit/>
          </a:bodyPr>
          <a:lstStyle/>
          <a:p>
            <a:pPr algn="ctr" eaLnBrk="1" fontAlgn="auto" hangingPunct="1">
              <a:spcAft>
                <a:spcPts val="0"/>
              </a:spcAft>
              <a:defRPr/>
            </a:pPr>
            <a:r>
              <a:rPr lang="en-AU" sz="4000" b="1" dirty="0">
                <a:solidFill>
                  <a:srgbClr val="00B0F0"/>
                </a:solidFill>
              </a:rPr>
              <a:t>Key project management skills: </a:t>
            </a:r>
            <a:br>
              <a:rPr lang="en-AU" sz="4000" b="1" dirty="0">
                <a:solidFill>
                  <a:srgbClr val="00B0F0"/>
                </a:solidFill>
              </a:rPr>
            </a:br>
            <a:r>
              <a:rPr lang="en-AU" sz="4000" b="1" dirty="0">
                <a:solidFill>
                  <a:schemeClr val="accent2">
                    <a:lumMod val="75000"/>
                  </a:schemeClr>
                </a:solidFill>
              </a:rPr>
              <a:t>Resource Management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186780" y="1507108"/>
            <a:ext cx="9610614" cy="4629985"/>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Key Aspects of Resource Management</a:t>
            </a:r>
            <a:endParaRPr lang="en-AU" dirty="0">
              <a:solidFill>
                <a:schemeClr val="tx1">
                  <a:lumMod val="75000"/>
                  <a:lumOff val="25000"/>
                </a:schemeClr>
              </a:solidFill>
              <a:highlight>
                <a:srgbClr val="FFFFFF"/>
              </a:highlight>
              <a:latin typeface="+mn-lt"/>
              <a:cs typeface="+mn-cs"/>
            </a:endParaRP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Resource Planning:</a:t>
            </a:r>
            <a:endParaRPr lang="en-AU"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Identifying project resource requirements (human, equipment, materials).</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Developing strategies to acquire and allocate resources as per project needs.</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Resource Allocation:</a:t>
            </a:r>
            <a:endParaRPr lang="en-AU"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Assigning resources to project tasks based on skills, availability, and priority.</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Balancing workload to prevent resource overallocation and optimise productivity.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b="1" dirty="0">
                <a:solidFill>
                  <a:schemeClr val="tx1">
                    <a:lumMod val="75000"/>
                    <a:lumOff val="25000"/>
                  </a:schemeClr>
                </a:solidFill>
                <a:highlight>
                  <a:srgbClr val="FFFFFF"/>
                </a:highlight>
                <a:latin typeface="+mn-lt"/>
                <a:cs typeface="+mn-cs"/>
              </a:rPr>
              <a:t>Resource Tracking and Optimisation:</a:t>
            </a:r>
            <a:endParaRPr lang="en-AU" dirty="0">
              <a:solidFill>
                <a:schemeClr val="tx1">
                  <a:lumMod val="75000"/>
                  <a:lumOff val="25000"/>
                </a:schemeClr>
              </a:solidFill>
              <a:highlight>
                <a:srgbClr val="FFFFFF"/>
              </a:highlight>
              <a:latin typeface="+mn-lt"/>
              <a:cs typeface="+mn-cs"/>
            </a:endParaRP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Monitoring resource utilisation and performance.</a:t>
            </a:r>
          </a:p>
          <a:p>
            <a:pPr marL="1714500" lvl="3"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1700" dirty="0">
                <a:solidFill>
                  <a:schemeClr val="tx1">
                    <a:lumMod val="75000"/>
                    <a:lumOff val="25000"/>
                  </a:schemeClr>
                </a:solidFill>
                <a:highlight>
                  <a:srgbClr val="FFFFFF"/>
                </a:highlight>
                <a:latin typeface="+mn-lt"/>
                <a:cs typeface="+mn-cs"/>
              </a:rPr>
              <a:t>Adjusting resource allocation as project requirements evolve or change.</a:t>
            </a:r>
          </a:p>
        </p:txBody>
      </p:sp>
    </p:spTree>
    <p:extLst>
      <p:ext uri="{BB962C8B-B14F-4D97-AF65-F5344CB8AC3E}">
        <p14:creationId xmlns:p14="http://schemas.microsoft.com/office/powerpoint/2010/main" val="9816339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Tools and Software for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43815" y="1661681"/>
            <a:ext cx="8856370" cy="4635115"/>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Types of Project Management Tools</a:t>
            </a:r>
          </a:p>
          <a:p>
            <a:pPr marL="200025" lvl="1">
              <a:lnSpc>
                <a:spcPct val="90000"/>
              </a:lnSpc>
              <a:buClr>
                <a:schemeClr val="accent1"/>
              </a:buCl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Task Management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Create, assign, and track tasks; set deadlines and priorities; collaborate on task status.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Asana, Trello, Jira.</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Collaboration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Facilitate team communication, file sharing, real-time editing, and document management.</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Microsoft Teams, Slack, Google Workspace.</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Scheduling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Create project timelines, manage dependencies, allocate resources, and monitor progress.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Microsoft Project, Smartsheet, Monday.com.</a:t>
            </a: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12667376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Tools and Software for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2" name="Picture 2" descr="Project Management Tools - What to use, and when?">
            <a:extLst>
              <a:ext uri="{FF2B5EF4-FFF2-40B4-BE49-F238E27FC236}">
                <a16:creationId xmlns:a16="http://schemas.microsoft.com/office/drawing/2014/main" id="{BA390756-F3A0-FDEC-E984-E3B40FF86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270" y="1831112"/>
            <a:ext cx="7673546" cy="4316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3969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31112"/>
            <a:ext cx="8643668" cy="4321533"/>
          </a:xfrm>
        </p:spPr>
        <p:txBody>
          <a:bodyPr/>
          <a:lstStyle/>
          <a:p>
            <a:pPr marL="0" indent="0">
              <a:buNone/>
            </a:pPr>
            <a:r>
              <a:rPr lang="en-AU" sz="2400" b="1" dirty="0">
                <a:solidFill>
                  <a:schemeClr val="accent2">
                    <a:lumMod val="75000"/>
                  </a:schemeClr>
                </a:solidFill>
              </a:rPr>
              <a:t>Scenario: </a:t>
            </a:r>
            <a:r>
              <a:rPr lang="en-AU" dirty="0"/>
              <a:t>Implementing a Software Upgrade Project</a:t>
            </a:r>
            <a:endParaRPr lang="en-AU" sz="2400" b="1" dirty="0">
              <a:solidFill>
                <a:schemeClr val="accent2">
                  <a:lumMod val="75000"/>
                </a:schemeClr>
              </a:solidFill>
            </a:endParaRPr>
          </a:p>
          <a:p>
            <a:pPr marL="0" indent="0">
              <a:buNone/>
            </a:pPr>
            <a:r>
              <a:rPr lang="en-AU" dirty="0"/>
              <a:t>You are leading a team responsible for implementing a major software upgrade project for a multinational corporation. The project aims to enhance the functionality and security of the company's enterprise resource planning (ERP) system. The upgrade involves integrating new modules, improving user interface design, and ensuring compatibility with existing databases and third-party applications. The timeline for the project is nine months, with a strict budget and phased delivery milestones. </a:t>
            </a:r>
          </a:p>
          <a:p>
            <a:pPr marL="0" indent="0">
              <a:buNone/>
            </a:pPr>
            <a:r>
              <a:rPr lang="en-AU" b="1" dirty="0"/>
              <a:t>Questions:</a:t>
            </a:r>
          </a:p>
          <a:p>
            <a:pPr>
              <a:buFont typeface="+mj-lt"/>
              <a:buAutoNum type="arabicPeriod"/>
            </a:pPr>
            <a:r>
              <a:rPr lang="en-AU" dirty="0"/>
              <a:t>Which project management methodology (Agile, Waterfall, etc.) would be most suitable for managing the software upgrade project, and why?</a:t>
            </a:r>
          </a:p>
          <a:p>
            <a:pPr>
              <a:buFont typeface="+mj-lt"/>
              <a:buAutoNum type="arabicPeriod"/>
            </a:pPr>
            <a:r>
              <a:rPr lang="en-AU" dirty="0"/>
              <a:t>What are the key components of the project plan for the software upgrade project?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878232"/>
            <a:ext cx="8251684" cy="4321533"/>
          </a:xfrm>
        </p:spPr>
        <p:txBody>
          <a:bodyPr/>
          <a:lstStyle/>
          <a:p>
            <a:pPr>
              <a:buFont typeface="+mj-lt"/>
              <a:buAutoNum type="arabicPeriod"/>
            </a:pPr>
            <a:r>
              <a:rPr lang="en-AU" sz="2400" b="1" dirty="0">
                <a:solidFill>
                  <a:schemeClr val="accent2">
                    <a:lumMod val="75000"/>
                  </a:schemeClr>
                </a:solidFill>
              </a:rPr>
              <a:t>Which project management methodology (Agile, Waterfall, etc.) would be most suitable for managing the software upgrade project, and why?</a:t>
            </a:r>
          </a:p>
          <a:p>
            <a:pPr marL="0" indent="0">
              <a:buNone/>
            </a:pPr>
            <a:endParaRPr lang="en-AU" sz="2400" b="1" dirty="0">
              <a:solidFill>
                <a:schemeClr val="accent2">
                  <a:lumMod val="75000"/>
                </a:schemeClr>
              </a:solidFill>
            </a:endParaRPr>
          </a:p>
          <a:p>
            <a:pPr marL="942975" lvl="2" indent="-285750" defTabSz="457200">
              <a:spcBef>
                <a:spcPct val="0"/>
              </a:spcBef>
              <a:spcAft>
                <a:spcPct val="0"/>
              </a:spcAft>
              <a:buFont typeface="Arial" panose="020B0604020202020204" pitchFamily="34" charset="0"/>
              <a:buChar char="•"/>
            </a:pPr>
            <a:r>
              <a:rPr lang="en-AU" sz="2400" dirty="0"/>
              <a:t>Agile methodology would be suitable due to its iterative approach, allowing for flexibility in responding to changes and continuous improvement based on user feedback.</a:t>
            </a:r>
            <a:endParaRPr lang="en-AU" sz="1800"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991750"/>
            <a:ext cx="8288754" cy="4321533"/>
          </a:xfrm>
        </p:spPr>
        <p:txBody>
          <a:bodyPr/>
          <a:lstStyle/>
          <a:p>
            <a:pPr marL="0" indent="0">
              <a:buNone/>
            </a:pPr>
            <a:r>
              <a:rPr lang="en-AU" sz="2400" b="1" dirty="0">
                <a:solidFill>
                  <a:schemeClr val="accent2">
                    <a:lumMod val="75000"/>
                  </a:schemeClr>
                </a:solidFill>
              </a:rPr>
              <a:t>2. What are the key components of the project plan for the software upgrade project?</a:t>
            </a:r>
          </a:p>
          <a:p>
            <a:pPr marL="0" indent="0">
              <a:buNone/>
            </a:pPr>
            <a:endParaRPr lang="en-AU" sz="2400" b="1" dirty="0">
              <a:solidFill>
                <a:schemeClr val="accent1">
                  <a:lumMod val="75000"/>
                </a:schemeClr>
              </a:solidFill>
            </a:endParaRP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Scope definition: Enhancing ERP functionality, improving UI/UX design, ensuring compatibility.</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Work breakdown structure (WBS): Detailed breakdown of tasks and deliverables.</a:t>
            </a:r>
          </a:p>
          <a:p>
            <a:pPr marL="942975" lvl="2" indent="-285750" defTabSz="457200">
              <a:spcBef>
                <a:spcPct val="0"/>
              </a:spcBef>
              <a:spcAft>
                <a:spcPct val="0"/>
              </a:spcAft>
              <a:buFont typeface="Arial" panose="020B0604020202020204" pitchFamily="34" charset="0"/>
              <a:buChar char="•"/>
            </a:pPr>
            <a:r>
              <a:rPr lang="en-AU" sz="2000" dirty="0">
                <a:solidFill>
                  <a:schemeClr val="tx1">
                    <a:lumMod val="75000"/>
                    <a:lumOff val="25000"/>
                  </a:schemeClr>
                </a:solidFill>
                <a:highlight>
                  <a:srgbClr val="FFFFFF"/>
                </a:highlight>
              </a:rPr>
              <a:t>Risk management plan: Identification and mitigation of technical, operational, and organisational risks.</a:t>
            </a:r>
            <a:endParaRPr lang="en-AU" sz="2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8522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395417" y="1998608"/>
            <a:ext cx="8353166" cy="286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AU" sz="1800" dirty="0"/>
          </a:p>
          <a:p>
            <a:pPr>
              <a:buFont typeface="Arial" panose="020B0604020202020204" pitchFamily="34" charset="0"/>
              <a:buChar char="•"/>
            </a:pPr>
            <a:r>
              <a:rPr lang="en-AU" sz="1800" dirty="0"/>
              <a:t>We explored various project management methodologies such as Agile and Waterfall, highlighting their differences in approach and suitability for different project types.</a:t>
            </a:r>
          </a:p>
          <a:p>
            <a:pPr>
              <a:buFont typeface="Arial" panose="020B0604020202020204" pitchFamily="34" charset="0"/>
              <a:buChar char="•"/>
            </a:pPr>
            <a:r>
              <a:rPr lang="en-AU" sz="1800" dirty="0"/>
              <a:t>Key project management skills including planning, scheduling, and resource management were emphasised as critical for successful project execution and delivery.</a:t>
            </a:r>
          </a:p>
          <a:p>
            <a:pPr>
              <a:buFont typeface="Arial" panose="020B0604020202020204" pitchFamily="34" charset="0"/>
              <a:buChar char="•"/>
            </a:pPr>
            <a:r>
              <a:rPr lang="en-AU" sz="1800" dirty="0"/>
              <a:t>Tools and software essential for project management, such as Jira, Microsoft Project, and collaborative platforms like Slack, were discussed for their roles in enhancing communication, tracking progress, and managing project workflows.</a:t>
            </a:r>
            <a:r>
              <a:rPr lang="en-AU" sz="1700" dirty="0"/>
              <a:t>as technical failures and regulatory compliance issues during project implementation.</a:t>
            </a:r>
          </a:p>
        </p:txBody>
      </p:sp>
    </p:spTree>
    <p:extLst>
      <p:ext uri="{BB962C8B-B14F-4D97-AF65-F5344CB8AC3E}">
        <p14:creationId xmlns:p14="http://schemas.microsoft.com/office/powerpoint/2010/main" val="26462278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642938" y="920262"/>
            <a:ext cx="8066087" cy="3788019"/>
          </a:xfrm>
        </p:spPr>
        <p:txBody>
          <a:bodyPr anchor="ctr">
            <a:normAutofit fontScale="92500" lnSpcReduction="10000"/>
          </a:bodyPr>
          <a:lstStyle/>
          <a:p>
            <a:pPr eaLnBrk="1" hangingPunct="1">
              <a:spcBef>
                <a:spcPts val="600"/>
              </a:spcBef>
              <a:spcAft>
                <a:spcPts val="2400"/>
              </a:spcAft>
            </a:pPr>
            <a:r>
              <a:rPr lang="en-AU" altLang="en-US" sz="5400" dirty="0">
                <a:solidFill>
                  <a:schemeClr val="accent2"/>
                </a:solidFill>
              </a:rPr>
              <a:t>Week 11 Workshop :</a:t>
            </a:r>
          </a:p>
          <a:p>
            <a:pPr eaLnBrk="1" hangingPunct="1">
              <a:spcBef>
                <a:spcPts val="600"/>
              </a:spcBef>
              <a:spcAft>
                <a:spcPts val="2400"/>
              </a:spcAft>
            </a:pPr>
            <a:r>
              <a:rPr lang="en-AU" sz="5400" dirty="0">
                <a:solidFill>
                  <a:schemeClr val="accent2"/>
                </a:solidFill>
              </a:rPr>
              <a:t>Project Management Principles and Practices</a:t>
            </a:r>
          </a:p>
          <a:p>
            <a:pPr algn="ctr" eaLnBrk="1" hangingPunct="1">
              <a:spcBef>
                <a:spcPts val="600"/>
              </a:spcBef>
              <a:spcAft>
                <a:spcPts val="2400"/>
              </a:spcAft>
            </a:pPr>
            <a:r>
              <a:rPr lang="en-AU" altLang="en-US" sz="7100" dirty="0">
                <a:solidFill>
                  <a:srgbClr val="0070C0"/>
                </a:solidFill>
              </a:rPr>
              <a:t>ICT502</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114</a:t>
            </a:fld>
            <a:endParaRPr lang="en-US" altLang="en-US" sz="1000">
              <a:solidFill>
                <a:schemeClr val="bg1"/>
              </a:solidFill>
              <a:latin typeface="Arial" panose="020B0604020202020204" pitchFamily="34" charset="0"/>
            </a:endParaRPr>
          </a:p>
        </p:txBody>
      </p:sp>
    </p:spTree>
    <p:extLst>
      <p:ext uri="{BB962C8B-B14F-4D97-AF65-F5344CB8AC3E}">
        <p14:creationId xmlns:p14="http://schemas.microsoft.com/office/powerpoint/2010/main" val="40622035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Core Principles of Agile</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204482" y="2089150"/>
            <a:ext cx="8698523" cy="4043800"/>
          </a:xfrm>
        </p:spPr>
        <p:txBody>
          <a:bodyPr/>
          <a:lstStyle/>
          <a:p>
            <a:pPr lvl="1">
              <a:buFont typeface="Arial" panose="020B0604020202020204" pitchFamily="34" charset="0"/>
              <a:buChar char="•"/>
            </a:pPr>
            <a:r>
              <a:rPr lang="en-AU" sz="2000" dirty="0"/>
              <a:t>Customer Satisfaction: Prioritising customer needs and continuous delivery of valuable software.</a:t>
            </a:r>
          </a:p>
          <a:p>
            <a:pPr lvl="1">
              <a:buFont typeface="Arial" panose="020B0604020202020204" pitchFamily="34" charset="0"/>
              <a:buChar char="•"/>
            </a:pPr>
            <a:r>
              <a:rPr lang="en-AU" sz="2000" dirty="0"/>
              <a:t>Welcome Change: Embracing changing requirements, even late in development.</a:t>
            </a:r>
          </a:p>
          <a:p>
            <a:pPr lvl="1">
              <a:buFont typeface="Arial" panose="020B0604020202020204" pitchFamily="34" charset="0"/>
              <a:buChar char="•"/>
            </a:pPr>
            <a:r>
              <a:rPr lang="en-AU" sz="2000" dirty="0"/>
              <a:t>Frequent Delivery: Delivering working software frequently, with a preference for shorter timescales.</a:t>
            </a:r>
          </a:p>
          <a:p>
            <a:pPr lvl="1">
              <a:buFont typeface="Arial" panose="020B0604020202020204" pitchFamily="34" charset="0"/>
              <a:buChar char="•"/>
            </a:pPr>
            <a:r>
              <a:rPr lang="en-AU" sz="2000" dirty="0"/>
              <a:t>Collaboration: Close, daily cooperation between business stakeholders and developers.</a:t>
            </a:r>
          </a:p>
          <a:p>
            <a:pPr lvl="1">
              <a:buFont typeface="Arial" panose="020B0604020202020204" pitchFamily="34" charset="0"/>
              <a:buChar char="•"/>
            </a:pPr>
            <a:r>
              <a:rPr lang="en-AU" sz="2000" dirty="0"/>
              <a:t>Motivated Teams: Building projects around motivated individuals, providing the environment and support needed, and trusting them to get the job done.</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115</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6905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Core Principles of Agile (cont.)</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204482" y="2089150"/>
            <a:ext cx="8698523" cy="4043800"/>
          </a:xfrm>
        </p:spPr>
        <p:txBody>
          <a:bodyPr/>
          <a:lstStyle/>
          <a:p>
            <a:pPr lvl="1">
              <a:buFont typeface="Arial" panose="020B0604020202020204" pitchFamily="34" charset="0"/>
              <a:buChar char="•"/>
            </a:pPr>
            <a:r>
              <a:rPr lang="en-AU" sz="2000" dirty="0"/>
              <a:t>Face-to-Face Communication: The most efficient and effective method of conveying information.</a:t>
            </a:r>
          </a:p>
          <a:p>
            <a:pPr lvl="1">
              <a:buFont typeface="Arial" panose="020B0604020202020204" pitchFamily="34" charset="0"/>
              <a:buChar char="•"/>
            </a:pPr>
            <a:r>
              <a:rPr lang="en-AU" sz="2000" dirty="0"/>
              <a:t>Working Software: The primary measure of progress.</a:t>
            </a:r>
          </a:p>
          <a:p>
            <a:pPr lvl="1">
              <a:buFont typeface="Arial" panose="020B0604020202020204" pitchFamily="34" charset="0"/>
              <a:buChar char="•"/>
            </a:pPr>
            <a:r>
              <a:rPr lang="en-AU" sz="2000" dirty="0"/>
              <a:t>Sustainable Development: Promoting sustainable development, maintaining a constant pace indefinitely.</a:t>
            </a:r>
          </a:p>
          <a:p>
            <a:pPr lvl="1">
              <a:buFont typeface="Arial" panose="020B0604020202020204" pitchFamily="34" charset="0"/>
              <a:buChar char="•"/>
            </a:pPr>
            <a:r>
              <a:rPr lang="en-AU" sz="2000" dirty="0"/>
              <a:t>Technical Excellence: Continuous attention to technical excellence and good design enhances agility.</a:t>
            </a:r>
          </a:p>
          <a:p>
            <a:pPr lvl="1">
              <a:buFont typeface="Arial" panose="020B0604020202020204" pitchFamily="34" charset="0"/>
              <a:buChar char="•"/>
            </a:pPr>
            <a:r>
              <a:rPr lang="en-AU" sz="2000" dirty="0"/>
              <a:t>Simplicity: The art of maximising the amount of work not done.</a:t>
            </a:r>
          </a:p>
          <a:p>
            <a:pPr lvl="1">
              <a:buFont typeface="Arial" panose="020B0604020202020204" pitchFamily="34" charset="0"/>
              <a:buChar char="•"/>
            </a:pPr>
            <a:r>
              <a:rPr lang="en-AU" sz="2000" dirty="0"/>
              <a:t>Self-Organising Teams: The best architectures, requirements, and designs emerge from self-organising teams.</a:t>
            </a:r>
          </a:p>
          <a:p>
            <a:pPr lvl="1">
              <a:buFont typeface="Arial" panose="020B0604020202020204" pitchFamily="34" charset="0"/>
              <a:buChar char="•"/>
            </a:pPr>
            <a:r>
              <a:rPr lang="en-AU" sz="2000" dirty="0"/>
              <a:t>Reflection: Regular intervals to reflect on how to become more effective, then tuning and adjusting </a:t>
            </a:r>
            <a:r>
              <a:rPr lang="en-AU" sz="2000" dirty="0" err="1"/>
              <a:t>behavior</a:t>
            </a:r>
            <a:r>
              <a:rPr lang="en-AU" sz="2000" dirty="0"/>
              <a:t> accordingly.</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116</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95840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Agile Frameworks</a:t>
            </a:r>
            <a:endParaRPr lang="en-AU" altLang="en-US" sz="32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117</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27719A-7EBF-C36F-181B-CF0FC5A33259}"/>
              </a:ext>
            </a:extLst>
          </p:cNvPr>
          <p:cNvPicPr>
            <a:picLocks noChangeAspect="1"/>
          </p:cNvPicPr>
          <p:nvPr/>
        </p:nvPicPr>
        <p:blipFill>
          <a:blip r:embed="rId4"/>
          <a:stretch>
            <a:fillRect/>
          </a:stretch>
        </p:blipFill>
        <p:spPr>
          <a:xfrm>
            <a:off x="647418" y="2251869"/>
            <a:ext cx="7374135" cy="3359944"/>
          </a:xfrm>
          <a:prstGeom prst="rect">
            <a:avLst/>
          </a:prstGeom>
        </p:spPr>
      </p:pic>
    </p:spTree>
    <p:extLst>
      <p:ext uri="{BB962C8B-B14F-4D97-AF65-F5344CB8AC3E}">
        <p14:creationId xmlns:p14="http://schemas.microsoft.com/office/powerpoint/2010/main" val="4257744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3200" b="1" dirty="0">
                <a:solidFill>
                  <a:schemeClr val="accent2"/>
                </a:solidFill>
              </a:rPr>
              <a:t>Agile Scrum Framework</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1836738"/>
            <a:ext cx="8299450" cy="4043800"/>
          </a:xfrm>
        </p:spPr>
        <p:txBody>
          <a:bodyPr/>
          <a:lstStyle/>
          <a:p>
            <a:endParaRPr lang="en-AU" sz="2200" dirty="0"/>
          </a:p>
          <a:p>
            <a:r>
              <a:rPr lang="en-AU" sz="2800" dirty="0"/>
              <a:t>What Is Agile Scrum Framework? </a:t>
            </a:r>
          </a:p>
          <a:p>
            <a:endParaRPr lang="en-AU" sz="2800" dirty="0"/>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hlinkClick r:id="rId2"/>
              </a:rPr>
              <a:t>https://www.youtube.com/watch?v=B7VucspZA68</a:t>
            </a:r>
            <a:endParaRPr lang="en-AU" sz="1800" dirty="0">
              <a:solidFill>
                <a:srgbClr val="131313"/>
              </a:solidFill>
              <a:latin typeface="Roboto" panose="02000000000000000000" pitchFamily="2" charset="0"/>
            </a:endParaRPr>
          </a:p>
          <a:p>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118</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7469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1</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40295"/>
            <a:ext cx="8643668" cy="4321533"/>
          </a:xfrm>
        </p:spPr>
        <p:txBody>
          <a:bodyPr/>
          <a:lstStyle/>
          <a:p>
            <a:r>
              <a:rPr lang="en-AU" sz="2400" b="1" dirty="0">
                <a:solidFill>
                  <a:srgbClr val="00B0F0"/>
                </a:solidFill>
              </a:rPr>
              <a:t>Scenario 1:</a:t>
            </a:r>
            <a:r>
              <a:rPr lang="en-AU" sz="2400" dirty="0">
                <a:solidFill>
                  <a:srgbClr val="00B0F0"/>
                </a:solidFill>
              </a:rPr>
              <a:t> </a:t>
            </a:r>
            <a:r>
              <a:rPr lang="en-AU" sz="2400" b="1" dirty="0">
                <a:solidFill>
                  <a:srgbClr val="00B0F0"/>
                </a:solidFill>
              </a:rPr>
              <a:t>Mobile Banking App Development</a:t>
            </a:r>
          </a:p>
          <a:p>
            <a:r>
              <a:rPr lang="en-AU" sz="1800" dirty="0"/>
              <a:t>A financial technology (fintech) company is developing a new mobile banking app to provide customers with a seamless and secure banking experience. The app aims to offer features such as account management, fund transfers, bill payments, and real-time notifications. Given the competitive market and the need for rapid delivery of new features, the company adopts Agile methodology to manage the project. The development team consists of software developers, UX/UI designers, testers, and a product owner.</a:t>
            </a:r>
          </a:p>
          <a:p>
            <a:r>
              <a:rPr lang="en-AU" b="1" dirty="0"/>
              <a:t>Discuss</a:t>
            </a:r>
            <a:r>
              <a:rPr lang="en-US" altLang="zh-CN" b="1" dirty="0"/>
              <a:t> in your groups</a:t>
            </a:r>
            <a:r>
              <a:rPr lang="en-AU" b="1" dirty="0"/>
              <a:t>:</a:t>
            </a:r>
            <a:endParaRPr lang="en-AU" dirty="0"/>
          </a:p>
          <a:p>
            <a:pPr>
              <a:buFont typeface="+mj-lt"/>
              <a:buAutoNum type="arabicPeriod"/>
            </a:pPr>
            <a:r>
              <a:rPr lang="en-AU" sz="1700" dirty="0"/>
              <a:t>What are the key benefits of using Agile methodology for this mobile banking app development project?</a:t>
            </a:r>
          </a:p>
          <a:p>
            <a:pPr>
              <a:buFont typeface="+mj-lt"/>
              <a:buAutoNum type="arabicPeriod"/>
            </a:pPr>
            <a:r>
              <a:rPr lang="en-AU" sz="1700" dirty="0"/>
              <a:t>How does the Scrum framework help in managing this project? </a:t>
            </a:r>
          </a:p>
          <a:p>
            <a:pPr>
              <a:buFont typeface="+mj-lt"/>
              <a:buAutoNum type="arabicPeriod"/>
            </a:pPr>
            <a:r>
              <a:rPr lang="en-AU" sz="1700" dirty="0"/>
              <a:t>What roles do the product owner and UX/UI designers play in the Agile team?</a:t>
            </a:r>
          </a:p>
          <a:p>
            <a:pPr>
              <a:buFont typeface="+mj-lt"/>
              <a:buAutoNum type="arabicPeriod"/>
            </a:pPr>
            <a:endParaRPr lang="en-AU" sz="17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9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2</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42933"/>
            <a:ext cx="8643668" cy="4321533"/>
          </a:xfrm>
        </p:spPr>
        <p:txBody>
          <a:bodyPr/>
          <a:lstStyle/>
          <a:p>
            <a:r>
              <a:rPr lang="en-AU" sz="2400" b="1" dirty="0">
                <a:solidFill>
                  <a:srgbClr val="00B0F0"/>
                </a:solidFill>
              </a:rPr>
              <a:t>Scenario 2: </a:t>
            </a:r>
            <a:r>
              <a:rPr lang="en-AU" sz="2000" dirty="0"/>
              <a:t>E-commerce Website Overhaul</a:t>
            </a:r>
            <a:endParaRPr lang="en-AU" sz="2400" b="1" dirty="0">
              <a:solidFill>
                <a:srgbClr val="00B0F0"/>
              </a:solidFill>
            </a:endParaRPr>
          </a:p>
          <a:p>
            <a:r>
              <a:rPr lang="en-AU" sz="1800" dirty="0"/>
              <a:t>An established e-commerce company is overhauling its website to improve user experience, integrate new payment gateways, and enhance search functionality. The project is crucial for maintaining competitive advantage and ensuring customer satisfaction. The company decides to use Agile methodology to manage the project, allowing for iterative development and frequent updates. The team includes web developers, database administrators, content creators, and a Scrum Master.</a:t>
            </a:r>
          </a:p>
          <a:p>
            <a:r>
              <a:rPr lang="en-AU" b="1" dirty="0"/>
              <a:t>Discuss</a:t>
            </a:r>
            <a:r>
              <a:rPr lang="en-US" altLang="zh-CN" b="1" dirty="0"/>
              <a:t> in your groups</a:t>
            </a:r>
            <a:r>
              <a:rPr lang="en-AU" b="1" dirty="0"/>
              <a:t>:</a:t>
            </a:r>
          </a:p>
          <a:p>
            <a:pPr>
              <a:buFont typeface="+mj-lt"/>
              <a:buAutoNum type="arabicPeriod"/>
            </a:pPr>
            <a:r>
              <a:rPr lang="en-AU" sz="1700" dirty="0"/>
              <a:t>Why is Agile method suitable for this e-commerce website overhaul project?</a:t>
            </a:r>
          </a:p>
          <a:p>
            <a:pPr>
              <a:buFont typeface="+mj-lt"/>
              <a:buAutoNum type="arabicPeriod"/>
            </a:pPr>
            <a:r>
              <a:rPr lang="en-AU" sz="1700" dirty="0"/>
              <a:t>What are the primary roles of the Scrum Master and content creators in this project?</a:t>
            </a:r>
          </a:p>
          <a:p>
            <a:pPr>
              <a:buFont typeface="+mj-lt"/>
              <a:buAutoNum type="arabicPeriod"/>
            </a:pPr>
            <a:r>
              <a:rPr lang="en-AU" sz="1700" dirty="0"/>
              <a:t>How does Agile methodology support frequent updates and user feedback integration in this project?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01042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3: </a:t>
            </a:r>
            <a:br>
              <a:rPr lang="en-AU" sz="3600" b="1" dirty="0">
                <a:solidFill>
                  <a:schemeClr val="accent2"/>
                </a:solidFill>
              </a:rPr>
            </a:br>
            <a:r>
              <a:rPr lang="en-AU" sz="3600" b="1" dirty="0">
                <a:solidFill>
                  <a:schemeClr val="accent2"/>
                </a:solidFill>
              </a:rPr>
              <a:t>Open Questions</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99879" y="1557069"/>
            <a:ext cx="8386493" cy="4321533"/>
          </a:xfrm>
        </p:spPr>
        <p:txBody>
          <a:bodyPr/>
          <a:lstStyle/>
          <a:p>
            <a:pPr marL="0" indent="0">
              <a:buNone/>
            </a:pPr>
            <a:endParaRPr lang="en-AU" sz="2400" dirty="0">
              <a:solidFill>
                <a:srgbClr val="000000"/>
              </a:solidFill>
              <a:latin typeface="Arial" panose="020B0604020202020204" pitchFamily="34" charset="0"/>
            </a:endParaRPr>
          </a:p>
          <a:p>
            <a:pPr marL="0" indent="0">
              <a:buNone/>
            </a:pPr>
            <a:r>
              <a:rPr lang="en-AU" b="1" i="0" u="none" strike="noStrike" baseline="0" dirty="0">
                <a:solidFill>
                  <a:srgbClr val="00B0F0"/>
                </a:solidFill>
                <a:latin typeface="Arial" panose="020B0604020202020204" pitchFamily="34" charset="0"/>
              </a:rPr>
              <a:t>Discuss in your group with the help of an online search platform: </a:t>
            </a:r>
          </a:p>
          <a:p>
            <a:pPr>
              <a:buFont typeface="+mj-lt"/>
              <a:buAutoNum type="arabicPeriod"/>
            </a:pPr>
            <a:r>
              <a:rPr lang="en-AU" sz="1800" dirty="0"/>
              <a:t>How does the iterative approach of Agile methodology help in managing changes in project requirements?</a:t>
            </a:r>
          </a:p>
          <a:p>
            <a:pPr>
              <a:buFont typeface="+mj-lt"/>
              <a:buAutoNum type="arabicPeriod"/>
            </a:pPr>
            <a:r>
              <a:rPr lang="en-AU" sz="1800" dirty="0"/>
              <a:t>In what scenarios might the Waterfall methodology be more advantageous than Agile for a project?</a:t>
            </a:r>
          </a:p>
          <a:p>
            <a:pPr>
              <a:buFont typeface="+mj-lt"/>
              <a:buAutoNum type="arabicPeriod"/>
            </a:pPr>
            <a:r>
              <a:rPr lang="en-AU" sz="1800" dirty="0"/>
              <a:t>Why is effective resource management crucial for the success of an IT project?</a:t>
            </a:r>
          </a:p>
          <a:p>
            <a:pPr>
              <a:buFont typeface="+mj-lt"/>
              <a:buAutoNum type="arabicPeriod"/>
            </a:pPr>
            <a:r>
              <a:rPr lang="en-AU" sz="1800" dirty="0"/>
              <a:t>What strategies can be employed to handle scheduling conflicts in a project with tight deadlines??</a:t>
            </a:r>
          </a:p>
          <a:p>
            <a:pPr>
              <a:buFont typeface="+mj-lt"/>
              <a:buAutoNum type="arabicPeriod"/>
            </a:pPr>
            <a:r>
              <a:rPr lang="en-AU" sz="1800" dirty="0"/>
              <a:t>What are the benefits of using Gantt charts in project planning and scheduling?</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4953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4: Infographic summary</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buNone/>
            </a:pPr>
            <a:endParaRPr lang="en-AU" sz="1800" b="0" i="0" u="none" strike="noStrike" baseline="0" dirty="0">
              <a:latin typeface="Arial" panose="020B0604020202020204" pitchFamily="34" charset="0"/>
            </a:endParaRPr>
          </a:p>
          <a:p>
            <a:pPr marL="0" indent="0">
              <a:buNone/>
            </a:pPr>
            <a:r>
              <a:rPr lang="en-AU" sz="1800" dirty="0">
                <a:solidFill>
                  <a:srgbClr val="B31165"/>
                </a:solidFill>
                <a:latin typeface="Wingdings 3" panose="05040102010807070707" pitchFamily="18" charset="2"/>
              </a:rPr>
              <a:t> </a:t>
            </a:r>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Students are required to list the concepts that have been covered in the reading materials and lecture and group them by their category.  </a:t>
            </a:r>
          </a:p>
          <a:p>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Use an online tool (such as https://www.canva.com/ ) to produce the infographic summary to be submitted and present to the class. </a:t>
            </a:r>
          </a:p>
          <a:p>
            <a:endParaRPr lang="en-AU" sz="1800" b="0" i="0" u="none" strike="noStrike" baseline="0" dirty="0">
              <a:solidFill>
                <a:srgbClr val="404040"/>
              </a:solidFill>
              <a:latin typeface="Arial" panose="020B0604020202020204" pitchFamily="34" charset="0"/>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711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4130</TotalTime>
  <Words>5787</Words>
  <Application>Microsoft Office PowerPoint</Application>
  <PresentationFormat>On-screen Show (4:3)</PresentationFormat>
  <Paragraphs>953</Paragraphs>
  <Slides>122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122</vt:i4>
      </vt:variant>
    </vt:vector>
  </HeadingPairs>
  <TitlesOfParts>
    <vt:vector size="132" baseType="lpstr">
      <vt:lpstr>Arial</vt:lpstr>
      <vt:lpstr>Arial Narrow</vt:lpstr>
      <vt:lpstr>Calibri</vt:lpstr>
      <vt:lpstr>Calibri Light</vt:lpstr>
      <vt:lpstr>Century Gothic</vt:lpstr>
      <vt:lpstr>Roboto</vt:lpstr>
      <vt:lpstr>Symbol</vt:lpstr>
      <vt:lpstr>Times New Roman</vt:lpstr>
      <vt:lpstr>Wingdings 3</vt:lpstr>
      <vt:lpstr>Retrospect</vt:lpstr>
      <vt:lpstr>PowerPoint Presentation</vt:lpstr>
      <vt:lpstr>What we learned last week</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Week 10 Pre-Class Readings</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Working with NSW IT Support</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Week 10 Topics</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Week 11 Assessment 4 Connection</vt:lpstr>
      <vt:lpstr>Week 11 Assessment 4 Connection</vt:lpstr>
      <vt:lpstr>Week 11 Assessment 4 Connection</vt:lpstr>
      <vt:lpstr>Week 11 Assessment 4 Connection</vt:lpstr>
      <vt:lpstr>Week 11 Assessment 4 Connection</vt:lpstr>
      <vt:lpstr>Week 11 Assessment 4 Connection</vt:lpstr>
      <vt:lpstr>Week 11 Assessment 4 Connection</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Discussion Questions</vt:lpstr>
      <vt:lpstr>Reflection Question for Assessment 4</vt:lpstr>
      <vt:lpstr>Reflection Question for Assessment 4</vt:lpstr>
      <vt:lpstr>Project management methodologies </vt:lpstr>
      <vt:lpstr>Project management methodologies: Agile</vt:lpstr>
      <vt:lpstr>Project management methodologies: Agile (cont.)</vt:lpstr>
      <vt:lpstr>Project management methodologies: Agile (cont.)</vt:lpstr>
      <vt:lpstr>Project management methodologies: Agile (cont.)</vt:lpstr>
      <vt:lpstr>Project management methodologies: Agile (cont.)</vt:lpstr>
      <vt:lpstr>Project management methodologies: Waterfall </vt:lpstr>
      <vt:lpstr>Project management methodologies: Waterfall (cont.)</vt:lpstr>
      <vt:lpstr>Project management methodologies: Waterfall (cont.) </vt:lpstr>
      <vt:lpstr>Project management methodologies: Waterfall (cont.)</vt:lpstr>
      <vt:lpstr>Project management methodologies: Waterfall vs. Agile</vt:lpstr>
      <vt:lpstr>Key project management skills:  Planning</vt:lpstr>
      <vt:lpstr>Key project management skills:  Planning (cont.)</vt:lpstr>
      <vt:lpstr>Key project management skills:  Scheduling</vt:lpstr>
      <vt:lpstr>Key project management skills:  Scheduling (cont.)</vt:lpstr>
      <vt:lpstr>Key project management skills:  Resource Management </vt:lpstr>
      <vt:lpstr>Key project management skills:  Resource Management (cont.)</vt:lpstr>
      <vt:lpstr>Tools and Software for Project Management</vt:lpstr>
      <vt:lpstr>Tools and Software for Project Management</vt:lpstr>
      <vt:lpstr>Group Discussion Case Study </vt:lpstr>
      <vt:lpstr>Case Study: Discussion Points</vt:lpstr>
      <vt:lpstr>Case Study: Discussion Points</vt:lpstr>
      <vt:lpstr>Summary</vt:lpstr>
      <vt:lpstr>Q&amp;A</vt:lpstr>
      <vt:lpstr>PowerPoint Presentation</vt:lpstr>
      <vt:lpstr>Core Principles of Agile</vt:lpstr>
      <vt:lpstr>Core Principles of Agile (cont.)</vt:lpstr>
      <vt:lpstr>Agile Frameworks</vt:lpstr>
      <vt:lpstr>Video: Agile Scrum Framework</vt:lpstr>
      <vt:lpstr>Workshop Activity 1</vt:lpstr>
      <vt:lpstr>Workshop Activity 2</vt:lpstr>
      <vt:lpstr>Workshop Activity 3:  Open Questions</vt:lpstr>
      <vt:lpstr>Workshop Activity 4: Infographic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332</cp:revision>
  <dcterms:created xsi:type="dcterms:W3CDTF">2009-10-28T23:36:30Z</dcterms:created>
  <dcterms:modified xsi:type="dcterms:W3CDTF">2026-06-01T19:09:11Z</dcterms:modified>
</cp:coreProperties>
</file>