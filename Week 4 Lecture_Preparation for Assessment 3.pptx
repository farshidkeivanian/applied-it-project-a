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57"/>
  </p:notesMasterIdLst>
  <p:handoutMasterIdLst>
    <p:handoutMasterId r:id="rId158"/>
  </p:handoutMasterIdLst>
  <p:sldIdLst>
    <p:sldId id="260" r:id="rId2"/>
    <p:sldId id="286" r:id="rId3"/>
    <p:sldId id="509" r:id="rId4"/>
    <p:sldId id="508" r:id="rId5"/>
    <p:sldId id="392" r:id="rId6"/>
    <p:sldId id="393" r:id="rId7"/>
    <p:sldId id="394" r:id="rId8"/>
    <p:sldId id="395" r:id="rId9"/>
    <p:sldId id="396" r:id="rId10"/>
    <p:sldId id="397" r:id="rId11"/>
    <p:sldId id="398" r:id="rId12"/>
    <p:sldId id="399" r:id="rId13"/>
    <p:sldId id="400" r:id="rId14"/>
    <p:sldId id="401" r:id="rId15"/>
    <p:sldId id="402" r:id="rId16"/>
    <p:sldId id="403" r:id="rId17"/>
    <p:sldId id="404" r:id="rId18"/>
    <p:sldId id="405" r:id="rId19"/>
    <p:sldId id="406" r:id="rId20"/>
    <p:sldId id="407" r:id="rId21"/>
    <p:sldId id="408" r:id="rId22"/>
    <p:sldId id="409" r:id="rId23"/>
    <p:sldId id="410" r:id="rId24"/>
    <p:sldId id="411" r:id="rId25"/>
    <p:sldId id="412" r:id="rId26"/>
    <p:sldId id="413" r:id="rId27"/>
    <p:sldId id="414" r:id="rId28"/>
    <p:sldId id="415" r:id="rId29"/>
    <p:sldId id="416" r:id="rId30"/>
    <p:sldId id="418" r:id="rId31"/>
    <p:sldId id="419" r:id="rId32"/>
    <p:sldId id="420" r:id="rId33"/>
    <p:sldId id="421" r:id="rId34"/>
    <p:sldId id="417"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7" r:id="rId48"/>
    <p:sldId id="438" r:id="rId49"/>
    <p:sldId id="439" r:id="rId50"/>
    <p:sldId id="440" r:id="rId51"/>
    <p:sldId id="441" r:id="rId52"/>
    <p:sldId id="442" r:id="rId53"/>
    <p:sldId id="443" r:id="rId54"/>
    <p:sldId id="444" r:id="rId55"/>
    <p:sldId id="445" r:id="rId56"/>
    <p:sldId id="446" r:id="rId57"/>
    <p:sldId id="447" r:id="rId58"/>
    <p:sldId id="448" r:id="rId59"/>
    <p:sldId id="449" r:id="rId60"/>
    <p:sldId id="434" r:id="rId61"/>
    <p:sldId id="435" r:id="rId62"/>
    <p:sldId id="436" r:id="rId63"/>
    <p:sldId id="450" r:id="rId64"/>
    <p:sldId id="451" r:id="rId65"/>
    <p:sldId id="452" r:id="rId66"/>
    <p:sldId id="453" r:id="rId67"/>
    <p:sldId id="454" r:id="rId68"/>
    <p:sldId id="455" r:id="rId69"/>
    <p:sldId id="456" r:id="rId70"/>
    <p:sldId id="457" r:id="rId71"/>
    <p:sldId id="458" r:id="rId72"/>
    <p:sldId id="459" r:id="rId73"/>
    <p:sldId id="460" r:id="rId74"/>
    <p:sldId id="461" r:id="rId75"/>
    <p:sldId id="462" r:id="rId76"/>
    <p:sldId id="463" r:id="rId77"/>
    <p:sldId id="464" r:id="rId78"/>
    <p:sldId id="465" r:id="rId79"/>
    <p:sldId id="466" r:id="rId80"/>
    <p:sldId id="467" r:id="rId81"/>
    <p:sldId id="468" r:id="rId82"/>
    <p:sldId id="469" r:id="rId83"/>
    <p:sldId id="470" r:id="rId84"/>
    <p:sldId id="471" r:id="rId85"/>
    <p:sldId id="472" r:id="rId86"/>
    <p:sldId id="473" r:id="rId87"/>
    <p:sldId id="474" r:id="rId88"/>
    <p:sldId id="475" r:id="rId89"/>
    <p:sldId id="476" r:id="rId90"/>
    <p:sldId id="477" r:id="rId91"/>
    <p:sldId id="478" r:id="rId92"/>
    <p:sldId id="479" r:id="rId93"/>
    <p:sldId id="480" r:id="rId94"/>
    <p:sldId id="481" r:id="rId95"/>
    <p:sldId id="482" r:id="rId96"/>
    <p:sldId id="485" r:id="rId97"/>
    <p:sldId id="486" r:id="rId98"/>
    <p:sldId id="487" r:id="rId99"/>
    <p:sldId id="488" r:id="rId100"/>
    <p:sldId id="489" r:id="rId101"/>
    <p:sldId id="490" r:id="rId102"/>
    <p:sldId id="491" r:id="rId103"/>
    <p:sldId id="492" r:id="rId104"/>
    <p:sldId id="493" r:id="rId105"/>
    <p:sldId id="494" r:id="rId106"/>
    <p:sldId id="495" r:id="rId107"/>
    <p:sldId id="483" r:id="rId108"/>
    <p:sldId id="484" r:id="rId109"/>
    <p:sldId id="391" r:id="rId110"/>
    <p:sldId id="304" r:id="rId111"/>
    <p:sldId id="305" r:id="rId112"/>
    <p:sldId id="289" r:id="rId113"/>
    <p:sldId id="287" r:id="rId114"/>
    <p:sldId id="290" r:id="rId115"/>
    <p:sldId id="365" r:id="rId116"/>
    <p:sldId id="366" r:id="rId117"/>
    <p:sldId id="367" r:id="rId118"/>
    <p:sldId id="368" r:id="rId119"/>
    <p:sldId id="371" r:id="rId120"/>
    <p:sldId id="372" r:id="rId121"/>
    <p:sldId id="373" r:id="rId122"/>
    <p:sldId id="374" r:id="rId123"/>
    <p:sldId id="375" r:id="rId124"/>
    <p:sldId id="376" r:id="rId125"/>
    <p:sldId id="379" r:id="rId126"/>
    <p:sldId id="377" r:id="rId127"/>
    <p:sldId id="496" r:id="rId128"/>
    <p:sldId id="503" r:id="rId129"/>
    <p:sldId id="504" r:id="rId130"/>
    <p:sldId id="505" r:id="rId131"/>
    <p:sldId id="497" r:id="rId132"/>
    <p:sldId id="498" r:id="rId133"/>
    <p:sldId id="499" r:id="rId134"/>
    <p:sldId id="500" r:id="rId135"/>
    <p:sldId id="501" r:id="rId136"/>
    <p:sldId id="502" r:id="rId137"/>
    <p:sldId id="506" r:id="rId138"/>
    <p:sldId id="507" r:id="rId139"/>
    <p:sldId id="369" r:id="rId140"/>
    <p:sldId id="382" r:id="rId141"/>
    <p:sldId id="383" r:id="rId142"/>
    <p:sldId id="380" r:id="rId143"/>
    <p:sldId id="386" r:id="rId144"/>
    <p:sldId id="381" r:id="rId145"/>
    <p:sldId id="370" r:id="rId146"/>
    <p:sldId id="384" r:id="rId147"/>
    <p:sldId id="387" r:id="rId148"/>
    <p:sldId id="385" r:id="rId149"/>
    <p:sldId id="388" r:id="rId150"/>
    <p:sldId id="292" r:id="rId151"/>
    <p:sldId id="363" r:id="rId152"/>
    <p:sldId id="390" r:id="rId153"/>
    <p:sldId id="364" r:id="rId154"/>
    <p:sldId id="295" r:id="rId155"/>
    <p:sldId id="296" r:id="rId156"/>
  </p:sldIdLst>
  <p:sldSz cx="9144000" cy="6858000" type="screen4x3"/>
  <p:notesSz cx="6858000" cy="9144000"/>
  <p:custDataLst>
    <p:tags r:id="rId159"/>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35F30-5CA7-4946-BCA2-4D42D6683931}" v="4" dt="2022-02-27T23:07:0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41" autoAdjust="0"/>
    <p:restoredTop sz="95714" autoAdjust="0"/>
  </p:normalViewPr>
  <p:slideViewPr>
    <p:cSldViewPr snapToGrid="0" snapToObjects="1">
      <p:cViewPr varScale="1">
        <p:scale>
          <a:sx n="59" d="100"/>
          <a:sy n="59" d="100"/>
        </p:scale>
        <p:origin x="1215" y="261"/>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gs" Target="tags/tag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commentAuthors" Target="commentAuthor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6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McIntosh" userId="80c4542c76bccb85" providerId="LiveId" clId="{E8135F30-5CA7-4946-BCA2-4D42D6683931}"/>
    <pc:docChg chg="undo custSel modSld">
      <pc:chgData name="Tim McIntosh" userId="80c4542c76bccb85" providerId="LiveId" clId="{E8135F30-5CA7-4946-BCA2-4D42D6683931}" dt="2022-02-27T23:09:33.224" v="205" actId="20577"/>
      <pc:docMkLst>
        <pc:docMk/>
      </pc:docMkLst>
      <pc:sldChg chg="modSp mod">
        <pc:chgData name="Tim McIntosh" userId="80c4542c76bccb85" providerId="LiveId" clId="{E8135F30-5CA7-4946-BCA2-4D42D6683931}" dt="2022-02-27T22:37:24.804" v="5" actId="20577"/>
        <pc:sldMkLst>
          <pc:docMk/>
          <pc:sldMk cId="0" sldId="263"/>
        </pc:sldMkLst>
        <pc:spChg chg="mod">
          <ac:chgData name="Tim McIntosh" userId="80c4542c76bccb85" providerId="LiveId" clId="{E8135F30-5CA7-4946-BCA2-4D42D6683931}" dt="2022-02-27T22:36:09.572" v="0" actId="404"/>
          <ac:spMkLst>
            <pc:docMk/>
            <pc:sldMk cId="0" sldId="263"/>
            <ac:spMk id="6146" creationId="{190BDBBE-2518-4DC2-A8A5-7B1347851768}"/>
          </ac:spMkLst>
        </pc:spChg>
        <pc:spChg chg="mod">
          <ac:chgData name="Tim McIntosh" userId="80c4542c76bccb85" providerId="LiveId" clId="{E8135F30-5CA7-4946-BCA2-4D42D6683931}" dt="2022-02-27T22:37:24.804" v="5" actId="20577"/>
          <ac:spMkLst>
            <pc:docMk/>
            <pc:sldMk cId="0" sldId="263"/>
            <ac:spMk id="22531" creationId="{11F364B8-9E55-4D33-84A1-D572CD6C3E86}"/>
          </ac:spMkLst>
        </pc:spChg>
      </pc:sldChg>
      <pc:sldChg chg="modSp mod">
        <pc:chgData name="Tim McIntosh" userId="80c4542c76bccb85" providerId="LiveId" clId="{E8135F30-5CA7-4946-BCA2-4D42D6683931}" dt="2022-02-27T22:45:51.433" v="31" actId="255"/>
        <pc:sldMkLst>
          <pc:docMk/>
          <pc:sldMk cId="0" sldId="264"/>
        </pc:sldMkLst>
        <pc:spChg chg="mod">
          <ac:chgData name="Tim McIntosh" userId="80c4542c76bccb85" providerId="LiveId" clId="{E8135F30-5CA7-4946-BCA2-4D42D6683931}" dt="2022-02-27T22:45:51.433" v="31" actId="255"/>
          <ac:spMkLst>
            <pc:docMk/>
            <pc:sldMk cId="0" sldId="264"/>
            <ac:spMk id="6146" creationId="{23420AC8-E61C-458D-9532-7C3A2E114EAB}"/>
          </ac:spMkLst>
        </pc:spChg>
        <pc:spChg chg="mod">
          <ac:chgData name="Tim McIntosh" userId="80c4542c76bccb85" providerId="LiveId" clId="{E8135F30-5CA7-4946-BCA2-4D42D6683931}" dt="2022-02-27T22:45:39.379" v="30" actId="14100"/>
          <ac:spMkLst>
            <pc:docMk/>
            <pc:sldMk cId="0" sldId="264"/>
            <ac:spMk id="23555" creationId="{2D765F26-F4C3-4C79-A70A-3579B29A9517}"/>
          </ac:spMkLst>
        </pc:spChg>
      </pc:sldChg>
      <pc:sldChg chg="modSp mod">
        <pc:chgData name="Tim McIntosh" userId="80c4542c76bccb85" providerId="LiveId" clId="{E8135F30-5CA7-4946-BCA2-4D42D6683931}" dt="2022-02-27T22:49:07.922" v="125" actId="114"/>
        <pc:sldMkLst>
          <pc:docMk/>
          <pc:sldMk cId="3474458692" sldId="266"/>
        </pc:sldMkLst>
        <pc:spChg chg="mod">
          <ac:chgData name="Tim McIntosh" userId="80c4542c76bccb85" providerId="LiveId" clId="{E8135F30-5CA7-4946-BCA2-4D42D6683931}" dt="2022-02-27T22:49:07.922" v="125" actId="114"/>
          <ac:spMkLst>
            <pc:docMk/>
            <pc:sldMk cId="3474458692" sldId="266"/>
            <ac:spMk id="3" creationId="{2A54259D-0124-4F7C-8EC1-4968F0788F20}"/>
          </ac:spMkLst>
        </pc:spChg>
      </pc:sldChg>
      <pc:sldChg chg="modSp mod">
        <pc:chgData name="Tim McIntosh" userId="80c4542c76bccb85" providerId="LiveId" clId="{E8135F30-5CA7-4946-BCA2-4D42D6683931}" dt="2022-02-27T23:01:15.030" v="173" actId="313"/>
        <pc:sldMkLst>
          <pc:docMk/>
          <pc:sldMk cId="2436612075" sldId="267"/>
        </pc:sldMkLst>
        <pc:spChg chg="mod">
          <ac:chgData name="Tim McIntosh" userId="80c4542c76bccb85" providerId="LiveId" clId="{E8135F30-5CA7-4946-BCA2-4D42D6683931}" dt="2022-02-27T23:01:15.030" v="173" actId="313"/>
          <ac:spMkLst>
            <pc:docMk/>
            <pc:sldMk cId="2436612075" sldId="267"/>
            <ac:spMk id="26627" creationId="{C4946B8A-C445-4267-8FE9-0BEEA53361FB}"/>
          </ac:spMkLst>
        </pc:spChg>
      </pc:sldChg>
      <pc:sldChg chg="modSp mod">
        <pc:chgData name="Tim McIntosh" userId="80c4542c76bccb85" providerId="LiveId" clId="{E8135F30-5CA7-4946-BCA2-4D42D6683931}" dt="2022-02-27T23:07:48.068" v="188" actId="20577"/>
        <pc:sldMkLst>
          <pc:docMk/>
          <pc:sldMk cId="827405938" sldId="270"/>
        </pc:sldMkLst>
        <pc:spChg chg="mod">
          <ac:chgData name="Tim McIntosh" userId="80c4542c76bccb85" providerId="LiveId" clId="{E8135F30-5CA7-4946-BCA2-4D42D6683931}" dt="2022-02-27T23:07:48.068" v="188" actId="20577"/>
          <ac:spMkLst>
            <pc:docMk/>
            <pc:sldMk cId="827405938" sldId="270"/>
            <ac:spMk id="29699" creationId="{6234B5D1-3058-450E-9804-6D29F7E2F534}"/>
          </ac:spMkLst>
        </pc:spChg>
      </pc:sldChg>
      <pc:sldChg chg="modSp mod">
        <pc:chgData name="Tim McIntosh" userId="80c4542c76bccb85" providerId="LiveId" clId="{E8135F30-5CA7-4946-BCA2-4D42D6683931}" dt="2022-02-27T23:08:29.058" v="199" actId="20577"/>
        <pc:sldMkLst>
          <pc:docMk/>
          <pc:sldMk cId="2637239155" sldId="271"/>
        </pc:sldMkLst>
        <pc:spChg chg="mod">
          <ac:chgData name="Tim McIntosh" userId="80c4542c76bccb85" providerId="LiveId" clId="{E8135F30-5CA7-4946-BCA2-4D42D6683931}" dt="2022-02-27T23:08:29.058" v="199" actId="20577"/>
          <ac:spMkLst>
            <pc:docMk/>
            <pc:sldMk cId="2637239155" sldId="271"/>
            <ac:spMk id="3" creationId="{2A54259D-0124-4F7C-8EC1-4968F0788F20}"/>
          </ac:spMkLst>
        </pc:spChg>
      </pc:sldChg>
      <pc:sldChg chg="modSp mod">
        <pc:chgData name="Tim McIntosh" userId="80c4542c76bccb85" providerId="LiveId" clId="{E8135F30-5CA7-4946-BCA2-4D42D6683931}" dt="2022-02-27T23:06:28.642" v="175" actId="20577"/>
        <pc:sldMkLst>
          <pc:docMk/>
          <pc:sldMk cId="3171362680" sldId="272"/>
        </pc:sldMkLst>
        <pc:spChg chg="mod">
          <ac:chgData name="Tim McIntosh" userId="80c4542c76bccb85" providerId="LiveId" clId="{E8135F30-5CA7-4946-BCA2-4D42D6683931}" dt="2022-02-27T23:06:28.642" v="175" actId="20577"/>
          <ac:spMkLst>
            <pc:docMk/>
            <pc:sldMk cId="3171362680" sldId="272"/>
            <ac:spMk id="24579" creationId="{F3DF4269-9F66-4FF8-828C-9294965EF791}"/>
          </ac:spMkLst>
        </pc:spChg>
      </pc:sldChg>
      <pc:sldChg chg="modSp mod">
        <pc:chgData name="Tim McIntosh" userId="80c4542c76bccb85" providerId="LiveId" clId="{E8135F30-5CA7-4946-BCA2-4D42D6683931}" dt="2022-02-27T23:06:36.368" v="176" actId="2711"/>
        <pc:sldMkLst>
          <pc:docMk/>
          <pc:sldMk cId="270522772" sldId="273"/>
        </pc:sldMkLst>
        <pc:spChg chg="mod">
          <ac:chgData name="Tim McIntosh" userId="80c4542c76bccb85" providerId="LiveId" clId="{E8135F30-5CA7-4946-BCA2-4D42D6683931}" dt="2022-02-27T22:39:44.388" v="9" actId="404"/>
          <ac:spMkLst>
            <pc:docMk/>
            <pc:sldMk cId="270522772" sldId="273"/>
            <ac:spMk id="6146" creationId="{C12AEA32-63AB-4568-82D8-6CF1315EBB57}"/>
          </ac:spMkLst>
        </pc:spChg>
        <pc:spChg chg="mod">
          <ac:chgData name="Tim McIntosh" userId="80c4542c76bccb85" providerId="LiveId" clId="{E8135F30-5CA7-4946-BCA2-4D42D6683931}" dt="2022-02-27T23:06:36.368" v="176" actId="2711"/>
          <ac:spMkLst>
            <pc:docMk/>
            <pc:sldMk cId="270522772" sldId="273"/>
            <ac:spMk id="24579" creationId="{F3DF4269-9F66-4FF8-828C-9294965EF791}"/>
          </ac:spMkLst>
        </pc:spChg>
      </pc:sldChg>
      <pc:sldChg chg="modSp mod">
        <pc:chgData name="Tim McIntosh" userId="80c4542c76bccb85" providerId="LiveId" clId="{E8135F30-5CA7-4946-BCA2-4D42D6683931}" dt="2022-02-27T22:37:11.349" v="2" actId="27636"/>
        <pc:sldMkLst>
          <pc:docMk/>
          <pc:sldMk cId="3305548535" sldId="274"/>
        </pc:sldMkLst>
        <pc:spChg chg="mod">
          <ac:chgData name="Tim McIntosh" userId="80c4542c76bccb85" providerId="LiveId" clId="{E8135F30-5CA7-4946-BCA2-4D42D6683931}" dt="2022-02-27T22:37:11.349" v="2" actId="27636"/>
          <ac:spMkLst>
            <pc:docMk/>
            <pc:sldMk cId="3305548535" sldId="274"/>
            <ac:spMk id="6146" creationId="{C12AEA32-63AB-4568-82D8-6CF1315EBB57}"/>
          </ac:spMkLst>
        </pc:spChg>
      </pc:sldChg>
      <pc:sldChg chg="modSp mod">
        <pc:chgData name="Tim McIntosh" userId="80c4542c76bccb85" providerId="LiveId" clId="{E8135F30-5CA7-4946-BCA2-4D42D6683931}" dt="2022-02-27T23:07:00.993" v="179" actId="14100"/>
        <pc:sldMkLst>
          <pc:docMk/>
          <pc:sldMk cId="1710677828" sldId="275"/>
        </pc:sldMkLst>
        <pc:spChg chg="mod">
          <ac:chgData name="Tim McIntosh" userId="80c4542c76bccb85" providerId="LiveId" clId="{E8135F30-5CA7-4946-BCA2-4D42D6683931}" dt="2022-02-27T22:40:00.073" v="10" actId="255"/>
          <ac:spMkLst>
            <pc:docMk/>
            <pc:sldMk cId="1710677828" sldId="275"/>
            <ac:spMk id="6146" creationId="{C12AEA32-63AB-4568-82D8-6CF1315EBB57}"/>
          </ac:spMkLst>
        </pc:spChg>
        <pc:spChg chg="mod">
          <ac:chgData name="Tim McIntosh" userId="80c4542c76bccb85" providerId="LiveId" clId="{E8135F30-5CA7-4946-BCA2-4D42D6683931}" dt="2022-02-27T23:07:00.993" v="179" actId="14100"/>
          <ac:spMkLst>
            <pc:docMk/>
            <pc:sldMk cId="1710677828" sldId="275"/>
            <ac:spMk id="24579" creationId="{F3DF4269-9F66-4FF8-828C-9294965EF791}"/>
          </ac:spMkLst>
        </pc:spChg>
      </pc:sldChg>
      <pc:sldChg chg="modSp mod">
        <pc:chgData name="Tim McIntosh" userId="80c4542c76bccb85" providerId="LiveId" clId="{E8135F30-5CA7-4946-BCA2-4D42D6683931}" dt="2022-02-27T23:07:08.295" v="180" actId="2711"/>
        <pc:sldMkLst>
          <pc:docMk/>
          <pc:sldMk cId="1968581442" sldId="276"/>
        </pc:sldMkLst>
        <pc:spChg chg="mod">
          <ac:chgData name="Tim McIntosh" userId="80c4542c76bccb85" providerId="LiveId" clId="{E8135F30-5CA7-4946-BCA2-4D42D6683931}" dt="2022-02-27T23:07:08.295" v="180" actId="2711"/>
          <ac:spMkLst>
            <pc:docMk/>
            <pc:sldMk cId="1968581442" sldId="276"/>
            <ac:spMk id="24579" creationId="{F3DF4269-9F66-4FF8-828C-9294965EF791}"/>
          </ac:spMkLst>
        </pc:spChg>
      </pc:sldChg>
      <pc:sldChg chg="modSp mod">
        <pc:chgData name="Tim McIntosh" userId="80c4542c76bccb85" providerId="LiveId" clId="{E8135F30-5CA7-4946-BCA2-4D42D6683931}" dt="2022-02-27T22:40:35.299" v="11" actId="255"/>
        <pc:sldMkLst>
          <pc:docMk/>
          <pc:sldMk cId="1987218006" sldId="278"/>
        </pc:sldMkLst>
        <pc:spChg chg="mod">
          <ac:chgData name="Tim McIntosh" userId="80c4542c76bccb85" providerId="LiveId" clId="{E8135F30-5CA7-4946-BCA2-4D42D6683931}" dt="2022-02-27T22:40:35.299" v="11" actId="255"/>
          <ac:spMkLst>
            <pc:docMk/>
            <pc:sldMk cId="1987218006" sldId="278"/>
            <ac:spMk id="22531" creationId="{11F364B8-9E55-4D33-84A1-D572CD6C3E86}"/>
          </ac:spMkLst>
        </pc:spChg>
      </pc:sldChg>
      <pc:sldChg chg="modSp mod">
        <pc:chgData name="Tim McIntosh" userId="80c4542c76bccb85" providerId="LiveId" clId="{E8135F30-5CA7-4946-BCA2-4D42D6683931}" dt="2022-02-27T23:09:33.224" v="205" actId="20577"/>
        <pc:sldMkLst>
          <pc:docMk/>
          <pc:sldMk cId="1363475473" sldId="280"/>
        </pc:sldMkLst>
        <pc:spChg chg="mod">
          <ac:chgData name="Tim McIntosh" userId="80c4542c76bccb85" providerId="LiveId" clId="{E8135F30-5CA7-4946-BCA2-4D42D6683931}" dt="2022-02-27T23:09:33.224" v="205" actId="20577"/>
          <ac:spMkLst>
            <pc:docMk/>
            <pc:sldMk cId="1363475473" sldId="280"/>
            <ac:spMk id="6146" creationId="{23420AC8-E61C-458D-9532-7C3A2E114EAB}"/>
          </ac:spMkLst>
        </pc:spChg>
      </pc:sldChg>
      <pc:sldChg chg="modSp mod">
        <pc:chgData name="Tim McIntosh" userId="80c4542c76bccb85" providerId="LiveId" clId="{E8135F30-5CA7-4946-BCA2-4D42D6683931}" dt="2022-02-27T22:46:19.911" v="93" actId="20577"/>
        <pc:sldMkLst>
          <pc:docMk/>
          <pc:sldMk cId="3265590034" sldId="283"/>
        </pc:sldMkLst>
        <pc:spChg chg="mod">
          <ac:chgData name="Tim McIntosh" userId="80c4542c76bccb85" providerId="LiveId" clId="{E8135F30-5CA7-4946-BCA2-4D42D6683931}" dt="2022-02-27T22:46:19.911" v="93" actId="20577"/>
          <ac:spMkLst>
            <pc:docMk/>
            <pc:sldMk cId="3265590034" sldId="283"/>
            <ac:spMk id="23555" creationId="{2D765F26-F4C3-4C79-A70A-3579B29A9517}"/>
          </ac:spMkLst>
        </pc:spChg>
      </pc:sldChg>
      <pc:sldChg chg="modSp mod">
        <pc:chgData name="Tim McIntosh" userId="80c4542c76bccb85" providerId="LiveId" clId="{E8135F30-5CA7-4946-BCA2-4D42D6683931}" dt="2022-02-27T22:37:51.620" v="6" actId="255"/>
        <pc:sldMkLst>
          <pc:docMk/>
          <pc:sldMk cId="2228163726" sldId="286"/>
        </pc:sldMkLst>
        <pc:spChg chg="mod">
          <ac:chgData name="Tim McIntosh" userId="80c4542c76bccb85" providerId="LiveId" clId="{E8135F30-5CA7-4946-BCA2-4D42D6683931}" dt="2022-02-27T22:37:51.620" v="6" actId="255"/>
          <ac:spMkLst>
            <pc:docMk/>
            <pc:sldMk cId="2228163726" sldId="286"/>
            <ac:spMk id="22531" creationId="{11F364B8-9E55-4D33-84A1-D572CD6C3E86}"/>
          </ac:spMkLst>
        </pc:spChg>
      </pc:sldChg>
      <pc:sldChg chg="modSp mod">
        <pc:chgData name="Tim McIntosh" userId="80c4542c76bccb85" providerId="LiveId" clId="{E8135F30-5CA7-4946-BCA2-4D42D6683931}" dt="2022-02-27T22:45:09.402" v="27" actId="20577"/>
        <pc:sldMkLst>
          <pc:docMk/>
          <pc:sldMk cId="1472689301" sldId="314"/>
        </pc:sldMkLst>
        <pc:spChg chg="mod">
          <ac:chgData name="Tim McIntosh" userId="80c4542c76bccb85" providerId="LiveId" clId="{E8135F30-5CA7-4946-BCA2-4D42D6683931}" dt="2022-02-27T22:45:09.402" v="27" actId="20577"/>
          <ac:spMkLst>
            <pc:docMk/>
            <pc:sldMk cId="1472689301" sldId="314"/>
            <ac:spMk id="22531" creationId="{11F364B8-9E55-4D33-84A1-D572CD6C3E86}"/>
          </ac:spMkLst>
        </pc:spChg>
      </pc:sldChg>
    </pc:docChg>
  </pc:docChgLst>
  <pc:docChgLst>
    <pc:chgData name="Tim McIntosh" userId="80c4542c76bccb85" providerId="LiveId" clId="{DB6B0DCF-422C-4353-A4F8-7E457B1A928B}"/>
    <pc:docChg chg="undo custSel addSld delSld modSld delMainMaster modMainMaster">
      <pc:chgData name="Tim McIntosh" userId="80c4542c76bccb85" providerId="LiveId" clId="{DB6B0DCF-422C-4353-A4F8-7E457B1A928B}" dt="2022-02-14T08:27:05.043" v="3576"/>
      <pc:docMkLst>
        <pc:docMk/>
      </pc:docMkLst>
      <pc:sldChg chg="modSp mod">
        <pc:chgData name="Tim McIntosh" userId="80c4542c76bccb85" providerId="LiveId" clId="{DB6B0DCF-422C-4353-A4F8-7E457B1A928B}" dt="2022-02-14T08:25:00.153" v="3545" actId="20577"/>
        <pc:sldMkLst>
          <pc:docMk/>
          <pc:sldMk cId="0" sldId="260"/>
        </pc:sldMkLst>
        <pc:spChg chg="mod">
          <ac:chgData name="Tim McIntosh" userId="80c4542c76bccb85" providerId="LiveId" clId="{DB6B0DCF-422C-4353-A4F8-7E457B1A928B}" dt="2022-02-12T01:55:19.366" v="217" actId="20577"/>
          <ac:spMkLst>
            <pc:docMk/>
            <pc:sldMk cId="0" sldId="260"/>
            <ac:spMk id="18434" creationId="{7011D958-7B17-483C-B07B-1B379F607C55}"/>
          </ac:spMkLst>
        </pc:spChg>
        <pc:spChg chg="mod">
          <ac:chgData name="Tim McIntosh" userId="80c4542c76bccb85" providerId="LiveId" clId="{DB6B0DCF-422C-4353-A4F8-7E457B1A928B}" dt="2022-02-14T08:25:00.153" v="3545" actId="20577"/>
          <ac:spMkLst>
            <pc:docMk/>
            <pc:sldMk cId="0" sldId="260"/>
            <ac:spMk id="18436" creationId="{B585785C-A56D-4F54-80A4-ABEA8B982C83}"/>
          </ac:spMkLst>
        </pc:spChg>
      </pc:sldChg>
      <pc:sldChg chg="modSp mod modAnim">
        <pc:chgData name="Tim McIntosh" userId="80c4542c76bccb85" providerId="LiveId" clId="{DB6B0DCF-422C-4353-A4F8-7E457B1A928B}" dt="2022-02-14T08:25:05.024" v="3546"/>
        <pc:sldMkLst>
          <pc:docMk/>
          <pc:sldMk cId="0" sldId="261"/>
        </pc:sldMkLst>
        <pc:spChg chg="mod">
          <ac:chgData name="Tim McIntosh" userId="80c4542c76bccb85" providerId="LiveId" clId="{DB6B0DCF-422C-4353-A4F8-7E457B1A928B}" dt="2022-02-14T08:25:05.024" v="3546"/>
          <ac:spMkLst>
            <pc:docMk/>
            <pc:sldMk cId="0" sldId="261"/>
            <ac:spMk id="2" creationId="{888A6C54-4984-4FE2-A1F7-5E325BF9B63A}"/>
          </ac:spMkLst>
        </pc:spChg>
        <pc:spChg chg="mod">
          <ac:chgData name="Tim McIntosh" userId="80c4542c76bccb85" providerId="LiveId" clId="{DB6B0DCF-422C-4353-A4F8-7E457B1A928B}" dt="2022-02-12T01:54:27.753" v="215" actId="20577"/>
          <ac:spMkLst>
            <pc:docMk/>
            <pc:sldMk cId="0" sldId="261"/>
            <ac:spMk id="3" creationId="{47E3A1D5-959A-49F9-AB1B-63563D526DDF}"/>
          </ac:spMkLst>
        </pc:spChg>
      </pc:sldChg>
      <pc:sldChg chg="addSp delSp modSp mod">
        <pc:chgData name="Tim McIntosh" userId="80c4542c76bccb85" providerId="LiveId" clId="{DB6B0DCF-422C-4353-A4F8-7E457B1A928B}" dt="2022-02-14T08:25:08.942" v="3547"/>
        <pc:sldMkLst>
          <pc:docMk/>
          <pc:sldMk cId="0" sldId="263"/>
        </pc:sldMkLst>
        <pc:spChg chg="mod">
          <ac:chgData name="Tim McIntosh" userId="80c4542c76bccb85" providerId="LiveId" clId="{DB6B0DCF-422C-4353-A4F8-7E457B1A928B}" dt="2022-02-14T08:25:08.942" v="3547"/>
          <ac:spMkLst>
            <pc:docMk/>
            <pc:sldMk cId="0" sldId="263"/>
            <ac:spMk id="2" creationId="{72275A1D-7D1B-4E23-BF1C-0D30325F6EE6}"/>
          </ac:spMkLst>
        </pc:spChg>
        <pc:graphicFrameChg chg="del mod">
          <ac:chgData name="Tim McIntosh" userId="80c4542c76bccb85" providerId="LiveId" clId="{DB6B0DCF-422C-4353-A4F8-7E457B1A928B}" dt="2022-02-12T05:15:30.757" v="1766"/>
          <ac:graphicFrameMkLst>
            <pc:docMk/>
            <pc:sldMk cId="0" sldId="263"/>
            <ac:graphicFrameMk id="3" creationId="{AAA47554-90B5-425F-832C-8D173D0EFD8E}"/>
          </ac:graphicFrameMkLst>
        </pc:graphicFrameChg>
        <pc:graphicFrameChg chg="add del mod">
          <ac:chgData name="Tim McIntosh" userId="80c4542c76bccb85" providerId="LiveId" clId="{DB6B0DCF-422C-4353-A4F8-7E457B1A928B}" dt="2022-02-12T05:15:30.757" v="1766"/>
          <ac:graphicFrameMkLst>
            <pc:docMk/>
            <pc:sldMk cId="0" sldId="263"/>
            <ac:graphicFrameMk id="4" creationId="{75A6B5F1-3951-4A20-981B-FA32B085647C}"/>
          </ac:graphicFrameMkLst>
        </pc:graphicFrameChg>
        <pc:graphicFrameChg chg="add del mod">
          <ac:chgData name="Tim McIntosh" userId="80c4542c76bccb85" providerId="LiveId" clId="{DB6B0DCF-422C-4353-A4F8-7E457B1A928B}" dt="2022-02-12T05:15:30.757" v="1766"/>
          <ac:graphicFrameMkLst>
            <pc:docMk/>
            <pc:sldMk cId="0" sldId="263"/>
            <ac:graphicFrameMk id="5" creationId="{2C7752D3-E0D0-42EB-91A2-E77C03357F82}"/>
          </ac:graphicFrameMkLst>
        </pc:graphicFrameChg>
        <pc:graphicFrameChg chg="add del mod">
          <ac:chgData name="Tim McIntosh" userId="80c4542c76bccb85" providerId="LiveId" clId="{DB6B0DCF-422C-4353-A4F8-7E457B1A928B}" dt="2022-02-12T05:15:30.757" v="1766"/>
          <ac:graphicFrameMkLst>
            <pc:docMk/>
            <pc:sldMk cId="0" sldId="263"/>
            <ac:graphicFrameMk id="6" creationId="{788F2770-15FD-45CB-9E47-2356AE914965}"/>
          </ac:graphicFrameMkLst>
        </pc:graphicFrameChg>
        <pc:graphicFrameChg chg="add del mod">
          <ac:chgData name="Tim McIntosh" userId="80c4542c76bccb85" providerId="LiveId" clId="{DB6B0DCF-422C-4353-A4F8-7E457B1A928B}" dt="2022-02-12T05:15:30.757" v="1766"/>
          <ac:graphicFrameMkLst>
            <pc:docMk/>
            <pc:sldMk cId="0" sldId="263"/>
            <ac:graphicFrameMk id="7" creationId="{9DD7A245-6BC3-4AEF-A55A-A31D18A78206}"/>
          </ac:graphicFrameMkLst>
        </pc:graphicFrameChg>
        <pc:graphicFrameChg chg="add del mod">
          <ac:chgData name="Tim McIntosh" userId="80c4542c76bccb85" providerId="LiveId" clId="{DB6B0DCF-422C-4353-A4F8-7E457B1A928B}" dt="2022-02-12T05:15:30.757" v="1766"/>
          <ac:graphicFrameMkLst>
            <pc:docMk/>
            <pc:sldMk cId="0" sldId="263"/>
            <ac:graphicFrameMk id="8" creationId="{5F49BDE1-E628-4DEB-9461-CC5B7595F261}"/>
          </ac:graphicFrameMkLst>
        </pc:graphicFrameChg>
        <pc:graphicFrameChg chg="add del mod">
          <ac:chgData name="Tim McIntosh" userId="80c4542c76bccb85" providerId="LiveId" clId="{DB6B0DCF-422C-4353-A4F8-7E457B1A928B}" dt="2022-02-12T05:15:30.757" v="1766"/>
          <ac:graphicFrameMkLst>
            <pc:docMk/>
            <pc:sldMk cId="0" sldId="263"/>
            <ac:graphicFrameMk id="9" creationId="{8E2DE260-BF3A-4E5C-888E-E3AD104FA430}"/>
          </ac:graphicFrameMkLst>
        </pc:graphicFrameChg>
        <pc:graphicFrameChg chg="add del mod">
          <ac:chgData name="Tim McIntosh" userId="80c4542c76bccb85" providerId="LiveId" clId="{DB6B0DCF-422C-4353-A4F8-7E457B1A928B}" dt="2022-02-12T05:15:30.757" v="1766"/>
          <ac:graphicFrameMkLst>
            <pc:docMk/>
            <pc:sldMk cId="0" sldId="263"/>
            <ac:graphicFrameMk id="10" creationId="{B508BF46-BC35-4AF8-BA2F-26ACE2FA3377}"/>
          </ac:graphicFrameMkLst>
        </pc:graphicFrameChg>
        <pc:graphicFrameChg chg="add del mod">
          <ac:chgData name="Tim McIntosh" userId="80c4542c76bccb85" providerId="LiveId" clId="{DB6B0DCF-422C-4353-A4F8-7E457B1A928B}" dt="2022-02-12T05:15:30.757" v="1766"/>
          <ac:graphicFrameMkLst>
            <pc:docMk/>
            <pc:sldMk cId="0" sldId="263"/>
            <ac:graphicFrameMk id="11" creationId="{CD1522F5-1A97-4216-982E-88577D9C3854}"/>
          </ac:graphicFrameMkLst>
        </pc:graphicFrameChg>
        <pc:graphicFrameChg chg="add del mod">
          <ac:chgData name="Tim McIntosh" userId="80c4542c76bccb85" providerId="LiveId" clId="{DB6B0DCF-422C-4353-A4F8-7E457B1A928B}" dt="2022-02-12T05:15:30.757" v="1766"/>
          <ac:graphicFrameMkLst>
            <pc:docMk/>
            <pc:sldMk cId="0" sldId="263"/>
            <ac:graphicFrameMk id="12" creationId="{D40152F1-2F95-401A-8547-50B0B3CB315E}"/>
          </ac:graphicFrameMkLst>
        </pc:graphicFrameChg>
        <pc:graphicFrameChg chg="add del mod">
          <ac:chgData name="Tim McIntosh" userId="80c4542c76bccb85" providerId="LiveId" clId="{DB6B0DCF-422C-4353-A4F8-7E457B1A928B}" dt="2022-02-12T05:15:30.757" v="1766"/>
          <ac:graphicFrameMkLst>
            <pc:docMk/>
            <pc:sldMk cId="0" sldId="263"/>
            <ac:graphicFrameMk id="13" creationId="{52198001-8D95-4209-A9AA-448C0B05D4C8}"/>
          </ac:graphicFrameMkLst>
        </pc:graphicFrameChg>
        <pc:graphicFrameChg chg="add del mod">
          <ac:chgData name="Tim McIntosh" userId="80c4542c76bccb85" providerId="LiveId" clId="{DB6B0DCF-422C-4353-A4F8-7E457B1A928B}" dt="2022-02-12T05:15:30.757" v="1766"/>
          <ac:graphicFrameMkLst>
            <pc:docMk/>
            <pc:sldMk cId="0" sldId="263"/>
            <ac:graphicFrameMk id="14" creationId="{483F1F5D-9724-46F1-9382-85C9ACF23B6F}"/>
          </ac:graphicFrameMkLst>
        </pc:graphicFrameChg>
        <pc:graphicFrameChg chg="add del mod">
          <ac:chgData name="Tim McIntosh" userId="80c4542c76bccb85" providerId="LiveId" clId="{DB6B0DCF-422C-4353-A4F8-7E457B1A928B}" dt="2022-02-12T05:15:30.757" v="1766"/>
          <ac:graphicFrameMkLst>
            <pc:docMk/>
            <pc:sldMk cId="0" sldId="263"/>
            <ac:graphicFrameMk id="15" creationId="{34433375-F247-4CE3-9FA6-ABC58FF4B7BB}"/>
          </ac:graphicFrameMkLst>
        </pc:graphicFrameChg>
      </pc:sldChg>
      <pc:sldChg chg="modSp mod">
        <pc:chgData name="Tim McIntosh" userId="80c4542c76bccb85" providerId="LiveId" clId="{DB6B0DCF-422C-4353-A4F8-7E457B1A928B}" dt="2022-02-14T08:26:23.505" v="3562"/>
        <pc:sldMkLst>
          <pc:docMk/>
          <pc:sldMk cId="0" sldId="264"/>
        </pc:sldMkLst>
        <pc:spChg chg="mod">
          <ac:chgData name="Tim McIntosh" userId="80c4542c76bccb85" providerId="LiveId" clId="{DB6B0DCF-422C-4353-A4F8-7E457B1A928B}" dt="2022-02-14T08:26:23.505" v="3562"/>
          <ac:spMkLst>
            <pc:docMk/>
            <pc:sldMk cId="0" sldId="264"/>
            <ac:spMk id="2" creationId="{46717AA1-E9E7-4C43-9D90-AC614EC90791}"/>
          </ac:spMkLst>
        </pc:spChg>
        <pc:spChg chg="mod">
          <ac:chgData name="Tim McIntosh" userId="80c4542c76bccb85" providerId="LiveId" clId="{DB6B0DCF-422C-4353-A4F8-7E457B1A928B}" dt="2022-02-12T02:24:12.739" v="741" actId="255"/>
          <ac:spMkLst>
            <pc:docMk/>
            <pc:sldMk cId="0" sldId="264"/>
            <ac:spMk id="6146" creationId="{23420AC8-E61C-458D-9532-7C3A2E114EAB}"/>
          </ac:spMkLst>
        </pc:spChg>
      </pc:sldChg>
      <pc:sldChg chg="modSp mod">
        <pc:chgData name="Tim McIntosh" userId="80c4542c76bccb85" providerId="LiveId" clId="{DB6B0DCF-422C-4353-A4F8-7E457B1A928B}" dt="2022-02-14T08:26:29.961" v="3564"/>
        <pc:sldMkLst>
          <pc:docMk/>
          <pc:sldMk cId="2078771512" sldId="265"/>
        </pc:sldMkLst>
        <pc:spChg chg="mod">
          <ac:chgData name="Tim McIntosh" userId="80c4542c76bccb85" providerId="LiveId" clId="{DB6B0DCF-422C-4353-A4F8-7E457B1A928B}" dt="2022-02-14T08:26:29.961" v="3564"/>
          <ac:spMkLst>
            <pc:docMk/>
            <pc:sldMk cId="2078771512" sldId="265"/>
            <ac:spMk id="2" creationId="{8E146CB4-A571-4314-8366-1907D5010492}"/>
          </ac:spMkLst>
        </pc:spChg>
      </pc:sldChg>
      <pc:sldChg chg="modSp mod">
        <pc:chgData name="Tim McIntosh" userId="80c4542c76bccb85" providerId="LiveId" clId="{DB6B0DCF-422C-4353-A4F8-7E457B1A928B}" dt="2022-02-14T08:26:32.362" v="3565"/>
        <pc:sldMkLst>
          <pc:docMk/>
          <pc:sldMk cId="3474458692" sldId="266"/>
        </pc:sldMkLst>
        <pc:spChg chg="mod">
          <ac:chgData name="Tim McIntosh" userId="80c4542c76bccb85" providerId="LiveId" clId="{DB6B0DCF-422C-4353-A4F8-7E457B1A928B}" dt="2022-02-14T08:26:32.362" v="3565"/>
          <ac:spMkLst>
            <pc:docMk/>
            <pc:sldMk cId="3474458692" sldId="266"/>
            <ac:spMk id="2" creationId="{96614E2B-3819-4631-BA16-DAAAE805593B}"/>
          </ac:spMkLst>
        </pc:spChg>
      </pc:sldChg>
      <pc:sldChg chg="modSp mod">
        <pc:chgData name="Tim McIntosh" userId="80c4542c76bccb85" providerId="LiveId" clId="{DB6B0DCF-422C-4353-A4F8-7E457B1A928B}" dt="2022-02-14T08:26:35.490" v="3566"/>
        <pc:sldMkLst>
          <pc:docMk/>
          <pc:sldMk cId="2436612075" sldId="267"/>
        </pc:sldMkLst>
        <pc:spChg chg="mod">
          <ac:chgData name="Tim McIntosh" userId="80c4542c76bccb85" providerId="LiveId" clId="{DB6B0DCF-422C-4353-A4F8-7E457B1A928B}" dt="2022-02-14T08:26:35.490" v="3566"/>
          <ac:spMkLst>
            <pc:docMk/>
            <pc:sldMk cId="2436612075" sldId="267"/>
            <ac:spMk id="2" creationId="{19388A29-881D-41F3-87C8-44FF9ED36BFF}"/>
          </ac:spMkLst>
        </pc:spChg>
      </pc:sldChg>
      <pc:sldChg chg="modSp mod">
        <pc:chgData name="Tim McIntosh" userId="80c4542c76bccb85" providerId="LiveId" clId="{DB6B0DCF-422C-4353-A4F8-7E457B1A928B}" dt="2022-02-14T08:26:38.618" v="3567"/>
        <pc:sldMkLst>
          <pc:docMk/>
          <pc:sldMk cId="3124040730" sldId="268"/>
        </pc:sldMkLst>
        <pc:spChg chg="mod">
          <ac:chgData name="Tim McIntosh" userId="80c4542c76bccb85" providerId="LiveId" clId="{DB6B0DCF-422C-4353-A4F8-7E457B1A928B}" dt="2022-02-14T08:26:38.618" v="3567"/>
          <ac:spMkLst>
            <pc:docMk/>
            <pc:sldMk cId="3124040730" sldId="268"/>
            <ac:spMk id="2" creationId="{049D23F1-A8BA-456D-B994-C1B860EFB956}"/>
          </ac:spMkLst>
        </pc:spChg>
      </pc:sldChg>
      <pc:sldChg chg="modSp mod">
        <pc:chgData name="Tim McIntosh" userId="80c4542c76bccb85" providerId="LiveId" clId="{DB6B0DCF-422C-4353-A4F8-7E457B1A928B}" dt="2022-02-14T08:26:41.707" v="3568"/>
        <pc:sldMkLst>
          <pc:docMk/>
          <pc:sldMk cId="827405938" sldId="270"/>
        </pc:sldMkLst>
        <pc:spChg chg="mod">
          <ac:chgData name="Tim McIntosh" userId="80c4542c76bccb85" providerId="LiveId" clId="{DB6B0DCF-422C-4353-A4F8-7E457B1A928B}" dt="2022-02-14T08:26:41.707" v="3568"/>
          <ac:spMkLst>
            <pc:docMk/>
            <pc:sldMk cId="827405938" sldId="270"/>
            <ac:spMk id="2" creationId="{43987819-6D44-4A2E-8E3F-B21177806249}"/>
          </ac:spMkLst>
        </pc:spChg>
      </pc:sldChg>
      <pc:sldChg chg="modSp mod">
        <pc:chgData name="Tim McIntosh" userId="80c4542c76bccb85" providerId="LiveId" clId="{DB6B0DCF-422C-4353-A4F8-7E457B1A928B}" dt="2022-02-14T08:26:44.331" v="3569"/>
        <pc:sldMkLst>
          <pc:docMk/>
          <pc:sldMk cId="2637239155" sldId="271"/>
        </pc:sldMkLst>
        <pc:spChg chg="mod">
          <ac:chgData name="Tim McIntosh" userId="80c4542c76bccb85" providerId="LiveId" clId="{DB6B0DCF-422C-4353-A4F8-7E457B1A928B}" dt="2022-02-14T08:26:44.331" v="3569"/>
          <ac:spMkLst>
            <pc:docMk/>
            <pc:sldMk cId="2637239155" sldId="271"/>
            <ac:spMk id="2" creationId="{96614E2B-3819-4631-BA16-DAAAE805593B}"/>
          </ac:spMkLst>
        </pc:spChg>
      </pc:sldChg>
      <pc:sldChg chg="add del">
        <pc:chgData name="Tim McIntosh" userId="80c4542c76bccb85" providerId="LiveId" clId="{DB6B0DCF-422C-4353-A4F8-7E457B1A928B}" dt="2022-02-12T05:16:46.018" v="1925" actId="2696"/>
        <pc:sldMkLst>
          <pc:docMk/>
          <pc:sldMk cId="503074749" sldId="272"/>
        </pc:sldMkLst>
      </pc:sldChg>
      <pc:sldChg chg="del">
        <pc:chgData name="Tim McIntosh" userId="80c4542c76bccb85" providerId="LiveId" clId="{DB6B0DCF-422C-4353-A4F8-7E457B1A928B}" dt="2022-02-12T05:16:32.626" v="1923" actId="2696"/>
        <pc:sldMkLst>
          <pc:docMk/>
          <pc:sldMk cId="2602595201" sldId="272"/>
        </pc:sldMkLst>
      </pc:sldChg>
      <pc:sldChg chg="modSp add mod">
        <pc:chgData name="Tim McIntosh" userId="80c4542c76bccb85" providerId="LiveId" clId="{DB6B0DCF-422C-4353-A4F8-7E457B1A928B}" dt="2022-02-14T08:25:54.352" v="3552"/>
        <pc:sldMkLst>
          <pc:docMk/>
          <pc:sldMk cId="3171362680" sldId="272"/>
        </pc:sldMkLst>
        <pc:spChg chg="mod">
          <ac:chgData name="Tim McIntosh" userId="80c4542c76bccb85" providerId="LiveId" clId="{DB6B0DCF-422C-4353-A4F8-7E457B1A928B}" dt="2022-02-14T08:25:54.352" v="3552"/>
          <ac:spMkLst>
            <pc:docMk/>
            <pc:sldMk cId="3171362680" sldId="272"/>
            <ac:spMk id="2" creationId="{8E146CB4-A571-4314-8366-1907D5010492}"/>
          </ac:spMkLst>
        </pc:spChg>
      </pc:sldChg>
      <pc:sldChg chg="modSp add mod">
        <pc:chgData name="Tim McIntosh" userId="80c4542c76bccb85" providerId="LiveId" clId="{DB6B0DCF-422C-4353-A4F8-7E457B1A928B}" dt="2022-02-14T08:25:56.911" v="3553"/>
        <pc:sldMkLst>
          <pc:docMk/>
          <pc:sldMk cId="270522772" sldId="273"/>
        </pc:sldMkLst>
        <pc:spChg chg="mod">
          <ac:chgData name="Tim McIntosh" userId="80c4542c76bccb85" providerId="LiveId" clId="{DB6B0DCF-422C-4353-A4F8-7E457B1A928B}" dt="2022-02-14T08:25:56.911" v="3553"/>
          <ac:spMkLst>
            <pc:docMk/>
            <pc:sldMk cId="270522772" sldId="273"/>
            <ac:spMk id="2" creationId="{8E146CB4-A571-4314-8366-1907D5010492}"/>
          </ac:spMkLst>
        </pc:spChg>
      </pc:sldChg>
      <pc:sldChg chg="del">
        <pc:chgData name="Tim McIntosh" userId="80c4542c76bccb85" providerId="LiveId" clId="{DB6B0DCF-422C-4353-A4F8-7E457B1A928B}" dt="2022-02-12T05:16:32.626" v="1923" actId="2696"/>
        <pc:sldMkLst>
          <pc:docMk/>
          <pc:sldMk cId="1093417344" sldId="273"/>
        </pc:sldMkLst>
      </pc:sldChg>
      <pc:sldChg chg="add del">
        <pc:chgData name="Tim McIntosh" userId="80c4542c76bccb85" providerId="LiveId" clId="{DB6B0DCF-422C-4353-A4F8-7E457B1A928B}" dt="2022-02-12T05:16:46.018" v="1925" actId="2696"/>
        <pc:sldMkLst>
          <pc:docMk/>
          <pc:sldMk cId="3315111992" sldId="273"/>
        </pc:sldMkLst>
      </pc:sldChg>
      <pc:sldChg chg="add del">
        <pc:chgData name="Tim McIntosh" userId="80c4542c76bccb85" providerId="LiveId" clId="{DB6B0DCF-422C-4353-A4F8-7E457B1A928B}" dt="2022-02-12T05:16:46.018" v="1925" actId="2696"/>
        <pc:sldMkLst>
          <pc:docMk/>
          <pc:sldMk cId="412851474" sldId="274"/>
        </pc:sldMkLst>
      </pc:sldChg>
      <pc:sldChg chg="del">
        <pc:chgData name="Tim McIntosh" userId="80c4542c76bccb85" providerId="LiveId" clId="{DB6B0DCF-422C-4353-A4F8-7E457B1A928B}" dt="2022-02-12T05:16:32.626" v="1923" actId="2696"/>
        <pc:sldMkLst>
          <pc:docMk/>
          <pc:sldMk cId="1577203092" sldId="274"/>
        </pc:sldMkLst>
      </pc:sldChg>
      <pc:sldChg chg="modSp add mod">
        <pc:chgData name="Tim McIntosh" userId="80c4542c76bccb85" providerId="LiveId" clId="{DB6B0DCF-422C-4353-A4F8-7E457B1A928B}" dt="2022-02-14T08:25:48.495" v="3551"/>
        <pc:sldMkLst>
          <pc:docMk/>
          <pc:sldMk cId="3305548535" sldId="274"/>
        </pc:sldMkLst>
        <pc:spChg chg="mod">
          <ac:chgData name="Tim McIntosh" userId="80c4542c76bccb85" providerId="LiveId" clId="{DB6B0DCF-422C-4353-A4F8-7E457B1A928B}" dt="2022-02-14T08:25:48.495" v="3551"/>
          <ac:spMkLst>
            <pc:docMk/>
            <pc:sldMk cId="3305548535" sldId="274"/>
            <ac:spMk id="2" creationId="{8E146CB4-A571-4314-8366-1907D5010492}"/>
          </ac:spMkLst>
        </pc:spChg>
      </pc:sldChg>
      <pc:sldChg chg="modSp add mod">
        <pc:chgData name="Tim McIntosh" userId="80c4542c76bccb85" providerId="LiveId" clId="{DB6B0DCF-422C-4353-A4F8-7E457B1A928B}" dt="2022-02-14T08:25:59.473" v="3554"/>
        <pc:sldMkLst>
          <pc:docMk/>
          <pc:sldMk cId="1710677828" sldId="275"/>
        </pc:sldMkLst>
        <pc:spChg chg="mod">
          <ac:chgData name="Tim McIntosh" userId="80c4542c76bccb85" providerId="LiveId" clId="{DB6B0DCF-422C-4353-A4F8-7E457B1A928B}" dt="2022-02-14T08:25:59.473" v="3554"/>
          <ac:spMkLst>
            <pc:docMk/>
            <pc:sldMk cId="1710677828" sldId="275"/>
            <ac:spMk id="2" creationId="{8E146CB4-A571-4314-8366-1907D5010492}"/>
          </ac:spMkLst>
        </pc:spChg>
      </pc:sldChg>
      <pc:sldChg chg="add del">
        <pc:chgData name="Tim McIntosh" userId="80c4542c76bccb85" providerId="LiveId" clId="{DB6B0DCF-422C-4353-A4F8-7E457B1A928B}" dt="2022-02-12T05:16:46.018" v="1925" actId="2696"/>
        <pc:sldMkLst>
          <pc:docMk/>
          <pc:sldMk cId="2344319240" sldId="275"/>
        </pc:sldMkLst>
      </pc:sldChg>
      <pc:sldChg chg="del">
        <pc:chgData name="Tim McIntosh" userId="80c4542c76bccb85" providerId="LiveId" clId="{DB6B0DCF-422C-4353-A4F8-7E457B1A928B}" dt="2022-02-12T05:16:32.626" v="1923" actId="2696"/>
        <pc:sldMkLst>
          <pc:docMk/>
          <pc:sldMk cId="2446935371" sldId="275"/>
        </pc:sldMkLst>
      </pc:sldChg>
      <pc:sldChg chg="del">
        <pc:chgData name="Tim McIntosh" userId="80c4542c76bccb85" providerId="LiveId" clId="{DB6B0DCF-422C-4353-A4F8-7E457B1A928B}" dt="2022-02-12T05:16:32.626" v="1923" actId="2696"/>
        <pc:sldMkLst>
          <pc:docMk/>
          <pc:sldMk cId="642007176" sldId="276"/>
        </pc:sldMkLst>
      </pc:sldChg>
      <pc:sldChg chg="modSp add mod">
        <pc:chgData name="Tim McIntosh" userId="80c4542c76bccb85" providerId="LiveId" clId="{DB6B0DCF-422C-4353-A4F8-7E457B1A928B}" dt="2022-02-14T08:26:02.720" v="3555"/>
        <pc:sldMkLst>
          <pc:docMk/>
          <pc:sldMk cId="1968581442" sldId="276"/>
        </pc:sldMkLst>
        <pc:spChg chg="mod">
          <ac:chgData name="Tim McIntosh" userId="80c4542c76bccb85" providerId="LiveId" clId="{DB6B0DCF-422C-4353-A4F8-7E457B1A928B}" dt="2022-02-14T08:26:02.720" v="3555"/>
          <ac:spMkLst>
            <pc:docMk/>
            <pc:sldMk cId="1968581442" sldId="276"/>
            <ac:spMk id="2" creationId="{8E146CB4-A571-4314-8366-1907D5010492}"/>
          </ac:spMkLst>
        </pc:spChg>
      </pc:sldChg>
      <pc:sldChg chg="add del">
        <pc:chgData name="Tim McIntosh" userId="80c4542c76bccb85" providerId="LiveId" clId="{DB6B0DCF-422C-4353-A4F8-7E457B1A928B}" dt="2022-02-12T05:16:46.018" v="1925" actId="2696"/>
        <pc:sldMkLst>
          <pc:docMk/>
          <pc:sldMk cId="4125751430" sldId="276"/>
        </pc:sldMkLst>
      </pc:sldChg>
      <pc:sldChg chg="modSp mod">
        <pc:chgData name="Tim McIntosh" userId="80c4542c76bccb85" providerId="LiveId" clId="{DB6B0DCF-422C-4353-A4F8-7E457B1A928B}" dt="2022-02-14T08:26:50.653" v="3571"/>
        <pc:sldMkLst>
          <pc:docMk/>
          <pc:sldMk cId="2634690509" sldId="277"/>
        </pc:sldMkLst>
        <pc:spChg chg="mod">
          <ac:chgData name="Tim McIntosh" userId="80c4542c76bccb85" providerId="LiveId" clId="{DB6B0DCF-422C-4353-A4F8-7E457B1A928B}" dt="2022-02-14T08:26:50.653" v="3571"/>
          <ac:spMkLst>
            <pc:docMk/>
            <pc:sldMk cId="2634690509" sldId="277"/>
            <ac:spMk id="2" creationId="{46717AA1-E9E7-4C43-9D90-AC614EC90791}"/>
          </ac:spMkLst>
        </pc:spChg>
      </pc:sldChg>
      <pc:sldChg chg="modSp mod">
        <pc:chgData name="Tim McIntosh" userId="80c4542c76bccb85" providerId="LiveId" clId="{DB6B0DCF-422C-4353-A4F8-7E457B1A928B}" dt="2022-02-14T08:26:06.273" v="3556"/>
        <pc:sldMkLst>
          <pc:docMk/>
          <pc:sldMk cId="1987218006" sldId="278"/>
        </pc:sldMkLst>
        <pc:spChg chg="mod">
          <ac:chgData name="Tim McIntosh" userId="80c4542c76bccb85" providerId="LiveId" clId="{DB6B0DCF-422C-4353-A4F8-7E457B1A928B}" dt="2022-02-14T08:26:06.273" v="3556"/>
          <ac:spMkLst>
            <pc:docMk/>
            <pc:sldMk cId="1987218006" sldId="278"/>
            <ac:spMk id="2" creationId="{72275A1D-7D1B-4E23-BF1C-0D30325F6EE6}"/>
          </ac:spMkLst>
        </pc:spChg>
      </pc:sldChg>
      <pc:sldChg chg="modSp mod">
        <pc:chgData name="Tim McIntosh" userId="80c4542c76bccb85" providerId="LiveId" clId="{DB6B0DCF-422C-4353-A4F8-7E457B1A928B}" dt="2022-02-14T08:26:12.792" v="3558"/>
        <pc:sldMkLst>
          <pc:docMk/>
          <pc:sldMk cId="2480749934" sldId="279"/>
        </pc:sldMkLst>
        <pc:spChg chg="mod">
          <ac:chgData name="Tim McIntosh" userId="80c4542c76bccb85" providerId="LiveId" clId="{DB6B0DCF-422C-4353-A4F8-7E457B1A928B}" dt="2022-02-14T08:26:12.792" v="3558"/>
          <ac:spMkLst>
            <pc:docMk/>
            <pc:sldMk cId="2480749934" sldId="279"/>
            <ac:spMk id="2" creationId="{72275A1D-7D1B-4E23-BF1C-0D30325F6EE6}"/>
          </ac:spMkLst>
        </pc:spChg>
      </pc:sldChg>
      <pc:sldChg chg="modSp mod">
        <pc:chgData name="Tim McIntosh" userId="80c4542c76bccb85" providerId="LiveId" clId="{DB6B0DCF-422C-4353-A4F8-7E457B1A928B}" dt="2022-02-14T08:27:05.043" v="3576"/>
        <pc:sldMkLst>
          <pc:docMk/>
          <pc:sldMk cId="1363475473" sldId="280"/>
        </pc:sldMkLst>
        <pc:spChg chg="mod">
          <ac:chgData name="Tim McIntosh" userId="80c4542c76bccb85" providerId="LiveId" clId="{DB6B0DCF-422C-4353-A4F8-7E457B1A928B}" dt="2022-02-14T08:27:05.043" v="3576"/>
          <ac:spMkLst>
            <pc:docMk/>
            <pc:sldMk cId="1363475473" sldId="280"/>
            <ac:spMk id="2" creationId="{46717AA1-E9E7-4C43-9D90-AC614EC90791}"/>
          </ac:spMkLst>
        </pc:spChg>
        <pc:spChg chg="mod">
          <ac:chgData name="Tim McIntosh" userId="80c4542c76bccb85" providerId="LiveId" clId="{DB6B0DCF-422C-4353-A4F8-7E457B1A928B}" dt="2022-02-12T05:48:50.720" v="2637" actId="20577"/>
          <ac:spMkLst>
            <pc:docMk/>
            <pc:sldMk cId="1363475473" sldId="280"/>
            <ac:spMk id="23555" creationId="{2D765F26-F4C3-4C79-A70A-3579B29A9517}"/>
          </ac:spMkLst>
        </pc:spChg>
      </pc:sldChg>
      <pc:sldChg chg="modSp mod">
        <pc:chgData name="Tim McIntosh" userId="80c4542c76bccb85" providerId="LiveId" clId="{DB6B0DCF-422C-4353-A4F8-7E457B1A928B}" dt="2022-02-14T08:26:47.996" v="3570"/>
        <pc:sldMkLst>
          <pc:docMk/>
          <pc:sldMk cId="2873145535" sldId="281"/>
        </pc:sldMkLst>
        <pc:spChg chg="mod">
          <ac:chgData name="Tim McIntosh" userId="80c4542c76bccb85" providerId="LiveId" clId="{DB6B0DCF-422C-4353-A4F8-7E457B1A928B}" dt="2022-02-14T08:26:47.996" v="3570"/>
          <ac:spMkLst>
            <pc:docMk/>
            <pc:sldMk cId="2873145535" sldId="281"/>
            <ac:spMk id="2" creationId="{96614E2B-3819-4631-BA16-DAAAE805593B}"/>
          </ac:spMkLst>
        </pc:spChg>
      </pc:sldChg>
      <pc:sldChg chg="modSp add mod">
        <pc:chgData name="Tim McIntosh" userId="80c4542c76bccb85" providerId="LiveId" clId="{DB6B0DCF-422C-4353-A4F8-7E457B1A928B}" dt="2022-02-14T08:26:09.480" v="3557"/>
        <pc:sldMkLst>
          <pc:docMk/>
          <pc:sldMk cId="1747997659" sldId="282"/>
        </pc:sldMkLst>
        <pc:spChg chg="mod">
          <ac:chgData name="Tim McIntosh" userId="80c4542c76bccb85" providerId="LiveId" clId="{DB6B0DCF-422C-4353-A4F8-7E457B1A928B}" dt="2022-02-14T08:26:09.480" v="3557"/>
          <ac:spMkLst>
            <pc:docMk/>
            <pc:sldMk cId="1747997659" sldId="282"/>
            <ac:spMk id="2" creationId="{72275A1D-7D1B-4E23-BF1C-0D30325F6EE6}"/>
          </ac:spMkLst>
        </pc:spChg>
        <pc:spChg chg="mod">
          <ac:chgData name="Tim McIntosh" userId="80c4542c76bccb85" providerId="LiveId" clId="{DB6B0DCF-422C-4353-A4F8-7E457B1A928B}" dt="2022-02-12T01:56:01.081" v="258" actId="20577"/>
          <ac:spMkLst>
            <pc:docMk/>
            <pc:sldMk cId="1747997659" sldId="282"/>
            <ac:spMk id="6146" creationId="{190BDBBE-2518-4DC2-A8A5-7B1347851768}"/>
          </ac:spMkLst>
        </pc:spChg>
        <pc:spChg chg="mod">
          <ac:chgData name="Tim McIntosh" userId="80c4542c76bccb85" providerId="LiveId" clId="{DB6B0DCF-422C-4353-A4F8-7E457B1A928B}" dt="2022-02-12T02:03:21.303" v="540" actId="255"/>
          <ac:spMkLst>
            <pc:docMk/>
            <pc:sldMk cId="1747997659" sldId="282"/>
            <ac:spMk id="22531" creationId="{11F364B8-9E55-4D33-84A1-D572CD6C3E86}"/>
          </ac:spMkLst>
        </pc:spChg>
      </pc:sldChg>
      <pc:sldChg chg="modSp add del mod">
        <pc:chgData name="Tim McIntosh" userId="80c4542c76bccb85" providerId="LiveId" clId="{DB6B0DCF-422C-4353-A4F8-7E457B1A928B}" dt="2022-02-12T02:23:41.686" v="704" actId="2696"/>
        <pc:sldMkLst>
          <pc:docMk/>
          <pc:sldMk cId="1632801012" sldId="283"/>
        </pc:sldMkLst>
        <pc:spChg chg="mod">
          <ac:chgData name="Tim McIntosh" userId="80c4542c76bccb85" providerId="LiveId" clId="{DB6B0DCF-422C-4353-A4F8-7E457B1A928B}" dt="2022-02-12T02:04:18.181" v="616" actId="20577"/>
          <ac:spMkLst>
            <pc:docMk/>
            <pc:sldMk cId="1632801012" sldId="283"/>
            <ac:spMk id="6146" creationId="{190BDBBE-2518-4DC2-A8A5-7B1347851768}"/>
          </ac:spMkLst>
        </pc:spChg>
        <pc:spChg chg="mod">
          <ac:chgData name="Tim McIntosh" userId="80c4542c76bccb85" providerId="LiveId" clId="{DB6B0DCF-422C-4353-A4F8-7E457B1A928B}" dt="2022-02-12T02:23:37.672" v="703" actId="20577"/>
          <ac:spMkLst>
            <pc:docMk/>
            <pc:sldMk cId="1632801012" sldId="283"/>
            <ac:spMk id="22531" creationId="{11F364B8-9E55-4D33-84A1-D572CD6C3E86}"/>
          </ac:spMkLst>
        </pc:spChg>
      </pc:sldChg>
      <pc:sldChg chg="modSp add mod">
        <pc:chgData name="Tim McIntosh" userId="80c4542c76bccb85" providerId="LiveId" clId="{DB6B0DCF-422C-4353-A4F8-7E457B1A928B}" dt="2022-02-14T08:26:26.193" v="3563"/>
        <pc:sldMkLst>
          <pc:docMk/>
          <pc:sldMk cId="3265590034" sldId="283"/>
        </pc:sldMkLst>
        <pc:spChg chg="mod">
          <ac:chgData name="Tim McIntosh" userId="80c4542c76bccb85" providerId="LiveId" clId="{DB6B0DCF-422C-4353-A4F8-7E457B1A928B}" dt="2022-02-14T08:26:26.193" v="3563"/>
          <ac:spMkLst>
            <pc:docMk/>
            <pc:sldMk cId="3265590034" sldId="283"/>
            <ac:spMk id="2" creationId="{46717AA1-E9E7-4C43-9D90-AC614EC90791}"/>
          </ac:spMkLst>
        </pc:spChg>
        <pc:spChg chg="mod">
          <ac:chgData name="Tim McIntosh" userId="80c4542c76bccb85" providerId="LiveId" clId="{DB6B0DCF-422C-4353-A4F8-7E457B1A928B}" dt="2022-02-12T02:24:47.497" v="765" actId="20577"/>
          <ac:spMkLst>
            <pc:docMk/>
            <pc:sldMk cId="3265590034" sldId="283"/>
            <ac:spMk id="6146" creationId="{23420AC8-E61C-458D-9532-7C3A2E114EAB}"/>
          </ac:spMkLst>
        </pc:spChg>
        <pc:spChg chg="mod">
          <ac:chgData name="Tim McIntosh" userId="80c4542c76bccb85" providerId="LiveId" clId="{DB6B0DCF-422C-4353-A4F8-7E457B1A928B}" dt="2022-02-12T05:17:13.470" v="1927" actId="11"/>
          <ac:spMkLst>
            <pc:docMk/>
            <pc:sldMk cId="3265590034" sldId="283"/>
            <ac:spMk id="23555" creationId="{2D765F26-F4C3-4C79-A70A-3579B29A9517}"/>
          </ac:spMkLst>
        </pc:spChg>
      </pc:sldChg>
      <pc:sldChg chg="modSp add mod">
        <pc:chgData name="Tim McIntosh" userId="80c4542c76bccb85" providerId="LiveId" clId="{DB6B0DCF-422C-4353-A4F8-7E457B1A928B}" dt="2022-02-14T08:26:53.172" v="3572"/>
        <pc:sldMkLst>
          <pc:docMk/>
          <pc:sldMk cId="953012337" sldId="284"/>
        </pc:sldMkLst>
        <pc:spChg chg="mod">
          <ac:chgData name="Tim McIntosh" userId="80c4542c76bccb85" providerId="LiveId" clId="{DB6B0DCF-422C-4353-A4F8-7E457B1A928B}" dt="2022-02-14T08:26:53.172" v="3572"/>
          <ac:spMkLst>
            <pc:docMk/>
            <pc:sldMk cId="953012337" sldId="284"/>
            <ac:spMk id="2" creationId="{46717AA1-E9E7-4C43-9D90-AC614EC90791}"/>
          </ac:spMkLst>
        </pc:spChg>
        <pc:spChg chg="mod">
          <ac:chgData name="Tim McIntosh" userId="80c4542c76bccb85" providerId="LiveId" clId="{DB6B0DCF-422C-4353-A4F8-7E457B1A928B}" dt="2022-02-12T02:53:17.472" v="1121" actId="20577"/>
          <ac:spMkLst>
            <pc:docMk/>
            <pc:sldMk cId="953012337" sldId="284"/>
            <ac:spMk id="6146" creationId="{23420AC8-E61C-458D-9532-7C3A2E114EAB}"/>
          </ac:spMkLst>
        </pc:spChg>
        <pc:spChg chg="mod">
          <ac:chgData name="Tim McIntosh" userId="80c4542c76bccb85" providerId="LiveId" clId="{DB6B0DCF-422C-4353-A4F8-7E457B1A928B}" dt="2022-02-12T02:59:48.717" v="1757" actId="20577"/>
          <ac:spMkLst>
            <pc:docMk/>
            <pc:sldMk cId="953012337" sldId="284"/>
            <ac:spMk id="23555" creationId="{2D765F26-F4C3-4C79-A70A-3579B29A9517}"/>
          </ac:spMkLst>
        </pc:spChg>
      </pc:sldChg>
      <pc:sldChg chg="modSp add del mod">
        <pc:chgData name="Tim McIntosh" userId="80c4542c76bccb85" providerId="LiveId" clId="{DB6B0DCF-422C-4353-A4F8-7E457B1A928B}" dt="2022-02-14T08:26:56.563" v="3573"/>
        <pc:sldMkLst>
          <pc:docMk/>
          <pc:sldMk cId="3230552907" sldId="285"/>
        </pc:sldMkLst>
        <pc:spChg chg="mod">
          <ac:chgData name="Tim McIntosh" userId="80c4542c76bccb85" providerId="LiveId" clId="{DB6B0DCF-422C-4353-A4F8-7E457B1A928B}" dt="2022-02-14T08:26:56.563" v="3573"/>
          <ac:spMkLst>
            <pc:docMk/>
            <pc:sldMk cId="3230552907" sldId="285"/>
            <ac:spMk id="2" creationId="{46717AA1-E9E7-4C43-9D90-AC614EC90791}"/>
          </ac:spMkLst>
        </pc:spChg>
        <pc:spChg chg="mod">
          <ac:chgData name="Tim McIntosh" userId="80c4542c76bccb85" providerId="LiveId" clId="{DB6B0DCF-422C-4353-A4F8-7E457B1A928B}" dt="2022-02-12T05:17:37.143" v="1963" actId="20577"/>
          <ac:spMkLst>
            <pc:docMk/>
            <pc:sldMk cId="3230552907" sldId="285"/>
            <ac:spMk id="6146" creationId="{23420AC8-E61C-458D-9532-7C3A2E114EAB}"/>
          </ac:spMkLst>
        </pc:spChg>
        <pc:spChg chg="mod">
          <ac:chgData name="Tim McIntosh" userId="80c4542c76bccb85" providerId="LiveId" clId="{DB6B0DCF-422C-4353-A4F8-7E457B1A928B}" dt="2022-02-12T06:28:08.793" v="3494" actId="20577"/>
          <ac:spMkLst>
            <pc:docMk/>
            <pc:sldMk cId="3230552907" sldId="285"/>
            <ac:spMk id="23555" creationId="{2D765F26-F4C3-4C79-A70A-3579B29A9517}"/>
          </ac:spMkLst>
        </pc:spChg>
      </pc:sldChg>
      <pc:sldChg chg="modSp add mod">
        <pc:chgData name="Tim McIntosh" userId="80c4542c76bccb85" providerId="LiveId" clId="{DB6B0DCF-422C-4353-A4F8-7E457B1A928B}" dt="2022-02-12T05:16:14.889" v="1922" actId="11"/>
        <pc:sldMkLst>
          <pc:docMk/>
          <pc:sldMk cId="2228163726" sldId="286"/>
        </pc:sldMkLst>
        <pc:spChg chg="mod">
          <ac:chgData name="Tim McIntosh" userId="80c4542c76bccb85" providerId="LiveId" clId="{DB6B0DCF-422C-4353-A4F8-7E457B1A928B}" dt="2022-02-12T05:15:40.816" v="1787" actId="20577"/>
          <ac:spMkLst>
            <pc:docMk/>
            <pc:sldMk cId="2228163726" sldId="286"/>
            <ac:spMk id="6146" creationId="{190BDBBE-2518-4DC2-A8A5-7B1347851768}"/>
          </ac:spMkLst>
        </pc:spChg>
        <pc:spChg chg="mod">
          <ac:chgData name="Tim McIntosh" userId="80c4542c76bccb85" providerId="LiveId" clId="{DB6B0DCF-422C-4353-A4F8-7E457B1A928B}" dt="2022-02-12T05:16:14.889" v="1922" actId="11"/>
          <ac:spMkLst>
            <pc:docMk/>
            <pc:sldMk cId="2228163726" sldId="286"/>
            <ac:spMk id="22531" creationId="{11F364B8-9E55-4D33-84A1-D572CD6C3E86}"/>
          </ac:spMkLst>
        </pc:spChg>
      </pc:sldChg>
      <pc:sldChg chg="add del">
        <pc:chgData name="Tim McIntosh" userId="80c4542c76bccb85" providerId="LiveId" clId="{DB6B0DCF-422C-4353-A4F8-7E457B1A928B}" dt="2022-02-12T05:43:12.119" v="2257" actId="2696"/>
        <pc:sldMkLst>
          <pc:docMk/>
          <pc:sldMk cId="771953093" sldId="287"/>
        </pc:sldMkLst>
      </pc:sldChg>
      <pc:sldChg chg="modSp add mod">
        <pc:chgData name="Tim McIntosh" userId="80c4542c76bccb85" providerId="LiveId" clId="{DB6B0DCF-422C-4353-A4F8-7E457B1A928B}" dt="2022-02-14T08:26:59.020" v="3574"/>
        <pc:sldMkLst>
          <pc:docMk/>
          <pc:sldMk cId="1196611232" sldId="287"/>
        </pc:sldMkLst>
        <pc:spChg chg="mod">
          <ac:chgData name="Tim McIntosh" userId="80c4542c76bccb85" providerId="LiveId" clId="{DB6B0DCF-422C-4353-A4F8-7E457B1A928B}" dt="2022-02-14T08:26:59.020" v="3574"/>
          <ac:spMkLst>
            <pc:docMk/>
            <pc:sldMk cId="1196611232" sldId="287"/>
            <ac:spMk id="2" creationId="{46717AA1-E9E7-4C43-9D90-AC614EC90791}"/>
          </ac:spMkLst>
        </pc:spChg>
        <pc:spChg chg="mod">
          <ac:chgData name="Tim McIntosh" userId="80c4542c76bccb85" providerId="LiveId" clId="{DB6B0DCF-422C-4353-A4F8-7E457B1A928B}" dt="2022-02-12T05:52:37.143" v="2776" actId="20577"/>
          <ac:spMkLst>
            <pc:docMk/>
            <pc:sldMk cId="1196611232" sldId="287"/>
            <ac:spMk id="6146" creationId="{23420AC8-E61C-458D-9532-7C3A2E114EAB}"/>
          </ac:spMkLst>
        </pc:spChg>
        <pc:spChg chg="mod">
          <ac:chgData name="Tim McIntosh" userId="80c4542c76bccb85" providerId="LiveId" clId="{DB6B0DCF-422C-4353-A4F8-7E457B1A928B}" dt="2022-02-12T05:53:35.170" v="2958" actId="11"/>
          <ac:spMkLst>
            <pc:docMk/>
            <pc:sldMk cId="1196611232" sldId="287"/>
            <ac:spMk id="23555" creationId="{2D765F26-F4C3-4C79-A70A-3579B29A9517}"/>
          </ac:spMkLst>
        </pc:spChg>
      </pc:sldChg>
      <pc:sldChg chg="modSp add del mod">
        <pc:chgData name="Tim McIntosh" userId="80c4542c76bccb85" providerId="LiveId" clId="{DB6B0DCF-422C-4353-A4F8-7E457B1A928B}" dt="2022-02-12T06:08:44.434" v="3092" actId="2696"/>
        <pc:sldMkLst>
          <pc:docMk/>
          <pc:sldMk cId="4052069835" sldId="288"/>
        </pc:sldMkLst>
        <pc:spChg chg="mod">
          <ac:chgData name="Tim McIntosh" userId="80c4542c76bccb85" providerId="LiveId" clId="{DB6B0DCF-422C-4353-A4F8-7E457B1A928B}" dt="2022-02-12T05:54:06.957" v="3076" actId="20577"/>
          <ac:spMkLst>
            <pc:docMk/>
            <pc:sldMk cId="4052069835" sldId="288"/>
            <ac:spMk id="23555" creationId="{2D765F26-F4C3-4C79-A70A-3579B29A9517}"/>
          </ac:spMkLst>
        </pc:spChg>
      </pc:sldChg>
      <pc:sldChg chg="addSp delSp modSp add mod">
        <pc:chgData name="Tim McIntosh" userId="80c4542c76bccb85" providerId="LiveId" clId="{DB6B0DCF-422C-4353-A4F8-7E457B1A928B}" dt="2022-02-14T08:27:01.583" v="3575"/>
        <pc:sldMkLst>
          <pc:docMk/>
          <pc:sldMk cId="869496650" sldId="289"/>
        </pc:sldMkLst>
        <pc:spChg chg="mod">
          <ac:chgData name="Tim McIntosh" userId="80c4542c76bccb85" providerId="LiveId" clId="{DB6B0DCF-422C-4353-A4F8-7E457B1A928B}" dt="2022-02-14T08:27:01.583" v="3575"/>
          <ac:spMkLst>
            <pc:docMk/>
            <pc:sldMk cId="869496650" sldId="289"/>
            <ac:spMk id="2" creationId="{46717AA1-E9E7-4C43-9D90-AC614EC90791}"/>
          </ac:spMkLst>
        </pc:spChg>
        <pc:spChg chg="add del mod">
          <ac:chgData name="Tim McIntosh" userId="80c4542c76bccb85" providerId="LiveId" clId="{DB6B0DCF-422C-4353-A4F8-7E457B1A928B}" dt="2022-02-12T05:54:20.589" v="3079" actId="478"/>
          <ac:spMkLst>
            <pc:docMk/>
            <pc:sldMk cId="869496650" sldId="289"/>
            <ac:spMk id="3" creationId="{16DE7AA4-2367-4C8D-ABF8-AFF2045507B5}"/>
          </ac:spMkLst>
        </pc:spChg>
        <pc:spChg chg="add del mod">
          <ac:chgData name="Tim McIntosh" userId="80c4542c76bccb85" providerId="LiveId" clId="{DB6B0DCF-422C-4353-A4F8-7E457B1A928B}" dt="2022-02-12T05:54:27.790" v="3081" actId="478"/>
          <ac:spMkLst>
            <pc:docMk/>
            <pc:sldMk cId="869496650" sldId="289"/>
            <ac:spMk id="5" creationId="{ED16F417-4F4F-42E2-89F6-C1E692E12C29}"/>
          </ac:spMkLst>
        </pc:spChg>
        <pc:spChg chg="del">
          <ac:chgData name="Tim McIntosh" userId="80c4542c76bccb85" providerId="LiveId" clId="{DB6B0DCF-422C-4353-A4F8-7E457B1A928B}" dt="2022-02-12T05:54:23.412" v="3080" actId="478"/>
          <ac:spMkLst>
            <pc:docMk/>
            <pc:sldMk cId="869496650" sldId="289"/>
            <ac:spMk id="6146" creationId="{23420AC8-E61C-458D-9532-7C3A2E114EAB}"/>
          </ac:spMkLst>
        </pc:spChg>
        <pc:spChg chg="del">
          <ac:chgData name="Tim McIntosh" userId="80c4542c76bccb85" providerId="LiveId" clId="{DB6B0DCF-422C-4353-A4F8-7E457B1A928B}" dt="2022-02-12T05:54:18.021" v="3078" actId="478"/>
          <ac:spMkLst>
            <pc:docMk/>
            <pc:sldMk cId="869496650" sldId="289"/>
            <ac:spMk id="23555" creationId="{2D765F26-F4C3-4C79-A70A-3579B29A9517}"/>
          </ac:spMkLst>
        </pc:spChg>
        <pc:picChg chg="add mod">
          <ac:chgData name="Tim McIntosh" userId="80c4542c76bccb85" providerId="LiveId" clId="{DB6B0DCF-422C-4353-A4F8-7E457B1A928B}" dt="2022-02-12T05:56:47.444" v="3091" actId="1076"/>
          <ac:picMkLst>
            <pc:docMk/>
            <pc:sldMk cId="869496650" sldId="289"/>
            <ac:picMk id="7" creationId="{E2CB0594-1FBA-4ACE-B352-DE8902D424B5}"/>
          </ac:picMkLst>
        </pc:picChg>
        <pc:picChg chg="add del mod">
          <ac:chgData name="Tim McIntosh" userId="80c4542c76bccb85" providerId="LiveId" clId="{DB6B0DCF-422C-4353-A4F8-7E457B1A928B}" dt="2022-02-12T05:56:20.143" v="3087" actId="478"/>
          <ac:picMkLst>
            <pc:docMk/>
            <pc:sldMk cId="869496650" sldId="289"/>
            <ac:picMk id="9" creationId="{C0403EC1-5DF7-4CD5-951A-DADCA03E5636}"/>
          </ac:picMkLst>
        </pc:picChg>
        <pc:picChg chg="add mod">
          <ac:chgData name="Tim McIntosh" userId="80c4542c76bccb85" providerId="LiveId" clId="{DB6B0DCF-422C-4353-A4F8-7E457B1A928B}" dt="2022-02-12T05:56:43.242" v="3089" actId="1076"/>
          <ac:picMkLst>
            <pc:docMk/>
            <pc:sldMk cId="869496650" sldId="289"/>
            <ac:picMk id="11" creationId="{2176D69D-69A5-4844-982D-E51CEF8DD19F}"/>
          </ac:picMkLst>
        </pc:picChg>
      </pc:sldChg>
      <pc:sldChg chg="modSp add mod">
        <pc:chgData name="Tim McIntosh" userId="80c4542c76bccb85" providerId="LiveId" clId="{DB6B0DCF-422C-4353-A4F8-7E457B1A928B}" dt="2022-02-14T08:25:23.519" v="3548"/>
        <pc:sldMkLst>
          <pc:docMk/>
          <pc:sldMk cId="704369733" sldId="290"/>
        </pc:sldMkLst>
        <pc:spChg chg="mod">
          <ac:chgData name="Tim McIntosh" userId="80c4542c76bccb85" providerId="LiveId" clId="{DB6B0DCF-422C-4353-A4F8-7E457B1A928B}" dt="2022-02-14T08:25:23.519" v="3548"/>
          <ac:spMkLst>
            <pc:docMk/>
            <pc:sldMk cId="704369733" sldId="290"/>
            <ac:spMk id="2" creationId="{72275A1D-7D1B-4E23-BF1C-0D30325F6EE6}"/>
          </ac:spMkLst>
        </pc:spChg>
      </pc:sldChg>
      <pc:sldChg chg="modSp add mod">
        <pc:chgData name="Tim McIntosh" userId="80c4542c76bccb85" providerId="LiveId" clId="{DB6B0DCF-422C-4353-A4F8-7E457B1A928B}" dt="2022-02-14T08:25:34.213" v="3550"/>
        <pc:sldMkLst>
          <pc:docMk/>
          <pc:sldMk cId="2322794807" sldId="291"/>
        </pc:sldMkLst>
        <pc:spChg chg="mod">
          <ac:chgData name="Tim McIntosh" userId="80c4542c76bccb85" providerId="LiveId" clId="{DB6B0DCF-422C-4353-A4F8-7E457B1A928B}" dt="2022-02-14T08:25:34.213" v="3550"/>
          <ac:spMkLst>
            <pc:docMk/>
            <pc:sldMk cId="2322794807" sldId="291"/>
            <ac:spMk id="2" creationId="{72275A1D-7D1B-4E23-BF1C-0D30325F6EE6}"/>
          </ac:spMkLst>
        </pc:spChg>
        <pc:spChg chg="mod">
          <ac:chgData name="Tim McIntosh" userId="80c4542c76bccb85" providerId="LiveId" clId="{DB6B0DCF-422C-4353-A4F8-7E457B1A928B}" dt="2022-02-14T08:25:32.078" v="3549" actId="1076"/>
          <ac:spMkLst>
            <pc:docMk/>
            <pc:sldMk cId="2322794807" sldId="291"/>
            <ac:spMk id="5" creationId="{1C5CC246-7355-4614-AB6C-AD183AAD8A78}"/>
          </ac:spMkLst>
        </pc:spChg>
      </pc:sldChg>
      <pc:sldChg chg="modSp add mod">
        <pc:chgData name="Tim McIntosh" userId="80c4542c76bccb85" providerId="LiveId" clId="{DB6B0DCF-422C-4353-A4F8-7E457B1A928B}" dt="2022-02-14T08:26:15.426" v="3559"/>
        <pc:sldMkLst>
          <pc:docMk/>
          <pc:sldMk cId="2705798789" sldId="292"/>
        </pc:sldMkLst>
        <pc:spChg chg="mod">
          <ac:chgData name="Tim McIntosh" userId="80c4542c76bccb85" providerId="LiveId" clId="{DB6B0DCF-422C-4353-A4F8-7E457B1A928B}" dt="2022-02-14T08:26:15.426" v="3559"/>
          <ac:spMkLst>
            <pc:docMk/>
            <pc:sldMk cId="2705798789" sldId="292"/>
            <ac:spMk id="2" creationId="{72275A1D-7D1B-4E23-BF1C-0D30325F6EE6}"/>
          </ac:spMkLst>
        </pc:spChg>
      </pc:sldChg>
      <pc:sldChg chg="modSp add mod">
        <pc:chgData name="Tim McIntosh" userId="80c4542c76bccb85" providerId="LiveId" clId="{DB6B0DCF-422C-4353-A4F8-7E457B1A928B}" dt="2022-02-14T08:26:17.825" v="3560"/>
        <pc:sldMkLst>
          <pc:docMk/>
          <pc:sldMk cId="511951508" sldId="293"/>
        </pc:sldMkLst>
        <pc:spChg chg="mod">
          <ac:chgData name="Tim McIntosh" userId="80c4542c76bccb85" providerId="LiveId" clId="{DB6B0DCF-422C-4353-A4F8-7E457B1A928B}" dt="2022-02-14T08:26:17.825" v="3560"/>
          <ac:spMkLst>
            <pc:docMk/>
            <pc:sldMk cId="511951508" sldId="293"/>
            <ac:spMk id="2" creationId="{72275A1D-7D1B-4E23-BF1C-0D30325F6EE6}"/>
          </ac:spMkLst>
        </pc:spChg>
      </pc:sldChg>
      <pc:sldChg chg="modSp add mod">
        <pc:chgData name="Tim McIntosh" userId="80c4542c76bccb85" providerId="LiveId" clId="{DB6B0DCF-422C-4353-A4F8-7E457B1A928B}" dt="2022-02-14T08:26:21.273" v="3561"/>
        <pc:sldMkLst>
          <pc:docMk/>
          <pc:sldMk cId="1472689301" sldId="314"/>
        </pc:sldMkLst>
        <pc:spChg chg="mod">
          <ac:chgData name="Tim McIntosh" userId="80c4542c76bccb85" providerId="LiveId" clId="{DB6B0DCF-422C-4353-A4F8-7E457B1A928B}" dt="2022-02-14T08:26:21.273" v="3561"/>
          <ac:spMkLst>
            <pc:docMk/>
            <pc:sldMk cId="1472689301" sldId="314"/>
            <ac:spMk id="2" creationId="{72275A1D-7D1B-4E23-BF1C-0D30325F6EE6}"/>
          </ac:spMkLst>
        </pc:spChg>
      </pc:sldChg>
      <pc:sldMasterChg chg="del delSldLayout">
        <pc:chgData name="Tim McIntosh" userId="80c4542c76bccb85" providerId="LiveId" clId="{DB6B0DCF-422C-4353-A4F8-7E457B1A928B}" dt="2022-02-14T08:23:28.408" v="3500" actId="2696"/>
        <pc:sldMasterMkLst>
          <pc:docMk/>
          <pc:sldMasterMk cId="0" sldId="2147483651"/>
        </pc:sldMasterMkLst>
        <pc:sldLayoutChg chg="del">
          <pc:chgData name="Tim McIntosh" userId="80c4542c76bccb85" providerId="LiveId" clId="{DB6B0DCF-422C-4353-A4F8-7E457B1A928B}" dt="2022-02-14T08:23:28.402" v="3498" actId="2696"/>
          <pc:sldLayoutMkLst>
            <pc:docMk/>
            <pc:sldMasterMk cId="0" sldId="2147483651"/>
            <pc:sldLayoutMk cId="1686131074" sldId="2147483968"/>
          </pc:sldLayoutMkLst>
        </pc:sldLayoutChg>
        <pc:sldLayoutChg chg="del">
          <pc:chgData name="Tim McIntosh" userId="80c4542c76bccb85" providerId="LiveId" clId="{DB6B0DCF-422C-4353-A4F8-7E457B1A928B}" dt="2022-02-14T08:23:28.404" v="3499" actId="2696"/>
          <pc:sldLayoutMkLst>
            <pc:docMk/>
            <pc:sldMasterMk cId="0" sldId="2147483651"/>
            <pc:sldLayoutMk cId="66218245" sldId="2147483969"/>
          </pc:sldLayoutMkLst>
        </pc:sldLayoutChg>
      </pc:sldMasterChg>
      <pc:sldMasterChg chg="del delSldLayout">
        <pc:chgData name="Tim McIntosh" userId="80c4542c76bccb85" providerId="LiveId" clId="{DB6B0DCF-422C-4353-A4F8-7E457B1A928B}" dt="2022-02-14T08:23:28.391" v="3497" actId="2696"/>
        <pc:sldMasterMkLst>
          <pc:docMk/>
          <pc:sldMasterMk cId="0" sldId="2147483654"/>
        </pc:sldMasterMkLst>
        <pc:sldLayoutChg chg="del">
          <pc:chgData name="Tim McIntosh" userId="80c4542c76bccb85" providerId="LiveId" clId="{DB6B0DCF-422C-4353-A4F8-7E457B1A928B}" dt="2022-02-14T08:23:28.387" v="3496" actId="2696"/>
          <pc:sldLayoutMkLst>
            <pc:docMk/>
            <pc:sldMasterMk cId="0" sldId="2147483654"/>
            <pc:sldLayoutMk cId="3406083966" sldId="2147483967"/>
          </pc:sldLayoutMkLst>
        </pc:sldLayoutChg>
      </pc:sldMasterChg>
      <pc:sldMasterChg chg="modSp mod delSldLayout modSldLayout">
        <pc:chgData name="Tim McIntosh" userId="80c4542c76bccb85" providerId="LiveId" clId="{DB6B0DCF-422C-4353-A4F8-7E457B1A928B}" dt="2022-02-14T08:24:44.013" v="3537" actId="2696"/>
        <pc:sldMasterMkLst>
          <pc:docMk/>
          <pc:sldMasterMk cId="0" sldId="2147483658"/>
        </pc:sldMasterMkLst>
        <pc:spChg chg="mod">
          <ac:chgData name="Tim McIntosh" userId="80c4542c76bccb85" providerId="LiveId" clId="{DB6B0DCF-422C-4353-A4F8-7E457B1A928B}" dt="2022-02-14T08:23:42.107" v="3508"/>
          <ac:spMkLst>
            <pc:docMk/>
            <pc:sldMasterMk cId="0" sldId="2147483658"/>
            <ac:spMk id="5" creationId="{EFEE9959-195D-4693-AA37-953BDC04C6FE}"/>
          </ac:spMkLst>
        </pc:spChg>
        <pc:sldLayoutChg chg="modSp del mod">
          <pc:chgData name="Tim McIntosh" userId="80c4542c76bccb85" providerId="LiveId" clId="{DB6B0DCF-422C-4353-A4F8-7E457B1A928B}" dt="2022-02-14T08:24:44.013" v="3537" actId="2696"/>
          <pc:sldLayoutMkLst>
            <pc:docMk/>
            <pc:sldMasterMk cId="0" sldId="2147483658"/>
            <pc:sldLayoutMk cId="3241405307" sldId="2147483970"/>
          </pc:sldLayoutMkLst>
          <pc:spChg chg="mod">
            <ac:chgData name="Tim McIntosh" userId="80c4542c76bccb85" providerId="LiveId" clId="{DB6B0DCF-422C-4353-A4F8-7E457B1A928B}" dt="2022-02-14T08:23:54.906" v="3519"/>
            <ac:spMkLst>
              <pc:docMk/>
              <pc:sldMasterMk cId="0" sldId="2147483658"/>
              <pc:sldLayoutMk cId="3241405307" sldId="2147483970"/>
              <ac:spMk id="8" creationId="{F997CA58-90FD-4D2F-B023-D0AC0627E8AE}"/>
            </ac:spMkLst>
          </pc:spChg>
        </pc:sldLayoutChg>
        <pc:sldLayoutChg chg="modSp mod">
          <pc:chgData name="Tim McIntosh" userId="80c4542c76bccb85" providerId="LiveId" clId="{DB6B0DCF-422C-4353-A4F8-7E457B1A928B}" dt="2022-02-14T08:24:06.218" v="3527"/>
          <pc:sldLayoutMkLst>
            <pc:docMk/>
            <pc:sldMasterMk cId="0" sldId="2147483658"/>
            <pc:sldLayoutMk cId="3092058568" sldId="2147483971"/>
          </pc:sldLayoutMkLst>
          <pc:spChg chg="mod">
            <ac:chgData name="Tim McIntosh" userId="80c4542c76bccb85" providerId="LiveId" clId="{DB6B0DCF-422C-4353-A4F8-7E457B1A928B}" dt="2022-02-14T08:24:06.218" v="3527"/>
            <ac:spMkLst>
              <pc:docMk/>
              <pc:sldMasterMk cId="0" sldId="2147483658"/>
              <pc:sldLayoutMk cId="3092058568" sldId="2147483971"/>
              <ac:spMk id="5" creationId="{81279088-81E5-42AE-A449-F335DB56FCF5}"/>
            </ac:spMkLst>
          </pc:spChg>
        </pc:sldLayoutChg>
        <pc:sldLayoutChg chg="del">
          <pc:chgData name="Tim McIntosh" userId="80c4542c76bccb85" providerId="LiveId" clId="{DB6B0DCF-422C-4353-A4F8-7E457B1A928B}" dt="2022-02-14T08:24:39.600" v="3536" actId="2696"/>
          <pc:sldLayoutMkLst>
            <pc:docMk/>
            <pc:sldMasterMk cId="0" sldId="2147483658"/>
            <pc:sldLayoutMk cId="3767248618" sldId="2147483972"/>
          </pc:sldLayoutMkLst>
        </pc:sldLayoutChg>
        <pc:sldLayoutChg chg="del">
          <pc:chgData name="Tim McIntosh" userId="80c4542c76bccb85" providerId="LiveId" clId="{DB6B0DCF-422C-4353-A4F8-7E457B1A928B}" dt="2022-02-14T08:24:37.699" v="3535" actId="2696"/>
          <pc:sldLayoutMkLst>
            <pc:docMk/>
            <pc:sldMasterMk cId="0" sldId="2147483658"/>
            <pc:sldLayoutMk cId="1551832678" sldId="2147483973"/>
          </pc:sldLayoutMkLst>
        </pc:sldLayoutChg>
        <pc:sldLayoutChg chg="del">
          <pc:chgData name="Tim McIntosh" userId="80c4542c76bccb85" providerId="LiveId" clId="{DB6B0DCF-422C-4353-A4F8-7E457B1A928B}" dt="2022-02-14T08:24:35.900" v="3534" actId="2696"/>
          <pc:sldLayoutMkLst>
            <pc:docMk/>
            <pc:sldMasterMk cId="0" sldId="2147483658"/>
            <pc:sldLayoutMk cId="3262363800" sldId="2147483974"/>
          </pc:sldLayoutMkLst>
        </pc:sldLayoutChg>
        <pc:sldLayoutChg chg="del">
          <pc:chgData name="Tim McIntosh" userId="80c4542c76bccb85" providerId="LiveId" clId="{DB6B0DCF-422C-4353-A4F8-7E457B1A928B}" dt="2022-02-14T08:24:33.904" v="3533" actId="2696"/>
          <pc:sldLayoutMkLst>
            <pc:docMk/>
            <pc:sldMasterMk cId="0" sldId="2147483658"/>
            <pc:sldLayoutMk cId="2265036269" sldId="2147483975"/>
          </pc:sldLayoutMkLst>
        </pc:sldLayoutChg>
        <pc:sldLayoutChg chg="del">
          <pc:chgData name="Tim McIntosh" userId="80c4542c76bccb85" providerId="LiveId" clId="{DB6B0DCF-422C-4353-A4F8-7E457B1A928B}" dt="2022-02-14T08:24:31.633" v="3532" actId="2696"/>
          <pc:sldLayoutMkLst>
            <pc:docMk/>
            <pc:sldMasterMk cId="0" sldId="2147483658"/>
            <pc:sldLayoutMk cId="2848908576" sldId="2147483976"/>
          </pc:sldLayoutMkLst>
        </pc:sldLayoutChg>
        <pc:sldLayoutChg chg="del">
          <pc:chgData name="Tim McIntosh" userId="80c4542c76bccb85" providerId="LiveId" clId="{DB6B0DCF-422C-4353-A4F8-7E457B1A928B}" dt="2022-02-14T08:24:29.700" v="3531" actId="2696"/>
          <pc:sldLayoutMkLst>
            <pc:docMk/>
            <pc:sldMasterMk cId="0" sldId="2147483658"/>
            <pc:sldLayoutMk cId="259065860" sldId="2147483977"/>
          </pc:sldLayoutMkLst>
        </pc:sldLayoutChg>
        <pc:sldLayoutChg chg="del">
          <pc:chgData name="Tim McIntosh" userId="80c4542c76bccb85" providerId="LiveId" clId="{DB6B0DCF-422C-4353-A4F8-7E457B1A928B}" dt="2022-02-14T08:24:18.437" v="3528" actId="2696"/>
          <pc:sldLayoutMkLst>
            <pc:docMk/>
            <pc:sldMasterMk cId="0" sldId="2147483658"/>
            <pc:sldLayoutMk cId="4224716668" sldId="2147483978"/>
          </pc:sldLayoutMkLst>
        </pc:sldLayoutChg>
        <pc:sldLayoutChg chg="del">
          <pc:chgData name="Tim McIntosh" userId="80c4542c76bccb85" providerId="LiveId" clId="{DB6B0DCF-422C-4353-A4F8-7E457B1A928B}" dt="2022-02-14T08:24:18.453" v="3529" actId="2696"/>
          <pc:sldLayoutMkLst>
            <pc:docMk/>
            <pc:sldMasterMk cId="0" sldId="2147483658"/>
            <pc:sldLayoutMk cId="2694374494" sldId="2147483979"/>
          </pc:sldLayoutMkLst>
        </pc:sldLayoutChg>
        <pc:sldLayoutChg chg="del">
          <pc:chgData name="Tim McIntosh" userId="80c4542c76bccb85" providerId="LiveId" clId="{DB6B0DCF-422C-4353-A4F8-7E457B1A928B}" dt="2022-02-14T08:24:18.467" v="3530" actId="2696"/>
          <pc:sldLayoutMkLst>
            <pc:docMk/>
            <pc:sldMasterMk cId="0" sldId="2147483658"/>
            <pc:sldLayoutMk cId="1158625596" sldId="2147483980"/>
          </pc:sldLayoutMkLst>
        </pc:sldLayoutChg>
      </pc:sldMasterChg>
    </pc:docChg>
  </pc:docChgLst>
  <pc:docChgLst>
    <pc:chgData name="Tim McIntosh" userId="80c4542c76bccb85" providerId="LiveId" clId="{40026388-F5B8-43E0-A5A0-22659BCCBDB5}"/>
    <pc:docChg chg="undo redo custSel addSld delSld modSld sldOrd">
      <pc:chgData name="Tim McIntosh" userId="80c4542c76bccb85" providerId="LiveId" clId="{40026388-F5B8-43E0-A5A0-22659BCCBDB5}" dt="2022-02-09T01:04:12.421" v="4144" actId="14100"/>
      <pc:docMkLst>
        <pc:docMk/>
      </pc:docMkLst>
      <pc:sldChg chg="modSp">
        <pc:chgData name="Tim McIntosh" userId="80c4542c76bccb85" providerId="LiveId" clId="{40026388-F5B8-43E0-A5A0-22659BCCBDB5}" dt="2022-02-09T01:04:12.421" v="4144" actId="14100"/>
        <pc:sldMkLst>
          <pc:docMk/>
          <pc:sldMk cId="0" sldId="260"/>
        </pc:sldMkLst>
        <pc:spChg chg="mod">
          <ac:chgData name="Tim McIntosh" userId="80c4542c76bccb85" providerId="LiveId" clId="{40026388-F5B8-43E0-A5A0-22659BCCBDB5}" dt="2022-02-09T01:04:12.421" v="4144" actId="14100"/>
          <ac:spMkLst>
            <pc:docMk/>
            <pc:sldMk cId="0" sldId="260"/>
            <ac:spMk id="18434" creationId="{7011D958-7B17-483C-B07B-1B379F607C55}"/>
          </ac:spMkLst>
        </pc:spChg>
      </pc:sldChg>
      <pc:sldChg chg="del">
        <pc:chgData name="Tim McIntosh" userId="80c4542c76bccb85" providerId="LiveId" clId="{40026388-F5B8-43E0-A5A0-22659BCCBDB5}" dt="2022-01-12T04:04:44.460" v="3610" actId="47"/>
        <pc:sldMkLst>
          <pc:docMk/>
          <pc:sldMk cId="0" sldId="262"/>
        </pc:sldMkLst>
      </pc:sldChg>
      <pc:sldChg chg="modSp mod">
        <pc:chgData name="Tim McIntosh" userId="80c4542c76bccb85" providerId="LiveId" clId="{40026388-F5B8-43E0-A5A0-22659BCCBDB5}" dt="2022-02-09T00:52:32.989" v="3615" actId="1076"/>
        <pc:sldMkLst>
          <pc:docMk/>
          <pc:sldMk cId="0" sldId="263"/>
        </pc:sldMkLst>
        <pc:spChg chg="mod">
          <ac:chgData name="Tim McIntosh" userId="80c4542c76bccb85" providerId="LiveId" clId="{40026388-F5B8-43E0-A5A0-22659BCCBDB5}" dt="2022-02-09T00:52:32.989" v="3615" actId="1076"/>
          <ac:spMkLst>
            <pc:docMk/>
            <pc:sldMk cId="0" sldId="263"/>
            <ac:spMk id="22531" creationId="{11F364B8-9E55-4D33-84A1-D572CD6C3E86}"/>
          </ac:spMkLst>
        </pc:spChg>
      </pc:sldChg>
      <pc:sldChg chg="modSp mod">
        <pc:chgData name="Tim McIntosh" userId="80c4542c76bccb85" providerId="LiveId" clId="{40026388-F5B8-43E0-A5A0-22659BCCBDB5}" dt="2022-02-09T00:53:55.232" v="3633" actId="313"/>
        <pc:sldMkLst>
          <pc:docMk/>
          <pc:sldMk cId="0" sldId="264"/>
        </pc:sldMkLst>
        <pc:spChg chg="mod">
          <ac:chgData name="Tim McIntosh" userId="80c4542c76bccb85" providerId="LiveId" clId="{40026388-F5B8-43E0-A5A0-22659BCCBDB5}" dt="2022-02-09T00:53:24.654" v="3620"/>
          <ac:spMkLst>
            <pc:docMk/>
            <pc:sldMk cId="0" sldId="264"/>
            <ac:spMk id="6146" creationId="{23420AC8-E61C-458D-9532-7C3A2E114EAB}"/>
          </ac:spMkLst>
        </pc:spChg>
        <pc:spChg chg="mod">
          <ac:chgData name="Tim McIntosh" userId="80c4542c76bccb85" providerId="LiveId" clId="{40026388-F5B8-43E0-A5A0-22659BCCBDB5}" dt="2022-02-09T00:53:55.232" v="3633" actId="313"/>
          <ac:spMkLst>
            <pc:docMk/>
            <pc:sldMk cId="0" sldId="264"/>
            <ac:spMk id="23555" creationId="{2D765F26-F4C3-4C79-A70A-3579B29A9517}"/>
          </ac:spMkLst>
        </pc:spChg>
      </pc:sldChg>
      <pc:sldChg chg="modSp del mod">
        <pc:chgData name="Tim McIntosh" userId="80c4542c76bccb85" providerId="LiveId" clId="{40026388-F5B8-43E0-A5A0-22659BCCBDB5}" dt="2022-01-11T00:15:28.254" v="1042" actId="2696"/>
        <pc:sldMkLst>
          <pc:docMk/>
          <pc:sldMk cId="2078771512" sldId="265"/>
        </pc:sldMkLst>
        <pc:spChg chg="mod">
          <ac:chgData name="Tim McIntosh" userId="80c4542c76bccb85" providerId="LiveId" clId="{40026388-F5B8-43E0-A5A0-22659BCCBDB5}" dt="2022-01-10T10:30:02.170" v="516" actId="1076"/>
          <ac:spMkLst>
            <pc:docMk/>
            <pc:sldMk cId="2078771512" sldId="265"/>
            <ac:spMk id="24579" creationId="{F3DF4269-9F66-4FF8-828C-9294965EF791}"/>
          </ac:spMkLst>
        </pc:spChg>
      </pc:sldChg>
      <pc:sldChg chg="modSp add mod">
        <pc:chgData name="Tim McIntosh" userId="80c4542c76bccb85" providerId="LiveId" clId="{40026388-F5B8-43E0-A5A0-22659BCCBDB5}" dt="2022-02-09T00:56:18.092" v="3697" actId="20577"/>
        <pc:sldMkLst>
          <pc:docMk/>
          <pc:sldMk cId="3474458692" sldId="266"/>
        </pc:sldMkLst>
        <pc:spChg chg="mod">
          <ac:chgData name="Tim McIntosh" userId="80c4542c76bccb85" providerId="LiveId" clId="{40026388-F5B8-43E0-A5A0-22659BCCBDB5}" dt="2022-02-09T00:56:18.092" v="3697" actId="20577"/>
          <ac:spMkLst>
            <pc:docMk/>
            <pc:sldMk cId="3474458692" sldId="266"/>
            <ac:spMk id="3" creationId="{2A54259D-0124-4F7C-8EC1-4968F0788F20}"/>
          </ac:spMkLst>
        </pc:spChg>
        <pc:spChg chg="mod">
          <ac:chgData name="Tim McIntosh" userId="80c4542c76bccb85" providerId="LiveId" clId="{40026388-F5B8-43E0-A5A0-22659BCCBDB5}" dt="2022-02-09T00:55:45.641" v="3652" actId="20577"/>
          <ac:spMkLst>
            <pc:docMk/>
            <pc:sldMk cId="3474458692" sldId="266"/>
            <ac:spMk id="6146" creationId="{4B96BD86-4D61-4E04-837A-26BBE7A7E152}"/>
          </ac:spMkLst>
        </pc:spChg>
      </pc:sldChg>
      <pc:sldChg chg="modSp del mod">
        <pc:chgData name="Tim McIntosh" userId="80c4542c76bccb85" providerId="LiveId" clId="{40026388-F5B8-43E0-A5A0-22659BCCBDB5}" dt="2022-02-09T00:59:27.674" v="3960" actId="20577"/>
        <pc:sldMkLst>
          <pc:docMk/>
          <pc:sldMk cId="2436612075" sldId="267"/>
        </pc:sldMkLst>
        <pc:spChg chg="mod">
          <ac:chgData name="Tim McIntosh" userId="80c4542c76bccb85" providerId="LiveId" clId="{40026388-F5B8-43E0-A5A0-22659BCCBDB5}" dt="2022-02-09T00:59:05.824" v="3840" actId="20577"/>
          <ac:spMkLst>
            <pc:docMk/>
            <pc:sldMk cId="2436612075" sldId="267"/>
            <ac:spMk id="6146" creationId="{BCA2ADD3-2E34-4DC0-8AC9-1F2AA6AB2E88}"/>
          </ac:spMkLst>
        </pc:spChg>
        <pc:spChg chg="mod">
          <ac:chgData name="Tim McIntosh" userId="80c4542c76bccb85" providerId="LiveId" clId="{40026388-F5B8-43E0-A5A0-22659BCCBDB5}" dt="2022-02-09T00:59:27.674" v="3960" actId="20577"/>
          <ac:spMkLst>
            <pc:docMk/>
            <pc:sldMk cId="2436612075" sldId="267"/>
            <ac:spMk id="26627" creationId="{C4946B8A-C445-4267-8FE9-0BEEA53361FB}"/>
          </ac:spMkLst>
        </pc:spChg>
      </pc:sldChg>
      <pc:sldChg chg="del">
        <pc:chgData name="Tim McIntosh" userId="80c4542c76bccb85" providerId="LiveId" clId="{40026388-F5B8-43E0-A5A0-22659BCCBDB5}" dt="2022-01-11T00:15:28.254" v="1042" actId="2696"/>
        <pc:sldMkLst>
          <pc:docMk/>
          <pc:sldMk cId="3124040730" sldId="268"/>
        </pc:sldMkLst>
      </pc:sldChg>
      <pc:sldChg chg="modSp add mod">
        <pc:chgData name="Tim McIntosh" userId="80c4542c76bccb85" providerId="LiveId" clId="{40026388-F5B8-43E0-A5A0-22659BCCBDB5}" dt="2022-02-09T01:01:22.025" v="4029" actId="948"/>
        <pc:sldMkLst>
          <pc:docMk/>
          <pc:sldMk cId="827405938" sldId="270"/>
        </pc:sldMkLst>
        <pc:spChg chg="mod">
          <ac:chgData name="Tim McIntosh" userId="80c4542c76bccb85" providerId="LiveId" clId="{40026388-F5B8-43E0-A5A0-22659BCCBDB5}" dt="2022-02-09T00:59:40.874" v="3961" actId="20577"/>
          <ac:spMkLst>
            <pc:docMk/>
            <pc:sldMk cId="827405938" sldId="270"/>
            <ac:spMk id="6146" creationId="{24205FA9-038C-4104-80FA-C7DA3010DF7C}"/>
          </ac:spMkLst>
        </pc:spChg>
        <pc:spChg chg="mod">
          <ac:chgData name="Tim McIntosh" userId="80c4542c76bccb85" providerId="LiveId" clId="{40026388-F5B8-43E0-A5A0-22659BCCBDB5}" dt="2022-02-09T01:01:22.025" v="4029" actId="948"/>
          <ac:spMkLst>
            <pc:docMk/>
            <pc:sldMk cId="827405938" sldId="270"/>
            <ac:spMk id="29699" creationId="{6234B5D1-3058-450E-9804-6D29F7E2F534}"/>
          </ac:spMkLst>
        </pc:spChg>
      </pc:sldChg>
      <pc:sldChg chg="modSp add mod">
        <pc:chgData name="Tim McIntosh" userId="80c4542c76bccb85" providerId="LiveId" clId="{40026388-F5B8-43E0-A5A0-22659BCCBDB5}" dt="2022-02-09T01:03:13.491" v="4140" actId="207"/>
        <pc:sldMkLst>
          <pc:docMk/>
          <pc:sldMk cId="2637239155" sldId="271"/>
        </pc:sldMkLst>
        <pc:spChg chg="mod">
          <ac:chgData name="Tim McIntosh" userId="80c4542c76bccb85" providerId="LiveId" clId="{40026388-F5B8-43E0-A5A0-22659BCCBDB5}" dt="2022-02-09T01:03:13.491" v="4140" actId="207"/>
          <ac:spMkLst>
            <pc:docMk/>
            <pc:sldMk cId="2637239155" sldId="271"/>
            <ac:spMk id="3" creationId="{2A54259D-0124-4F7C-8EC1-4968F0788F20}"/>
          </ac:spMkLst>
        </pc:spChg>
      </pc:sldChg>
      <pc:sldChg chg="del">
        <pc:chgData name="Tim McIntosh" userId="80c4542c76bccb85" providerId="LiveId" clId="{40026388-F5B8-43E0-A5A0-22659BCCBDB5}" dt="2022-01-11T00:15:28.254" v="1042" actId="2696"/>
        <pc:sldMkLst>
          <pc:docMk/>
          <pc:sldMk cId="2999577684" sldId="271"/>
        </pc:sldMkLst>
      </pc:sldChg>
      <pc:sldChg chg="modSp add del mod">
        <pc:chgData name="Tim McIntosh" userId="80c4542c76bccb85" providerId="LiveId" clId="{40026388-F5B8-43E0-A5A0-22659BCCBDB5}" dt="2022-01-10T22:51:39.179" v="517" actId="2696"/>
        <pc:sldMkLst>
          <pc:docMk/>
          <pc:sldMk cId="1373153215" sldId="272"/>
        </pc:sldMkLst>
        <pc:spChg chg="mod">
          <ac:chgData name="Tim McIntosh" userId="80c4542c76bccb85" providerId="LiveId" clId="{40026388-F5B8-43E0-A5A0-22659BCCBDB5}" dt="2022-01-10T10:20:36.225" v="182" actId="27636"/>
          <ac:spMkLst>
            <pc:docMk/>
            <pc:sldMk cId="1373153215" sldId="272"/>
            <ac:spMk id="6146" creationId="{C12AEA32-63AB-4568-82D8-6CF1315EBB57}"/>
          </ac:spMkLst>
        </pc:spChg>
        <pc:spChg chg="mod">
          <ac:chgData name="Tim McIntosh" userId="80c4542c76bccb85" providerId="LiveId" clId="{40026388-F5B8-43E0-A5A0-22659BCCBDB5}" dt="2022-01-10T10:22:27.065" v="294" actId="20577"/>
          <ac:spMkLst>
            <pc:docMk/>
            <pc:sldMk cId="1373153215" sldId="272"/>
            <ac:spMk id="24579" creationId="{F3DF4269-9F66-4FF8-828C-9294965EF791}"/>
          </ac:spMkLst>
        </pc:spChg>
      </pc:sldChg>
      <pc:sldChg chg="modSp add mod">
        <pc:chgData name="Tim McIntosh" userId="80c4542c76bccb85" providerId="LiveId" clId="{40026388-F5B8-43E0-A5A0-22659BCCBDB5}" dt="2022-01-11T00:37:18.293" v="1522" actId="20577"/>
        <pc:sldMkLst>
          <pc:docMk/>
          <pc:sldMk cId="2602595201" sldId="272"/>
        </pc:sldMkLst>
        <pc:spChg chg="mod">
          <ac:chgData name="Tim McIntosh" userId="80c4542c76bccb85" providerId="LiveId" clId="{40026388-F5B8-43E0-A5A0-22659BCCBDB5}" dt="2022-01-11T00:37:18.293" v="1522" actId="20577"/>
          <ac:spMkLst>
            <pc:docMk/>
            <pc:sldMk cId="2602595201" sldId="272"/>
            <ac:spMk id="6146" creationId="{C12AEA32-63AB-4568-82D8-6CF1315EBB57}"/>
          </ac:spMkLst>
        </pc:spChg>
      </pc:sldChg>
      <pc:sldChg chg="modSp add mod">
        <pc:chgData name="Tim McIntosh" userId="80c4542c76bccb85" providerId="LiveId" clId="{40026388-F5B8-43E0-A5A0-22659BCCBDB5}" dt="2022-02-09T00:54:59.023" v="3640" actId="20577"/>
        <pc:sldMkLst>
          <pc:docMk/>
          <pc:sldMk cId="1093417344" sldId="273"/>
        </pc:sldMkLst>
        <pc:spChg chg="mod">
          <ac:chgData name="Tim McIntosh" userId="80c4542c76bccb85" providerId="LiveId" clId="{40026388-F5B8-43E0-A5A0-22659BCCBDB5}" dt="2022-01-11T00:37:25.431" v="1540" actId="20577"/>
          <ac:spMkLst>
            <pc:docMk/>
            <pc:sldMk cId="1093417344" sldId="273"/>
            <ac:spMk id="6146" creationId="{C12AEA32-63AB-4568-82D8-6CF1315EBB57}"/>
          </ac:spMkLst>
        </pc:spChg>
        <pc:spChg chg="mod">
          <ac:chgData name="Tim McIntosh" userId="80c4542c76bccb85" providerId="LiveId" clId="{40026388-F5B8-43E0-A5A0-22659BCCBDB5}" dt="2022-02-09T00:54:59.023" v="3640" actId="20577"/>
          <ac:spMkLst>
            <pc:docMk/>
            <pc:sldMk cId="1093417344" sldId="273"/>
            <ac:spMk id="24579" creationId="{F3DF4269-9F66-4FF8-828C-9294965EF791}"/>
          </ac:spMkLst>
        </pc:spChg>
      </pc:sldChg>
      <pc:sldChg chg="modSp add del mod">
        <pc:chgData name="Tim McIntosh" userId="80c4542c76bccb85" providerId="LiveId" clId="{40026388-F5B8-43E0-A5A0-22659BCCBDB5}" dt="2022-01-10T22:51:39.179" v="517" actId="2696"/>
        <pc:sldMkLst>
          <pc:docMk/>
          <pc:sldMk cId="2067347682" sldId="273"/>
        </pc:sldMkLst>
        <pc:spChg chg="mod">
          <ac:chgData name="Tim McIntosh" userId="80c4542c76bccb85" providerId="LiveId" clId="{40026388-F5B8-43E0-A5A0-22659BCCBDB5}" dt="2022-01-10T10:27:56.552" v="416" actId="20577"/>
          <ac:spMkLst>
            <pc:docMk/>
            <pc:sldMk cId="2067347682" sldId="273"/>
            <ac:spMk id="24579" creationId="{F3DF4269-9F66-4FF8-828C-9294965EF791}"/>
          </ac:spMkLst>
        </pc:spChg>
      </pc:sldChg>
      <pc:sldChg chg="addSp delSp modSp add mod ord">
        <pc:chgData name="Tim McIntosh" userId="80c4542c76bccb85" providerId="LiveId" clId="{40026388-F5B8-43E0-A5A0-22659BCCBDB5}" dt="2022-02-09T00:54:28.799" v="3639" actId="14100"/>
        <pc:sldMkLst>
          <pc:docMk/>
          <pc:sldMk cId="1577203092" sldId="274"/>
        </pc:sldMkLst>
        <pc:spChg chg="add del mod">
          <ac:chgData name="Tim McIntosh" userId="80c4542c76bccb85" providerId="LiveId" clId="{40026388-F5B8-43E0-A5A0-22659BCCBDB5}" dt="2022-01-10T22:53:21.112" v="580" actId="3680"/>
          <ac:spMkLst>
            <pc:docMk/>
            <pc:sldMk cId="1577203092" sldId="274"/>
            <ac:spMk id="3" creationId="{29E8137E-FAA0-4853-8B89-A5E1678D5C8A}"/>
          </ac:spMkLst>
        </pc:spChg>
        <pc:spChg chg="add mod">
          <ac:chgData name="Tim McIntosh" userId="80c4542c76bccb85" providerId="LiveId" clId="{40026388-F5B8-43E0-A5A0-22659BCCBDB5}" dt="2022-01-11T00:14:09.127" v="1041" actId="255"/>
          <ac:spMkLst>
            <pc:docMk/>
            <pc:sldMk cId="1577203092" sldId="274"/>
            <ac:spMk id="3" creationId="{657C257C-4756-4CFA-802E-09CB101C92CE}"/>
          </ac:spMkLst>
        </pc:spChg>
        <pc:spChg chg="mod">
          <ac:chgData name="Tim McIntosh" userId="80c4542c76bccb85" providerId="LiveId" clId="{40026388-F5B8-43E0-A5A0-22659BCCBDB5}" dt="2022-02-09T00:54:28.799" v="3639" actId="14100"/>
          <ac:spMkLst>
            <pc:docMk/>
            <pc:sldMk cId="1577203092" sldId="274"/>
            <ac:spMk id="6146" creationId="{C12AEA32-63AB-4568-82D8-6CF1315EBB57}"/>
          </ac:spMkLst>
        </pc:spChg>
        <pc:spChg chg="del">
          <ac:chgData name="Tim McIntosh" userId="80c4542c76bccb85" providerId="LiveId" clId="{40026388-F5B8-43E0-A5A0-22659BCCBDB5}" dt="2022-01-10T22:52:50.521" v="577" actId="478"/>
          <ac:spMkLst>
            <pc:docMk/>
            <pc:sldMk cId="1577203092" sldId="274"/>
            <ac:spMk id="24579" creationId="{F3DF4269-9F66-4FF8-828C-9294965EF791}"/>
          </ac:spMkLst>
        </pc:spChg>
        <pc:graphicFrameChg chg="add del mod ord modGraphic">
          <ac:chgData name="Tim McIntosh" userId="80c4542c76bccb85" providerId="LiveId" clId="{40026388-F5B8-43E0-A5A0-22659BCCBDB5}" dt="2022-01-10T22:53:16.220" v="579" actId="3680"/>
          <ac:graphicFrameMkLst>
            <pc:docMk/>
            <pc:sldMk cId="1577203092" sldId="274"/>
            <ac:graphicFrameMk id="4" creationId="{D451FFE8-11FC-4CBB-89ED-13DFC2F62243}"/>
          </ac:graphicFrameMkLst>
        </pc:graphicFrameChg>
        <pc:graphicFrameChg chg="add mod ord modGraphic">
          <ac:chgData name="Tim McIntosh" userId="80c4542c76bccb85" providerId="LiveId" clId="{40026388-F5B8-43E0-A5A0-22659BCCBDB5}" dt="2022-01-11T00:14:02.226" v="1038" actId="1076"/>
          <ac:graphicFrameMkLst>
            <pc:docMk/>
            <pc:sldMk cId="1577203092" sldId="274"/>
            <ac:graphicFrameMk id="5" creationId="{6A9E95DA-6B5A-4499-B24C-DA75458A81A3}"/>
          </ac:graphicFrameMkLst>
        </pc:graphicFrameChg>
      </pc:sldChg>
      <pc:sldChg chg="modSp add del mod">
        <pc:chgData name="Tim McIntosh" userId="80c4542c76bccb85" providerId="LiveId" clId="{40026388-F5B8-43E0-A5A0-22659BCCBDB5}" dt="2022-01-11T00:31:23.070" v="1081" actId="2696"/>
        <pc:sldMkLst>
          <pc:docMk/>
          <pc:sldMk cId="1139084609" sldId="275"/>
        </pc:sldMkLst>
        <pc:spChg chg="mod">
          <ac:chgData name="Tim McIntosh" userId="80c4542c76bccb85" providerId="LiveId" clId="{40026388-F5B8-43E0-A5A0-22659BCCBDB5}" dt="2022-01-11T00:31:07.820" v="1080" actId="20577"/>
          <ac:spMkLst>
            <pc:docMk/>
            <pc:sldMk cId="1139084609" sldId="275"/>
            <ac:spMk id="6146" creationId="{C12AEA32-63AB-4568-82D8-6CF1315EBB57}"/>
          </ac:spMkLst>
        </pc:spChg>
      </pc:sldChg>
      <pc:sldChg chg="addSp delSp modSp add mod">
        <pc:chgData name="Tim McIntosh" userId="80c4542c76bccb85" providerId="LiveId" clId="{40026388-F5B8-43E0-A5A0-22659BCCBDB5}" dt="2022-01-11T09:19:18.430" v="3596" actId="14100"/>
        <pc:sldMkLst>
          <pc:docMk/>
          <pc:sldMk cId="2446935371" sldId="275"/>
        </pc:sldMkLst>
        <pc:spChg chg="add del">
          <ac:chgData name="Tim McIntosh" userId="80c4542c76bccb85" providerId="LiveId" clId="{40026388-F5B8-43E0-A5A0-22659BCCBDB5}" dt="2022-01-11T00:32:32.079" v="1157"/>
          <ac:spMkLst>
            <pc:docMk/>
            <pc:sldMk cId="2446935371" sldId="275"/>
            <ac:spMk id="3" creationId="{B6BA37EE-4DBE-4F5E-BABA-3AB2E8ECDAAC}"/>
          </ac:spMkLst>
        </pc:spChg>
        <pc:spChg chg="mod">
          <ac:chgData name="Tim McIntosh" userId="80c4542c76bccb85" providerId="LiveId" clId="{40026388-F5B8-43E0-A5A0-22659BCCBDB5}" dt="2022-01-11T09:19:18.430" v="3596" actId="14100"/>
          <ac:spMkLst>
            <pc:docMk/>
            <pc:sldMk cId="2446935371" sldId="275"/>
            <ac:spMk id="6146" creationId="{C12AEA32-63AB-4568-82D8-6CF1315EBB57}"/>
          </ac:spMkLst>
        </pc:spChg>
        <pc:spChg chg="mod">
          <ac:chgData name="Tim McIntosh" userId="80c4542c76bccb85" providerId="LiveId" clId="{40026388-F5B8-43E0-A5A0-22659BCCBDB5}" dt="2022-01-11T00:33:33.917" v="1250" actId="14100"/>
          <ac:spMkLst>
            <pc:docMk/>
            <pc:sldMk cId="2446935371" sldId="275"/>
            <ac:spMk id="24579" creationId="{F3DF4269-9F66-4FF8-828C-9294965EF791}"/>
          </ac:spMkLst>
        </pc:spChg>
      </pc:sldChg>
      <pc:sldChg chg="modSp add mod">
        <pc:chgData name="Tim McIntosh" userId="80c4542c76bccb85" providerId="LiveId" clId="{40026388-F5B8-43E0-A5A0-22659BCCBDB5}" dt="2022-02-09T00:55:20.017" v="3641" actId="20577"/>
        <pc:sldMkLst>
          <pc:docMk/>
          <pc:sldMk cId="642007176" sldId="276"/>
        </pc:sldMkLst>
        <pc:spChg chg="mod">
          <ac:chgData name="Tim McIntosh" userId="80c4542c76bccb85" providerId="LiveId" clId="{40026388-F5B8-43E0-A5A0-22659BCCBDB5}" dt="2022-01-11T09:19:45.172" v="3609" actId="255"/>
          <ac:spMkLst>
            <pc:docMk/>
            <pc:sldMk cId="642007176" sldId="276"/>
            <ac:spMk id="6146" creationId="{C12AEA32-63AB-4568-82D8-6CF1315EBB57}"/>
          </ac:spMkLst>
        </pc:spChg>
        <pc:spChg chg="mod">
          <ac:chgData name="Tim McIntosh" userId="80c4542c76bccb85" providerId="LiveId" clId="{40026388-F5B8-43E0-A5A0-22659BCCBDB5}" dt="2022-02-09T00:55:20.017" v="3641" actId="20577"/>
          <ac:spMkLst>
            <pc:docMk/>
            <pc:sldMk cId="642007176" sldId="276"/>
            <ac:spMk id="24579" creationId="{F3DF4269-9F66-4FF8-828C-9294965EF791}"/>
          </ac:spMkLst>
        </pc:spChg>
      </pc:sldChg>
      <pc:sldChg chg="add del">
        <pc:chgData name="Tim McIntosh" userId="80c4542c76bccb85" providerId="LiveId" clId="{40026388-F5B8-43E0-A5A0-22659BCCBDB5}" dt="2022-01-11T00:33:42.748" v="1252" actId="47"/>
        <pc:sldMkLst>
          <pc:docMk/>
          <pc:sldMk cId="2551129213" sldId="277"/>
        </pc:sldMkLst>
      </pc:sldChg>
      <pc:sldChg chg="modSp add mod">
        <pc:chgData name="Tim McIntosh" userId="80c4542c76bccb85" providerId="LiveId" clId="{40026388-F5B8-43E0-A5A0-22659BCCBDB5}" dt="2022-02-09T01:03:51.757" v="4143" actId="1076"/>
        <pc:sldMkLst>
          <pc:docMk/>
          <pc:sldMk cId="2634690509" sldId="277"/>
        </pc:sldMkLst>
        <pc:spChg chg="mod">
          <ac:chgData name="Tim McIntosh" userId="80c4542c76bccb85" providerId="LiveId" clId="{40026388-F5B8-43E0-A5A0-22659BCCBDB5}" dt="2022-02-09T01:03:51.757" v="4143" actId="1076"/>
          <ac:spMkLst>
            <pc:docMk/>
            <pc:sldMk cId="2634690509" sldId="277"/>
            <ac:spMk id="6146" creationId="{23420AC8-E61C-458D-9532-7C3A2E114EAB}"/>
          </ac:spMkLst>
        </pc:spChg>
        <pc:spChg chg="mod">
          <ac:chgData name="Tim McIntosh" userId="80c4542c76bccb85" providerId="LiveId" clId="{40026388-F5B8-43E0-A5A0-22659BCCBDB5}" dt="2022-02-09T01:03:38.528" v="4141" actId="14100"/>
          <ac:spMkLst>
            <pc:docMk/>
            <pc:sldMk cId="2634690509" sldId="277"/>
            <ac:spMk id="23555" creationId="{2D765F26-F4C3-4C79-A70A-3579B29A9517}"/>
          </ac:spMkLst>
        </pc:spChg>
      </pc:sldChg>
      <pc:sldChg chg="add del">
        <pc:chgData name="Tim McIntosh" userId="80c4542c76bccb85" providerId="LiveId" clId="{40026388-F5B8-43E0-A5A0-22659BCCBDB5}" dt="2022-01-11T00:45:09.362" v="2109"/>
        <pc:sldMkLst>
          <pc:docMk/>
          <pc:sldMk cId="488027510" sldId="278"/>
        </pc:sldMkLst>
      </pc:sldChg>
      <pc:sldChg chg="modSp add mod">
        <pc:chgData name="Tim McIntosh" userId="80c4542c76bccb85" providerId="LiveId" clId="{40026388-F5B8-43E0-A5A0-22659BCCBDB5}" dt="2022-02-09T00:52:50.410" v="3617" actId="114"/>
        <pc:sldMkLst>
          <pc:docMk/>
          <pc:sldMk cId="1987218006" sldId="278"/>
        </pc:sldMkLst>
        <pc:spChg chg="mod">
          <ac:chgData name="Tim McIntosh" userId="80c4542c76bccb85" providerId="LiveId" clId="{40026388-F5B8-43E0-A5A0-22659BCCBDB5}" dt="2022-01-11T00:48:13.367" v="2521" actId="20577"/>
          <ac:spMkLst>
            <pc:docMk/>
            <pc:sldMk cId="1987218006" sldId="278"/>
            <ac:spMk id="6146" creationId="{190BDBBE-2518-4DC2-A8A5-7B1347851768}"/>
          </ac:spMkLst>
        </pc:spChg>
        <pc:spChg chg="mod">
          <ac:chgData name="Tim McIntosh" userId="80c4542c76bccb85" providerId="LiveId" clId="{40026388-F5B8-43E0-A5A0-22659BCCBDB5}" dt="2022-02-09T00:52:50.410" v="3617" actId="114"/>
          <ac:spMkLst>
            <pc:docMk/>
            <pc:sldMk cId="1987218006" sldId="278"/>
            <ac:spMk id="22531" creationId="{11F364B8-9E55-4D33-84A1-D572CD6C3E86}"/>
          </ac:spMkLst>
        </pc:spChg>
      </pc:sldChg>
      <pc:sldChg chg="modSp add mod">
        <pc:chgData name="Tim McIntosh" userId="80c4542c76bccb85" providerId="LiveId" clId="{40026388-F5B8-43E0-A5A0-22659BCCBDB5}" dt="2022-02-09T00:53:13.812" v="3619" actId="1076"/>
        <pc:sldMkLst>
          <pc:docMk/>
          <pc:sldMk cId="2480749934" sldId="279"/>
        </pc:sldMkLst>
        <pc:spChg chg="mod">
          <ac:chgData name="Tim McIntosh" userId="80c4542c76bccb85" providerId="LiveId" clId="{40026388-F5B8-43E0-A5A0-22659BCCBDB5}" dt="2022-01-11T00:48:39.118" v="2528" actId="20577"/>
          <ac:spMkLst>
            <pc:docMk/>
            <pc:sldMk cId="2480749934" sldId="279"/>
            <ac:spMk id="6146" creationId="{190BDBBE-2518-4DC2-A8A5-7B1347851768}"/>
          </ac:spMkLst>
        </pc:spChg>
        <pc:spChg chg="mod">
          <ac:chgData name="Tim McIntosh" userId="80c4542c76bccb85" providerId="LiveId" clId="{40026388-F5B8-43E0-A5A0-22659BCCBDB5}" dt="2022-02-09T00:53:13.812" v="3619" actId="1076"/>
          <ac:spMkLst>
            <pc:docMk/>
            <pc:sldMk cId="2480749934" sldId="279"/>
            <ac:spMk id="22531" creationId="{11F364B8-9E55-4D33-84A1-D572CD6C3E86}"/>
          </ac:spMkLst>
        </pc:spChg>
      </pc:sldChg>
      <pc:sldChg chg="modSp add mod">
        <pc:chgData name="Tim McIntosh" userId="80c4542c76bccb85" providerId="LiveId" clId="{40026388-F5B8-43E0-A5A0-22659BCCBDB5}" dt="2022-01-11T00:53:43.698" v="3068" actId="1076"/>
        <pc:sldMkLst>
          <pc:docMk/>
          <pc:sldMk cId="1363475473" sldId="280"/>
        </pc:sldMkLst>
        <pc:spChg chg="mod">
          <ac:chgData name="Tim McIntosh" userId="80c4542c76bccb85" providerId="LiveId" clId="{40026388-F5B8-43E0-A5A0-22659BCCBDB5}" dt="2022-01-11T00:51:10.665" v="2772" actId="20577"/>
          <ac:spMkLst>
            <pc:docMk/>
            <pc:sldMk cId="1363475473" sldId="280"/>
            <ac:spMk id="6146" creationId="{23420AC8-E61C-458D-9532-7C3A2E114EAB}"/>
          </ac:spMkLst>
        </pc:spChg>
        <pc:spChg chg="mod">
          <ac:chgData name="Tim McIntosh" userId="80c4542c76bccb85" providerId="LiveId" clId="{40026388-F5B8-43E0-A5A0-22659BCCBDB5}" dt="2022-01-11T00:53:43.698" v="3068" actId="1076"/>
          <ac:spMkLst>
            <pc:docMk/>
            <pc:sldMk cId="1363475473" sldId="280"/>
            <ac:spMk id="23555" creationId="{2D765F26-F4C3-4C79-A70A-3579B29A9517}"/>
          </ac:spMkLst>
        </pc:spChg>
      </pc:sldChg>
      <pc:sldChg chg="modSp add del mod">
        <pc:chgData name="Tim McIntosh" userId="80c4542c76bccb85" providerId="LiveId" clId="{40026388-F5B8-43E0-A5A0-22659BCCBDB5}" dt="2022-01-11T09:15:02.830" v="3214" actId="2696"/>
        <pc:sldMkLst>
          <pc:docMk/>
          <pc:sldMk cId="124540111" sldId="281"/>
        </pc:sldMkLst>
        <pc:spChg chg="mod">
          <ac:chgData name="Tim McIntosh" userId="80c4542c76bccb85" providerId="LiveId" clId="{40026388-F5B8-43E0-A5A0-22659BCCBDB5}" dt="2022-01-11T09:14:54.911" v="3213" actId="20577"/>
          <ac:spMkLst>
            <pc:docMk/>
            <pc:sldMk cId="124540111" sldId="281"/>
            <ac:spMk id="3" creationId="{2A54259D-0124-4F7C-8EC1-4968F0788F20}"/>
          </ac:spMkLst>
        </pc:spChg>
        <pc:spChg chg="mod">
          <ac:chgData name="Tim McIntosh" userId="80c4542c76bccb85" providerId="LiveId" clId="{40026388-F5B8-43E0-A5A0-22659BCCBDB5}" dt="2022-01-11T09:14:25.510" v="3096" actId="20577"/>
          <ac:spMkLst>
            <pc:docMk/>
            <pc:sldMk cId="124540111" sldId="281"/>
            <ac:spMk id="6146" creationId="{4B96BD86-4D61-4E04-837A-26BBE7A7E152}"/>
          </ac:spMkLst>
        </pc:spChg>
      </pc:sldChg>
      <pc:sldChg chg="modSp add mod">
        <pc:chgData name="Tim McIntosh" userId="80c4542c76bccb85" providerId="LiveId" clId="{40026388-F5B8-43E0-A5A0-22659BCCBDB5}" dt="2022-01-11T09:18:48.239" v="3562" actId="207"/>
        <pc:sldMkLst>
          <pc:docMk/>
          <pc:sldMk cId="2873145535" sldId="281"/>
        </pc:sldMkLst>
        <pc:spChg chg="mod">
          <ac:chgData name="Tim McIntosh" userId="80c4542c76bccb85" providerId="LiveId" clId="{40026388-F5B8-43E0-A5A0-22659BCCBDB5}" dt="2022-01-11T09:18:48.239" v="3562" actId="207"/>
          <ac:spMkLst>
            <pc:docMk/>
            <pc:sldMk cId="2873145535" sldId="281"/>
            <ac:spMk id="3" creationId="{2A54259D-0124-4F7C-8EC1-4968F0788F20}"/>
          </ac:spMkLst>
        </pc:spChg>
        <pc:spChg chg="mod">
          <ac:chgData name="Tim McIntosh" userId="80c4542c76bccb85" providerId="LiveId" clId="{40026388-F5B8-43E0-A5A0-22659BCCBDB5}" dt="2022-01-11T09:15:25.362" v="3269" actId="20577"/>
          <ac:spMkLst>
            <pc:docMk/>
            <pc:sldMk cId="2873145535" sldId="281"/>
            <ac:spMk id="6146" creationId="{4B96BD86-4D61-4E04-837A-26BBE7A7E1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20/04/2026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4/20/2026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worldbank.org/" TargetMode="Externa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theforage.com/" TargetMode="Externa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WnMQ8HlmeXc&amp;t=170s" TargetMode="Externa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CUR6rKrIEGc" TargetMode="Externa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hyperlink" Target="https://youtu.be/hF4yg1yFrdU?si=fqXFLMchXeptHhWJ" TargetMode="External"/></Relationships>
</file>

<file path=ppt/slides/_rels/slide1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538956" y="314325"/>
            <a:ext cx="8066087"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4</a:t>
            </a:r>
            <a:r>
              <a:rPr lang="en-AU" altLang="en-US" sz="5400" dirty="0">
                <a:solidFill>
                  <a:srgbClr val="00B0F0"/>
                </a:solidFill>
              </a:rPr>
              <a:t>: </a:t>
            </a:r>
            <a:r>
              <a:rPr lang="en-AU" sz="5400" dirty="0">
                <a:solidFill>
                  <a:srgbClr val="00B0F0"/>
                </a:solidFill>
              </a:rPr>
              <a:t>Introduction to Modelling &amp; UML</a:t>
            </a: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Choose two Make-up Session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F930D14-A1EA-2B3D-09D3-0693D4E034E6}"/>
              </a:ext>
            </a:extLst>
          </p:cNvPr>
          <p:cNvSpPr txBox="1"/>
          <p:nvPr/>
        </p:nvSpPr>
        <p:spPr>
          <a:xfrm>
            <a:off x="0" y="1476375"/>
            <a:ext cx="9144000" cy="5355312"/>
          </a:xfrm>
          <a:prstGeom prst="rect">
            <a:avLst/>
          </a:prstGeom>
          <a:solidFill>
            <a:schemeClr val="bg1"/>
          </a:solidFill>
        </p:spPr>
        <p:txBody>
          <a:bodyPr wrap="square">
            <a:spAutoFit/>
          </a:bodyPr>
          <a:lstStyle/>
          <a:p>
            <a:r>
              <a:rPr lang="en-US" dirty="0">
                <a:latin typeface="+mn-lt"/>
              </a:rPr>
              <a:t>Dear Students,</a:t>
            </a:r>
          </a:p>
          <a:p>
            <a:br>
              <a:rPr lang="en-US" dirty="0">
                <a:latin typeface="+mn-lt"/>
              </a:rPr>
            </a:br>
            <a:r>
              <a:rPr lang="en-US" dirty="0">
                <a:latin typeface="+mn-lt"/>
              </a:rPr>
              <a:t>We have conducted our first make-up session in week 2 (7th of April) in Class 208 with an option to join online. As next week is a public holiday and we missed the first week session due to campus arrangements, we need to choose two of these time slots: Here are the options, so which two options most of you prefer? If one cannot attend, we will record it. Please communicate with each other and let me know to talk with the campus office about availability of class on those preferred days:</a:t>
            </a:r>
            <a:br>
              <a:rPr lang="en-US" dirty="0">
                <a:latin typeface="+mn-lt"/>
              </a:rPr>
            </a:br>
            <a:br>
              <a:rPr lang="en-US" dirty="0">
                <a:latin typeface="+mn-lt"/>
              </a:rPr>
            </a:br>
            <a:r>
              <a:rPr lang="en-US" dirty="0">
                <a:latin typeface="+mn-lt"/>
              </a:rPr>
              <a:t>1st option is 21st of April Tuesday 1:30 PM to 4:30 PM</a:t>
            </a:r>
            <a:br>
              <a:rPr lang="en-US" dirty="0">
                <a:latin typeface="+mn-lt"/>
              </a:rPr>
            </a:br>
            <a:r>
              <a:rPr lang="en-US" dirty="0">
                <a:latin typeface="+mn-lt"/>
              </a:rPr>
              <a:t>---</a:t>
            </a:r>
            <a:br>
              <a:rPr lang="en-US" dirty="0">
                <a:latin typeface="+mn-lt"/>
              </a:rPr>
            </a:br>
            <a:r>
              <a:rPr lang="en-US" dirty="0">
                <a:latin typeface="+mn-lt"/>
              </a:rPr>
              <a:t>2nd option is 24th of April Friday 1:30 to 4:30 PM</a:t>
            </a:r>
            <a:br>
              <a:rPr lang="en-US" dirty="0">
                <a:latin typeface="+mn-lt"/>
              </a:rPr>
            </a:br>
            <a:r>
              <a:rPr lang="en-US" dirty="0">
                <a:latin typeface="+mn-lt"/>
              </a:rPr>
              <a:t>---</a:t>
            </a:r>
            <a:br>
              <a:rPr lang="en-US" dirty="0">
                <a:latin typeface="+mn-lt"/>
              </a:rPr>
            </a:br>
            <a:r>
              <a:rPr lang="en-US" dirty="0">
                <a:latin typeface="+mn-lt"/>
              </a:rPr>
              <a:t>3rd option is 11th of May Monday 9:30 am - 12:30 pm</a:t>
            </a:r>
            <a:br>
              <a:rPr lang="en-US" dirty="0">
                <a:latin typeface="+mn-lt"/>
              </a:rPr>
            </a:br>
            <a:r>
              <a:rPr lang="en-US" dirty="0">
                <a:latin typeface="+mn-lt"/>
              </a:rPr>
              <a:t>---</a:t>
            </a:r>
            <a:br>
              <a:rPr lang="en-US" dirty="0">
                <a:latin typeface="+mn-lt"/>
              </a:rPr>
            </a:br>
            <a:r>
              <a:rPr lang="en-US" dirty="0">
                <a:latin typeface="+mn-lt"/>
              </a:rPr>
              <a:t>4th option is 13th of May Wednesday 9:30 am - 12:30 pm</a:t>
            </a:r>
            <a:br>
              <a:rPr lang="en-US" dirty="0">
                <a:latin typeface="+mn-lt"/>
              </a:rPr>
            </a:br>
            <a:br>
              <a:rPr lang="en-US" dirty="0">
                <a:latin typeface="+mn-lt"/>
              </a:rPr>
            </a:br>
            <a:r>
              <a:rPr lang="en-US" dirty="0">
                <a:latin typeface="+mn-lt"/>
              </a:rPr>
              <a:t>Kind regards,</a:t>
            </a:r>
            <a:br>
              <a:rPr lang="en-US" dirty="0">
                <a:latin typeface="+mn-lt"/>
              </a:rPr>
            </a:br>
            <a:r>
              <a:rPr lang="en-US" dirty="0">
                <a:latin typeface="+mn-lt"/>
              </a:rPr>
              <a:t>Dr. Farshid Keivanian</a:t>
            </a:r>
          </a:p>
        </p:txBody>
      </p:sp>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F987F-32A3-D07D-9490-AAB632B6C39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F6C92AC-26EF-66A9-9225-C1721F6E1C6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Choose two Make-up Session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5EADDB5-7D4D-D57C-25AC-CDE2A0E0A5F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BBD7F7B-69F8-C596-5A4A-95D6F9F5EB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F2225F58-DA7E-8FEE-D77F-2D3222D01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2BFE226-28C6-6F3F-DADB-536F9F1D2B33}"/>
              </a:ext>
            </a:extLst>
          </p:cNvPr>
          <p:cNvSpPr txBox="1"/>
          <p:nvPr/>
        </p:nvSpPr>
        <p:spPr>
          <a:xfrm>
            <a:off x="0" y="1476375"/>
            <a:ext cx="9144000" cy="4801314"/>
          </a:xfrm>
          <a:prstGeom prst="rect">
            <a:avLst/>
          </a:prstGeom>
          <a:solidFill>
            <a:schemeClr val="bg1"/>
          </a:solidFill>
        </p:spPr>
        <p:txBody>
          <a:bodyPr wrap="square">
            <a:spAutoFit/>
          </a:bodyPr>
          <a:lstStyle/>
          <a:p>
            <a:r>
              <a:rPr lang="en-US" dirty="0">
                <a:latin typeface="+mn-lt"/>
              </a:rPr>
              <a:t>Hi everyone,</a:t>
            </a:r>
          </a:p>
          <a:p>
            <a:r>
              <a:rPr lang="en-US" dirty="0">
                <a:latin typeface="+mn-lt"/>
              </a:rPr>
              <a:t>I hope you’re all doing well.</a:t>
            </a:r>
          </a:p>
          <a:p>
            <a:r>
              <a:rPr lang="en-US" dirty="0">
                <a:latin typeface="+mn-lt"/>
              </a:rPr>
              <a:t>I’d like to remind you to complete two important compulsory modules available on the LMS:</a:t>
            </a:r>
          </a:p>
          <a:p>
            <a:r>
              <a:rPr lang="en-US" dirty="0">
                <a:latin typeface="+mn-lt"/>
              </a:rPr>
              <a:t>1. Academic Integrity Module</a:t>
            </a:r>
          </a:p>
          <a:p>
            <a:r>
              <a:rPr lang="en-US" dirty="0">
                <a:latin typeface="+mn-lt"/>
              </a:rPr>
              <a:t>2. SASH Course (Sexual Assault and Sexual Harassment)</a:t>
            </a:r>
          </a:p>
          <a:p>
            <a:r>
              <a:rPr lang="en-US" dirty="0">
                <a:latin typeface="+mn-lt"/>
              </a:rPr>
              <a:t>Both modules are essential and will help you understand your academic responsibilities as well as the support services available to you during your studies.</a:t>
            </a:r>
          </a:p>
          <a:p>
            <a:r>
              <a:rPr lang="en-US" dirty="0">
                <a:latin typeface="+mn-lt"/>
              </a:rPr>
              <a:t>Please note:</a:t>
            </a:r>
          </a:p>
          <a:p>
            <a:r>
              <a:rPr lang="en-US" dirty="0">
                <a:latin typeface="+mn-lt"/>
              </a:rPr>
              <a:t>- You will receive a badge after completing each module.</a:t>
            </a:r>
          </a:p>
          <a:p>
            <a:r>
              <a:rPr lang="en-US" dirty="0">
                <a:latin typeface="+mn-lt"/>
              </a:rPr>
              <a:t>- To earn the badge, you must watch all videos fully (without skipping) and complete the quizzes.</a:t>
            </a:r>
          </a:p>
          <a:p>
            <a:r>
              <a:rPr lang="en-US" dirty="0">
                <a:latin typeface="+mn-lt"/>
              </a:rPr>
              <a:t>- The SASH course will take around 25–30 minutes to complete.</a:t>
            </a:r>
          </a:p>
          <a:p>
            <a:r>
              <a:rPr lang="en-US" dirty="0">
                <a:latin typeface="+mn-lt"/>
              </a:rPr>
              <a:t>I will also briefly show you where to find these resources in class and go through them with you.</a:t>
            </a:r>
          </a:p>
          <a:p>
            <a:r>
              <a:rPr lang="en-US" dirty="0">
                <a:latin typeface="+mn-lt"/>
              </a:rPr>
              <a:t>Please make sure you complete both modules as soon as possible.</a:t>
            </a:r>
          </a:p>
          <a:p>
            <a:r>
              <a:rPr lang="en-US">
                <a:latin typeface="+mn-lt"/>
              </a:rPr>
              <a:t>Let </a:t>
            </a:r>
            <a:r>
              <a:rPr lang="en-US" dirty="0">
                <a:latin typeface="+mn-lt"/>
              </a:rPr>
              <a:t>me know if you have any questions.</a:t>
            </a:r>
          </a:p>
          <a:p>
            <a:r>
              <a:rPr lang="en-US">
                <a:latin typeface="+mn-lt"/>
              </a:rPr>
              <a:t>Kind </a:t>
            </a:r>
            <a:r>
              <a:rPr lang="en-US" dirty="0">
                <a:latin typeface="+mn-lt"/>
              </a:rPr>
              <a:t>regards,</a:t>
            </a:r>
          </a:p>
          <a:p>
            <a:r>
              <a:rPr lang="en-US" dirty="0">
                <a:latin typeface="+mn-lt"/>
              </a:rPr>
              <a:t>Farshid</a:t>
            </a:r>
          </a:p>
        </p:txBody>
      </p:sp>
    </p:spTree>
    <p:extLst>
      <p:ext uri="{BB962C8B-B14F-4D97-AF65-F5344CB8AC3E}">
        <p14:creationId xmlns:p14="http://schemas.microsoft.com/office/powerpoint/2010/main" val="375971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BF048-5AE5-ACDF-4E12-2F8EF578EDD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CE9A1D9-C624-BB27-5CAA-BE69A446BE2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998C3DF-8B33-5CDD-92A6-B2A5D6F9A5D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FD8E759-5726-9A91-2766-C5AC914D12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40C75E4C-405B-F328-E942-A3380DFFE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F5A97DC-A409-519B-1AA2-B30461C6A634}"/>
              </a:ext>
            </a:extLst>
          </p:cNvPr>
          <p:cNvSpPr txBox="1"/>
          <p:nvPr/>
        </p:nvSpPr>
        <p:spPr>
          <a:xfrm>
            <a:off x="0" y="1923394"/>
            <a:ext cx="9144000" cy="3903504"/>
          </a:xfrm>
          <a:prstGeom prst="rect">
            <a:avLst/>
          </a:prstGeom>
          <a:noFill/>
        </p:spPr>
        <p:txBody>
          <a:bodyPr wrap="square">
            <a:spAutoFit/>
          </a:bodyPr>
          <a:lstStyle/>
          <a:p>
            <a:pPr>
              <a:lnSpc>
                <a:spcPct val="150000"/>
              </a:lnSpc>
            </a:pPr>
            <a:r>
              <a:rPr lang="en-US" sz="2800" dirty="0">
                <a:latin typeface="+mn-lt"/>
              </a:rPr>
              <a:t>Assessment 3: Individual Report 1 – Reflection: Virtual Internships</a:t>
            </a:r>
            <a:br>
              <a:rPr lang="en-US" sz="2800" dirty="0">
                <a:latin typeface="+mn-lt"/>
              </a:rPr>
            </a:br>
            <a:r>
              <a:rPr lang="en-US" sz="2800" dirty="0">
                <a:latin typeface="+mn-lt"/>
              </a:rPr>
              <a:t>Due: Week 9</a:t>
            </a:r>
            <a:br>
              <a:rPr lang="en-US" sz="2800" dirty="0">
                <a:latin typeface="+mn-lt"/>
              </a:rPr>
            </a:br>
            <a:r>
              <a:rPr lang="en-US" sz="2800" dirty="0">
                <a:latin typeface="+mn-lt"/>
              </a:rPr>
              <a:t>Weight: 20%</a:t>
            </a:r>
            <a:br>
              <a:rPr lang="en-US" sz="2800" dirty="0">
                <a:latin typeface="+mn-lt"/>
              </a:rPr>
            </a:br>
            <a:r>
              <a:rPr lang="en-US" sz="2800" dirty="0">
                <a:latin typeface="+mn-lt"/>
              </a:rPr>
              <a:t>Length: about 1000–1200 words</a:t>
            </a:r>
            <a:br>
              <a:rPr lang="en-US" sz="2800" dirty="0">
                <a:latin typeface="+mn-lt"/>
              </a:rPr>
            </a:br>
            <a:r>
              <a:rPr lang="en-US" sz="2800" dirty="0">
                <a:latin typeface="+mn-lt"/>
              </a:rPr>
              <a:t>Individual or group? Individual</a:t>
            </a:r>
          </a:p>
        </p:txBody>
      </p:sp>
    </p:spTree>
    <p:extLst>
      <p:ext uri="{BB962C8B-B14F-4D97-AF65-F5344CB8AC3E}">
        <p14:creationId xmlns:p14="http://schemas.microsoft.com/office/powerpoint/2010/main" val="2175741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C5115-6412-2420-588A-9930C40FFAC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78FC8BB-9852-A262-7369-12055965EB7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E23CF8F-21E4-5B19-532E-2402AE61E4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83BF52E-9026-2698-A0FE-787C9A994D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04BCDBFC-070A-5196-E02A-886A51170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7FB2F14-64BF-D1A1-921D-CF08DCAB7556}"/>
              </a:ext>
            </a:extLst>
          </p:cNvPr>
          <p:cNvSpPr txBox="1"/>
          <p:nvPr/>
        </p:nvSpPr>
        <p:spPr>
          <a:xfrm>
            <a:off x="0" y="1923394"/>
            <a:ext cx="9144000" cy="3903504"/>
          </a:xfrm>
          <a:prstGeom prst="rect">
            <a:avLst/>
          </a:prstGeom>
          <a:noFill/>
        </p:spPr>
        <p:txBody>
          <a:bodyPr wrap="square">
            <a:spAutoFit/>
          </a:bodyPr>
          <a:lstStyle/>
          <a:p>
            <a:pPr>
              <a:lnSpc>
                <a:spcPct val="150000"/>
              </a:lnSpc>
            </a:pPr>
            <a:r>
              <a:rPr lang="en-US" sz="2800" b="1" dirty="0">
                <a:latin typeface="+mn-lt"/>
              </a:rPr>
              <a:t>1. What is this assessment really asking you to do?</a:t>
            </a:r>
          </a:p>
          <a:p>
            <a:pPr>
              <a:lnSpc>
                <a:spcPct val="150000"/>
              </a:lnSpc>
            </a:pPr>
            <a:r>
              <a:rPr lang="en-US" sz="2800" dirty="0">
                <a:latin typeface="+mn-lt"/>
              </a:rPr>
              <a:t>This assessment is not asking you to just say, “I did a Forage internship and it was good.”</a:t>
            </a:r>
          </a:p>
          <a:p>
            <a:pPr>
              <a:lnSpc>
                <a:spcPct val="150000"/>
              </a:lnSpc>
            </a:pPr>
            <a:r>
              <a:rPr lang="en-US" sz="2800" dirty="0">
                <a:latin typeface="+mn-lt"/>
              </a:rPr>
              <a:t>It is asking you to:</a:t>
            </a:r>
          </a:p>
          <a:p>
            <a:pPr marL="971550" lvl="1" indent="-514350">
              <a:lnSpc>
                <a:spcPct val="150000"/>
              </a:lnSpc>
              <a:buFont typeface="+mj-lt"/>
              <a:buAutoNum type="arabicPeriod"/>
            </a:pPr>
            <a:r>
              <a:rPr lang="en-US" sz="2800" dirty="0">
                <a:latin typeface="+mn-lt"/>
              </a:rPr>
              <a:t>Choose and complete one Forage virtual internship </a:t>
            </a:r>
          </a:p>
          <a:p>
            <a:pPr marL="971550" lvl="1" indent="-514350">
              <a:lnSpc>
                <a:spcPct val="150000"/>
              </a:lnSpc>
              <a:buFont typeface="+mj-lt"/>
              <a:buAutoNum type="arabicPeriod"/>
            </a:pPr>
            <a:r>
              <a:rPr lang="en-US" sz="2800" dirty="0">
                <a:latin typeface="+mn-lt"/>
              </a:rPr>
              <a:t>Think carefully about what happened in that internship</a:t>
            </a:r>
          </a:p>
        </p:txBody>
      </p:sp>
    </p:spTree>
    <p:extLst>
      <p:ext uri="{BB962C8B-B14F-4D97-AF65-F5344CB8AC3E}">
        <p14:creationId xmlns:p14="http://schemas.microsoft.com/office/powerpoint/2010/main" val="2752811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D9C3C-8A15-6791-F498-90F5CEF2501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9376AEF-3128-0F23-4EE5-8B1BFF575EB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02B0666-89C8-F834-3A03-7F560299B4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EDA86C6-6ED5-3591-741B-7D2D76907E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5BC81D3A-435F-4AA3-7678-D680A93E5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7CCCE2C-4655-17CA-F492-DBA37D54887D}"/>
              </a:ext>
            </a:extLst>
          </p:cNvPr>
          <p:cNvSpPr txBox="1"/>
          <p:nvPr/>
        </p:nvSpPr>
        <p:spPr>
          <a:xfrm>
            <a:off x="0" y="1923394"/>
            <a:ext cx="9144000" cy="3903504"/>
          </a:xfrm>
          <a:prstGeom prst="rect">
            <a:avLst/>
          </a:prstGeom>
          <a:noFill/>
        </p:spPr>
        <p:txBody>
          <a:bodyPr wrap="square">
            <a:spAutoFit/>
          </a:bodyPr>
          <a:lstStyle/>
          <a:p>
            <a:pPr lvl="1" defTabSz="914400">
              <a:lnSpc>
                <a:spcPct val="150000"/>
              </a:lnSpc>
            </a:pPr>
            <a:r>
              <a:rPr lang="en-US" altLang="en-US" sz="2800" b="1" dirty="0">
                <a:latin typeface="+mn-lt"/>
              </a:rPr>
              <a:t>3.   Reflect on it using two unit learning outcomes:</a:t>
            </a:r>
            <a:r>
              <a:rPr lang="en-US" altLang="en-US" sz="2800" dirty="0">
                <a:latin typeface="+mn-lt"/>
              </a:rPr>
              <a:t> </a:t>
            </a:r>
          </a:p>
          <a:p>
            <a:pPr marL="971550" lvl="1" indent="-514350" defTabSz="914400">
              <a:lnSpc>
                <a:spcPct val="150000"/>
              </a:lnSpc>
              <a:buFont typeface="Arial" panose="020B0604020202020204" pitchFamily="34" charset="0"/>
              <a:buChar char="•"/>
            </a:pPr>
            <a:r>
              <a:rPr lang="en-US" altLang="en-US" sz="2800" b="1" dirty="0">
                <a:latin typeface="+mn-lt"/>
              </a:rPr>
              <a:t>SLO1:</a:t>
            </a:r>
            <a:r>
              <a:rPr lang="en-US" altLang="en-US" sz="2800" dirty="0">
                <a:latin typeface="+mn-lt"/>
              </a:rPr>
              <a:t> Apply the design process in the development of a project proposal </a:t>
            </a:r>
          </a:p>
          <a:p>
            <a:pPr marL="971550" lvl="1" indent="-514350" defTabSz="914400">
              <a:lnSpc>
                <a:spcPct val="150000"/>
              </a:lnSpc>
              <a:buFont typeface="Arial" panose="020B0604020202020204" pitchFamily="34" charset="0"/>
              <a:buChar char="•"/>
            </a:pPr>
            <a:r>
              <a:rPr lang="en-US" altLang="en-US" sz="2800" b="1" dirty="0">
                <a:latin typeface="+mn-lt"/>
              </a:rPr>
              <a:t>SLO2:</a:t>
            </a:r>
            <a:r>
              <a:rPr lang="en-US" altLang="en-US" sz="2800" dirty="0">
                <a:latin typeface="+mn-lt"/>
              </a:rPr>
              <a:t> Evaluate effective technology options in the design of an IT project </a:t>
            </a:r>
          </a:p>
          <a:p>
            <a:pPr lvl="1" defTabSz="914400">
              <a:lnSpc>
                <a:spcPct val="150000"/>
              </a:lnSpc>
            </a:pPr>
            <a:r>
              <a:rPr lang="en-US" altLang="en-US" sz="2800" b="1" dirty="0">
                <a:latin typeface="+mn-lt"/>
              </a:rPr>
              <a:t>4.   Write a formal report</a:t>
            </a:r>
            <a:r>
              <a:rPr lang="en-US" altLang="en-US" sz="2800" dirty="0">
                <a:latin typeface="+mn-lt"/>
              </a:rPr>
              <a:t> </a:t>
            </a:r>
          </a:p>
        </p:txBody>
      </p:sp>
    </p:spTree>
    <p:extLst>
      <p:ext uri="{BB962C8B-B14F-4D97-AF65-F5344CB8AC3E}">
        <p14:creationId xmlns:p14="http://schemas.microsoft.com/office/powerpoint/2010/main" val="374686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59511-D19F-E599-882B-9C7882A3FCB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40294F5-48D4-84B5-A243-61118E43308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C946AAF-2320-FBC2-257C-70A273D2A66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D0FA200-497C-5F38-5D3D-79FBDC526A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DE3E4F47-4383-725C-E231-C4BB4946C8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56E7147-968C-1905-5C10-5A82F702B57F}"/>
              </a:ext>
            </a:extLst>
          </p:cNvPr>
          <p:cNvSpPr txBox="1"/>
          <p:nvPr/>
        </p:nvSpPr>
        <p:spPr>
          <a:xfrm>
            <a:off x="0" y="1923394"/>
            <a:ext cx="9144000" cy="2610843"/>
          </a:xfrm>
          <a:prstGeom prst="rect">
            <a:avLst/>
          </a:prstGeom>
          <a:noFill/>
        </p:spPr>
        <p:txBody>
          <a:bodyPr wrap="square">
            <a:spAutoFit/>
          </a:bodyPr>
          <a:lstStyle/>
          <a:p>
            <a:pPr lvl="1">
              <a:lnSpc>
                <a:spcPct val="150000"/>
              </a:lnSpc>
            </a:pPr>
            <a:r>
              <a:rPr lang="en-US" sz="2800" b="1" dirty="0">
                <a:latin typeface="+mn-lt"/>
              </a:rPr>
              <a:t>5. Include your certificate screenshot in Appendix A </a:t>
            </a:r>
          </a:p>
          <a:p>
            <a:pPr lvl="1">
              <a:lnSpc>
                <a:spcPct val="150000"/>
              </a:lnSpc>
            </a:pPr>
            <a:r>
              <a:rPr lang="en-US" sz="2800" b="1" dirty="0">
                <a:latin typeface="+mn-lt"/>
              </a:rPr>
              <a:t>6. Use APA referencing </a:t>
            </a:r>
          </a:p>
          <a:p>
            <a:pPr lvl="1">
              <a:lnSpc>
                <a:spcPct val="150000"/>
              </a:lnSpc>
            </a:pPr>
            <a:r>
              <a:rPr lang="en-US" sz="2800" b="1" dirty="0">
                <a:latin typeface="+mn-lt"/>
              </a:rPr>
              <a:t>7. Submit one PDF </a:t>
            </a:r>
          </a:p>
          <a:p>
            <a:pPr>
              <a:lnSpc>
                <a:spcPct val="150000"/>
              </a:lnSpc>
            </a:pPr>
            <a:r>
              <a:rPr lang="en-US" sz="2800" dirty="0">
                <a:latin typeface="+mn-lt"/>
              </a:rPr>
              <a:t>So this is a reflection + analysis report, not just a summary.</a:t>
            </a:r>
          </a:p>
        </p:txBody>
      </p:sp>
    </p:spTree>
    <p:extLst>
      <p:ext uri="{BB962C8B-B14F-4D97-AF65-F5344CB8AC3E}">
        <p14:creationId xmlns:p14="http://schemas.microsoft.com/office/powerpoint/2010/main" val="229790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0E077-1096-EC34-F8DC-EF5FEA4DFDA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B1AA908-8A76-3289-CEC7-29D8F7726A8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EF0D8FF-E7A5-F334-81C1-C387B8EC733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EF8E375-6BF0-5CF6-509B-64B5F18D53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2841F332-8A60-0A04-DBEE-D59E6502D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CCD4D90-81E0-0DEE-D522-A4798063B0FC}"/>
              </a:ext>
            </a:extLst>
          </p:cNvPr>
          <p:cNvSpPr txBox="1"/>
          <p:nvPr/>
        </p:nvSpPr>
        <p:spPr>
          <a:xfrm>
            <a:off x="0" y="1923394"/>
            <a:ext cx="9144000" cy="4649350"/>
          </a:xfrm>
          <a:prstGeom prst="rect">
            <a:avLst/>
          </a:prstGeom>
          <a:noFill/>
        </p:spPr>
        <p:txBody>
          <a:bodyPr wrap="square">
            <a:spAutoFit/>
          </a:bodyPr>
          <a:lstStyle/>
          <a:p>
            <a:pPr>
              <a:lnSpc>
                <a:spcPct val="150000"/>
              </a:lnSpc>
            </a:pPr>
            <a:r>
              <a:rPr lang="en-US" sz="2500" b="1" dirty="0">
                <a:latin typeface="+mn-lt"/>
              </a:rPr>
              <a:t>2. What is a “reflection” in simple words?</a:t>
            </a:r>
          </a:p>
          <a:p>
            <a:pPr>
              <a:lnSpc>
                <a:spcPct val="150000"/>
              </a:lnSpc>
            </a:pPr>
            <a:r>
              <a:rPr lang="en-US" sz="2500" dirty="0">
                <a:latin typeface="+mn-lt"/>
              </a:rPr>
              <a:t>Reflection means:</a:t>
            </a:r>
          </a:p>
          <a:p>
            <a:pPr marL="800100" lvl="1" indent="-342900">
              <a:lnSpc>
                <a:spcPct val="150000"/>
              </a:lnSpc>
              <a:buFont typeface="Arial" panose="020B0604020202020204" pitchFamily="34" charset="0"/>
              <a:buChar char="•"/>
            </a:pPr>
            <a:r>
              <a:rPr lang="en-US" sz="2500" dirty="0">
                <a:latin typeface="+mn-lt"/>
              </a:rPr>
              <a:t>What did you do? </a:t>
            </a:r>
          </a:p>
          <a:p>
            <a:pPr marL="800100" lvl="1" indent="-342900">
              <a:lnSpc>
                <a:spcPct val="150000"/>
              </a:lnSpc>
              <a:buFont typeface="Arial" panose="020B0604020202020204" pitchFamily="34" charset="0"/>
              <a:buChar char="•"/>
            </a:pPr>
            <a:r>
              <a:rPr lang="en-US" sz="2500" dirty="0">
                <a:latin typeface="+mn-lt"/>
              </a:rPr>
              <a:t>What did you notice? </a:t>
            </a:r>
          </a:p>
          <a:p>
            <a:pPr marL="800100" lvl="1" indent="-342900">
              <a:lnSpc>
                <a:spcPct val="150000"/>
              </a:lnSpc>
              <a:buFont typeface="Arial" panose="020B0604020202020204" pitchFamily="34" charset="0"/>
              <a:buChar char="•"/>
            </a:pPr>
            <a:r>
              <a:rPr lang="en-US" sz="2500" dirty="0">
                <a:latin typeface="+mn-lt"/>
              </a:rPr>
              <a:t>Why did it matter? </a:t>
            </a:r>
          </a:p>
          <a:p>
            <a:pPr marL="800100" lvl="1" indent="-342900">
              <a:lnSpc>
                <a:spcPct val="150000"/>
              </a:lnSpc>
              <a:buFont typeface="Arial" panose="020B0604020202020204" pitchFamily="34" charset="0"/>
              <a:buChar char="•"/>
            </a:pPr>
            <a:r>
              <a:rPr lang="en-US" sz="2500" dirty="0">
                <a:latin typeface="+mn-lt"/>
              </a:rPr>
              <a:t>What did you learn? </a:t>
            </a:r>
          </a:p>
          <a:p>
            <a:pPr marL="800100" lvl="1" indent="-342900">
              <a:lnSpc>
                <a:spcPct val="150000"/>
              </a:lnSpc>
              <a:buFont typeface="Arial" panose="020B0604020202020204" pitchFamily="34" charset="0"/>
              <a:buChar char="•"/>
            </a:pPr>
            <a:r>
              <a:rPr lang="en-US" sz="2500" dirty="0">
                <a:latin typeface="+mn-lt"/>
              </a:rPr>
              <a:t>How does it connect to IT project work? </a:t>
            </a:r>
          </a:p>
          <a:p>
            <a:pPr marL="800100" lvl="1" indent="-342900">
              <a:lnSpc>
                <a:spcPct val="150000"/>
              </a:lnSpc>
              <a:buFont typeface="Arial" panose="020B0604020202020204" pitchFamily="34" charset="0"/>
              <a:buChar char="•"/>
            </a:pPr>
            <a:r>
              <a:rPr lang="en-US" sz="2500" dirty="0">
                <a:latin typeface="+mn-lt"/>
              </a:rPr>
              <a:t>How will it help you in future study or work?</a:t>
            </a:r>
          </a:p>
        </p:txBody>
      </p:sp>
    </p:spTree>
    <p:extLst>
      <p:ext uri="{BB962C8B-B14F-4D97-AF65-F5344CB8AC3E}">
        <p14:creationId xmlns:p14="http://schemas.microsoft.com/office/powerpoint/2010/main" val="171079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4EA8C-8628-8248-5A03-F1F69368A03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A5468A4-0956-3FEA-7FE6-2F4517E2673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7957F52-B9F0-974F-0F5C-5DF36D2B2A5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00E1272-BB68-9FCE-9900-965E1A16798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092A70C6-5A6E-E3FA-1FC2-6ED28DC9C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2609FD4-B7A7-2B69-7B97-EF7642220E91}"/>
              </a:ext>
            </a:extLst>
          </p:cNvPr>
          <p:cNvSpPr txBox="1"/>
          <p:nvPr/>
        </p:nvSpPr>
        <p:spPr>
          <a:xfrm>
            <a:off x="0" y="1923394"/>
            <a:ext cx="9144000" cy="4649350"/>
          </a:xfrm>
          <a:prstGeom prst="rect">
            <a:avLst/>
          </a:prstGeom>
          <a:noFill/>
        </p:spPr>
        <p:txBody>
          <a:bodyPr wrap="square">
            <a:spAutoFit/>
          </a:bodyPr>
          <a:lstStyle/>
          <a:p>
            <a:pPr>
              <a:lnSpc>
                <a:spcPct val="150000"/>
              </a:lnSpc>
            </a:pPr>
            <a:r>
              <a:rPr lang="en-US" sz="2500" dirty="0">
                <a:highlight>
                  <a:srgbClr val="FF0000"/>
                </a:highlight>
                <a:latin typeface="+mn-lt"/>
              </a:rPr>
              <a:t>A weak reflection says:</a:t>
            </a:r>
          </a:p>
          <a:p>
            <a:pPr>
              <a:lnSpc>
                <a:spcPct val="150000"/>
              </a:lnSpc>
            </a:pPr>
            <a:r>
              <a:rPr lang="en-US" sz="2500" dirty="0">
                <a:latin typeface="+mn-lt"/>
              </a:rPr>
              <a:t>“The internship was useful and interesting.”</a:t>
            </a:r>
          </a:p>
          <a:p>
            <a:pPr>
              <a:lnSpc>
                <a:spcPct val="150000"/>
              </a:lnSpc>
            </a:pPr>
            <a:r>
              <a:rPr lang="en-US" sz="2500" dirty="0">
                <a:highlight>
                  <a:srgbClr val="00FF00"/>
                </a:highlight>
                <a:latin typeface="+mn-lt"/>
              </a:rPr>
              <a:t>A stronger reflection says:</a:t>
            </a:r>
          </a:p>
          <a:p>
            <a:pPr>
              <a:lnSpc>
                <a:spcPct val="150000"/>
              </a:lnSpc>
            </a:pPr>
            <a:r>
              <a:rPr lang="en-US" sz="2500" dirty="0">
                <a:latin typeface="+mn-lt"/>
              </a:rPr>
              <a:t>“The internship showed how project work begins with understanding the client problem before choosing tools. This improved my understanding of requirements gathering because I saw that jumping to a technical solution too early can lead to poor project outcomes.”</a:t>
            </a:r>
          </a:p>
          <a:p>
            <a:pPr>
              <a:lnSpc>
                <a:spcPct val="150000"/>
              </a:lnSpc>
            </a:pPr>
            <a:r>
              <a:rPr lang="en-US" sz="2500" dirty="0">
                <a:latin typeface="+mn-lt"/>
              </a:rPr>
              <a:t>That is the kind of thinking your lecturer wants.</a:t>
            </a:r>
          </a:p>
        </p:txBody>
      </p:sp>
    </p:spTree>
    <p:extLst>
      <p:ext uri="{BB962C8B-B14F-4D97-AF65-F5344CB8AC3E}">
        <p14:creationId xmlns:p14="http://schemas.microsoft.com/office/powerpoint/2010/main" val="278745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C991-659F-0B5C-8BB1-10EEC0CD669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0C580B4-E15D-799E-2ACF-14AF335B221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E727D05-6281-2629-CF8C-6AA0404843B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47521E8-DBCB-392A-3BC7-9B0FAA9950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6713F179-1A2A-9D2D-F596-31CD0C371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BA96228-154D-CE30-C90A-4B7DC9B90748}"/>
              </a:ext>
            </a:extLst>
          </p:cNvPr>
          <p:cNvSpPr txBox="1"/>
          <p:nvPr/>
        </p:nvSpPr>
        <p:spPr>
          <a:xfrm>
            <a:off x="0" y="1923394"/>
            <a:ext cx="9144000" cy="3257174"/>
          </a:xfrm>
          <a:prstGeom prst="rect">
            <a:avLst/>
          </a:prstGeom>
          <a:noFill/>
        </p:spPr>
        <p:txBody>
          <a:bodyPr wrap="square">
            <a:spAutoFit/>
          </a:bodyPr>
          <a:lstStyle/>
          <a:p>
            <a:pPr>
              <a:lnSpc>
                <a:spcPct val="150000"/>
              </a:lnSpc>
            </a:pPr>
            <a:r>
              <a:rPr lang="en-US" sz="2800" b="1" dirty="0">
                <a:latin typeface="+mn-lt"/>
              </a:rPr>
              <a:t>3. What is The Forage and why is it included in this unit?</a:t>
            </a:r>
          </a:p>
          <a:p>
            <a:pPr>
              <a:lnSpc>
                <a:spcPct val="150000"/>
              </a:lnSpc>
            </a:pPr>
            <a:r>
              <a:rPr lang="en-US" sz="2800" dirty="0">
                <a:latin typeface="+mn-lt"/>
              </a:rPr>
              <a:t>The unit outline says students will:</a:t>
            </a:r>
          </a:p>
          <a:p>
            <a:pPr marL="914400" lvl="1" indent="-457200">
              <a:lnSpc>
                <a:spcPct val="150000"/>
              </a:lnSpc>
              <a:buFont typeface="Arial" panose="020B0604020202020204" pitchFamily="34" charset="0"/>
              <a:buChar char="•"/>
            </a:pPr>
            <a:r>
              <a:rPr lang="en-US" sz="2800" dirty="0">
                <a:latin typeface="+mn-lt"/>
              </a:rPr>
              <a:t>work on an industry-style project </a:t>
            </a:r>
          </a:p>
          <a:p>
            <a:pPr marL="914400" lvl="1" indent="-457200">
              <a:lnSpc>
                <a:spcPct val="150000"/>
              </a:lnSpc>
              <a:buFont typeface="Arial" panose="020B0604020202020204" pitchFamily="34" charset="0"/>
              <a:buChar char="•"/>
            </a:pPr>
            <a:r>
              <a:rPr lang="en-US" sz="2800" dirty="0">
                <a:latin typeface="+mn-lt"/>
              </a:rPr>
              <a:t>reflect on workplace learning </a:t>
            </a:r>
          </a:p>
          <a:p>
            <a:pPr marL="914400" lvl="1" indent="-457200">
              <a:lnSpc>
                <a:spcPct val="150000"/>
              </a:lnSpc>
              <a:buFont typeface="Arial" panose="020B0604020202020204" pitchFamily="34" charset="0"/>
              <a:buChar char="•"/>
            </a:pPr>
            <a:r>
              <a:rPr lang="en-US" sz="2800" dirty="0">
                <a:latin typeface="+mn-lt"/>
              </a:rPr>
              <a:t>complete virtual internships</a:t>
            </a:r>
          </a:p>
        </p:txBody>
      </p:sp>
    </p:spTree>
    <p:extLst>
      <p:ext uri="{BB962C8B-B14F-4D97-AF65-F5344CB8AC3E}">
        <p14:creationId xmlns:p14="http://schemas.microsoft.com/office/powerpoint/2010/main" val="313743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B395-EF02-491F-190E-629C560D8D3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51C408F-0525-A674-5041-739DF2D73CE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510611F-59AB-F972-72B3-89E8F871F22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5242496-217E-0626-F4AF-EDCDE379F9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D467B279-DBFF-26D9-8503-23EF39098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719DCE0-CCC0-EBD9-A3DC-CFAA9D8F45C6}"/>
              </a:ext>
            </a:extLst>
          </p:cNvPr>
          <p:cNvSpPr txBox="1"/>
          <p:nvPr/>
        </p:nvSpPr>
        <p:spPr>
          <a:xfrm>
            <a:off x="0" y="1923394"/>
            <a:ext cx="9144000" cy="4549835"/>
          </a:xfrm>
          <a:prstGeom prst="rect">
            <a:avLst/>
          </a:prstGeom>
          <a:noFill/>
        </p:spPr>
        <p:txBody>
          <a:bodyPr wrap="square">
            <a:spAutoFit/>
          </a:bodyPr>
          <a:lstStyle/>
          <a:p>
            <a:pPr>
              <a:lnSpc>
                <a:spcPct val="150000"/>
              </a:lnSpc>
            </a:pPr>
            <a:r>
              <a:rPr lang="en-US" sz="2800" dirty="0">
                <a:latin typeface="+mn-lt"/>
              </a:rPr>
              <a:t>So Assessment 3 is included because it helps students:</a:t>
            </a:r>
          </a:p>
          <a:p>
            <a:pPr marL="914400" lvl="1" indent="-457200">
              <a:lnSpc>
                <a:spcPct val="150000"/>
              </a:lnSpc>
              <a:buFont typeface="Arial" panose="020B0604020202020204" pitchFamily="34" charset="0"/>
              <a:buChar char="•"/>
            </a:pPr>
            <a:r>
              <a:rPr lang="en-US" sz="2800" dirty="0">
                <a:latin typeface="+mn-lt"/>
              </a:rPr>
              <a:t>understand how professionals work </a:t>
            </a:r>
          </a:p>
          <a:p>
            <a:pPr marL="914400" lvl="1" indent="-457200">
              <a:lnSpc>
                <a:spcPct val="150000"/>
              </a:lnSpc>
              <a:buFont typeface="Arial" panose="020B0604020202020204" pitchFamily="34" charset="0"/>
              <a:buChar char="•"/>
            </a:pPr>
            <a:r>
              <a:rPr lang="en-US" sz="2800" dirty="0">
                <a:latin typeface="+mn-lt"/>
              </a:rPr>
              <a:t>see how design and decision-making happen in real projects </a:t>
            </a:r>
          </a:p>
          <a:p>
            <a:pPr marL="914400" lvl="1" indent="-457200">
              <a:lnSpc>
                <a:spcPct val="150000"/>
              </a:lnSpc>
              <a:buFont typeface="Arial" panose="020B0604020202020204" pitchFamily="34" charset="0"/>
              <a:buChar char="•"/>
            </a:pPr>
            <a:r>
              <a:rPr lang="en-US" sz="2800" dirty="0">
                <a:latin typeface="+mn-lt"/>
              </a:rPr>
              <a:t>build communication and employability skills </a:t>
            </a:r>
          </a:p>
          <a:p>
            <a:pPr marL="914400" lvl="1" indent="-457200">
              <a:lnSpc>
                <a:spcPct val="150000"/>
              </a:lnSpc>
              <a:buFont typeface="Arial" panose="020B0604020202020204" pitchFamily="34" charset="0"/>
              <a:buChar char="•"/>
            </a:pPr>
            <a:r>
              <a:rPr lang="en-US" sz="2800" dirty="0">
                <a:latin typeface="+mn-lt"/>
              </a:rPr>
              <a:t>reflect on experiences that may help future employment</a:t>
            </a:r>
          </a:p>
        </p:txBody>
      </p:sp>
    </p:spTree>
    <p:extLst>
      <p:ext uri="{BB962C8B-B14F-4D97-AF65-F5344CB8AC3E}">
        <p14:creationId xmlns:p14="http://schemas.microsoft.com/office/powerpoint/2010/main" val="2828301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2BFB5-21A6-2E3A-7CED-7F24A95886F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F737D46-CBB0-F2F9-FA75-7F1572447E1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F725489-9EBB-74F2-1F46-47825569326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A8F9D6-10CA-5BF0-494C-624D409A4DD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070EA240-41BE-B17C-E317-12BC18642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139BFBB-036E-DCB3-ED84-2148D1B24868}"/>
              </a:ext>
            </a:extLst>
          </p:cNvPr>
          <p:cNvSpPr txBox="1"/>
          <p:nvPr/>
        </p:nvSpPr>
        <p:spPr>
          <a:xfrm>
            <a:off x="0" y="1923394"/>
            <a:ext cx="9144000" cy="3257174"/>
          </a:xfrm>
          <a:prstGeom prst="rect">
            <a:avLst/>
          </a:prstGeom>
          <a:noFill/>
        </p:spPr>
        <p:txBody>
          <a:bodyPr wrap="square">
            <a:spAutoFit/>
          </a:bodyPr>
          <a:lstStyle/>
          <a:p>
            <a:pPr>
              <a:lnSpc>
                <a:spcPct val="150000"/>
              </a:lnSpc>
            </a:pPr>
            <a:r>
              <a:rPr lang="en-US" sz="2800" dirty="0">
                <a:latin typeface="+mn-lt"/>
              </a:rPr>
              <a:t>That links strongly to:</a:t>
            </a:r>
          </a:p>
          <a:p>
            <a:pPr marL="914400" lvl="1" indent="-457200">
              <a:lnSpc>
                <a:spcPct val="150000"/>
              </a:lnSpc>
              <a:buFont typeface="Arial" panose="020B0604020202020204" pitchFamily="34" charset="0"/>
              <a:buChar char="•"/>
            </a:pPr>
            <a:r>
              <a:rPr lang="en-US" sz="2800" b="1" dirty="0">
                <a:latin typeface="+mn-lt"/>
              </a:rPr>
              <a:t>SLO6:</a:t>
            </a:r>
            <a:r>
              <a:rPr lang="en-US" sz="2800" dirty="0">
                <a:latin typeface="+mn-lt"/>
              </a:rPr>
              <a:t> communication in workplace settings </a:t>
            </a:r>
          </a:p>
          <a:p>
            <a:pPr marL="914400" lvl="1" indent="-457200">
              <a:lnSpc>
                <a:spcPct val="150000"/>
              </a:lnSpc>
              <a:buFont typeface="Arial" panose="020B0604020202020204" pitchFamily="34" charset="0"/>
              <a:buChar char="•"/>
            </a:pPr>
            <a:r>
              <a:rPr lang="en-US" sz="2800" b="1" dirty="0">
                <a:latin typeface="+mn-lt"/>
              </a:rPr>
              <a:t>SLO7:</a:t>
            </a:r>
            <a:r>
              <a:rPr lang="en-US" sz="2800" dirty="0">
                <a:latin typeface="+mn-lt"/>
              </a:rPr>
              <a:t> reflection and evaluation for future employment </a:t>
            </a:r>
          </a:p>
          <a:p>
            <a:pPr>
              <a:lnSpc>
                <a:spcPct val="150000"/>
              </a:lnSpc>
            </a:pPr>
            <a:r>
              <a:rPr lang="en-US" sz="2800" dirty="0">
                <a:latin typeface="+mn-lt"/>
              </a:rPr>
              <a:t>Even though the task specifically asks you to focus on SLO1 and SLO2, it also supports the broader capstone purpose.</a:t>
            </a:r>
          </a:p>
        </p:txBody>
      </p:sp>
    </p:spTree>
    <p:extLst>
      <p:ext uri="{BB962C8B-B14F-4D97-AF65-F5344CB8AC3E}">
        <p14:creationId xmlns:p14="http://schemas.microsoft.com/office/powerpoint/2010/main" val="111252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D24A2-116E-1EFF-9DAD-95FAA4909E7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5FF0B5E-280E-AC07-86A1-3D3C8C838B0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BCE93A3-63AC-D142-3662-E9952491F4C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DDE604D-7842-8677-415B-9A799A51176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9D5077AD-FB10-FE5D-F5EE-509966795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F16E02F-DE20-6915-E555-1D7D9F9B7B14}"/>
              </a:ext>
            </a:extLst>
          </p:cNvPr>
          <p:cNvSpPr txBox="1"/>
          <p:nvPr/>
        </p:nvSpPr>
        <p:spPr>
          <a:xfrm>
            <a:off x="0" y="1700381"/>
            <a:ext cx="9144000" cy="4661276"/>
          </a:xfrm>
          <a:prstGeom prst="rect">
            <a:avLst/>
          </a:prstGeom>
          <a:noFill/>
        </p:spPr>
        <p:txBody>
          <a:bodyPr wrap="square">
            <a:spAutoFit/>
          </a:bodyPr>
          <a:lstStyle/>
          <a:p>
            <a:pPr>
              <a:lnSpc>
                <a:spcPct val="150000"/>
              </a:lnSpc>
            </a:pPr>
            <a:r>
              <a:rPr lang="en-US" sz="2000" b="1" dirty="0">
                <a:latin typeface="+mn-lt"/>
              </a:rPr>
              <a:t>4. How Assessment 3 relates to Assessment 2</a:t>
            </a:r>
          </a:p>
          <a:p>
            <a:pPr>
              <a:lnSpc>
                <a:spcPct val="150000"/>
              </a:lnSpc>
            </a:pPr>
            <a:r>
              <a:rPr lang="en-US" sz="2000" b="1" dirty="0">
                <a:latin typeface="+mn-lt"/>
              </a:rPr>
              <a:t>Assessment 2</a:t>
            </a:r>
          </a:p>
          <a:p>
            <a:pPr>
              <a:lnSpc>
                <a:spcPct val="150000"/>
              </a:lnSpc>
            </a:pPr>
            <a:r>
              <a:rPr lang="en-US" sz="2000" dirty="0">
                <a:latin typeface="+mn-lt"/>
              </a:rPr>
              <a:t>Assessment 2 was about:</a:t>
            </a:r>
          </a:p>
          <a:p>
            <a:pPr marL="800100" lvl="1" indent="-342900">
              <a:lnSpc>
                <a:spcPct val="150000"/>
              </a:lnSpc>
              <a:buFont typeface="Arial" panose="020B0604020202020204" pitchFamily="34" charset="0"/>
              <a:buChar char="•"/>
            </a:pPr>
            <a:r>
              <a:rPr lang="en-US" sz="2000" dirty="0">
                <a:latin typeface="+mn-lt"/>
              </a:rPr>
              <a:t>initial research </a:t>
            </a:r>
          </a:p>
          <a:p>
            <a:pPr marL="800100" lvl="1" indent="-342900">
              <a:lnSpc>
                <a:spcPct val="150000"/>
              </a:lnSpc>
              <a:buFont typeface="Arial" panose="020B0604020202020204" pitchFamily="34" charset="0"/>
              <a:buChar char="•"/>
            </a:pPr>
            <a:r>
              <a:rPr lang="en-US" sz="2000" dirty="0">
                <a:latin typeface="+mn-lt"/>
              </a:rPr>
              <a:t>problem identification </a:t>
            </a:r>
          </a:p>
          <a:p>
            <a:pPr marL="800100" lvl="1" indent="-342900">
              <a:lnSpc>
                <a:spcPct val="150000"/>
              </a:lnSpc>
              <a:buFont typeface="Arial" panose="020B0604020202020204" pitchFamily="34" charset="0"/>
              <a:buChar char="•"/>
            </a:pPr>
            <a:r>
              <a:rPr lang="en-US" sz="2000" dirty="0">
                <a:latin typeface="+mn-lt"/>
              </a:rPr>
              <a:t>project scoping </a:t>
            </a:r>
          </a:p>
          <a:p>
            <a:pPr marL="800100" lvl="1" indent="-342900">
              <a:lnSpc>
                <a:spcPct val="150000"/>
              </a:lnSpc>
              <a:buFont typeface="Arial" panose="020B0604020202020204" pitchFamily="34" charset="0"/>
              <a:buChar char="•"/>
            </a:pPr>
            <a:r>
              <a:rPr lang="en-US" sz="2000" dirty="0">
                <a:latin typeface="+mn-lt"/>
              </a:rPr>
              <a:t>early design thinking </a:t>
            </a:r>
          </a:p>
          <a:p>
            <a:pPr marL="800100" lvl="1" indent="-342900">
              <a:lnSpc>
                <a:spcPct val="150000"/>
              </a:lnSpc>
              <a:buFont typeface="Arial" panose="020B0604020202020204" pitchFamily="34" charset="0"/>
              <a:buChar char="•"/>
            </a:pPr>
            <a:r>
              <a:rPr lang="en-US" sz="2000" dirty="0">
                <a:latin typeface="+mn-lt"/>
              </a:rPr>
              <a:t>initial technology exploration </a:t>
            </a:r>
          </a:p>
          <a:p>
            <a:pPr marL="800100" lvl="1" indent="-342900">
              <a:lnSpc>
                <a:spcPct val="150000"/>
              </a:lnSpc>
              <a:buFont typeface="Arial" panose="020B0604020202020204" pitchFamily="34" charset="0"/>
              <a:buChar char="•"/>
            </a:pPr>
            <a:r>
              <a:rPr lang="en-US" sz="2000" dirty="0">
                <a:latin typeface="+mn-lt"/>
              </a:rPr>
              <a:t>feasibility </a:t>
            </a:r>
          </a:p>
          <a:p>
            <a:pPr marL="800100" lvl="1" indent="-342900">
              <a:lnSpc>
                <a:spcPct val="150000"/>
              </a:lnSpc>
              <a:buFont typeface="Arial" panose="020B0604020202020204" pitchFamily="34" charset="0"/>
              <a:buChar char="•"/>
            </a:pPr>
            <a:r>
              <a:rPr lang="en-US" sz="2000" dirty="0">
                <a:latin typeface="+mn-lt"/>
              </a:rPr>
              <a:t>group contract</a:t>
            </a:r>
          </a:p>
        </p:txBody>
      </p:sp>
    </p:spTree>
    <p:extLst>
      <p:ext uri="{BB962C8B-B14F-4D97-AF65-F5344CB8AC3E}">
        <p14:creationId xmlns:p14="http://schemas.microsoft.com/office/powerpoint/2010/main" val="206267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D59A-6D18-8132-EC74-10E469CCCF9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3DE458F-7B51-D149-762F-D3FAF030FAE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BE3B72A-C962-B8A7-3666-F9CAAC026CB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E06C2C7-E9A4-537C-A2B3-AE42D904B36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A4563C5B-3777-0BC1-F849-44072528B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F6213BC-C723-84D8-7401-AD91079FE851}"/>
              </a:ext>
            </a:extLst>
          </p:cNvPr>
          <p:cNvSpPr txBox="1"/>
          <p:nvPr/>
        </p:nvSpPr>
        <p:spPr>
          <a:xfrm>
            <a:off x="0" y="1700381"/>
            <a:ext cx="9144000" cy="3257174"/>
          </a:xfrm>
          <a:prstGeom prst="rect">
            <a:avLst/>
          </a:prstGeom>
          <a:noFill/>
        </p:spPr>
        <p:txBody>
          <a:bodyPr wrap="square">
            <a:spAutoFit/>
          </a:bodyPr>
          <a:lstStyle/>
          <a:p>
            <a:pPr>
              <a:lnSpc>
                <a:spcPct val="150000"/>
              </a:lnSpc>
            </a:pPr>
            <a:r>
              <a:rPr lang="en-US" sz="2800" b="1" dirty="0">
                <a:latin typeface="+mn-lt"/>
              </a:rPr>
              <a:t>Assessment 3</a:t>
            </a:r>
          </a:p>
          <a:p>
            <a:pPr>
              <a:lnSpc>
                <a:spcPct val="150000"/>
              </a:lnSpc>
            </a:pPr>
            <a:r>
              <a:rPr lang="en-US" sz="2800" dirty="0">
                <a:latin typeface="+mn-lt"/>
              </a:rPr>
              <a:t>Assessment 3 is about:</a:t>
            </a:r>
          </a:p>
          <a:p>
            <a:pPr marL="914400" lvl="1" indent="-457200">
              <a:lnSpc>
                <a:spcPct val="150000"/>
              </a:lnSpc>
              <a:buFont typeface="Arial" panose="020B0604020202020204" pitchFamily="34" charset="0"/>
              <a:buChar char="•"/>
            </a:pPr>
            <a:r>
              <a:rPr lang="en-US" sz="2800" dirty="0">
                <a:latin typeface="+mn-lt"/>
              </a:rPr>
              <a:t>reflecting on a workplace-style virtual internship </a:t>
            </a:r>
          </a:p>
          <a:p>
            <a:pPr marL="914400" lvl="1" indent="-457200">
              <a:lnSpc>
                <a:spcPct val="150000"/>
              </a:lnSpc>
              <a:buFont typeface="Arial" panose="020B0604020202020204" pitchFamily="34" charset="0"/>
              <a:buChar char="•"/>
            </a:pPr>
            <a:r>
              <a:rPr lang="en-US" sz="2800" dirty="0">
                <a:latin typeface="+mn-lt"/>
              </a:rPr>
              <a:t>noticing how professionals use design processes </a:t>
            </a:r>
          </a:p>
          <a:p>
            <a:pPr marL="914400" lvl="1" indent="-457200">
              <a:lnSpc>
                <a:spcPct val="150000"/>
              </a:lnSpc>
              <a:buFont typeface="Arial" panose="020B0604020202020204" pitchFamily="34" charset="0"/>
              <a:buChar char="•"/>
            </a:pPr>
            <a:r>
              <a:rPr lang="en-US" sz="2800" dirty="0">
                <a:latin typeface="+mn-lt"/>
              </a:rPr>
              <a:t>evaluating technology choices in a practical context</a:t>
            </a:r>
          </a:p>
        </p:txBody>
      </p:sp>
    </p:spTree>
    <p:extLst>
      <p:ext uri="{BB962C8B-B14F-4D97-AF65-F5344CB8AC3E}">
        <p14:creationId xmlns:p14="http://schemas.microsoft.com/office/powerpoint/2010/main" val="1126539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3FB31-584F-49CC-43DE-7E084AC5013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4074239-F9E0-C3EE-26D6-359940DF28F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91B2AB7-48BA-B4FF-1CD7-B7901B6FEBD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2535162-7E84-8459-15FD-E26C077C4A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24106DE2-7498-B8B9-9432-119D28A1ED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3CAA222-677A-1615-A8A2-1062508BA431}"/>
              </a:ext>
            </a:extLst>
          </p:cNvPr>
          <p:cNvSpPr txBox="1"/>
          <p:nvPr/>
        </p:nvSpPr>
        <p:spPr>
          <a:xfrm>
            <a:off x="0" y="1700381"/>
            <a:ext cx="9144000" cy="5196166"/>
          </a:xfrm>
          <a:prstGeom prst="rect">
            <a:avLst/>
          </a:prstGeom>
          <a:solidFill>
            <a:schemeClr val="bg1"/>
          </a:solidFill>
        </p:spPr>
        <p:txBody>
          <a:bodyPr wrap="square">
            <a:spAutoFit/>
          </a:bodyPr>
          <a:lstStyle/>
          <a:p>
            <a:pPr>
              <a:lnSpc>
                <a:spcPct val="150000"/>
              </a:lnSpc>
            </a:pPr>
            <a:r>
              <a:rPr lang="en-US" sz="2800" b="1" dirty="0">
                <a:latin typeface="+mn-lt"/>
              </a:rPr>
              <a:t>Simple relationship between them</a:t>
            </a:r>
          </a:p>
          <a:p>
            <a:pPr>
              <a:lnSpc>
                <a:spcPct val="150000"/>
              </a:lnSpc>
            </a:pPr>
            <a:r>
              <a:rPr lang="en-US" sz="2800" dirty="0">
                <a:latin typeface="+mn-lt"/>
              </a:rPr>
              <a:t>You can explain it to students like this:</a:t>
            </a:r>
          </a:p>
          <a:p>
            <a:pPr>
              <a:lnSpc>
                <a:spcPct val="150000"/>
              </a:lnSpc>
            </a:pPr>
            <a:r>
              <a:rPr lang="en-US" sz="2800" b="1" dirty="0">
                <a:latin typeface="+mn-lt"/>
              </a:rPr>
              <a:t>Assessment 2 = planning stage</a:t>
            </a:r>
          </a:p>
          <a:p>
            <a:pPr>
              <a:lnSpc>
                <a:spcPct val="150000"/>
              </a:lnSpc>
            </a:pPr>
            <a:r>
              <a:rPr lang="en-US" sz="2800" dirty="0">
                <a:latin typeface="+mn-lt"/>
              </a:rPr>
              <a:t>Students worked as a group to:</a:t>
            </a:r>
          </a:p>
          <a:p>
            <a:pPr marL="914400" lvl="1" indent="-457200">
              <a:lnSpc>
                <a:spcPct val="150000"/>
              </a:lnSpc>
              <a:buFont typeface="Arial" panose="020B0604020202020204" pitchFamily="34" charset="0"/>
              <a:buChar char="•"/>
            </a:pPr>
            <a:r>
              <a:rPr lang="en-US" sz="2800" dirty="0">
                <a:latin typeface="+mn-lt"/>
              </a:rPr>
              <a:t>identify a problem </a:t>
            </a:r>
          </a:p>
          <a:p>
            <a:pPr marL="914400" lvl="1" indent="-457200">
              <a:lnSpc>
                <a:spcPct val="150000"/>
              </a:lnSpc>
              <a:buFont typeface="Arial" panose="020B0604020202020204" pitchFamily="34" charset="0"/>
              <a:buChar char="•"/>
            </a:pPr>
            <a:r>
              <a:rPr lang="en-US" sz="2800" dirty="0">
                <a:latin typeface="+mn-lt"/>
              </a:rPr>
              <a:t>explore possible solutions </a:t>
            </a:r>
          </a:p>
          <a:p>
            <a:pPr marL="914400" lvl="1" indent="-457200">
              <a:lnSpc>
                <a:spcPct val="150000"/>
              </a:lnSpc>
              <a:buFont typeface="Arial" panose="020B0604020202020204" pitchFamily="34" charset="0"/>
              <a:buChar char="•"/>
            </a:pPr>
            <a:r>
              <a:rPr lang="en-US" sz="2800" dirty="0">
                <a:latin typeface="+mn-lt"/>
              </a:rPr>
              <a:t>think about technology </a:t>
            </a:r>
          </a:p>
          <a:p>
            <a:pPr marL="914400" lvl="1" indent="-457200">
              <a:lnSpc>
                <a:spcPct val="150000"/>
              </a:lnSpc>
              <a:buFont typeface="Arial" panose="020B0604020202020204" pitchFamily="34" charset="0"/>
              <a:buChar char="•"/>
            </a:pPr>
            <a:r>
              <a:rPr lang="en-US" sz="2800" dirty="0">
                <a:latin typeface="+mn-lt"/>
              </a:rPr>
              <a:t>define project scope</a:t>
            </a:r>
          </a:p>
        </p:txBody>
      </p:sp>
    </p:spTree>
    <p:extLst>
      <p:ext uri="{BB962C8B-B14F-4D97-AF65-F5344CB8AC3E}">
        <p14:creationId xmlns:p14="http://schemas.microsoft.com/office/powerpoint/2010/main" val="104746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E8F4C-B842-292F-C32C-485828A133A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BC93E74-6C52-4AD3-1ECD-3107BFE0B2D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DA85958-683A-5821-A73D-8D1E13489E5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8D7B6FF-3F39-1189-2D6F-DFB11BF8D9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E04067D8-3170-49DB-69C3-5F115D018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3B0B398-5A56-7216-AE2E-129D959724A2}"/>
              </a:ext>
            </a:extLst>
          </p:cNvPr>
          <p:cNvSpPr txBox="1"/>
          <p:nvPr/>
        </p:nvSpPr>
        <p:spPr>
          <a:xfrm>
            <a:off x="0" y="1700381"/>
            <a:ext cx="9144000" cy="3903504"/>
          </a:xfrm>
          <a:prstGeom prst="rect">
            <a:avLst/>
          </a:prstGeom>
          <a:solidFill>
            <a:schemeClr val="bg1"/>
          </a:solidFill>
        </p:spPr>
        <p:txBody>
          <a:bodyPr wrap="square">
            <a:spAutoFit/>
          </a:bodyPr>
          <a:lstStyle/>
          <a:p>
            <a:pPr>
              <a:lnSpc>
                <a:spcPct val="150000"/>
              </a:lnSpc>
            </a:pPr>
            <a:r>
              <a:rPr lang="en-US" sz="2800" b="1" dirty="0">
                <a:latin typeface="+mn-lt"/>
              </a:rPr>
              <a:t>Assessment 3 = reflection stage</a:t>
            </a:r>
          </a:p>
          <a:p>
            <a:pPr>
              <a:lnSpc>
                <a:spcPct val="150000"/>
              </a:lnSpc>
            </a:pPr>
            <a:r>
              <a:rPr lang="en-US" sz="2800" dirty="0">
                <a:latin typeface="+mn-lt"/>
              </a:rPr>
              <a:t>Students individually look at a virtual internship and ask:</a:t>
            </a:r>
          </a:p>
          <a:p>
            <a:pPr marL="914400" lvl="1" indent="-457200">
              <a:lnSpc>
                <a:spcPct val="150000"/>
              </a:lnSpc>
              <a:buFont typeface="Arial" panose="020B0604020202020204" pitchFamily="34" charset="0"/>
              <a:buChar char="•"/>
            </a:pPr>
            <a:r>
              <a:rPr lang="en-US" sz="2800" dirty="0">
                <a:latin typeface="+mn-lt"/>
              </a:rPr>
              <a:t>how do real professionals define problems? </a:t>
            </a:r>
          </a:p>
          <a:p>
            <a:pPr marL="914400" lvl="1" indent="-457200">
              <a:lnSpc>
                <a:spcPct val="150000"/>
              </a:lnSpc>
              <a:buFont typeface="Arial" panose="020B0604020202020204" pitchFamily="34" charset="0"/>
              <a:buChar char="•"/>
            </a:pPr>
            <a:r>
              <a:rPr lang="en-US" sz="2800" dirty="0">
                <a:latin typeface="+mn-lt"/>
              </a:rPr>
              <a:t>how do they gather requirements? </a:t>
            </a:r>
          </a:p>
          <a:p>
            <a:pPr marL="914400" lvl="1" indent="-457200">
              <a:lnSpc>
                <a:spcPct val="150000"/>
              </a:lnSpc>
              <a:buFont typeface="Arial" panose="020B0604020202020204" pitchFamily="34" charset="0"/>
              <a:buChar char="•"/>
            </a:pPr>
            <a:r>
              <a:rPr lang="en-US" sz="2800" dirty="0">
                <a:latin typeface="+mn-lt"/>
              </a:rPr>
              <a:t>how do they choose technology? </a:t>
            </a:r>
          </a:p>
          <a:p>
            <a:pPr marL="914400" lvl="1" indent="-457200">
              <a:lnSpc>
                <a:spcPct val="150000"/>
              </a:lnSpc>
              <a:buFont typeface="Arial" panose="020B0604020202020204" pitchFamily="34" charset="0"/>
              <a:buChar char="•"/>
            </a:pPr>
            <a:r>
              <a:rPr lang="en-US" sz="2800" dirty="0">
                <a:latin typeface="+mn-lt"/>
              </a:rPr>
              <a:t>what can I learn from that for my own IT project work?</a:t>
            </a:r>
          </a:p>
        </p:txBody>
      </p:sp>
    </p:spTree>
    <p:extLst>
      <p:ext uri="{BB962C8B-B14F-4D97-AF65-F5344CB8AC3E}">
        <p14:creationId xmlns:p14="http://schemas.microsoft.com/office/powerpoint/2010/main" val="248539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A5028-3CC4-F415-0A83-23DD1924106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E101A59-E862-5286-E477-6B01A1D90A3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E1DEEA6-CF35-ED64-C33D-A6B0E6776BF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7BBC4C2-64DE-8A2D-62BC-E6F4E94438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471D58E1-8BFA-C34C-5771-61E26170A9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2247859-9C6C-4167-41AC-281EA3CF07F8}"/>
              </a:ext>
            </a:extLst>
          </p:cNvPr>
          <p:cNvSpPr txBox="1"/>
          <p:nvPr/>
        </p:nvSpPr>
        <p:spPr>
          <a:xfrm>
            <a:off x="0" y="1631569"/>
            <a:ext cx="9144000" cy="5226431"/>
          </a:xfrm>
          <a:prstGeom prst="rect">
            <a:avLst/>
          </a:prstGeom>
          <a:solidFill>
            <a:schemeClr val="bg1"/>
          </a:solidFill>
        </p:spPr>
        <p:txBody>
          <a:bodyPr wrap="square">
            <a:spAutoFit/>
          </a:bodyPr>
          <a:lstStyle/>
          <a:p>
            <a:pPr>
              <a:lnSpc>
                <a:spcPct val="150000"/>
              </a:lnSpc>
            </a:pPr>
            <a:r>
              <a:rPr lang="en-US" sz="2500" b="1" dirty="0">
                <a:latin typeface="+mn-lt"/>
              </a:rPr>
              <a:t>Is Assessment 3 an extension of Assessment 2?</a:t>
            </a:r>
          </a:p>
          <a:p>
            <a:pPr>
              <a:lnSpc>
                <a:spcPct val="150000"/>
              </a:lnSpc>
            </a:pPr>
            <a:r>
              <a:rPr lang="en-US" sz="2500" dirty="0">
                <a:latin typeface="+mn-lt"/>
              </a:rPr>
              <a:t>Yes, in an academic sense, it is a continuation or extension of the same learning journey.</a:t>
            </a:r>
          </a:p>
          <a:p>
            <a:pPr>
              <a:lnSpc>
                <a:spcPct val="150000"/>
              </a:lnSpc>
            </a:pPr>
            <a:r>
              <a:rPr lang="en-US" sz="2500" dirty="0">
                <a:latin typeface="+mn-lt"/>
              </a:rPr>
              <a:t>Not exactly the same task, but it builds on similar ideas.</a:t>
            </a:r>
          </a:p>
          <a:p>
            <a:pPr>
              <a:lnSpc>
                <a:spcPct val="150000"/>
              </a:lnSpc>
            </a:pPr>
            <a:r>
              <a:rPr lang="en-US" sz="2500" b="1" dirty="0">
                <a:latin typeface="+mn-lt"/>
              </a:rPr>
              <a:t>Assessment 2 focuses on:</a:t>
            </a:r>
          </a:p>
          <a:p>
            <a:pPr marL="800100" lvl="1" indent="-342900">
              <a:lnSpc>
                <a:spcPct val="150000"/>
              </a:lnSpc>
              <a:buFont typeface="Arial" panose="020B0604020202020204" pitchFamily="34" charset="0"/>
              <a:buChar char="•"/>
            </a:pPr>
            <a:r>
              <a:rPr lang="en-US" sz="2500" dirty="0">
                <a:latin typeface="+mn-lt"/>
              </a:rPr>
              <a:t>your group’s own early project thinking </a:t>
            </a:r>
          </a:p>
          <a:p>
            <a:pPr>
              <a:lnSpc>
                <a:spcPct val="150000"/>
              </a:lnSpc>
            </a:pPr>
            <a:r>
              <a:rPr lang="en-US" sz="2500" b="1" dirty="0">
                <a:latin typeface="+mn-lt"/>
              </a:rPr>
              <a:t>Assessment 3 focuses on:</a:t>
            </a:r>
          </a:p>
          <a:p>
            <a:pPr marL="800100" lvl="1" indent="-342900">
              <a:lnSpc>
                <a:spcPct val="150000"/>
              </a:lnSpc>
              <a:buFont typeface="Arial" panose="020B0604020202020204" pitchFamily="34" charset="0"/>
              <a:buChar char="•"/>
            </a:pPr>
            <a:r>
              <a:rPr lang="en-US" sz="2500" dirty="0">
                <a:latin typeface="+mn-lt"/>
              </a:rPr>
              <a:t>reflecting on an industry-like experience and connecting it to project design and technology evaluation</a:t>
            </a:r>
          </a:p>
        </p:txBody>
      </p:sp>
    </p:spTree>
    <p:extLst>
      <p:ext uri="{BB962C8B-B14F-4D97-AF65-F5344CB8AC3E}">
        <p14:creationId xmlns:p14="http://schemas.microsoft.com/office/powerpoint/2010/main" val="20088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02598-2AE9-3E2E-82CB-82A989116AF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11998BB-0A25-C473-11E1-4084DE0FDAD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07E33E8-02A5-F965-F1B9-38C91D4ABAC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9AD60AF-FD80-63BC-01E9-33CA0810F12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7D08AE63-9720-A144-BD11-688248896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F43354B-F428-CA95-027B-6F9E65639970}"/>
              </a:ext>
            </a:extLst>
          </p:cNvPr>
          <p:cNvSpPr txBox="1"/>
          <p:nvPr/>
        </p:nvSpPr>
        <p:spPr>
          <a:xfrm>
            <a:off x="0" y="1631569"/>
            <a:ext cx="9144000" cy="5196166"/>
          </a:xfrm>
          <a:prstGeom prst="rect">
            <a:avLst/>
          </a:prstGeom>
          <a:solidFill>
            <a:schemeClr val="bg1"/>
          </a:solidFill>
        </p:spPr>
        <p:txBody>
          <a:bodyPr wrap="square">
            <a:spAutoFit/>
          </a:bodyPr>
          <a:lstStyle/>
          <a:p>
            <a:pPr>
              <a:lnSpc>
                <a:spcPct val="150000"/>
              </a:lnSpc>
            </a:pPr>
            <a:r>
              <a:rPr lang="en-US" sz="2800" b="1" dirty="0">
                <a:latin typeface="+mn-lt"/>
              </a:rPr>
              <a:t>Good sentence students can use:</a:t>
            </a:r>
          </a:p>
          <a:p>
            <a:pPr>
              <a:lnSpc>
                <a:spcPct val="150000"/>
              </a:lnSpc>
            </a:pPr>
            <a:r>
              <a:rPr lang="en-US" sz="2800" dirty="0">
                <a:latin typeface="+mn-lt"/>
              </a:rPr>
              <a:t>Assessment 3 can be seen as a continuation of the thinking developed in Assessment 2. In Assessment 2, my group explored an IT problem, initial design ideas, and possible technology options. In Assessment 3, the Forage internship helped me reflect on how similar processes are applied in an industry context, especially in relation to design stages and technology decision-making.</a:t>
            </a:r>
          </a:p>
        </p:txBody>
      </p:sp>
    </p:spTree>
    <p:extLst>
      <p:ext uri="{BB962C8B-B14F-4D97-AF65-F5344CB8AC3E}">
        <p14:creationId xmlns:p14="http://schemas.microsoft.com/office/powerpoint/2010/main" val="1570748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2EBBE-47C5-0BFD-7180-D8A8A103BB7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F56339-F9FC-9F1E-6CCE-B79E788993C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ABD02D1-667C-F9DC-02E6-6CE444D2D24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CF9C131-4F60-62DE-D602-783EBEA180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59826F90-EAEC-E060-C774-962E60A9C4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B98D073-D75D-5AA0-9BD5-3CA26ABBF2B0}"/>
              </a:ext>
            </a:extLst>
          </p:cNvPr>
          <p:cNvSpPr txBox="1"/>
          <p:nvPr/>
        </p:nvSpPr>
        <p:spPr>
          <a:xfrm>
            <a:off x="0" y="1631569"/>
            <a:ext cx="9144000" cy="5310043"/>
          </a:xfrm>
          <a:prstGeom prst="rect">
            <a:avLst/>
          </a:prstGeom>
          <a:solidFill>
            <a:schemeClr val="bg1"/>
          </a:solidFill>
        </p:spPr>
        <p:txBody>
          <a:bodyPr wrap="square">
            <a:spAutoFit/>
          </a:bodyPr>
          <a:lstStyle/>
          <a:p>
            <a:pPr>
              <a:lnSpc>
                <a:spcPct val="150000"/>
              </a:lnSpc>
            </a:pPr>
            <a:r>
              <a:rPr lang="en-US" sz="1900" b="1" dirty="0">
                <a:latin typeface="+mn-lt"/>
              </a:rPr>
              <a:t>5. What should students do first?</a:t>
            </a:r>
          </a:p>
          <a:p>
            <a:pPr>
              <a:lnSpc>
                <a:spcPct val="150000"/>
              </a:lnSpc>
            </a:pPr>
            <a:r>
              <a:rPr lang="en-US" sz="1900" b="1" dirty="0">
                <a:latin typeface="+mn-lt"/>
              </a:rPr>
              <a:t>Step 1: Choose the right Forage internship</a:t>
            </a:r>
          </a:p>
          <a:p>
            <a:pPr>
              <a:lnSpc>
                <a:spcPct val="150000"/>
              </a:lnSpc>
            </a:pPr>
            <a:r>
              <a:rPr lang="en-US" sz="1900" dirty="0">
                <a:latin typeface="+mn-lt"/>
              </a:rPr>
              <a:t>Pick one that is clearly related to:</a:t>
            </a:r>
          </a:p>
          <a:p>
            <a:pPr marL="536575" lvl="1" indent="-285750">
              <a:lnSpc>
                <a:spcPct val="150000"/>
              </a:lnSpc>
              <a:buFont typeface="Arial" panose="020B0604020202020204" pitchFamily="34" charset="0"/>
              <a:buChar char="•"/>
            </a:pPr>
            <a:r>
              <a:rPr lang="en-US" sz="1900" dirty="0">
                <a:latin typeface="+mn-lt"/>
              </a:rPr>
              <a:t>IT </a:t>
            </a:r>
          </a:p>
          <a:p>
            <a:pPr marL="536575" lvl="1" indent="-285750">
              <a:lnSpc>
                <a:spcPct val="150000"/>
              </a:lnSpc>
              <a:buFont typeface="Arial" panose="020B0604020202020204" pitchFamily="34" charset="0"/>
              <a:buChar char="•"/>
            </a:pPr>
            <a:r>
              <a:rPr lang="en-US" sz="1900" dirty="0">
                <a:latin typeface="+mn-lt"/>
              </a:rPr>
              <a:t>software development </a:t>
            </a:r>
          </a:p>
          <a:p>
            <a:pPr marL="536575" lvl="1" indent="-285750">
              <a:lnSpc>
                <a:spcPct val="150000"/>
              </a:lnSpc>
              <a:buFont typeface="Arial" panose="020B0604020202020204" pitchFamily="34" charset="0"/>
              <a:buChar char="•"/>
            </a:pPr>
            <a:r>
              <a:rPr lang="en-US" sz="1900" dirty="0">
                <a:latin typeface="+mn-lt"/>
              </a:rPr>
              <a:t>data analytics </a:t>
            </a:r>
          </a:p>
          <a:p>
            <a:pPr marL="536575" lvl="1" indent="-285750">
              <a:lnSpc>
                <a:spcPct val="150000"/>
              </a:lnSpc>
              <a:buFont typeface="Arial" panose="020B0604020202020204" pitchFamily="34" charset="0"/>
              <a:buChar char="•"/>
            </a:pPr>
            <a:r>
              <a:rPr lang="en-US" sz="1900" dirty="0">
                <a:latin typeface="+mn-lt"/>
              </a:rPr>
              <a:t>cybersecurity </a:t>
            </a:r>
          </a:p>
          <a:p>
            <a:pPr marL="536575" lvl="1" indent="-285750">
              <a:lnSpc>
                <a:spcPct val="150000"/>
              </a:lnSpc>
              <a:buFont typeface="Arial" panose="020B0604020202020204" pitchFamily="34" charset="0"/>
              <a:buChar char="•"/>
            </a:pPr>
            <a:r>
              <a:rPr lang="en-US" sz="1900" dirty="0">
                <a:latin typeface="+mn-lt"/>
              </a:rPr>
              <a:t>system design </a:t>
            </a:r>
          </a:p>
          <a:p>
            <a:pPr marL="536575" lvl="1" indent="-285750">
              <a:lnSpc>
                <a:spcPct val="150000"/>
              </a:lnSpc>
              <a:buFont typeface="Arial" panose="020B0604020202020204" pitchFamily="34" charset="0"/>
              <a:buChar char="•"/>
            </a:pPr>
            <a:r>
              <a:rPr lang="en-US" sz="1900" dirty="0">
                <a:latin typeface="+mn-lt"/>
              </a:rPr>
              <a:t>business analysis </a:t>
            </a:r>
          </a:p>
          <a:p>
            <a:pPr marL="536575" lvl="1" indent="-285750">
              <a:lnSpc>
                <a:spcPct val="150000"/>
              </a:lnSpc>
              <a:buFont typeface="Arial" panose="020B0604020202020204" pitchFamily="34" charset="0"/>
              <a:buChar char="•"/>
            </a:pPr>
            <a:r>
              <a:rPr lang="en-US" sz="1900" dirty="0">
                <a:latin typeface="+mn-lt"/>
              </a:rPr>
              <a:t>cloud </a:t>
            </a:r>
          </a:p>
          <a:p>
            <a:pPr marL="536575" lvl="1" indent="-285750">
              <a:lnSpc>
                <a:spcPct val="150000"/>
              </a:lnSpc>
              <a:buFont typeface="Arial" panose="020B0604020202020204" pitchFamily="34" charset="0"/>
              <a:buChar char="•"/>
            </a:pPr>
            <a:r>
              <a:rPr lang="en-US" sz="1900" dirty="0">
                <a:latin typeface="+mn-lt"/>
              </a:rPr>
              <a:t>digital transformation </a:t>
            </a:r>
          </a:p>
          <a:p>
            <a:pPr marL="536575" lvl="1" indent="-285750">
              <a:lnSpc>
                <a:spcPct val="150000"/>
              </a:lnSpc>
              <a:buFont typeface="Arial" panose="020B0604020202020204" pitchFamily="34" charset="0"/>
              <a:buChar char="•"/>
            </a:pPr>
            <a:r>
              <a:rPr lang="en-US" sz="1900" dirty="0">
                <a:latin typeface="+mn-lt"/>
              </a:rPr>
              <a:t>solution architecture</a:t>
            </a:r>
          </a:p>
        </p:txBody>
      </p:sp>
    </p:spTree>
    <p:extLst>
      <p:ext uri="{BB962C8B-B14F-4D97-AF65-F5344CB8AC3E}">
        <p14:creationId xmlns:p14="http://schemas.microsoft.com/office/powerpoint/2010/main" val="229602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1000"/>
                                        <p:tgtEl>
                                          <p:spTgt spid="5">
                                            <p:txEl>
                                              <p:pRg st="7" end="7"/>
                                            </p:txEl>
                                          </p:spTgt>
                                        </p:tgtEl>
                                      </p:cBhvr>
                                    </p:animEffect>
                                    <p:anim calcmode="lin" valueType="num">
                                      <p:cBhvr>
                                        <p:cTn id="3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fade">
                                      <p:cBhvr>
                                        <p:cTn id="47" dur="1000"/>
                                        <p:tgtEl>
                                          <p:spTgt spid="5">
                                            <p:txEl>
                                              <p:pRg st="9" end="9"/>
                                            </p:txEl>
                                          </p:spTgt>
                                        </p:tgtEl>
                                      </p:cBhvr>
                                    </p:animEffect>
                                    <p:anim calcmode="lin" valueType="num">
                                      <p:cBhvr>
                                        <p:cTn id="48"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fade">
                                      <p:cBhvr>
                                        <p:cTn id="52" dur="1000"/>
                                        <p:tgtEl>
                                          <p:spTgt spid="5">
                                            <p:txEl>
                                              <p:pRg st="10" end="10"/>
                                            </p:txEl>
                                          </p:spTgt>
                                        </p:tgtEl>
                                      </p:cBhvr>
                                    </p:animEffect>
                                    <p:anim calcmode="lin" valueType="num">
                                      <p:cBhvr>
                                        <p:cTn id="53"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5">
                                            <p:txEl>
                                              <p:pRg st="11" end="11"/>
                                            </p:txEl>
                                          </p:spTgt>
                                        </p:tgtEl>
                                        <p:attrNameLst>
                                          <p:attrName>style.visibility</p:attrName>
                                        </p:attrNameLst>
                                      </p:cBhvr>
                                      <p:to>
                                        <p:strVal val="visible"/>
                                      </p:to>
                                    </p:set>
                                    <p:animEffect transition="in" filter="fade">
                                      <p:cBhvr>
                                        <p:cTn id="57" dur="1000"/>
                                        <p:tgtEl>
                                          <p:spTgt spid="5">
                                            <p:txEl>
                                              <p:pRg st="11" end="11"/>
                                            </p:txEl>
                                          </p:spTgt>
                                        </p:tgtEl>
                                      </p:cBhvr>
                                    </p:animEffect>
                                    <p:anim calcmode="lin" valueType="num">
                                      <p:cBhvr>
                                        <p:cTn id="58"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E6A4-D344-0F7A-D428-3E0F4125FF3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0A90DEF-7476-976A-CB74-E3282AF0A29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356CFFF-5997-AEE0-0B33-656468CB51C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041CBDD-7AE4-8A59-C3AD-DE744D6BCB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328BC947-89D7-80EF-C870-A92A31385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FCE5EF2-92C0-7260-563C-49E32652920A}"/>
              </a:ext>
            </a:extLst>
          </p:cNvPr>
          <p:cNvSpPr txBox="1"/>
          <p:nvPr/>
        </p:nvSpPr>
        <p:spPr>
          <a:xfrm>
            <a:off x="0" y="1631569"/>
            <a:ext cx="9144000" cy="4649350"/>
          </a:xfrm>
          <a:prstGeom prst="rect">
            <a:avLst/>
          </a:prstGeom>
          <a:solidFill>
            <a:schemeClr val="bg1"/>
          </a:solidFill>
        </p:spPr>
        <p:txBody>
          <a:bodyPr wrap="square">
            <a:spAutoFit/>
          </a:bodyPr>
          <a:lstStyle/>
          <a:p>
            <a:pPr>
              <a:lnSpc>
                <a:spcPct val="150000"/>
              </a:lnSpc>
            </a:pPr>
            <a:r>
              <a:rPr lang="en-US" sz="2500" b="1" dirty="0">
                <a:latin typeface="+mn-lt"/>
              </a:rPr>
              <a:t>Best choice</a:t>
            </a:r>
          </a:p>
          <a:p>
            <a:pPr>
              <a:lnSpc>
                <a:spcPct val="150000"/>
              </a:lnSpc>
            </a:pPr>
            <a:r>
              <a:rPr lang="en-US" sz="2500" dirty="0">
                <a:latin typeface="+mn-lt"/>
              </a:rPr>
              <a:t>Choose one where tasks involve things like:</a:t>
            </a:r>
          </a:p>
          <a:p>
            <a:pPr marL="800100" lvl="1" indent="-342900">
              <a:lnSpc>
                <a:spcPct val="150000"/>
              </a:lnSpc>
              <a:buFont typeface="Arial" panose="020B0604020202020204" pitchFamily="34" charset="0"/>
              <a:buChar char="•"/>
            </a:pPr>
            <a:r>
              <a:rPr lang="en-US" sz="2500" dirty="0">
                <a:latin typeface="+mn-lt"/>
              </a:rPr>
              <a:t>understanding a business problem </a:t>
            </a:r>
          </a:p>
          <a:p>
            <a:pPr marL="800100" lvl="1" indent="-342900">
              <a:lnSpc>
                <a:spcPct val="150000"/>
              </a:lnSpc>
              <a:buFont typeface="Arial" panose="020B0604020202020204" pitchFamily="34" charset="0"/>
              <a:buChar char="•"/>
            </a:pPr>
            <a:r>
              <a:rPr lang="en-US" sz="2500" dirty="0">
                <a:latin typeface="+mn-lt"/>
              </a:rPr>
              <a:t>gathering requirements </a:t>
            </a:r>
          </a:p>
          <a:p>
            <a:pPr marL="800100" lvl="1" indent="-342900">
              <a:lnSpc>
                <a:spcPct val="150000"/>
              </a:lnSpc>
              <a:buFont typeface="Arial" panose="020B0604020202020204" pitchFamily="34" charset="0"/>
              <a:buChar char="•"/>
            </a:pPr>
            <a:r>
              <a:rPr lang="en-US" sz="2500" dirty="0" err="1">
                <a:latin typeface="+mn-lt"/>
              </a:rPr>
              <a:t>analysing</a:t>
            </a:r>
            <a:r>
              <a:rPr lang="en-US" sz="2500" dirty="0">
                <a:latin typeface="+mn-lt"/>
              </a:rPr>
              <a:t> data </a:t>
            </a:r>
          </a:p>
          <a:p>
            <a:pPr marL="800100" lvl="1" indent="-342900">
              <a:lnSpc>
                <a:spcPct val="150000"/>
              </a:lnSpc>
              <a:buFont typeface="Arial" panose="020B0604020202020204" pitchFamily="34" charset="0"/>
              <a:buChar char="•"/>
            </a:pPr>
            <a:r>
              <a:rPr lang="en-US" sz="2500" dirty="0">
                <a:latin typeface="+mn-lt"/>
              </a:rPr>
              <a:t>suggesting a solution </a:t>
            </a:r>
          </a:p>
          <a:p>
            <a:pPr marL="800100" lvl="1" indent="-342900">
              <a:lnSpc>
                <a:spcPct val="150000"/>
              </a:lnSpc>
              <a:buFont typeface="Arial" panose="020B0604020202020204" pitchFamily="34" charset="0"/>
              <a:buChar char="•"/>
            </a:pPr>
            <a:r>
              <a:rPr lang="en-US" sz="2500" dirty="0">
                <a:latin typeface="+mn-lt"/>
              </a:rPr>
              <a:t>comparing tools or platforms </a:t>
            </a:r>
          </a:p>
          <a:p>
            <a:pPr marL="800100" lvl="1" indent="-342900">
              <a:lnSpc>
                <a:spcPct val="150000"/>
              </a:lnSpc>
              <a:buFont typeface="Arial" panose="020B0604020202020204" pitchFamily="34" charset="0"/>
              <a:buChar char="•"/>
            </a:pPr>
            <a:r>
              <a:rPr lang="en-US" sz="2500" dirty="0">
                <a:latin typeface="+mn-lt"/>
              </a:rPr>
              <a:t>making technical decisions</a:t>
            </a:r>
          </a:p>
        </p:txBody>
      </p:sp>
    </p:spTree>
    <p:extLst>
      <p:ext uri="{BB962C8B-B14F-4D97-AF65-F5344CB8AC3E}">
        <p14:creationId xmlns:p14="http://schemas.microsoft.com/office/powerpoint/2010/main" val="4709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4D441-B650-1021-7FF5-206CA193C9B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2666734-50D4-471D-2A0E-07309EAF1EE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ACA6CB7-D81F-73C0-E77F-72DD05085D9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D4B0F57-429B-E52A-DEFF-CAD870D948B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70259E1B-4B80-FD77-A758-9985329A2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D121B06-A943-5C7E-2725-C77677D3F769}"/>
              </a:ext>
            </a:extLst>
          </p:cNvPr>
          <p:cNvSpPr txBox="1"/>
          <p:nvPr/>
        </p:nvSpPr>
        <p:spPr>
          <a:xfrm>
            <a:off x="0" y="1631569"/>
            <a:ext cx="9144000" cy="2610843"/>
          </a:xfrm>
          <a:prstGeom prst="rect">
            <a:avLst/>
          </a:prstGeom>
          <a:solidFill>
            <a:schemeClr val="bg1"/>
          </a:solidFill>
        </p:spPr>
        <p:txBody>
          <a:bodyPr wrap="square">
            <a:spAutoFit/>
          </a:bodyPr>
          <a:lstStyle/>
          <a:p>
            <a:pPr>
              <a:lnSpc>
                <a:spcPct val="150000"/>
              </a:lnSpc>
            </a:pPr>
            <a:r>
              <a:rPr lang="en-US" sz="2800" b="1" dirty="0">
                <a:latin typeface="+mn-lt"/>
              </a:rPr>
              <a:t>Avoid choosing a program that is too unrelated</a:t>
            </a:r>
          </a:p>
          <a:p>
            <a:pPr>
              <a:lnSpc>
                <a:spcPct val="150000"/>
              </a:lnSpc>
            </a:pPr>
            <a:r>
              <a:rPr lang="en-US" sz="2800" dirty="0">
                <a:latin typeface="+mn-lt"/>
              </a:rPr>
              <a:t>For example, if it is mostly legal writing or finance with almost no technology/design element, it may be harder to connect to SLO1 and SLO2.</a:t>
            </a:r>
          </a:p>
        </p:txBody>
      </p:sp>
    </p:spTree>
    <p:extLst>
      <p:ext uri="{BB962C8B-B14F-4D97-AF65-F5344CB8AC3E}">
        <p14:creationId xmlns:p14="http://schemas.microsoft.com/office/powerpoint/2010/main" val="2481070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FFD0-78FA-A5F4-12EE-E96A794F22E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2E799FC-86B8-DCFC-FE03-F0D84E4C6E9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20C8AB7-6AAD-0D2D-AD43-13087D55920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D343078-98B6-C0DD-D689-F7B817D33A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0615E6ED-26D8-D1AF-1F00-BC74855FA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0037CC8-0469-8E6B-BC95-BB00EF8C3778}"/>
              </a:ext>
            </a:extLst>
          </p:cNvPr>
          <p:cNvSpPr txBox="1"/>
          <p:nvPr/>
        </p:nvSpPr>
        <p:spPr>
          <a:xfrm>
            <a:off x="4491" y="1472735"/>
            <a:ext cx="9144000" cy="4649350"/>
          </a:xfrm>
          <a:prstGeom prst="rect">
            <a:avLst/>
          </a:prstGeom>
          <a:solidFill>
            <a:schemeClr val="bg1"/>
          </a:solidFill>
        </p:spPr>
        <p:txBody>
          <a:bodyPr wrap="square">
            <a:spAutoFit/>
          </a:bodyPr>
          <a:lstStyle/>
          <a:p>
            <a:pPr>
              <a:lnSpc>
                <a:spcPct val="150000"/>
              </a:lnSpc>
            </a:pPr>
            <a:r>
              <a:rPr lang="en-US" sz="2500" b="1" dirty="0">
                <a:latin typeface="+mn-lt"/>
              </a:rPr>
              <a:t>6. What notes should students take during the Forage internship?</a:t>
            </a:r>
          </a:p>
          <a:p>
            <a:pPr>
              <a:lnSpc>
                <a:spcPct val="150000"/>
              </a:lnSpc>
            </a:pPr>
            <a:r>
              <a:rPr lang="en-US" sz="2500" dirty="0">
                <a:latin typeface="+mn-lt"/>
              </a:rPr>
              <a:t>Tell students to make notes while doing the internship.</a:t>
            </a:r>
          </a:p>
          <a:p>
            <a:pPr>
              <a:lnSpc>
                <a:spcPct val="150000"/>
              </a:lnSpc>
            </a:pPr>
            <a:r>
              <a:rPr lang="en-US" sz="2500" dirty="0">
                <a:latin typeface="+mn-lt"/>
              </a:rPr>
              <a:t>They should write down:</a:t>
            </a:r>
          </a:p>
          <a:p>
            <a:pPr>
              <a:lnSpc>
                <a:spcPct val="150000"/>
              </a:lnSpc>
            </a:pPr>
            <a:r>
              <a:rPr lang="en-US" sz="2500" b="1" dirty="0">
                <a:latin typeface="+mn-lt"/>
              </a:rPr>
              <a:t>Basic details</a:t>
            </a:r>
          </a:p>
          <a:p>
            <a:pPr marL="800100" lvl="1" indent="-342900">
              <a:lnSpc>
                <a:spcPct val="150000"/>
              </a:lnSpc>
              <a:buFont typeface="Arial" panose="020B0604020202020204" pitchFamily="34" charset="0"/>
              <a:buChar char="•"/>
            </a:pPr>
            <a:r>
              <a:rPr lang="en-US" sz="2500" dirty="0">
                <a:latin typeface="+mn-lt"/>
              </a:rPr>
              <a:t>company name </a:t>
            </a:r>
          </a:p>
          <a:p>
            <a:pPr marL="800100" lvl="1" indent="-342900">
              <a:lnSpc>
                <a:spcPct val="150000"/>
              </a:lnSpc>
              <a:buFont typeface="Arial" panose="020B0604020202020204" pitchFamily="34" charset="0"/>
              <a:buChar char="•"/>
            </a:pPr>
            <a:r>
              <a:rPr lang="en-US" sz="2500" dirty="0">
                <a:latin typeface="+mn-lt"/>
              </a:rPr>
              <a:t>internship/program title </a:t>
            </a:r>
          </a:p>
          <a:p>
            <a:pPr marL="800100" lvl="1" indent="-342900">
              <a:lnSpc>
                <a:spcPct val="150000"/>
              </a:lnSpc>
              <a:buFont typeface="Arial" panose="020B0604020202020204" pitchFamily="34" charset="0"/>
              <a:buChar char="•"/>
            </a:pPr>
            <a:r>
              <a:rPr lang="en-US" sz="2500" dirty="0">
                <a:latin typeface="+mn-lt"/>
              </a:rPr>
              <a:t>number of modules </a:t>
            </a:r>
          </a:p>
          <a:p>
            <a:pPr marL="800100" lvl="1" indent="-342900">
              <a:lnSpc>
                <a:spcPct val="150000"/>
              </a:lnSpc>
              <a:buFont typeface="Arial" panose="020B0604020202020204" pitchFamily="34" charset="0"/>
              <a:buChar char="•"/>
            </a:pPr>
            <a:r>
              <a:rPr lang="en-US" sz="2500" dirty="0">
                <a:latin typeface="+mn-lt"/>
              </a:rPr>
              <a:t>estimated duration</a:t>
            </a:r>
          </a:p>
        </p:txBody>
      </p:sp>
    </p:spTree>
    <p:extLst>
      <p:ext uri="{BB962C8B-B14F-4D97-AF65-F5344CB8AC3E}">
        <p14:creationId xmlns:p14="http://schemas.microsoft.com/office/powerpoint/2010/main" val="3259856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40482-C9EA-196B-3B07-9648F3701FF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B4C658E-7F75-FDA1-CEF5-7B5A17918FC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C8FA51B-B3CB-3D93-63D9-119048C5612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182A86A-81A5-5BCD-CD89-BDB23807F20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C5225CCF-E434-3080-ED7D-FCA607BFC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443199F-DDD9-1E03-DE56-10617FF09A68}"/>
              </a:ext>
            </a:extLst>
          </p:cNvPr>
          <p:cNvSpPr txBox="1"/>
          <p:nvPr/>
        </p:nvSpPr>
        <p:spPr>
          <a:xfrm>
            <a:off x="4491" y="1472735"/>
            <a:ext cx="9144000" cy="5226431"/>
          </a:xfrm>
          <a:prstGeom prst="rect">
            <a:avLst/>
          </a:prstGeom>
          <a:solidFill>
            <a:schemeClr val="bg1"/>
          </a:solidFill>
        </p:spPr>
        <p:txBody>
          <a:bodyPr wrap="square">
            <a:spAutoFit/>
          </a:bodyPr>
          <a:lstStyle/>
          <a:p>
            <a:pPr>
              <a:lnSpc>
                <a:spcPct val="150000"/>
              </a:lnSpc>
            </a:pPr>
            <a:r>
              <a:rPr lang="en-US" sz="2500" b="1" dirty="0">
                <a:latin typeface="+mn-lt"/>
              </a:rPr>
              <a:t>Task details</a:t>
            </a:r>
          </a:p>
          <a:p>
            <a:pPr>
              <a:lnSpc>
                <a:spcPct val="150000"/>
              </a:lnSpc>
            </a:pPr>
            <a:r>
              <a:rPr lang="en-US" sz="2500" dirty="0">
                <a:latin typeface="+mn-lt"/>
              </a:rPr>
              <a:t>For each module/task:</a:t>
            </a:r>
          </a:p>
          <a:p>
            <a:pPr marL="800100" lvl="1" indent="-342900">
              <a:lnSpc>
                <a:spcPct val="150000"/>
              </a:lnSpc>
              <a:buFont typeface="Arial" panose="020B0604020202020204" pitchFamily="34" charset="0"/>
              <a:buChar char="•"/>
            </a:pPr>
            <a:r>
              <a:rPr lang="en-US" sz="2500" dirty="0">
                <a:latin typeface="+mn-lt"/>
              </a:rPr>
              <a:t>what was the task? </a:t>
            </a:r>
          </a:p>
          <a:p>
            <a:pPr marL="800100" lvl="1" indent="-342900">
              <a:lnSpc>
                <a:spcPct val="150000"/>
              </a:lnSpc>
              <a:buFont typeface="Arial" panose="020B0604020202020204" pitchFamily="34" charset="0"/>
              <a:buChar char="•"/>
            </a:pPr>
            <a:r>
              <a:rPr lang="en-US" sz="2500" dirty="0">
                <a:latin typeface="+mn-lt"/>
              </a:rPr>
              <a:t>what problem was being solved? </a:t>
            </a:r>
          </a:p>
          <a:p>
            <a:pPr marL="800100" lvl="1" indent="-342900">
              <a:lnSpc>
                <a:spcPct val="150000"/>
              </a:lnSpc>
              <a:buFont typeface="Arial" panose="020B0604020202020204" pitchFamily="34" charset="0"/>
              <a:buChar char="•"/>
            </a:pPr>
            <a:r>
              <a:rPr lang="en-US" sz="2500" dirty="0">
                <a:latin typeface="+mn-lt"/>
              </a:rPr>
              <a:t>who was the client/user/stakeholder? </a:t>
            </a:r>
          </a:p>
          <a:p>
            <a:pPr marL="800100" lvl="1" indent="-342900">
              <a:lnSpc>
                <a:spcPct val="150000"/>
              </a:lnSpc>
              <a:buFont typeface="Arial" panose="020B0604020202020204" pitchFamily="34" charset="0"/>
              <a:buChar char="•"/>
            </a:pPr>
            <a:r>
              <a:rPr lang="en-US" sz="2500" dirty="0">
                <a:latin typeface="+mn-lt"/>
              </a:rPr>
              <a:t>what information was given? </a:t>
            </a:r>
          </a:p>
          <a:p>
            <a:pPr marL="800100" lvl="1" indent="-342900">
              <a:lnSpc>
                <a:spcPct val="150000"/>
              </a:lnSpc>
              <a:buFont typeface="Arial" panose="020B0604020202020204" pitchFamily="34" charset="0"/>
              <a:buChar char="•"/>
            </a:pPr>
            <a:r>
              <a:rPr lang="en-US" sz="2500" dirty="0">
                <a:latin typeface="+mn-lt"/>
              </a:rPr>
              <a:t>what decision had to be made? </a:t>
            </a:r>
          </a:p>
          <a:p>
            <a:pPr marL="800100" lvl="1" indent="-342900">
              <a:lnSpc>
                <a:spcPct val="150000"/>
              </a:lnSpc>
              <a:buFont typeface="Arial" panose="020B0604020202020204" pitchFamily="34" charset="0"/>
              <a:buChar char="•"/>
            </a:pPr>
            <a:r>
              <a:rPr lang="en-US" sz="2500" dirty="0">
                <a:latin typeface="+mn-lt"/>
              </a:rPr>
              <a:t>what technologies, tools, platforms, or approaches were mentioned?</a:t>
            </a:r>
          </a:p>
        </p:txBody>
      </p:sp>
    </p:spTree>
    <p:extLst>
      <p:ext uri="{BB962C8B-B14F-4D97-AF65-F5344CB8AC3E}">
        <p14:creationId xmlns:p14="http://schemas.microsoft.com/office/powerpoint/2010/main" val="1400025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9668-86A0-A691-8089-B45AF49E2EF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33B6E9E-4EC1-3502-A5C6-5ABB014C9DC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7BB6FE9-9880-6C16-D6A2-625B2EDBAB8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97DDF11-2BC2-2022-7489-248F9A38EE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ADF3D4F7-601C-2BF0-E553-AE3A9AEC9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7928D0E-7032-B017-9742-50EB7F678B8E}"/>
              </a:ext>
            </a:extLst>
          </p:cNvPr>
          <p:cNvSpPr txBox="1"/>
          <p:nvPr/>
        </p:nvSpPr>
        <p:spPr>
          <a:xfrm>
            <a:off x="4491" y="1472735"/>
            <a:ext cx="9144000" cy="5196166"/>
          </a:xfrm>
          <a:prstGeom prst="rect">
            <a:avLst/>
          </a:prstGeom>
          <a:solidFill>
            <a:schemeClr val="bg1"/>
          </a:solidFill>
        </p:spPr>
        <p:txBody>
          <a:bodyPr wrap="square">
            <a:spAutoFit/>
          </a:bodyPr>
          <a:lstStyle/>
          <a:p>
            <a:pPr>
              <a:lnSpc>
                <a:spcPct val="150000"/>
              </a:lnSpc>
            </a:pPr>
            <a:r>
              <a:rPr lang="en-US" sz="2800" b="1" dirty="0">
                <a:latin typeface="+mn-lt"/>
              </a:rPr>
              <a:t>Design process clues</a:t>
            </a:r>
          </a:p>
          <a:p>
            <a:pPr>
              <a:lnSpc>
                <a:spcPct val="150000"/>
              </a:lnSpc>
            </a:pPr>
            <a:r>
              <a:rPr lang="en-US" sz="2800" dirty="0">
                <a:latin typeface="+mn-lt"/>
              </a:rPr>
              <a:t>Even if Forage does not say “design process,” ask:</a:t>
            </a:r>
          </a:p>
          <a:p>
            <a:pPr marL="914400" lvl="1" indent="-457200">
              <a:lnSpc>
                <a:spcPct val="150000"/>
              </a:lnSpc>
              <a:buFont typeface="Arial" panose="020B0604020202020204" pitchFamily="34" charset="0"/>
              <a:buChar char="•"/>
            </a:pPr>
            <a:r>
              <a:rPr lang="en-US" sz="2800" dirty="0">
                <a:latin typeface="+mn-lt"/>
              </a:rPr>
              <a:t>Was there problem definition? </a:t>
            </a:r>
          </a:p>
          <a:p>
            <a:pPr marL="914400" lvl="1" indent="-457200">
              <a:lnSpc>
                <a:spcPct val="150000"/>
              </a:lnSpc>
              <a:buFont typeface="Arial" panose="020B0604020202020204" pitchFamily="34" charset="0"/>
              <a:buChar char="•"/>
            </a:pPr>
            <a:r>
              <a:rPr lang="en-US" sz="2800" dirty="0">
                <a:latin typeface="+mn-lt"/>
              </a:rPr>
              <a:t>Were requirements identified? </a:t>
            </a:r>
          </a:p>
          <a:p>
            <a:pPr marL="914400" lvl="1" indent="-457200">
              <a:lnSpc>
                <a:spcPct val="150000"/>
              </a:lnSpc>
              <a:buFont typeface="Arial" panose="020B0604020202020204" pitchFamily="34" charset="0"/>
              <a:buChar char="•"/>
            </a:pPr>
            <a:r>
              <a:rPr lang="en-US" sz="2800" dirty="0">
                <a:latin typeface="+mn-lt"/>
              </a:rPr>
              <a:t>Was there planning? </a:t>
            </a:r>
          </a:p>
          <a:p>
            <a:pPr marL="914400" lvl="1" indent="-457200">
              <a:lnSpc>
                <a:spcPct val="150000"/>
              </a:lnSpc>
              <a:buFont typeface="Arial" panose="020B0604020202020204" pitchFamily="34" charset="0"/>
              <a:buChar char="•"/>
            </a:pPr>
            <a:r>
              <a:rPr lang="en-US" sz="2800" dirty="0">
                <a:latin typeface="+mn-lt"/>
              </a:rPr>
              <a:t>Was a solution proposed? </a:t>
            </a:r>
          </a:p>
          <a:p>
            <a:pPr marL="914400" lvl="1" indent="-457200">
              <a:lnSpc>
                <a:spcPct val="150000"/>
              </a:lnSpc>
              <a:buFont typeface="Arial" panose="020B0604020202020204" pitchFamily="34" charset="0"/>
              <a:buChar char="•"/>
            </a:pPr>
            <a:r>
              <a:rPr lang="en-US" sz="2800" dirty="0">
                <a:latin typeface="+mn-lt"/>
              </a:rPr>
              <a:t>Was there testing or review? </a:t>
            </a:r>
          </a:p>
          <a:p>
            <a:pPr marL="914400" lvl="1" indent="-457200">
              <a:lnSpc>
                <a:spcPct val="150000"/>
              </a:lnSpc>
              <a:buFont typeface="Arial" panose="020B0604020202020204" pitchFamily="34" charset="0"/>
              <a:buChar char="•"/>
            </a:pPr>
            <a:r>
              <a:rPr lang="en-US" sz="2800" dirty="0">
                <a:latin typeface="+mn-lt"/>
              </a:rPr>
              <a:t>Was there iteration or improvement?</a:t>
            </a:r>
          </a:p>
        </p:txBody>
      </p:sp>
    </p:spTree>
    <p:extLst>
      <p:ext uri="{BB962C8B-B14F-4D97-AF65-F5344CB8AC3E}">
        <p14:creationId xmlns:p14="http://schemas.microsoft.com/office/powerpoint/2010/main" val="2411537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29D5-3B15-24C1-C972-2D2E31D5947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2FE4A31-7964-6A66-0679-BA1668EF196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12B6BA8-A68D-A771-4B89-0BF1A8915A8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C56E3F5-BDD0-E8DC-20DE-3AFE04D8E1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8761E27A-0059-DE77-E7C2-77ACB3387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BB36138-2B64-D388-FC09-33463C24726E}"/>
              </a:ext>
            </a:extLst>
          </p:cNvPr>
          <p:cNvSpPr txBox="1"/>
          <p:nvPr/>
        </p:nvSpPr>
        <p:spPr>
          <a:xfrm>
            <a:off x="4491" y="1407149"/>
            <a:ext cx="9144000" cy="5450851"/>
          </a:xfrm>
          <a:prstGeom prst="rect">
            <a:avLst/>
          </a:prstGeom>
          <a:solidFill>
            <a:schemeClr val="bg1"/>
          </a:solidFill>
        </p:spPr>
        <p:txBody>
          <a:bodyPr wrap="square">
            <a:spAutoFit/>
          </a:bodyPr>
          <a:lstStyle/>
          <a:p>
            <a:pPr>
              <a:lnSpc>
                <a:spcPct val="150000"/>
              </a:lnSpc>
            </a:pPr>
            <a:r>
              <a:rPr lang="en-US" b="1" dirty="0">
                <a:latin typeface="+mn-lt"/>
              </a:rPr>
              <a:t>Technology evaluation clues</a:t>
            </a:r>
          </a:p>
          <a:p>
            <a:pPr>
              <a:lnSpc>
                <a:spcPct val="150000"/>
              </a:lnSpc>
            </a:pPr>
            <a:r>
              <a:rPr lang="en-US" dirty="0">
                <a:latin typeface="+mn-lt"/>
              </a:rPr>
              <a:t>Ask:</a:t>
            </a:r>
          </a:p>
          <a:p>
            <a:pPr marL="285750" indent="-285750">
              <a:lnSpc>
                <a:spcPct val="150000"/>
              </a:lnSpc>
              <a:buFont typeface="Arial" panose="020B0604020202020204" pitchFamily="34" charset="0"/>
              <a:buChar char="•"/>
            </a:pPr>
            <a:r>
              <a:rPr lang="en-US" dirty="0">
                <a:latin typeface="+mn-lt"/>
              </a:rPr>
              <a:t>Were there multiple technical options? </a:t>
            </a:r>
          </a:p>
          <a:p>
            <a:pPr marL="285750" indent="-285750">
              <a:lnSpc>
                <a:spcPct val="150000"/>
              </a:lnSpc>
              <a:buFont typeface="Arial" panose="020B0604020202020204" pitchFamily="34" charset="0"/>
              <a:buChar char="•"/>
            </a:pPr>
            <a:r>
              <a:rPr lang="en-US" dirty="0">
                <a:latin typeface="+mn-lt"/>
              </a:rPr>
              <a:t>Was a tool/platform selected? </a:t>
            </a:r>
          </a:p>
          <a:p>
            <a:pPr marL="285750" indent="-285750">
              <a:lnSpc>
                <a:spcPct val="150000"/>
              </a:lnSpc>
              <a:buFont typeface="Arial" panose="020B0604020202020204" pitchFamily="34" charset="0"/>
              <a:buChar char="•"/>
            </a:pPr>
            <a:r>
              <a:rPr lang="en-US" dirty="0">
                <a:latin typeface="+mn-lt"/>
              </a:rPr>
              <a:t>Why was it chosen? </a:t>
            </a:r>
          </a:p>
          <a:p>
            <a:pPr marL="285750" indent="-285750">
              <a:lnSpc>
                <a:spcPct val="150000"/>
              </a:lnSpc>
              <a:buFont typeface="Arial" panose="020B0604020202020204" pitchFamily="34" charset="0"/>
              <a:buChar char="•"/>
            </a:pPr>
            <a:r>
              <a:rPr lang="en-US" dirty="0">
                <a:latin typeface="+mn-lt"/>
              </a:rPr>
              <a:t>What criteria mattered? </a:t>
            </a:r>
          </a:p>
          <a:p>
            <a:pPr marL="742950" lvl="1" indent="-285750">
              <a:lnSpc>
                <a:spcPct val="150000"/>
              </a:lnSpc>
              <a:buFont typeface="Arial" panose="020B0604020202020204" pitchFamily="34" charset="0"/>
              <a:buChar char="•"/>
            </a:pPr>
            <a:r>
              <a:rPr lang="en-US" dirty="0">
                <a:latin typeface="+mn-lt"/>
              </a:rPr>
              <a:t>cost? </a:t>
            </a:r>
          </a:p>
          <a:p>
            <a:pPr marL="742950" lvl="1" indent="-285750">
              <a:lnSpc>
                <a:spcPct val="150000"/>
              </a:lnSpc>
              <a:buFont typeface="Arial" panose="020B0604020202020204" pitchFamily="34" charset="0"/>
              <a:buChar char="•"/>
            </a:pPr>
            <a:r>
              <a:rPr lang="en-US" dirty="0">
                <a:latin typeface="+mn-lt"/>
              </a:rPr>
              <a:t>speed? </a:t>
            </a:r>
          </a:p>
          <a:p>
            <a:pPr marL="742950" lvl="1" indent="-285750">
              <a:lnSpc>
                <a:spcPct val="150000"/>
              </a:lnSpc>
              <a:buFont typeface="Arial" panose="020B0604020202020204" pitchFamily="34" charset="0"/>
              <a:buChar char="•"/>
            </a:pPr>
            <a:r>
              <a:rPr lang="en-US" dirty="0">
                <a:latin typeface="+mn-lt"/>
              </a:rPr>
              <a:t>security? </a:t>
            </a:r>
          </a:p>
          <a:p>
            <a:pPr marL="742950" lvl="1" indent="-285750">
              <a:lnSpc>
                <a:spcPct val="150000"/>
              </a:lnSpc>
              <a:buFont typeface="Arial" panose="020B0604020202020204" pitchFamily="34" charset="0"/>
              <a:buChar char="•"/>
            </a:pPr>
            <a:r>
              <a:rPr lang="en-US" dirty="0">
                <a:latin typeface="+mn-lt"/>
              </a:rPr>
              <a:t>scalability? </a:t>
            </a:r>
          </a:p>
          <a:p>
            <a:pPr marL="742950" lvl="1" indent="-285750">
              <a:lnSpc>
                <a:spcPct val="150000"/>
              </a:lnSpc>
              <a:buFont typeface="Arial" panose="020B0604020202020204" pitchFamily="34" charset="0"/>
              <a:buChar char="•"/>
            </a:pPr>
            <a:r>
              <a:rPr lang="en-US" dirty="0">
                <a:latin typeface="+mn-lt"/>
              </a:rPr>
              <a:t>user need? </a:t>
            </a:r>
          </a:p>
          <a:p>
            <a:pPr marL="742950" lvl="1" indent="-285750">
              <a:lnSpc>
                <a:spcPct val="150000"/>
              </a:lnSpc>
              <a:buFont typeface="Arial" panose="020B0604020202020204" pitchFamily="34" charset="0"/>
              <a:buChar char="•"/>
            </a:pPr>
            <a:r>
              <a:rPr lang="en-US" dirty="0">
                <a:latin typeface="+mn-lt"/>
              </a:rPr>
              <a:t>integration? </a:t>
            </a:r>
          </a:p>
          <a:p>
            <a:pPr marL="742950" lvl="1" indent="-285750">
              <a:lnSpc>
                <a:spcPct val="150000"/>
              </a:lnSpc>
              <a:buFont typeface="Arial" panose="020B0604020202020204" pitchFamily="34" charset="0"/>
              <a:buChar char="•"/>
            </a:pPr>
            <a:r>
              <a:rPr lang="en-US" dirty="0">
                <a:latin typeface="+mn-lt"/>
              </a:rPr>
              <a:t>ease of use?</a:t>
            </a:r>
          </a:p>
        </p:txBody>
      </p:sp>
    </p:spTree>
    <p:extLst>
      <p:ext uri="{BB962C8B-B14F-4D97-AF65-F5344CB8AC3E}">
        <p14:creationId xmlns:p14="http://schemas.microsoft.com/office/powerpoint/2010/main" val="2963295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6AB3D-96EC-C75F-404F-D5B6C5A95AE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A0F15DA-110E-AB7B-A7DE-98A87D47A17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7E9AAEC-5324-C38B-DB34-E89F87F4D2E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FE0F26D-CE71-8DB8-B300-A2EDC3C14BE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AA518767-F1C1-BC62-CC99-BA8E43814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2D8194B-33DC-120D-AADE-80933AA3E939}"/>
              </a:ext>
            </a:extLst>
          </p:cNvPr>
          <p:cNvSpPr txBox="1"/>
          <p:nvPr/>
        </p:nvSpPr>
        <p:spPr>
          <a:xfrm>
            <a:off x="4491" y="1407149"/>
            <a:ext cx="9144000" cy="3903504"/>
          </a:xfrm>
          <a:prstGeom prst="rect">
            <a:avLst/>
          </a:prstGeom>
          <a:solidFill>
            <a:schemeClr val="bg1"/>
          </a:solidFill>
        </p:spPr>
        <p:txBody>
          <a:bodyPr wrap="square">
            <a:spAutoFit/>
          </a:bodyPr>
          <a:lstStyle/>
          <a:p>
            <a:pPr>
              <a:lnSpc>
                <a:spcPct val="150000"/>
              </a:lnSpc>
            </a:pPr>
            <a:r>
              <a:rPr lang="en-US" sz="2800" b="1" dirty="0">
                <a:latin typeface="+mn-lt"/>
              </a:rPr>
              <a:t>Personal reflection</a:t>
            </a:r>
          </a:p>
          <a:p>
            <a:pPr>
              <a:lnSpc>
                <a:spcPct val="150000"/>
              </a:lnSpc>
            </a:pPr>
            <a:r>
              <a:rPr lang="en-US" sz="2800" dirty="0">
                <a:latin typeface="+mn-lt"/>
              </a:rPr>
              <a:t>Ask:</a:t>
            </a:r>
          </a:p>
          <a:p>
            <a:pPr marL="914400" lvl="1" indent="-457200">
              <a:lnSpc>
                <a:spcPct val="150000"/>
              </a:lnSpc>
              <a:buFont typeface="Arial" panose="020B0604020202020204" pitchFamily="34" charset="0"/>
              <a:buChar char="•"/>
            </a:pPr>
            <a:r>
              <a:rPr lang="en-US" sz="2800" dirty="0">
                <a:latin typeface="+mn-lt"/>
              </a:rPr>
              <a:t>What surprised me? </a:t>
            </a:r>
          </a:p>
          <a:p>
            <a:pPr marL="914400" lvl="1" indent="-457200">
              <a:lnSpc>
                <a:spcPct val="150000"/>
              </a:lnSpc>
              <a:buFont typeface="Arial" panose="020B0604020202020204" pitchFamily="34" charset="0"/>
              <a:buChar char="•"/>
            </a:pPr>
            <a:r>
              <a:rPr lang="en-US" sz="2800" dirty="0">
                <a:latin typeface="+mn-lt"/>
              </a:rPr>
              <a:t>What was difficult? </a:t>
            </a:r>
          </a:p>
          <a:p>
            <a:pPr marL="914400" lvl="1" indent="-457200">
              <a:lnSpc>
                <a:spcPct val="150000"/>
              </a:lnSpc>
              <a:buFont typeface="Arial" panose="020B0604020202020204" pitchFamily="34" charset="0"/>
              <a:buChar char="•"/>
            </a:pPr>
            <a:r>
              <a:rPr lang="en-US" sz="2800" dirty="0">
                <a:latin typeface="+mn-lt"/>
              </a:rPr>
              <a:t>What did I learn about workplace decision-making? </a:t>
            </a:r>
          </a:p>
          <a:p>
            <a:pPr marL="914400" lvl="1" indent="-457200">
              <a:lnSpc>
                <a:spcPct val="150000"/>
              </a:lnSpc>
              <a:buFont typeface="Arial" panose="020B0604020202020204" pitchFamily="34" charset="0"/>
              <a:buChar char="•"/>
            </a:pPr>
            <a:r>
              <a:rPr lang="en-US" sz="2800" dirty="0">
                <a:latin typeface="+mn-lt"/>
              </a:rPr>
              <a:t>How will this help my project work?</a:t>
            </a:r>
          </a:p>
        </p:txBody>
      </p:sp>
    </p:spTree>
    <p:extLst>
      <p:ext uri="{BB962C8B-B14F-4D97-AF65-F5344CB8AC3E}">
        <p14:creationId xmlns:p14="http://schemas.microsoft.com/office/powerpoint/2010/main" val="3537647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A85C-E13F-99BE-467A-D64CABC5FAE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F930F50-E644-C8D0-E3BC-B540C438A86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5D66675-5976-E35F-E15E-2716E49247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08CCE70-9D4F-BA9A-8D3B-E2238B39B7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B533B254-C482-F7B9-D9E6-F4B3353F4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55AEE4A-11C7-E97F-13D7-79FF328EC873}"/>
              </a:ext>
            </a:extLst>
          </p:cNvPr>
          <p:cNvSpPr txBox="1"/>
          <p:nvPr/>
        </p:nvSpPr>
        <p:spPr>
          <a:xfrm>
            <a:off x="4491" y="1407149"/>
            <a:ext cx="9144000" cy="5196166"/>
          </a:xfrm>
          <a:prstGeom prst="rect">
            <a:avLst/>
          </a:prstGeom>
          <a:solidFill>
            <a:schemeClr val="bg1"/>
          </a:solidFill>
        </p:spPr>
        <p:txBody>
          <a:bodyPr wrap="square">
            <a:spAutoFit/>
          </a:bodyPr>
          <a:lstStyle/>
          <a:p>
            <a:pPr>
              <a:lnSpc>
                <a:spcPct val="150000"/>
              </a:lnSpc>
            </a:pPr>
            <a:r>
              <a:rPr lang="en-US" sz="2800" b="1" dirty="0">
                <a:latin typeface="+mn-lt"/>
              </a:rPr>
              <a:t>7. Step-by-step guide to writing Assessment 3</a:t>
            </a:r>
          </a:p>
          <a:p>
            <a:pPr>
              <a:lnSpc>
                <a:spcPct val="150000"/>
              </a:lnSpc>
            </a:pPr>
            <a:r>
              <a:rPr lang="en-US" sz="2800" b="1" dirty="0">
                <a:latin typeface="+mn-lt"/>
              </a:rPr>
              <a:t>Section A: Introduction (about 100 words)</a:t>
            </a:r>
          </a:p>
          <a:p>
            <a:pPr>
              <a:lnSpc>
                <a:spcPct val="150000"/>
              </a:lnSpc>
            </a:pPr>
            <a:r>
              <a:rPr lang="en-US" sz="2800" b="1" dirty="0">
                <a:latin typeface="+mn-lt"/>
              </a:rPr>
              <a:t>What to include</a:t>
            </a:r>
          </a:p>
          <a:p>
            <a:pPr marL="914400" lvl="1" indent="-457200">
              <a:lnSpc>
                <a:spcPct val="150000"/>
              </a:lnSpc>
              <a:buFont typeface="Arial" panose="020B0604020202020204" pitchFamily="34" charset="0"/>
              <a:buChar char="•"/>
            </a:pPr>
            <a:r>
              <a:rPr lang="en-US" sz="2800" dirty="0">
                <a:latin typeface="+mn-lt"/>
              </a:rPr>
              <a:t>name of company </a:t>
            </a:r>
          </a:p>
          <a:p>
            <a:pPr marL="914400" lvl="1" indent="-457200">
              <a:lnSpc>
                <a:spcPct val="150000"/>
              </a:lnSpc>
              <a:buFont typeface="Arial" panose="020B0604020202020204" pitchFamily="34" charset="0"/>
              <a:buChar char="•"/>
            </a:pPr>
            <a:r>
              <a:rPr lang="en-US" sz="2800" dirty="0">
                <a:latin typeface="+mn-lt"/>
              </a:rPr>
              <a:t>name of Forage program </a:t>
            </a:r>
          </a:p>
          <a:p>
            <a:pPr marL="914400" lvl="1" indent="-457200">
              <a:lnSpc>
                <a:spcPct val="150000"/>
              </a:lnSpc>
              <a:buFont typeface="Arial" panose="020B0604020202020204" pitchFamily="34" charset="0"/>
              <a:buChar char="•"/>
            </a:pPr>
            <a:r>
              <a:rPr lang="en-US" sz="2800" dirty="0">
                <a:latin typeface="+mn-lt"/>
              </a:rPr>
              <a:t>estimated duration </a:t>
            </a:r>
          </a:p>
          <a:p>
            <a:pPr marL="914400" lvl="1" indent="-457200">
              <a:lnSpc>
                <a:spcPct val="150000"/>
              </a:lnSpc>
              <a:buFont typeface="Arial" panose="020B0604020202020204" pitchFamily="34" charset="0"/>
              <a:buChar char="•"/>
            </a:pPr>
            <a:r>
              <a:rPr lang="en-US" sz="2800" dirty="0">
                <a:latin typeface="+mn-lt"/>
              </a:rPr>
              <a:t>purpose of your report </a:t>
            </a:r>
          </a:p>
          <a:p>
            <a:pPr marL="914400" lvl="1" indent="-457200">
              <a:lnSpc>
                <a:spcPct val="150000"/>
              </a:lnSpc>
              <a:buFont typeface="Arial" panose="020B0604020202020204" pitchFamily="34" charset="0"/>
              <a:buChar char="•"/>
            </a:pPr>
            <a:r>
              <a:rPr lang="en-US" sz="2800" dirty="0">
                <a:latin typeface="+mn-lt"/>
              </a:rPr>
              <a:t>mention SLO1 and SLO2</a:t>
            </a:r>
          </a:p>
        </p:txBody>
      </p:sp>
    </p:spTree>
    <p:extLst>
      <p:ext uri="{BB962C8B-B14F-4D97-AF65-F5344CB8AC3E}">
        <p14:creationId xmlns:p14="http://schemas.microsoft.com/office/powerpoint/2010/main" val="422795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81B82-A9A5-7DCD-FAC1-B316C69A71F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CF92A17-A2CC-11B7-0E62-A210078BC2A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E0271E4-D44F-7504-9066-E2C90136162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8DBAF74-3BB1-92BD-B43B-C5C2DCD396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1175BD3A-709D-AFBB-E1E0-F11571C69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53F316C-2B66-12A6-0832-456B9F8FA421}"/>
              </a:ext>
            </a:extLst>
          </p:cNvPr>
          <p:cNvSpPr txBox="1"/>
          <p:nvPr/>
        </p:nvSpPr>
        <p:spPr>
          <a:xfrm>
            <a:off x="4491" y="1407149"/>
            <a:ext cx="9144000" cy="4549835"/>
          </a:xfrm>
          <a:prstGeom prst="rect">
            <a:avLst/>
          </a:prstGeom>
          <a:solidFill>
            <a:schemeClr val="bg1"/>
          </a:solidFill>
        </p:spPr>
        <p:txBody>
          <a:bodyPr wrap="square">
            <a:spAutoFit/>
          </a:bodyPr>
          <a:lstStyle/>
          <a:p>
            <a:pPr>
              <a:lnSpc>
                <a:spcPct val="150000"/>
              </a:lnSpc>
            </a:pPr>
            <a:r>
              <a:rPr lang="en-US" sz="2800" dirty="0">
                <a:latin typeface="+mn-lt"/>
              </a:rPr>
              <a:t>Simple formula</a:t>
            </a:r>
          </a:p>
          <a:p>
            <a:pPr>
              <a:lnSpc>
                <a:spcPct val="150000"/>
              </a:lnSpc>
            </a:pPr>
            <a:r>
              <a:rPr lang="en-US" sz="2800" dirty="0">
                <a:latin typeface="+mn-lt"/>
              </a:rPr>
              <a:t>I completed [program] by [company] on The Forage. The program took approximately [X hours]. This report reflects on the experience with a focus on the design process in IT project development and the evaluation of technology options. The report links the internship to SLO1 and SLO2 of ICT502.</a:t>
            </a:r>
          </a:p>
        </p:txBody>
      </p:sp>
    </p:spTree>
    <p:extLst>
      <p:ext uri="{BB962C8B-B14F-4D97-AF65-F5344CB8AC3E}">
        <p14:creationId xmlns:p14="http://schemas.microsoft.com/office/powerpoint/2010/main" val="3291594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66BA7-38D4-8584-F21F-50AB08F2BD4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6C3BEA-A34C-E819-CA7C-F9CD7CC25D3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33320AB-6276-99BA-976D-3A73F7FEE21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415A5C4-F88E-1E3C-861F-6C13C43F098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FF9B70BC-294D-5DA2-AE2A-77831E8B2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7F016B4-35FA-8113-B1EE-0546B01C200D}"/>
              </a:ext>
            </a:extLst>
          </p:cNvPr>
          <p:cNvSpPr txBox="1"/>
          <p:nvPr/>
        </p:nvSpPr>
        <p:spPr>
          <a:xfrm>
            <a:off x="4491" y="1407149"/>
            <a:ext cx="9144000" cy="5118196"/>
          </a:xfrm>
          <a:prstGeom prst="rect">
            <a:avLst/>
          </a:prstGeom>
          <a:solidFill>
            <a:schemeClr val="bg1"/>
          </a:solidFill>
        </p:spPr>
        <p:txBody>
          <a:bodyPr wrap="square">
            <a:spAutoFit/>
          </a:bodyPr>
          <a:lstStyle/>
          <a:p>
            <a:pPr>
              <a:lnSpc>
                <a:spcPct val="150000"/>
              </a:lnSpc>
            </a:pPr>
            <a:r>
              <a:rPr lang="en-US" sz="2200" b="1" dirty="0">
                <a:latin typeface="+mn-lt"/>
              </a:rPr>
              <a:t>Example 1: Business Analysis / Information Systems</a:t>
            </a:r>
          </a:p>
          <a:p>
            <a:pPr>
              <a:lnSpc>
                <a:spcPct val="150000"/>
              </a:lnSpc>
            </a:pPr>
            <a:r>
              <a:rPr lang="en-US" sz="2200" dirty="0">
                <a:latin typeface="+mn-lt"/>
              </a:rPr>
              <a:t>I completed the Business Analyst virtual internship offered by Company X through The Forage. The program took approximately four hours and involved practical tasks such as </a:t>
            </a:r>
            <a:r>
              <a:rPr lang="en-US" sz="2200" dirty="0" err="1">
                <a:latin typeface="+mn-lt"/>
              </a:rPr>
              <a:t>analysing</a:t>
            </a:r>
            <a:r>
              <a:rPr lang="en-US" sz="2200" dirty="0">
                <a:latin typeface="+mn-lt"/>
              </a:rPr>
              <a:t> business needs, identifying stakeholder requirements, and recommending suitable digital solutions. This report reflects on the experience in relation to SLO1, which focuses on applying the design process in project development, and SLO2, which focuses on evaluating effective technology options in an IT project. The report examines how the internship demonstrated structured problem-solving, requirements analysis, and technology decision-making in a business context.</a:t>
            </a:r>
          </a:p>
        </p:txBody>
      </p:sp>
    </p:spTree>
    <p:extLst>
      <p:ext uri="{BB962C8B-B14F-4D97-AF65-F5344CB8AC3E}">
        <p14:creationId xmlns:p14="http://schemas.microsoft.com/office/powerpoint/2010/main" val="1348207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30E02-778E-4950-90B9-A12D7BECA98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30DD043-6909-8564-6B76-56EA85BA470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CBDE96C-2152-5FD6-9F6B-25FCA55D8D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662C2F0-9302-7A34-626E-0EAA0318E6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3573D7D3-D2BF-C34B-DBA5-45AC741BA8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A953A18-FCAE-AE5F-1A1E-6225A41A9C90}"/>
              </a:ext>
            </a:extLst>
          </p:cNvPr>
          <p:cNvSpPr txBox="1"/>
          <p:nvPr/>
        </p:nvSpPr>
        <p:spPr>
          <a:xfrm>
            <a:off x="0" y="1282948"/>
            <a:ext cx="9144000" cy="5575052"/>
          </a:xfrm>
          <a:prstGeom prst="rect">
            <a:avLst/>
          </a:prstGeom>
          <a:solidFill>
            <a:schemeClr val="bg1"/>
          </a:solidFill>
        </p:spPr>
        <p:txBody>
          <a:bodyPr wrap="square">
            <a:spAutoFit/>
          </a:bodyPr>
          <a:lstStyle/>
          <a:p>
            <a:pPr>
              <a:lnSpc>
                <a:spcPct val="150000"/>
              </a:lnSpc>
            </a:pPr>
            <a:r>
              <a:rPr lang="en-US" sz="2400" b="1" dirty="0">
                <a:latin typeface="+mn-lt"/>
              </a:rPr>
              <a:t>Example 2: Data Analytics</a:t>
            </a:r>
          </a:p>
          <a:p>
            <a:pPr>
              <a:lnSpc>
                <a:spcPct val="150000"/>
              </a:lnSpc>
            </a:pPr>
            <a:r>
              <a:rPr lang="en-US" sz="2400" dirty="0">
                <a:latin typeface="+mn-lt"/>
              </a:rPr>
              <a:t>I completed the Data Analytics virtual internship offered by Company X through The Forage. The program took approximately five hours and required tasks such as interpreting business data, identifying patterns, and presenting recommendations to support decision-making. This report reflects on how the internship demonstrated elements of the design process and the evaluation of technology options in an IT-related business environment. In particular, it links the experience to SLO1 and SLO2 by </a:t>
            </a:r>
            <a:r>
              <a:rPr lang="en-US" sz="2400" dirty="0" err="1">
                <a:latin typeface="+mn-lt"/>
              </a:rPr>
              <a:t>analysing</a:t>
            </a:r>
            <a:r>
              <a:rPr lang="en-US" sz="2400" dirty="0">
                <a:latin typeface="+mn-lt"/>
              </a:rPr>
              <a:t> how data-driven problem-solving supports project planning and technology selection.</a:t>
            </a:r>
          </a:p>
        </p:txBody>
      </p:sp>
    </p:spTree>
    <p:extLst>
      <p:ext uri="{BB962C8B-B14F-4D97-AF65-F5344CB8AC3E}">
        <p14:creationId xmlns:p14="http://schemas.microsoft.com/office/powerpoint/2010/main" val="1066847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3A1C5-5E61-73FB-D47A-9BF671D358F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F665055-BBC5-9175-EF6E-C8FDAE9B2ED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F12840A-E888-C7DF-1BE3-BDECABA5612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5B4D3C6-1CBA-E66E-944D-44E8DE6E45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E51D5B38-5991-48F9-7048-36DA79576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05EAD85-8435-2F05-A808-22FF24F34718}"/>
              </a:ext>
            </a:extLst>
          </p:cNvPr>
          <p:cNvSpPr txBox="1"/>
          <p:nvPr/>
        </p:nvSpPr>
        <p:spPr>
          <a:xfrm>
            <a:off x="0" y="1282948"/>
            <a:ext cx="9144000" cy="5575052"/>
          </a:xfrm>
          <a:prstGeom prst="rect">
            <a:avLst/>
          </a:prstGeom>
          <a:solidFill>
            <a:schemeClr val="bg1"/>
          </a:solidFill>
        </p:spPr>
        <p:txBody>
          <a:bodyPr wrap="square">
            <a:spAutoFit/>
          </a:bodyPr>
          <a:lstStyle/>
          <a:p>
            <a:pPr>
              <a:lnSpc>
                <a:spcPct val="150000"/>
              </a:lnSpc>
            </a:pPr>
            <a:r>
              <a:rPr lang="en-US" sz="2400" b="1" dirty="0">
                <a:latin typeface="+mn-lt"/>
              </a:rPr>
              <a:t>Example 3: Digital Transformation / Business Technology</a:t>
            </a:r>
          </a:p>
          <a:p>
            <a:pPr>
              <a:lnSpc>
                <a:spcPct val="150000"/>
              </a:lnSpc>
            </a:pPr>
            <a:r>
              <a:rPr lang="en-US" sz="2400" dirty="0">
                <a:latin typeface="+mn-lt"/>
              </a:rPr>
              <a:t>I completed the Digital Transformation virtual internship offered by Company X through The Forage. The program took approximately four hours and focused on </a:t>
            </a:r>
            <a:r>
              <a:rPr lang="en-US" sz="2400" dirty="0" err="1">
                <a:latin typeface="+mn-lt"/>
              </a:rPr>
              <a:t>analysing</a:t>
            </a:r>
            <a:r>
              <a:rPr lang="en-US" sz="2400" dirty="0">
                <a:latin typeface="+mn-lt"/>
              </a:rPr>
              <a:t> business challenges, improving processes, and recommending technology-enabled solutions. This report reflects on the experience with reference to SLO1 and SLO2 of ICT502. It analyses how the internship illustrated the design process through problem identification and solution planning, and how technology options were considered in relation to </a:t>
            </a:r>
            <a:r>
              <a:rPr lang="en-US" sz="2400" dirty="0" err="1">
                <a:latin typeface="+mn-lt"/>
              </a:rPr>
              <a:t>organisational</a:t>
            </a:r>
            <a:r>
              <a:rPr lang="en-US" sz="2400" dirty="0">
                <a:latin typeface="+mn-lt"/>
              </a:rPr>
              <a:t> needs and implementation effectiveness.</a:t>
            </a:r>
          </a:p>
        </p:txBody>
      </p:sp>
    </p:spTree>
    <p:extLst>
      <p:ext uri="{BB962C8B-B14F-4D97-AF65-F5344CB8AC3E}">
        <p14:creationId xmlns:p14="http://schemas.microsoft.com/office/powerpoint/2010/main" val="572494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687C3-7FA2-9708-41D0-07F5FAC7A8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F9FED6F-32C7-E8EA-3720-61E9254B300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3776A05-8BD0-B9C1-3837-AE97223EC19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8FFFB21-5CBB-5B8E-E859-C1C5BF06382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12659343-16CE-0075-57E1-0E3FFA414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D31268A-BE75-A4AB-23F1-CF71298CA65D}"/>
              </a:ext>
            </a:extLst>
          </p:cNvPr>
          <p:cNvSpPr txBox="1"/>
          <p:nvPr/>
        </p:nvSpPr>
        <p:spPr>
          <a:xfrm>
            <a:off x="0" y="1836945"/>
            <a:ext cx="9144000" cy="5021055"/>
          </a:xfrm>
          <a:prstGeom prst="rect">
            <a:avLst/>
          </a:prstGeom>
          <a:solidFill>
            <a:schemeClr val="bg1"/>
          </a:solidFill>
        </p:spPr>
        <p:txBody>
          <a:bodyPr wrap="square">
            <a:spAutoFit/>
          </a:bodyPr>
          <a:lstStyle/>
          <a:p>
            <a:pPr>
              <a:lnSpc>
                <a:spcPct val="150000"/>
              </a:lnSpc>
            </a:pPr>
            <a:r>
              <a:rPr lang="en-US" sz="2400" b="1" dirty="0">
                <a:latin typeface="+mn-lt"/>
              </a:rPr>
              <a:t>Example 4: Software / Systems Context but still business-friendly</a:t>
            </a:r>
          </a:p>
          <a:p>
            <a:pPr>
              <a:lnSpc>
                <a:spcPct val="150000"/>
              </a:lnSpc>
            </a:pPr>
            <a:r>
              <a:rPr lang="en-US" sz="2400" dirty="0">
                <a:latin typeface="+mn-lt"/>
              </a:rPr>
              <a:t>I completed the Software Engineering virtual internship offered by Company X through The Forage. The program took approximately four hours and involved workplace-based tasks related to </a:t>
            </a:r>
            <a:r>
              <a:rPr lang="en-US" sz="2400" dirty="0" err="1">
                <a:latin typeface="+mn-lt"/>
              </a:rPr>
              <a:t>analysing</a:t>
            </a:r>
            <a:r>
              <a:rPr lang="en-US" sz="2400" dirty="0">
                <a:latin typeface="+mn-lt"/>
              </a:rPr>
              <a:t> user needs, considering system requirements, and proposing technical solutions. This report reflects on the experience in relation to SLO1 and SLO2 of ICT502. It focuses on how the internship demonstrated stages of the design process and how technical options were evaluated in order to support effective project outcomes.</a:t>
            </a:r>
          </a:p>
        </p:txBody>
      </p:sp>
    </p:spTree>
    <p:extLst>
      <p:ext uri="{BB962C8B-B14F-4D97-AF65-F5344CB8AC3E}">
        <p14:creationId xmlns:p14="http://schemas.microsoft.com/office/powerpoint/2010/main" val="3615792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1F47-585A-23A9-FE07-FEFF668AB66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6E62B53-E090-4E52-04C5-696047EBFDB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DDB854C-09F8-52CA-A680-519BFEE8AE1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CC3218C-6B5E-C206-6AA2-839BA5EBBB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22BDB103-327F-75B9-58A4-BAF5337DC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89B27AD-20C3-1BE1-72FD-E59F279C1030}"/>
              </a:ext>
            </a:extLst>
          </p:cNvPr>
          <p:cNvSpPr txBox="1"/>
          <p:nvPr/>
        </p:nvSpPr>
        <p:spPr>
          <a:xfrm>
            <a:off x="-18256" y="1836945"/>
            <a:ext cx="9144000" cy="5021055"/>
          </a:xfrm>
          <a:prstGeom prst="rect">
            <a:avLst/>
          </a:prstGeom>
          <a:solidFill>
            <a:schemeClr val="bg1"/>
          </a:solidFill>
        </p:spPr>
        <p:txBody>
          <a:bodyPr wrap="square">
            <a:spAutoFit/>
          </a:bodyPr>
          <a:lstStyle/>
          <a:p>
            <a:pPr>
              <a:lnSpc>
                <a:spcPct val="150000"/>
              </a:lnSpc>
            </a:pPr>
            <a:r>
              <a:rPr lang="en-US" sz="2400" b="1" dirty="0">
                <a:latin typeface="+mn-lt"/>
              </a:rPr>
              <a:t>Example 5: Cybersecurity but less technical in tone</a:t>
            </a:r>
          </a:p>
          <a:p>
            <a:pPr>
              <a:lnSpc>
                <a:spcPct val="150000"/>
              </a:lnSpc>
            </a:pPr>
            <a:r>
              <a:rPr lang="en-US" sz="2400" dirty="0">
                <a:latin typeface="+mn-lt"/>
              </a:rPr>
              <a:t>I completed the Cybersecurity virtual internship offered by Company X through The Forage. The program took approximately four hours and involved tasks related to identifying risks, understanding </a:t>
            </a:r>
            <a:r>
              <a:rPr lang="en-US" sz="2400" dirty="0" err="1">
                <a:latin typeface="+mn-lt"/>
              </a:rPr>
              <a:t>organisational</a:t>
            </a:r>
            <a:r>
              <a:rPr lang="en-US" sz="2400" dirty="0">
                <a:latin typeface="+mn-lt"/>
              </a:rPr>
              <a:t> needs, and recommending appropriate security measures. This report reflects on the experience through the lens of SLO1 and SLO2 of ICT502. It analyses how the internship demonstrated structured problem analysis and how security technologies or approaches can be evaluated according to business requirements, risk, and effectiveness.</a:t>
            </a:r>
          </a:p>
        </p:txBody>
      </p:sp>
    </p:spTree>
    <p:extLst>
      <p:ext uri="{BB962C8B-B14F-4D97-AF65-F5344CB8AC3E}">
        <p14:creationId xmlns:p14="http://schemas.microsoft.com/office/powerpoint/2010/main" val="1521398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2A86A-434B-AE0E-A02C-D770CF88D1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2A54AF7-94C2-9A08-76CF-93EBCC10FA6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ABDF821-D1F9-56BF-ED32-D8590F8BE45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A14A022-8D1C-31CE-F108-51BC6758F47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7ACC510B-6B5D-B096-6358-7C476C285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A38EA16-2C31-F85C-45BA-44AED2CFD761}"/>
              </a:ext>
            </a:extLst>
          </p:cNvPr>
          <p:cNvSpPr txBox="1"/>
          <p:nvPr/>
        </p:nvSpPr>
        <p:spPr>
          <a:xfrm>
            <a:off x="4491" y="1407149"/>
            <a:ext cx="9144000" cy="1318181"/>
          </a:xfrm>
          <a:prstGeom prst="rect">
            <a:avLst/>
          </a:prstGeom>
          <a:solidFill>
            <a:schemeClr val="bg1"/>
          </a:solidFill>
        </p:spPr>
        <p:txBody>
          <a:bodyPr wrap="square">
            <a:spAutoFit/>
          </a:bodyPr>
          <a:lstStyle/>
          <a:p>
            <a:pPr>
              <a:lnSpc>
                <a:spcPct val="150000"/>
              </a:lnSpc>
            </a:pPr>
            <a:r>
              <a:rPr lang="en-US" sz="2800" b="1" dirty="0">
                <a:latin typeface="+mn-lt"/>
              </a:rPr>
              <a:t>Hint</a:t>
            </a:r>
          </a:p>
          <a:p>
            <a:pPr>
              <a:lnSpc>
                <a:spcPct val="150000"/>
              </a:lnSpc>
            </a:pPr>
            <a:r>
              <a:rPr lang="en-US" sz="2800" dirty="0">
                <a:latin typeface="+mn-lt"/>
              </a:rPr>
              <a:t>Do not write too much here. Keep it short and direct.</a:t>
            </a:r>
          </a:p>
        </p:txBody>
      </p:sp>
    </p:spTree>
    <p:extLst>
      <p:ext uri="{BB962C8B-B14F-4D97-AF65-F5344CB8AC3E}">
        <p14:creationId xmlns:p14="http://schemas.microsoft.com/office/powerpoint/2010/main" val="1493128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149F9-7803-113B-38FE-1330F9D01AE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59A8558-CB72-1421-DAC0-719754A7258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0E12B1D-5914-9BA5-89AD-0674BDC99AE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363B072-C587-B8F1-0D91-06BBB9D279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98E66D00-5AE9-20F0-B041-A3510552B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C3660B6-35DE-B9A8-D016-D2CE440AF205}"/>
              </a:ext>
            </a:extLst>
          </p:cNvPr>
          <p:cNvSpPr txBox="1"/>
          <p:nvPr/>
        </p:nvSpPr>
        <p:spPr>
          <a:xfrm>
            <a:off x="4491" y="1407149"/>
            <a:ext cx="9144000" cy="4549835"/>
          </a:xfrm>
          <a:prstGeom prst="rect">
            <a:avLst/>
          </a:prstGeom>
          <a:solidFill>
            <a:schemeClr val="bg1"/>
          </a:solidFill>
        </p:spPr>
        <p:txBody>
          <a:bodyPr wrap="square">
            <a:spAutoFit/>
          </a:bodyPr>
          <a:lstStyle/>
          <a:p>
            <a:pPr>
              <a:lnSpc>
                <a:spcPct val="150000"/>
              </a:lnSpc>
            </a:pPr>
            <a:r>
              <a:rPr lang="en-US" sz="2800" b="1" dirty="0">
                <a:latin typeface="+mn-lt"/>
              </a:rPr>
              <a:t>Section B: Overview of the Forage Program and Key Tasks (about 200 words)</a:t>
            </a:r>
          </a:p>
          <a:p>
            <a:pPr>
              <a:lnSpc>
                <a:spcPct val="150000"/>
              </a:lnSpc>
            </a:pPr>
            <a:r>
              <a:rPr lang="en-US" sz="2800" b="1" dirty="0">
                <a:latin typeface="+mn-lt"/>
              </a:rPr>
              <a:t>What to include</a:t>
            </a:r>
          </a:p>
          <a:p>
            <a:pPr marL="914400" lvl="1" indent="-457200">
              <a:lnSpc>
                <a:spcPct val="150000"/>
              </a:lnSpc>
              <a:buFont typeface="Arial" panose="020B0604020202020204" pitchFamily="34" charset="0"/>
              <a:buChar char="•"/>
            </a:pPr>
            <a:r>
              <a:rPr lang="en-US" sz="2800" dirty="0">
                <a:latin typeface="+mn-lt"/>
              </a:rPr>
              <a:t>overall purpose of the internship </a:t>
            </a:r>
          </a:p>
          <a:p>
            <a:pPr marL="914400" lvl="1" indent="-457200">
              <a:lnSpc>
                <a:spcPct val="150000"/>
              </a:lnSpc>
              <a:buFont typeface="Arial" panose="020B0604020202020204" pitchFamily="34" charset="0"/>
              <a:buChar char="•"/>
            </a:pPr>
            <a:r>
              <a:rPr lang="en-US" sz="2800" dirty="0">
                <a:latin typeface="+mn-lt"/>
              </a:rPr>
              <a:t>summary of main modules/tasks </a:t>
            </a:r>
          </a:p>
          <a:p>
            <a:pPr marL="914400" lvl="1" indent="-457200">
              <a:lnSpc>
                <a:spcPct val="150000"/>
              </a:lnSpc>
              <a:buFont typeface="Arial" panose="020B0604020202020204" pitchFamily="34" charset="0"/>
              <a:buChar char="•"/>
            </a:pPr>
            <a:r>
              <a:rPr lang="en-US" sz="2800" dirty="0">
                <a:latin typeface="+mn-lt"/>
              </a:rPr>
              <a:t>identify which tasks connect to project design or technology selection</a:t>
            </a:r>
          </a:p>
        </p:txBody>
      </p:sp>
    </p:spTree>
    <p:extLst>
      <p:ext uri="{BB962C8B-B14F-4D97-AF65-F5344CB8AC3E}">
        <p14:creationId xmlns:p14="http://schemas.microsoft.com/office/powerpoint/2010/main" val="429753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3B2A0-3156-7B9E-3740-DF67569EF95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542DA37-B1AB-780C-47F0-0CC4A6AD6D5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B10973D-7BFE-3EC3-ABE8-99BF4AB68AB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4DD960-6C77-4F8E-001E-418635B4EC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FE609C2C-0167-7112-8044-D28EEB1180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A1828D9-4BA7-2122-3AC2-FDA8CA8199CA}"/>
              </a:ext>
            </a:extLst>
          </p:cNvPr>
          <p:cNvSpPr txBox="1"/>
          <p:nvPr/>
        </p:nvSpPr>
        <p:spPr>
          <a:xfrm>
            <a:off x="4491" y="1407149"/>
            <a:ext cx="9144000" cy="3903504"/>
          </a:xfrm>
          <a:prstGeom prst="rect">
            <a:avLst/>
          </a:prstGeom>
          <a:solidFill>
            <a:schemeClr val="bg1"/>
          </a:solidFill>
        </p:spPr>
        <p:txBody>
          <a:bodyPr wrap="square">
            <a:spAutoFit/>
          </a:bodyPr>
          <a:lstStyle/>
          <a:p>
            <a:pPr>
              <a:lnSpc>
                <a:spcPct val="150000"/>
              </a:lnSpc>
            </a:pPr>
            <a:r>
              <a:rPr lang="en-US" sz="2800" b="1" dirty="0">
                <a:latin typeface="+mn-lt"/>
              </a:rPr>
              <a:t>Questions to help students</a:t>
            </a:r>
          </a:p>
          <a:p>
            <a:pPr marL="914400" lvl="1" indent="-457200">
              <a:lnSpc>
                <a:spcPct val="150000"/>
              </a:lnSpc>
              <a:buFont typeface="Arial" panose="020B0604020202020204" pitchFamily="34" charset="0"/>
              <a:buChar char="•"/>
            </a:pPr>
            <a:r>
              <a:rPr lang="en-US" sz="2800" dirty="0">
                <a:latin typeface="+mn-lt"/>
              </a:rPr>
              <a:t>What was the internship trying to teach? </a:t>
            </a:r>
          </a:p>
          <a:p>
            <a:pPr marL="914400" lvl="1" indent="-457200">
              <a:lnSpc>
                <a:spcPct val="150000"/>
              </a:lnSpc>
              <a:buFont typeface="Arial" panose="020B0604020202020204" pitchFamily="34" charset="0"/>
              <a:buChar char="•"/>
            </a:pPr>
            <a:r>
              <a:rPr lang="en-US" sz="2800" dirty="0">
                <a:latin typeface="+mn-lt"/>
              </a:rPr>
              <a:t>What were the main tasks? </a:t>
            </a:r>
          </a:p>
          <a:p>
            <a:pPr marL="914400" lvl="1" indent="-457200">
              <a:lnSpc>
                <a:spcPct val="150000"/>
              </a:lnSpc>
              <a:buFont typeface="Arial" panose="020B0604020202020204" pitchFamily="34" charset="0"/>
              <a:buChar char="•"/>
            </a:pPr>
            <a:r>
              <a:rPr lang="en-US" sz="2800" dirty="0">
                <a:latin typeface="+mn-lt"/>
              </a:rPr>
              <a:t>Which tasks involved </a:t>
            </a:r>
            <a:r>
              <a:rPr lang="en-US" sz="2800" dirty="0" err="1">
                <a:latin typeface="+mn-lt"/>
              </a:rPr>
              <a:t>analysing</a:t>
            </a:r>
            <a:r>
              <a:rPr lang="en-US" sz="2800" dirty="0">
                <a:latin typeface="+mn-lt"/>
              </a:rPr>
              <a:t> a problem? </a:t>
            </a:r>
          </a:p>
          <a:p>
            <a:pPr marL="914400" lvl="1" indent="-457200">
              <a:lnSpc>
                <a:spcPct val="150000"/>
              </a:lnSpc>
              <a:buFont typeface="Arial" panose="020B0604020202020204" pitchFamily="34" charset="0"/>
              <a:buChar char="•"/>
            </a:pPr>
            <a:r>
              <a:rPr lang="en-US" sz="2800" dirty="0">
                <a:latin typeface="+mn-lt"/>
              </a:rPr>
              <a:t>Which tasks involved choosing or recommending a solution?</a:t>
            </a:r>
          </a:p>
        </p:txBody>
      </p:sp>
    </p:spTree>
    <p:extLst>
      <p:ext uri="{BB962C8B-B14F-4D97-AF65-F5344CB8AC3E}">
        <p14:creationId xmlns:p14="http://schemas.microsoft.com/office/powerpoint/2010/main" val="2693946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5C84-CF43-3CB1-DD66-DC9B7F282A4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2E017D-009B-CCA7-650B-5DDD731B98F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A9D0431-A5E8-C54E-002A-64A9B2C112F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BF8D770-0197-C097-72B9-AD3E07D1D9F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7D9D44E4-A4BB-E410-2731-CE8F5C701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871C35B-350E-419F-DC1F-F66D973EC58F}"/>
              </a:ext>
            </a:extLst>
          </p:cNvPr>
          <p:cNvSpPr txBox="1"/>
          <p:nvPr/>
        </p:nvSpPr>
        <p:spPr>
          <a:xfrm>
            <a:off x="4491" y="1407149"/>
            <a:ext cx="9144000" cy="3257174"/>
          </a:xfrm>
          <a:prstGeom prst="rect">
            <a:avLst/>
          </a:prstGeom>
          <a:solidFill>
            <a:schemeClr val="bg1"/>
          </a:solidFill>
        </p:spPr>
        <p:txBody>
          <a:bodyPr wrap="square">
            <a:spAutoFit/>
          </a:bodyPr>
          <a:lstStyle/>
          <a:p>
            <a:pPr>
              <a:lnSpc>
                <a:spcPct val="150000"/>
              </a:lnSpc>
            </a:pPr>
            <a:r>
              <a:rPr lang="en-US" sz="2800" b="1" dirty="0">
                <a:latin typeface="+mn-lt"/>
              </a:rPr>
              <a:t>Example points</a:t>
            </a:r>
          </a:p>
          <a:p>
            <a:pPr marL="914400" lvl="1" indent="-457200">
              <a:lnSpc>
                <a:spcPct val="150000"/>
              </a:lnSpc>
              <a:buFont typeface="Arial" panose="020B0604020202020204" pitchFamily="34" charset="0"/>
              <a:buChar char="•"/>
            </a:pPr>
            <a:r>
              <a:rPr lang="en-US" sz="2800" dirty="0">
                <a:latin typeface="+mn-lt"/>
              </a:rPr>
              <a:t>Module 1: </a:t>
            </a:r>
            <a:r>
              <a:rPr lang="en-US" sz="2800" dirty="0" err="1">
                <a:latin typeface="+mn-lt"/>
              </a:rPr>
              <a:t>analyse</a:t>
            </a:r>
            <a:r>
              <a:rPr lang="en-US" sz="2800" dirty="0">
                <a:latin typeface="+mn-lt"/>
              </a:rPr>
              <a:t> client needs </a:t>
            </a:r>
          </a:p>
          <a:p>
            <a:pPr marL="914400" lvl="1" indent="-457200">
              <a:lnSpc>
                <a:spcPct val="150000"/>
              </a:lnSpc>
              <a:buFont typeface="Arial" panose="020B0604020202020204" pitchFamily="34" charset="0"/>
              <a:buChar char="•"/>
            </a:pPr>
            <a:r>
              <a:rPr lang="en-US" sz="2800" dirty="0">
                <a:latin typeface="+mn-lt"/>
              </a:rPr>
              <a:t>Module 2: propose a technical solution </a:t>
            </a:r>
          </a:p>
          <a:p>
            <a:pPr marL="914400" lvl="1" indent="-457200">
              <a:lnSpc>
                <a:spcPct val="150000"/>
              </a:lnSpc>
              <a:buFont typeface="Arial" panose="020B0604020202020204" pitchFamily="34" charset="0"/>
              <a:buChar char="•"/>
            </a:pPr>
            <a:r>
              <a:rPr lang="en-US" sz="2800" dirty="0">
                <a:latin typeface="+mn-lt"/>
              </a:rPr>
              <a:t>Module 3: compare options/tools </a:t>
            </a:r>
          </a:p>
          <a:p>
            <a:pPr marL="914400" lvl="1" indent="-457200">
              <a:lnSpc>
                <a:spcPct val="150000"/>
              </a:lnSpc>
              <a:buFont typeface="Arial" panose="020B0604020202020204" pitchFamily="34" charset="0"/>
              <a:buChar char="•"/>
            </a:pPr>
            <a:r>
              <a:rPr lang="en-US" sz="2800" dirty="0">
                <a:latin typeface="+mn-lt"/>
              </a:rPr>
              <a:t>Module 4: present findings</a:t>
            </a:r>
          </a:p>
        </p:txBody>
      </p:sp>
    </p:spTree>
    <p:extLst>
      <p:ext uri="{BB962C8B-B14F-4D97-AF65-F5344CB8AC3E}">
        <p14:creationId xmlns:p14="http://schemas.microsoft.com/office/powerpoint/2010/main" val="744499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4F446-6DE9-ECFE-0933-5AB0BEE8C8E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BA5CE8D-E548-E40E-4938-2A0CD66F2C9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0DB632A-97CB-9957-7056-BCB1C5A39B5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021B26A-79E4-E9E0-74AA-7114EE18C8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pic>
        <p:nvPicPr>
          <p:cNvPr id="22534" name="Picture 5">
            <a:extLst>
              <a:ext uri="{FF2B5EF4-FFF2-40B4-BE49-F238E27FC236}">
                <a16:creationId xmlns:a16="http://schemas.microsoft.com/office/drawing/2014/main" id="{CEE6BBB9-A603-B230-13C0-A4029A6DF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44FB90A-A998-15EF-DF3C-C13E4E1E86D6}"/>
              </a:ext>
            </a:extLst>
          </p:cNvPr>
          <p:cNvSpPr txBox="1"/>
          <p:nvPr/>
        </p:nvSpPr>
        <p:spPr>
          <a:xfrm>
            <a:off x="4491" y="1407149"/>
            <a:ext cx="9144000" cy="4549835"/>
          </a:xfrm>
          <a:prstGeom prst="rect">
            <a:avLst/>
          </a:prstGeom>
          <a:solidFill>
            <a:schemeClr val="bg1"/>
          </a:solidFill>
        </p:spPr>
        <p:txBody>
          <a:bodyPr wrap="square">
            <a:spAutoFit/>
          </a:bodyPr>
          <a:lstStyle/>
          <a:p>
            <a:pPr>
              <a:lnSpc>
                <a:spcPct val="150000"/>
              </a:lnSpc>
            </a:pPr>
            <a:r>
              <a:rPr lang="en-US" sz="2800" b="1" dirty="0">
                <a:latin typeface="+mn-lt"/>
              </a:rPr>
              <a:t>Example sentence</a:t>
            </a:r>
          </a:p>
          <a:p>
            <a:pPr>
              <a:lnSpc>
                <a:spcPct val="150000"/>
              </a:lnSpc>
            </a:pPr>
            <a:r>
              <a:rPr lang="en-US" sz="2800" dirty="0">
                <a:latin typeface="+mn-lt"/>
              </a:rPr>
              <a:t>The overall purpose of the program was to simulate how professionals respond to a client or business problem using structured analysis and technical reasoning. Key tasks included reviewing the problem scenario, identifying business needs, </a:t>
            </a:r>
            <a:r>
              <a:rPr lang="en-US" sz="2800" dirty="0" err="1">
                <a:latin typeface="+mn-lt"/>
              </a:rPr>
              <a:t>analysing</a:t>
            </a:r>
            <a:r>
              <a:rPr lang="en-US" sz="2800" dirty="0">
                <a:latin typeface="+mn-lt"/>
              </a:rPr>
              <a:t> available data, proposing a solution, and justifying technical decisions.</a:t>
            </a:r>
          </a:p>
        </p:txBody>
      </p:sp>
    </p:spTree>
    <p:extLst>
      <p:ext uri="{BB962C8B-B14F-4D97-AF65-F5344CB8AC3E}">
        <p14:creationId xmlns:p14="http://schemas.microsoft.com/office/powerpoint/2010/main" val="4268466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0002-32B6-7720-49DA-706DD12D41E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6CCC994-0B11-FA2D-61D8-B7E4E0365DB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05B85DA-73EB-8785-0A4F-EFAB7D6E343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6D0DE0A-2B99-CFE5-1F4C-B0DC795CA3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pic>
        <p:nvPicPr>
          <p:cNvPr id="22534" name="Picture 5">
            <a:extLst>
              <a:ext uri="{FF2B5EF4-FFF2-40B4-BE49-F238E27FC236}">
                <a16:creationId xmlns:a16="http://schemas.microsoft.com/office/drawing/2014/main" id="{4B6F36DB-1AB9-3265-13A9-11246617E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62E83B2-8319-4665-6DDB-558629EBDE14}"/>
              </a:ext>
            </a:extLst>
          </p:cNvPr>
          <p:cNvSpPr txBox="1"/>
          <p:nvPr/>
        </p:nvSpPr>
        <p:spPr>
          <a:xfrm>
            <a:off x="4491" y="1407149"/>
            <a:ext cx="9144000" cy="1964512"/>
          </a:xfrm>
          <a:prstGeom prst="rect">
            <a:avLst/>
          </a:prstGeom>
          <a:solidFill>
            <a:schemeClr val="bg1"/>
          </a:solidFill>
        </p:spPr>
        <p:txBody>
          <a:bodyPr wrap="square">
            <a:spAutoFit/>
          </a:bodyPr>
          <a:lstStyle/>
          <a:p>
            <a:pPr>
              <a:lnSpc>
                <a:spcPct val="150000"/>
              </a:lnSpc>
            </a:pPr>
            <a:r>
              <a:rPr lang="en-US" sz="2800" b="1" dirty="0">
                <a:latin typeface="+mn-lt"/>
              </a:rPr>
              <a:t>Hint</a:t>
            </a:r>
          </a:p>
          <a:p>
            <a:pPr>
              <a:lnSpc>
                <a:spcPct val="150000"/>
              </a:lnSpc>
            </a:pPr>
            <a:r>
              <a:rPr lang="en-US" sz="2800" dirty="0">
                <a:latin typeface="+mn-lt"/>
              </a:rPr>
              <a:t>This section is mainly descriptive, but still be selective. Only mention the most important tasks.</a:t>
            </a:r>
          </a:p>
        </p:txBody>
      </p:sp>
    </p:spTree>
    <p:extLst>
      <p:ext uri="{BB962C8B-B14F-4D97-AF65-F5344CB8AC3E}">
        <p14:creationId xmlns:p14="http://schemas.microsoft.com/office/powerpoint/2010/main" val="914163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B6799-2592-27E4-0E94-17A286D178F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311E79A-32E5-BE95-2A2D-8BB7F3A55285}"/>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altLang="en-US" sz="4800" b="1" dirty="0">
                <a:solidFill>
                  <a:srgbClr val="00B0F0"/>
                </a:solidFill>
              </a:rPr>
              <a:t>Preparation for Assessment 3</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A7E857B-11D4-559A-9578-F291BE324C8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8D032FD-927A-D0A3-6A18-B86F9B6901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009F1676-7697-B50C-25F9-51303CE00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F0E7C0C-5C59-DE6F-A716-CAC189C6CF79}"/>
              </a:ext>
            </a:extLst>
          </p:cNvPr>
          <p:cNvSpPr txBox="1"/>
          <p:nvPr/>
        </p:nvSpPr>
        <p:spPr>
          <a:xfrm>
            <a:off x="4491" y="1407149"/>
            <a:ext cx="9144000" cy="3257174"/>
          </a:xfrm>
          <a:prstGeom prst="rect">
            <a:avLst/>
          </a:prstGeom>
          <a:solidFill>
            <a:schemeClr val="bg1"/>
          </a:solidFill>
        </p:spPr>
        <p:txBody>
          <a:bodyPr wrap="square">
            <a:spAutoFit/>
          </a:bodyPr>
          <a:lstStyle/>
          <a:p>
            <a:pPr>
              <a:lnSpc>
                <a:spcPct val="150000"/>
              </a:lnSpc>
            </a:pPr>
            <a:r>
              <a:rPr lang="en-US" sz="2800" b="1" dirty="0">
                <a:latin typeface="+mn-lt"/>
              </a:rPr>
              <a:t>Section C: Application of the Design Process (SLO1 Focus) (about 400 words)</a:t>
            </a:r>
          </a:p>
          <a:p>
            <a:pPr>
              <a:lnSpc>
                <a:spcPct val="150000"/>
              </a:lnSpc>
            </a:pPr>
            <a:r>
              <a:rPr lang="en-US" sz="2800" dirty="0">
                <a:latin typeface="+mn-lt"/>
              </a:rPr>
              <a:t>This is one of the most important sections.</a:t>
            </a:r>
          </a:p>
          <a:p>
            <a:pPr>
              <a:lnSpc>
                <a:spcPct val="150000"/>
              </a:lnSpc>
            </a:pPr>
            <a:r>
              <a:rPr lang="en-US" sz="2800" b="1" dirty="0">
                <a:latin typeface="+mn-lt"/>
              </a:rPr>
              <a:t>What “design process” means in simple terms</a:t>
            </a:r>
          </a:p>
          <a:p>
            <a:pPr>
              <a:lnSpc>
                <a:spcPct val="150000"/>
              </a:lnSpc>
            </a:pPr>
            <a:r>
              <a:rPr lang="en-US" sz="2800" dirty="0">
                <a:latin typeface="+mn-lt"/>
              </a:rPr>
              <a:t>In IT, a design process often includes:</a:t>
            </a:r>
          </a:p>
        </p:txBody>
      </p:sp>
    </p:spTree>
    <p:extLst>
      <p:ext uri="{BB962C8B-B14F-4D97-AF65-F5344CB8AC3E}">
        <p14:creationId xmlns:p14="http://schemas.microsoft.com/office/powerpoint/2010/main" val="1561229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C5EF7-F33E-2782-1ACE-90AC24B154B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86FCAE-92DB-27B7-F179-3654757254F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F2752C9-A759-537C-7A19-ABCD75140D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03B8AD3A-7478-2DA1-B704-32225BE5D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8B7B328-0CB7-6B0B-9506-B8B97387821B}"/>
              </a:ext>
            </a:extLst>
          </p:cNvPr>
          <p:cNvSpPr txBox="1"/>
          <p:nvPr/>
        </p:nvSpPr>
        <p:spPr>
          <a:xfrm>
            <a:off x="4491" y="1044575"/>
            <a:ext cx="9144000" cy="5842497"/>
          </a:xfrm>
          <a:prstGeom prst="rect">
            <a:avLst/>
          </a:prstGeom>
          <a:solidFill>
            <a:schemeClr val="bg1"/>
          </a:solidFill>
        </p:spPr>
        <p:txBody>
          <a:bodyPr wrap="square">
            <a:spAutoFit/>
          </a:bodyPr>
          <a:lstStyle/>
          <a:p>
            <a:pPr marL="514350" indent="-514350">
              <a:lnSpc>
                <a:spcPct val="150000"/>
              </a:lnSpc>
              <a:buFont typeface="+mj-lt"/>
              <a:buAutoNum type="arabicPeriod"/>
            </a:pPr>
            <a:r>
              <a:rPr lang="en-US" sz="2800" dirty="0">
                <a:latin typeface="+mn-lt"/>
              </a:rPr>
              <a:t>identifying the problem </a:t>
            </a:r>
          </a:p>
          <a:p>
            <a:pPr marL="514350" indent="-514350">
              <a:lnSpc>
                <a:spcPct val="150000"/>
              </a:lnSpc>
              <a:buFont typeface="+mj-lt"/>
              <a:buAutoNum type="arabicPeriod"/>
            </a:pPr>
            <a:r>
              <a:rPr lang="en-US" sz="2800" dirty="0">
                <a:latin typeface="+mn-lt"/>
              </a:rPr>
              <a:t>understanding user/stakeholder needs </a:t>
            </a:r>
          </a:p>
          <a:p>
            <a:pPr marL="514350" indent="-514350">
              <a:lnSpc>
                <a:spcPct val="150000"/>
              </a:lnSpc>
              <a:buFont typeface="+mj-lt"/>
              <a:buAutoNum type="arabicPeriod"/>
            </a:pPr>
            <a:r>
              <a:rPr lang="en-US" sz="2800" dirty="0">
                <a:latin typeface="+mn-lt"/>
              </a:rPr>
              <a:t>gathering requirements </a:t>
            </a:r>
          </a:p>
          <a:p>
            <a:pPr marL="514350" indent="-514350">
              <a:lnSpc>
                <a:spcPct val="150000"/>
              </a:lnSpc>
              <a:buFont typeface="+mj-lt"/>
              <a:buAutoNum type="arabicPeriod"/>
            </a:pPr>
            <a:r>
              <a:rPr lang="en-US" sz="2800" dirty="0">
                <a:latin typeface="+mn-lt"/>
              </a:rPr>
              <a:t>planning and </a:t>
            </a:r>
            <a:r>
              <a:rPr lang="en-US" sz="2800" dirty="0" err="1">
                <a:latin typeface="+mn-lt"/>
              </a:rPr>
              <a:t>analysing</a:t>
            </a:r>
            <a:r>
              <a:rPr lang="en-US" sz="2800" dirty="0">
                <a:latin typeface="+mn-lt"/>
              </a:rPr>
              <a:t> </a:t>
            </a:r>
          </a:p>
          <a:p>
            <a:pPr marL="514350" indent="-514350">
              <a:lnSpc>
                <a:spcPct val="150000"/>
              </a:lnSpc>
              <a:buFont typeface="+mj-lt"/>
              <a:buAutoNum type="arabicPeriod"/>
            </a:pPr>
            <a:r>
              <a:rPr lang="en-US" sz="2800" dirty="0">
                <a:latin typeface="+mn-lt"/>
              </a:rPr>
              <a:t>designing a solution </a:t>
            </a:r>
          </a:p>
          <a:p>
            <a:pPr marL="514350" indent="-514350">
              <a:lnSpc>
                <a:spcPct val="150000"/>
              </a:lnSpc>
              <a:buFont typeface="+mj-lt"/>
              <a:buAutoNum type="arabicPeriod"/>
            </a:pPr>
            <a:r>
              <a:rPr lang="en-US" sz="2800" dirty="0">
                <a:latin typeface="+mn-lt"/>
              </a:rPr>
              <a:t>testing or reviewing </a:t>
            </a:r>
          </a:p>
          <a:p>
            <a:pPr marL="514350" indent="-514350">
              <a:lnSpc>
                <a:spcPct val="150000"/>
              </a:lnSpc>
              <a:buFont typeface="+mj-lt"/>
              <a:buAutoNum type="arabicPeriod"/>
            </a:pPr>
            <a:r>
              <a:rPr lang="en-US" sz="2800" dirty="0">
                <a:latin typeface="+mn-lt"/>
              </a:rPr>
              <a:t>improving/iterating </a:t>
            </a:r>
          </a:p>
          <a:p>
            <a:pPr>
              <a:lnSpc>
                <a:spcPct val="150000"/>
              </a:lnSpc>
            </a:pPr>
            <a:r>
              <a:rPr lang="en-US" sz="2800" dirty="0">
                <a:latin typeface="+mn-lt"/>
              </a:rPr>
              <a:t>Even if the internship did not use these exact words, you should still identify them.</a:t>
            </a:r>
          </a:p>
        </p:txBody>
      </p:sp>
    </p:spTree>
    <p:extLst>
      <p:ext uri="{BB962C8B-B14F-4D97-AF65-F5344CB8AC3E}">
        <p14:creationId xmlns:p14="http://schemas.microsoft.com/office/powerpoint/2010/main" val="2313455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3C2A-C6E3-71DB-E10D-530BD5EDFB6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2FF8AA-5D47-6B8B-87D3-B0B2B533409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51DCEF0-C083-D7E3-8F42-0878EEE933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86288194-CC69-9748-8ECE-A730C977E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B1B866A-793D-6584-4785-1FD39A24A5DF}"/>
              </a:ext>
            </a:extLst>
          </p:cNvPr>
          <p:cNvSpPr txBox="1"/>
          <p:nvPr/>
        </p:nvSpPr>
        <p:spPr>
          <a:xfrm>
            <a:off x="4491" y="1044575"/>
            <a:ext cx="9144000" cy="3903504"/>
          </a:xfrm>
          <a:prstGeom prst="rect">
            <a:avLst/>
          </a:prstGeom>
          <a:solidFill>
            <a:schemeClr val="bg1"/>
          </a:solidFill>
        </p:spPr>
        <p:txBody>
          <a:bodyPr wrap="square">
            <a:spAutoFit/>
          </a:bodyPr>
          <a:lstStyle/>
          <a:p>
            <a:pPr>
              <a:lnSpc>
                <a:spcPct val="150000"/>
              </a:lnSpc>
            </a:pPr>
            <a:r>
              <a:rPr lang="en-US" sz="2800" b="1" dirty="0">
                <a:latin typeface="+mn-lt"/>
              </a:rPr>
              <a:t>What students must do here</a:t>
            </a:r>
          </a:p>
          <a:p>
            <a:pPr>
              <a:lnSpc>
                <a:spcPct val="150000"/>
              </a:lnSpc>
            </a:pPr>
            <a:r>
              <a:rPr lang="en-US" sz="2800" dirty="0">
                <a:latin typeface="+mn-lt"/>
              </a:rPr>
              <a:t>They need to choose at least two tasks or scenarios and explain:</a:t>
            </a:r>
          </a:p>
          <a:p>
            <a:pPr marL="914400" lvl="1" indent="-457200">
              <a:lnSpc>
                <a:spcPct val="150000"/>
              </a:lnSpc>
              <a:buFont typeface="Arial" panose="020B0604020202020204" pitchFamily="34" charset="0"/>
              <a:buChar char="•"/>
            </a:pPr>
            <a:r>
              <a:rPr lang="en-US" sz="2800" dirty="0">
                <a:latin typeface="+mn-lt"/>
              </a:rPr>
              <a:t>what happened in the task </a:t>
            </a:r>
          </a:p>
          <a:p>
            <a:pPr marL="914400" lvl="1" indent="-457200">
              <a:lnSpc>
                <a:spcPct val="150000"/>
              </a:lnSpc>
              <a:buFont typeface="Arial" panose="020B0604020202020204" pitchFamily="34" charset="0"/>
              <a:buChar char="•"/>
            </a:pPr>
            <a:r>
              <a:rPr lang="en-US" sz="2800" dirty="0">
                <a:latin typeface="+mn-lt"/>
              </a:rPr>
              <a:t>which part of the design process it shows </a:t>
            </a:r>
          </a:p>
          <a:p>
            <a:pPr marL="914400" lvl="1" indent="-457200">
              <a:lnSpc>
                <a:spcPct val="150000"/>
              </a:lnSpc>
              <a:buFont typeface="Arial" panose="020B0604020202020204" pitchFamily="34" charset="0"/>
              <a:buChar char="•"/>
            </a:pPr>
            <a:r>
              <a:rPr lang="en-US" sz="2800" dirty="0">
                <a:latin typeface="+mn-lt"/>
              </a:rPr>
              <a:t>why that matters in project development</a:t>
            </a:r>
          </a:p>
        </p:txBody>
      </p:sp>
    </p:spTree>
    <p:extLst>
      <p:ext uri="{BB962C8B-B14F-4D97-AF65-F5344CB8AC3E}">
        <p14:creationId xmlns:p14="http://schemas.microsoft.com/office/powerpoint/2010/main" val="3455557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AEB25-C578-EABE-6B84-7A0702C8285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06444E-97F9-00A0-F57C-BB3AD55FE08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AF0291B-F722-136D-1303-329BF72423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782EA0DE-C6AD-6965-C85D-F4511C558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746D4ED-9D79-4476-CEC8-CB5EAA175CA3}"/>
              </a:ext>
            </a:extLst>
          </p:cNvPr>
          <p:cNvSpPr txBox="1"/>
          <p:nvPr/>
        </p:nvSpPr>
        <p:spPr>
          <a:xfrm>
            <a:off x="4491" y="1044575"/>
            <a:ext cx="9144000" cy="5196166"/>
          </a:xfrm>
          <a:prstGeom prst="rect">
            <a:avLst/>
          </a:prstGeom>
          <a:solidFill>
            <a:schemeClr val="bg1"/>
          </a:solidFill>
        </p:spPr>
        <p:txBody>
          <a:bodyPr wrap="square">
            <a:spAutoFit/>
          </a:bodyPr>
          <a:lstStyle/>
          <a:p>
            <a:pPr>
              <a:lnSpc>
                <a:spcPct val="150000"/>
              </a:lnSpc>
            </a:pPr>
            <a:r>
              <a:rPr lang="en-US" sz="2800" b="1" dirty="0">
                <a:latin typeface="+mn-lt"/>
              </a:rPr>
              <a:t>Good structure for each task</a:t>
            </a:r>
          </a:p>
          <a:p>
            <a:pPr>
              <a:lnSpc>
                <a:spcPct val="150000"/>
              </a:lnSpc>
            </a:pPr>
            <a:r>
              <a:rPr lang="en-US" sz="2800" b="1" dirty="0">
                <a:latin typeface="+mn-lt"/>
              </a:rPr>
              <a:t>Task 1</a:t>
            </a:r>
          </a:p>
          <a:p>
            <a:pPr marL="914400" lvl="1" indent="-457200">
              <a:lnSpc>
                <a:spcPct val="150000"/>
              </a:lnSpc>
              <a:buFont typeface="Arial" panose="020B0604020202020204" pitchFamily="34" charset="0"/>
              <a:buChar char="•"/>
            </a:pPr>
            <a:r>
              <a:rPr lang="en-US" sz="2800" dirty="0">
                <a:latin typeface="+mn-lt"/>
              </a:rPr>
              <a:t>What was the task? </a:t>
            </a:r>
          </a:p>
          <a:p>
            <a:pPr marL="914400" lvl="1" indent="-457200">
              <a:lnSpc>
                <a:spcPct val="150000"/>
              </a:lnSpc>
              <a:buFont typeface="Arial" panose="020B0604020202020204" pitchFamily="34" charset="0"/>
              <a:buChar char="•"/>
            </a:pPr>
            <a:r>
              <a:rPr lang="en-US" sz="2800" dirty="0">
                <a:latin typeface="+mn-lt"/>
              </a:rPr>
              <a:t>Which stage of design process does it show? </a:t>
            </a:r>
          </a:p>
          <a:p>
            <a:pPr marL="914400" lvl="1" indent="-457200">
              <a:lnSpc>
                <a:spcPct val="150000"/>
              </a:lnSpc>
              <a:buFont typeface="Arial" panose="020B0604020202020204" pitchFamily="34" charset="0"/>
              <a:buChar char="•"/>
            </a:pPr>
            <a:r>
              <a:rPr lang="en-US" sz="2800" dirty="0">
                <a:latin typeface="+mn-lt"/>
              </a:rPr>
              <a:t>How? </a:t>
            </a:r>
          </a:p>
          <a:p>
            <a:pPr marL="914400" lvl="1" indent="-457200">
              <a:lnSpc>
                <a:spcPct val="150000"/>
              </a:lnSpc>
              <a:buFont typeface="Arial" panose="020B0604020202020204" pitchFamily="34" charset="0"/>
              <a:buChar char="•"/>
            </a:pPr>
            <a:r>
              <a:rPr lang="en-US" sz="2800" dirty="0">
                <a:latin typeface="+mn-lt"/>
              </a:rPr>
              <a:t>Why is that important? </a:t>
            </a:r>
          </a:p>
          <a:p>
            <a:pPr>
              <a:lnSpc>
                <a:spcPct val="150000"/>
              </a:lnSpc>
            </a:pPr>
            <a:r>
              <a:rPr lang="en-US" sz="2800" b="1" dirty="0">
                <a:latin typeface="+mn-lt"/>
              </a:rPr>
              <a:t>Task 2</a:t>
            </a:r>
          </a:p>
          <a:p>
            <a:pPr marL="914400" lvl="1" indent="-457200">
              <a:lnSpc>
                <a:spcPct val="150000"/>
              </a:lnSpc>
              <a:buFont typeface="Arial" panose="020B0604020202020204" pitchFamily="34" charset="0"/>
              <a:buChar char="•"/>
            </a:pPr>
            <a:r>
              <a:rPr lang="en-US" sz="2800" dirty="0">
                <a:latin typeface="+mn-lt"/>
              </a:rPr>
              <a:t>Same method</a:t>
            </a:r>
          </a:p>
        </p:txBody>
      </p:sp>
    </p:spTree>
    <p:extLst>
      <p:ext uri="{BB962C8B-B14F-4D97-AF65-F5344CB8AC3E}">
        <p14:creationId xmlns:p14="http://schemas.microsoft.com/office/powerpoint/2010/main" val="600253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6FCE-6E09-C0D8-320C-39C222A0C7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23B19D-15B7-D680-0FD5-76A4CAC89DA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5553230-0674-B6B9-EF9C-F475FA8111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sp>
        <p:nvSpPr>
          <p:cNvPr id="5" name="TextBox 4">
            <a:extLst>
              <a:ext uri="{FF2B5EF4-FFF2-40B4-BE49-F238E27FC236}">
                <a16:creationId xmlns:a16="http://schemas.microsoft.com/office/drawing/2014/main" id="{2FDA0D8C-793C-6C45-8223-DEAAB05B53C8}"/>
              </a:ext>
            </a:extLst>
          </p:cNvPr>
          <p:cNvSpPr txBox="1"/>
          <p:nvPr/>
        </p:nvSpPr>
        <p:spPr>
          <a:xfrm>
            <a:off x="4491" y="366612"/>
            <a:ext cx="9144000" cy="6488828"/>
          </a:xfrm>
          <a:prstGeom prst="rect">
            <a:avLst/>
          </a:prstGeom>
          <a:solidFill>
            <a:schemeClr val="bg1"/>
          </a:solidFill>
        </p:spPr>
        <p:txBody>
          <a:bodyPr wrap="square">
            <a:spAutoFit/>
          </a:bodyPr>
          <a:lstStyle/>
          <a:p>
            <a:pPr>
              <a:lnSpc>
                <a:spcPct val="150000"/>
              </a:lnSpc>
            </a:pPr>
            <a:r>
              <a:rPr lang="en-US" sz="2800" b="1" dirty="0">
                <a:latin typeface="+mn-lt"/>
              </a:rPr>
              <a:t>Example analysis</a:t>
            </a:r>
          </a:p>
          <a:p>
            <a:pPr>
              <a:lnSpc>
                <a:spcPct val="150000"/>
              </a:lnSpc>
            </a:pPr>
            <a:r>
              <a:rPr lang="en-US" sz="2800" dirty="0">
                <a:latin typeface="+mn-lt"/>
              </a:rPr>
              <a:t>Suppose a task asked the student to review a business case and identify the client’s problem.</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problem definition </a:t>
            </a:r>
          </a:p>
          <a:p>
            <a:pPr marL="914400" lvl="1" indent="-457200">
              <a:lnSpc>
                <a:spcPct val="150000"/>
              </a:lnSpc>
              <a:buFont typeface="Arial" panose="020B0604020202020204" pitchFamily="34" charset="0"/>
              <a:buChar char="•"/>
            </a:pPr>
            <a:r>
              <a:rPr lang="en-US" sz="2800" dirty="0">
                <a:latin typeface="+mn-lt"/>
              </a:rPr>
              <a:t>stakeholder analysis </a:t>
            </a:r>
          </a:p>
          <a:p>
            <a:pPr marL="914400" lvl="1" indent="-457200">
              <a:lnSpc>
                <a:spcPct val="150000"/>
              </a:lnSpc>
              <a:buFont typeface="Arial" panose="020B0604020202020204" pitchFamily="34" charset="0"/>
              <a:buChar char="•"/>
            </a:pPr>
            <a:r>
              <a:rPr lang="en-US" sz="2800" dirty="0">
                <a:latin typeface="+mn-lt"/>
              </a:rPr>
              <a:t>requirements elicitation </a:t>
            </a:r>
          </a:p>
          <a:p>
            <a:pPr marL="914400" lvl="1" indent="-457200">
              <a:lnSpc>
                <a:spcPct val="150000"/>
              </a:lnSpc>
              <a:buFont typeface="Arial" panose="020B0604020202020204" pitchFamily="34" charset="0"/>
              <a:buChar char="•"/>
            </a:pPr>
            <a:r>
              <a:rPr lang="en-US" sz="2800" dirty="0">
                <a:latin typeface="+mn-lt"/>
              </a:rPr>
              <a:t>business process analysis </a:t>
            </a:r>
          </a:p>
          <a:p>
            <a:pPr marL="914400" lvl="1" indent="-457200">
              <a:lnSpc>
                <a:spcPct val="150000"/>
              </a:lnSpc>
              <a:buFont typeface="Arial" panose="020B0604020202020204" pitchFamily="34" charset="0"/>
              <a:buChar char="•"/>
            </a:pPr>
            <a:r>
              <a:rPr lang="en-US" sz="2800" dirty="0">
                <a:latin typeface="+mn-lt"/>
              </a:rPr>
              <a:t>governance review </a:t>
            </a:r>
          </a:p>
          <a:p>
            <a:pPr marL="914400" lvl="1" indent="-457200">
              <a:lnSpc>
                <a:spcPct val="150000"/>
              </a:lnSpc>
              <a:buFont typeface="Arial" panose="020B0604020202020204" pitchFamily="34" charset="0"/>
              <a:buChar char="•"/>
            </a:pPr>
            <a:r>
              <a:rPr lang="en-US" sz="2800" dirty="0">
                <a:latin typeface="+mn-lt"/>
              </a:rPr>
              <a:t>risk identification</a:t>
            </a:r>
          </a:p>
        </p:txBody>
      </p:sp>
      <p:pic>
        <p:nvPicPr>
          <p:cNvPr id="22534" name="Picture 5">
            <a:extLst>
              <a:ext uri="{FF2B5EF4-FFF2-40B4-BE49-F238E27FC236}">
                <a16:creationId xmlns:a16="http://schemas.microsoft.com/office/drawing/2014/main" id="{966BF8CB-78FF-111C-D84C-E21056BDF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56367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DB1D2-1DFA-5078-A3ED-752F4E1915F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2FE0D1-2B84-F587-5561-30AACC5117A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A89E4C5-CC4B-666A-C4A0-35D0AA5A05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202CFD0B-40C5-2D7A-3585-9E8FA08AB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A70F507-2C6A-5C68-0964-77E03F08DCC4}"/>
              </a:ext>
            </a:extLst>
          </p:cNvPr>
          <p:cNvSpPr txBox="1"/>
          <p:nvPr/>
        </p:nvSpPr>
        <p:spPr>
          <a:xfrm>
            <a:off x="0" y="1015503"/>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One important design stage demonstrated in the internship was problem definition. In one task, I had to examine the client scenario and identify the core issue before suggesting any solution. This reflects the early design process used in IT projects, where clearly defining the problem is essential before moving into solution planning. Without this stage, a project team may build something technically impressive but irrelevant to user needs.</a:t>
            </a:r>
          </a:p>
        </p:txBody>
      </p:sp>
    </p:spTree>
    <p:extLst>
      <p:ext uri="{BB962C8B-B14F-4D97-AF65-F5344CB8AC3E}">
        <p14:creationId xmlns:p14="http://schemas.microsoft.com/office/powerpoint/2010/main" val="775475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CE261-40C2-381F-19FB-CF626CA9C6C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D23F30-6D8C-ECA7-FDEA-58551B1F118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4EB5132-CF65-1719-5432-F6106EF1B4A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sp>
        <p:nvSpPr>
          <p:cNvPr id="5" name="TextBox 4">
            <a:extLst>
              <a:ext uri="{FF2B5EF4-FFF2-40B4-BE49-F238E27FC236}">
                <a16:creationId xmlns:a16="http://schemas.microsoft.com/office/drawing/2014/main" id="{97CC7231-30B0-3C7A-D07D-B35B6C98C449}"/>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1: Business process problem</a:t>
            </a:r>
          </a:p>
          <a:p>
            <a:pPr>
              <a:lnSpc>
                <a:spcPct val="150000"/>
              </a:lnSpc>
            </a:pPr>
            <a:r>
              <a:rPr lang="en-US" sz="2800" dirty="0">
                <a:latin typeface="+mn-lt"/>
              </a:rPr>
              <a:t>Suppose a task asked the student to examine an inefficient workflow in a company.</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problem definition </a:t>
            </a:r>
          </a:p>
          <a:p>
            <a:pPr marL="914400" lvl="1" indent="-457200">
              <a:lnSpc>
                <a:spcPct val="150000"/>
              </a:lnSpc>
              <a:buFont typeface="Arial" panose="020B0604020202020204" pitchFamily="34" charset="0"/>
              <a:buChar char="•"/>
            </a:pPr>
            <a:r>
              <a:rPr lang="en-US" sz="2800" dirty="0">
                <a:latin typeface="+mn-lt"/>
              </a:rPr>
              <a:t>process analysis </a:t>
            </a:r>
          </a:p>
          <a:p>
            <a:pPr marL="914400" lvl="1" indent="-457200">
              <a:lnSpc>
                <a:spcPct val="150000"/>
              </a:lnSpc>
              <a:buFont typeface="Arial" panose="020B0604020202020204" pitchFamily="34" charset="0"/>
              <a:buChar char="•"/>
            </a:pPr>
            <a:r>
              <a:rPr lang="en-US" sz="2800" dirty="0">
                <a:latin typeface="+mn-lt"/>
              </a:rPr>
              <a:t>stakeholder needs </a:t>
            </a:r>
          </a:p>
          <a:p>
            <a:pPr marL="914400" lvl="1" indent="-457200">
              <a:lnSpc>
                <a:spcPct val="150000"/>
              </a:lnSpc>
              <a:buFont typeface="Arial" panose="020B0604020202020204" pitchFamily="34" charset="0"/>
              <a:buChar char="•"/>
            </a:pPr>
            <a:r>
              <a:rPr lang="en-US" sz="2800" dirty="0">
                <a:latin typeface="+mn-lt"/>
              </a:rPr>
              <a:t>requirements gathering</a:t>
            </a:r>
          </a:p>
        </p:txBody>
      </p:sp>
      <p:pic>
        <p:nvPicPr>
          <p:cNvPr id="22534" name="Picture 5">
            <a:extLst>
              <a:ext uri="{FF2B5EF4-FFF2-40B4-BE49-F238E27FC236}">
                <a16:creationId xmlns:a16="http://schemas.microsoft.com/office/drawing/2014/main" id="{C43FD5E0-B565-457F-3F79-FC0C6CE8D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6875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B197D-E4E5-2739-023B-85F08C5A304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6F28BA-6A4E-A20D-02E2-031B0D8F9C0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E9F0A62-63E0-99FE-0E9B-EE9B3D260A2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47</a:t>
            </a:fld>
            <a:endParaRPr lang="en-US" altLang="en-US" sz="900">
              <a:solidFill>
                <a:srgbClr val="FFFFFF"/>
              </a:solidFill>
            </a:endParaRPr>
          </a:p>
        </p:txBody>
      </p:sp>
      <p:sp>
        <p:nvSpPr>
          <p:cNvPr id="5" name="TextBox 4">
            <a:extLst>
              <a:ext uri="{FF2B5EF4-FFF2-40B4-BE49-F238E27FC236}">
                <a16:creationId xmlns:a16="http://schemas.microsoft.com/office/drawing/2014/main" id="{377762E4-7B78-F282-BB20-E1B36A7EBE38}"/>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In one task, I had to review an existing business process and identify where inefficiencies were occurring. This reflected problem definition and requirements analysis because the aim was to understand the current process before proposing changes. In business information systems projects, this stage is important because system improvements should be based on real operational problems rather than assumptions.</a:t>
            </a:r>
          </a:p>
        </p:txBody>
      </p:sp>
      <p:pic>
        <p:nvPicPr>
          <p:cNvPr id="22534" name="Picture 5">
            <a:extLst>
              <a:ext uri="{FF2B5EF4-FFF2-40B4-BE49-F238E27FC236}">
                <a16:creationId xmlns:a16="http://schemas.microsoft.com/office/drawing/2014/main" id="{37CDC633-8C7B-6A3C-E4DB-63399010D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8434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1F69D-C45D-B367-7A6D-5E4F47592D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0EA639-0A23-0E70-2B97-94ADD54640B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2E181A3-FE37-AE4E-BA00-824F0A55F1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48</a:t>
            </a:fld>
            <a:endParaRPr lang="en-US" altLang="en-US" sz="900">
              <a:solidFill>
                <a:srgbClr val="FFFFFF"/>
              </a:solidFill>
            </a:endParaRPr>
          </a:p>
        </p:txBody>
      </p:sp>
      <p:sp>
        <p:nvSpPr>
          <p:cNvPr id="5" name="TextBox 4">
            <a:extLst>
              <a:ext uri="{FF2B5EF4-FFF2-40B4-BE49-F238E27FC236}">
                <a16:creationId xmlns:a16="http://schemas.microsoft.com/office/drawing/2014/main" id="{76230FCD-57D4-9AC4-0C41-CF8DCAC1EEB6}"/>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2: System recommendation task</a:t>
            </a:r>
          </a:p>
          <a:p>
            <a:pPr>
              <a:lnSpc>
                <a:spcPct val="150000"/>
              </a:lnSpc>
            </a:pPr>
            <a:r>
              <a:rPr lang="en-US" sz="2800" dirty="0">
                <a:latin typeface="+mn-lt"/>
              </a:rPr>
              <a:t>Suppose a task asked the student to recommend a system, such as CRM, ERP, or reporting platform.</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conceptual design </a:t>
            </a:r>
          </a:p>
          <a:p>
            <a:pPr marL="914400" lvl="1" indent="-457200">
              <a:lnSpc>
                <a:spcPct val="150000"/>
              </a:lnSpc>
              <a:buFont typeface="Arial" panose="020B0604020202020204" pitchFamily="34" charset="0"/>
              <a:buChar char="•"/>
            </a:pPr>
            <a:r>
              <a:rPr lang="en-US" sz="2800" dirty="0">
                <a:latin typeface="+mn-lt"/>
              </a:rPr>
              <a:t>solution modelling </a:t>
            </a:r>
          </a:p>
          <a:p>
            <a:pPr marL="914400" lvl="1" indent="-457200">
              <a:lnSpc>
                <a:spcPct val="150000"/>
              </a:lnSpc>
              <a:buFont typeface="Arial" panose="020B0604020202020204" pitchFamily="34" charset="0"/>
              <a:buChar char="•"/>
            </a:pPr>
            <a:r>
              <a:rPr lang="en-US" sz="2800" dirty="0">
                <a:latin typeface="+mn-lt"/>
              </a:rPr>
              <a:t>planning </a:t>
            </a:r>
          </a:p>
          <a:p>
            <a:pPr marL="914400" lvl="1" indent="-457200">
              <a:lnSpc>
                <a:spcPct val="150000"/>
              </a:lnSpc>
              <a:buFont typeface="Arial" panose="020B0604020202020204" pitchFamily="34" charset="0"/>
              <a:buChar char="•"/>
            </a:pPr>
            <a:r>
              <a:rPr lang="en-US" sz="2800" dirty="0">
                <a:latin typeface="+mn-lt"/>
              </a:rPr>
              <a:t>alignment between business needs and system features</a:t>
            </a:r>
          </a:p>
        </p:txBody>
      </p:sp>
      <p:pic>
        <p:nvPicPr>
          <p:cNvPr id="22534" name="Picture 5">
            <a:extLst>
              <a:ext uri="{FF2B5EF4-FFF2-40B4-BE49-F238E27FC236}">
                <a16:creationId xmlns:a16="http://schemas.microsoft.com/office/drawing/2014/main" id="{AFCA6422-4EAB-C650-C300-0400567EF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9891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E11C-99FB-60FA-DD07-8018DC39D91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64C31D-3E10-5363-7090-60EF3FB99AC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CC6A90A-81F6-019D-3738-8EDABCED867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49</a:t>
            </a:fld>
            <a:endParaRPr lang="en-US" altLang="en-US" sz="900">
              <a:solidFill>
                <a:srgbClr val="FFFFFF"/>
              </a:solidFill>
            </a:endParaRPr>
          </a:p>
        </p:txBody>
      </p:sp>
      <p:sp>
        <p:nvSpPr>
          <p:cNvPr id="5" name="TextBox 4">
            <a:extLst>
              <a:ext uri="{FF2B5EF4-FFF2-40B4-BE49-F238E27FC236}">
                <a16:creationId xmlns:a16="http://schemas.microsoft.com/office/drawing/2014/main" id="{8FB42095-FF0D-0B73-5085-8809E8E42861}"/>
              </a:ext>
            </a:extLst>
          </p:cNvPr>
          <p:cNvSpPr txBox="1"/>
          <p:nvPr/>
        </p:nvSpPr>
        <p:spPr>
          <a:xfrm>
            <a:off x="4491" y="830917"/>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Another task reflected conceptual design because I was required to recommend a suitable information system based on the </a:t>
            </a:r>
            <a:r>
              <a:rPr lang="en-US" sz="2800" dirty="0" err="1">
                <a:latin typeface="+mn-lt"/>
              </a:rPr>
              <a:t>organisation’s</a:t>
            </a:r>
            <a:r>
              <a:rPr lang="en-US" sz="2800" dirty="0">
                <a:latin typeface="+mn-lt"/>
              </a:rPr>
              <a:t> needs. Although the internship did not explicitly call this a design stage, it involved translating business requirements into a possible system solution. This is a key part of business information systems design, where the goal is to align technology capabilities with business objectives.</a:t>
            </a:r>
          </a:p>
        </p:txBody>
      </p:sp>
      <p:pic>
        <p:nvPicPr>
          <p:cNvPr id="22534" name="Picture 5">
            <a:extLst>
              <a:ext uri="{FF2B5EF4-FFF2-40B4-BE49-F238E27FC236}">
                <a16:creationId xmlns:a16="http://schemas.microsoft.com/office/drawing/2014/main" id="{DB6711E6-CF0C-8AB7-D29A-D4E17EEFEF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841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8945C-4D48-AEEC-B894-97E604B5AB2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6CC01B-91CA-37DE-8CF6-A2F04C33332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615B660-D0F3-574F-3771-F7B60B851E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50</a:t>
            </a:fld>
            <a:endParaRPr lang="en-US" altLang="en-US" sz="900">
              <a:solidFill>
                <a:srgbClr val="FFFFFF"/>
              </a:solidFill>
            </a:endParaRPr>
          </a:p>
        </p:txBody>
      </p:sp>
      <p:sp>
        <p:nvSpPr>
          <p:cNvPr id="5" name="TextBox 4">
            <a:extLst>
              <a:ext uri="{FF2B5EF4-FFF2-40B4-BE49-F238E27FC236}">
                <a16:creationId xmlns:a16="http://schemas.microsoft.com/office/drawing/2014/main" id="{6148ECAC-D7CA-E558-0744-24B3BA85AD1C}"/>
              </a:ext>
            </a:extLst>
          </p:cNvPr>
          <p:cNvSpPr txBox="1"/>
          <p:nvPr/>
        </p:nvSpPr>
        <p:spPr>
          <a:xfrm>
            <a:off x="4491" y="830917"/>
            <a:ext cx="9144000" cy="4549835"/>
          </a:xfrm>
          <a:prstGeom prst="rect">
            <a:avLst/>
          </a:prstGeom>
          <a:solidFill>
            <a:schemeClr val="bg1"/>
          </a:solidFill>
        </p:spPr>
        <p:txBody>
          <a:bodyPr wrap="square">
            <a:spAutoFit/>
          </a:bodyPr>
          <a:lstStyle/>
          <a:p>
            <a:pPr>
              <a:lnSpc>
                <a:spcPct val="150000"/>
              </a:lnSpc>
            </a:pPr>
            <a:r>
              <a:rPr lang="en-US" sz="2800" b="1" dirty="0">
                <a:latin typeface="+mn-lt"/>
              </a:rPr>
              <a:t>Example 3: Stakeholder-focused analysis</a:t>
            </a:r>
          </a:p>
          <a:p>
            <a:pPr>
              <a:lnSpc>
                <a:spcPct val="150000"/>
              </a:lnSpc>
            </a:pPr>
            <a:r>
              <a:rPr lang="en-US" sz="2800" dirty="0">
                <a:latin typeface="+mn-lt"/>
              </a:rPr>
              <a:t>Suppose a task asked the student to compare the needs of different departments.</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stakeholder analysis </a:t>
            </a:r>
          </a:p>
          <a:p>
            <a:pPr marL="914400" lvl="1" indent="-457200">
              <a:lnSpc>
                <a:spcPct val="150000"/>
              </a:lnSpc>
              <a:buFont typeface="Arial" panose="020B0604020202020204" pitchFamily="34" charset="0"/>
              <a:buChar char="•"/>
            </a:pPr>
            <a:r>
              <a:rPr lang="en-US" sz="2800" dirty="0">
                <a:latin typeface="+mn-lt"/>
              </a:rPr>
              <a:t>requirements elicitation </a:t>
            </a:r>
          </a:p>
          <a:p>
            <a:pPr marL="914400" lvl="1" indent="-457200">
              <a:lnSpc>
                <a:spcPct val="150000"/>
              </a:lnSpc>
              <a:buFont typeface="Arial" panose="020B0604020202020204" pitchFamily="34" charset="0"/>
              <a:buChar char="•"/>
            </a:pPr>
            <a:r>
              <a:rPr lang="en-US" sz="2800" dirty="0">
                <a:latin typeface="+mn-lt"/>
              </a:rPr>
              <a:t>scope clarification</a:t>
            </a:r>
          </a:p>
        </p:txBody>
      </p:sp>
      <p:pic>
        <p:nvPicPr>
          <p:cNvPr id="22534" name="Picture 5">
            <a:extLst>
              <a:ext uri="{FF2B5EF4-FFF2-40B4-BE49-F238E27FC236}">
                <a16:creationId xmlns:a16="http://schemas.microsoft.com/office/drawing/2014/main" id="{C7B69B95-A35F-D249-3630-3E042B7FD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2117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1360-453B-E24B-5AE2-9C9F99834A5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00FC92-E6AF-EC8B-3897-8A313712F7D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4BDFEB8-8F8F-5594-D814-08F8A3FBC77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51</a:t>
            </a:fld>
            <a:endParaRPr lang="en-US" altLang="en-US" sz="900">
              <a:solidFill>
                <a:srgbClr val="FFFFFF"/>
              </a:solidFill>
            </a:endParaRPr>
          </a:p>
        </p:txBody>
      </p:sp>
      <p:sp>
        <p:nvSpPr>
          <p:cNvPr id="5" name="TextBox 4">
            <a:extLst>
              <a:ext uri="{FF2B5EF4-FFF2-40B4-BE49-F238E27FC236}">
                <a16:creationId xmlns:a16="http://schemas.microsoft.com/office/drawing/2014/main" id="{FF584317-68E4-80DB-B80E-A7D0B93627FB}"/>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One scenario required me to consider the needs of different stakeholders, such as management, staff, and customers. This reflected stakeholder analysis and requirements elicitation because each group had different expectations from the system. The task showed that an effective project design process must consider multiple perspectives before </a:t>
            </a:r>
            <a:r>
              <a:rPr lang="en-US" sz="2800" dirty="0" err="1">
                <a:latin typeface="+mn-lt"/>
              </a:rPr>
              <a:t>finalising</a:t>
            </a:r>
            <a:r>
              <a:rPr lang="en-US" sz="2800" dirty="0">
                <a:latin typeface="+mn-lt"/>
              </a:rPr>
              <a:t> a proposed solution.</a:t>
            </a:r>
          </a:p>
        </p:txBody>
      </p:sp>
      <p:pic>
        <p:nvPicPr>
          <p:cNvPr id="22534" name="Picture 5">
            <a:extLst>
              <a:ext uri="{FF2B5EF4-FFF2-40B4-BE49-F238E27FC236}">
                <a16:creationId xmlns:a16="http://schemas.microsoft.com/office/drawing/2014/main" id="{3CB60921-E8BC-40AB-D29B-4FD886335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77663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76596-DADB-357C-00F8-F519FF48DAC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6B6121-D753-4D2F-788B-27E82C664C4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DFD08EB-58C5-FA01-A053-255C95354E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52</a:t>
            </a:fld>
            <a:endParaRPr lang="en-US" altLang="en-US" sz="900">
              <a:solidFill>
                <a:srgbClr val="FFFFFF"/>
              </a:solidFill>
            </a:endParaRPr>
          </a:p>
        </p:txBody>
      </p:sp>
      <p:sp>
        <p:nvSpPr>
          <p:cNvPr id="5" name="TextBox 4">
            <a:extLst>
              <a:ext uri="{FF2B5EF4-FFF2-40B4-BE49-F238E27FC236}">
                <a16:creationId xmlns:a16="http://schemas.microsoft.com/office/drawing/2014/main" id="{4A2C986A-FA63-12CA-228F-4936C886B16F}"/>
              </a:ext>
            </a:extLst>
          </p:cNvPr>
          <p:cNvSpPr txBox="1"/>
          <p:nvPr/>
        </p:nvSpPr>
        <p:spPr>
          <a:xfrm>
            <a:off x="4491" y="830917"/>
            <a:ext cx="9144000" cy="4549835"/>
          </a:xfrm>
          <a:prstGeom prst="rect">
            <a:avLst/>
          </a:prstGeom>
          <a:solidFill>
            <a:schemeClr val="bg1"/>
          </a:solidFill>
        </p:spPr>
        <p:txBody>
          <a:bodyPr wrap="square">
            <a:spAutoFit/>
          </a:bodyPr>
          <a:lstStyle/>
          <a:p>
            <a:pPr>
              <a:lnSpc>
                <a:spcPct val="150000"/>
              </a:lnSpc>
            </a:pPr>
            <a:r>
              <a:rPr lang="en-US" sz="2800" b="1" dirty="0">
                <a:latin typeface="+mn-lt"/>
              </a:rPr>
              <a:t>Example 4: Data/reporting decision</a:t>
            </a:r>
          </a:p>
          <a:p>
            <a:pPr>
              <a:lnSpc>
                <a:spcPct val="150000"/>
              </a:lnSpc>
            </a:pPr>
            <a:r>
              <a:rPr lang="en-US" sz="2800" dirty="0">
                <a:latin typeface="+mn-lt"/>
              </a:rPr>
              <a:t>Suppose a task involved dashboards, reporting tools, or decision support systems.</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requirements gathering </a:t>
            </a:r>
          </a:p>
          <a:p>
            <a:pPr marL="914400" lvl="1" indent="-457200">
              <a:lnSpc>
                <a:spcPct val="150000"/>
              </a:lnSpc>
              <a:buFont typeface="Arial" panose="020B0604020202020204" pitchFamily="34" charset="0"/>
              <a:buChar char="•"/>
            </a:pPr>
            <a:r>
              <a:rPr lang="en-US" sz="2800" dirty="0">
                <a:latin typeface="+mn-lt"/>
              </a:rPr>
              <a:t>conceptual design </a:t>
            </a:r>
          </a:p>
          <a:p>
            <a:pPr marL="914400" lvl="1" indent="-457200">
              <a:lnSpc>
                <a:spcPct val="150000"/>
              </a:lnSpc>
              <a:buFont typeface="Arial" panose="020B0604020202020204" pitchFamily="34" charset="0"/>
              <a:buChar char="•"/>
            </a:pPr>
            <a:r>
              <a:rPr lang="en-US" sz="2800" dirty="0">
                <a:latin typeface="+mn-lt"/>
              </a:rPr>
              <a:t>information needs analysis</a:t>
            </a:r>
          </a:p>
        </p:txBody>
      </p:sp>
      <p:pic>
        <p:nvPicPr>
          <p:cNvPr id="22534" name="Picture 5">
            <a:extLst>
              <a:ext uri="{FF2B5EF4-FFF2-40B4-BE49-F238E27FC236}">
                <a16:creationId xmlns:a16="http://schemas.microsoft.com/office/drawing/2014/main" id="{54707BE6-71A9-7EAC-E737-CC963A5D2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58600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F3F4F-DC91-456D-7CE7-664B12F762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457DA06-4D39-44ED-BBE2-C1FC0BB11F4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9B5DBCF-E70F-8844-E85C-8A86A8141A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53</a:t>
            </a:fld>
            <a:endParaRPr lang="en-US" altLang="en-US" sz="900">
              <a:solidFill>
                <a:srgbClr val="FFFFFF"/>
              </a:solidFill>
            </a:endParaRPr>
          </a:p>
        </p:txBody>
      </p:sp>
      <p:sp>
        <p:nvSpPr>
          <p:cNvPr id="5" name="TextBox 4">
            <a:extLst>
              <a:ext uri="{FF2B5EF4-FFF2-40B4-BE49-F238E27FC236}">
                <a16:creationId xmlns:a16="http://schemas.microsoft.com/office/drawing/2014/main" id="{8C1C2286-A253-07A2-2DE7-438623DDCA7D}"/>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A task involving reporting and data presentation also demonstrated the design process. I had to think about what information decision-makers needed and how that information should be delivered. This connected to requirements gathering and conceptual design because the proposed reporting solution had to match business needs and user expectations.</a:t>
            </a:r>
          </a:p>
        </p:txBody>
      </p:sp>
      <p:pic>
        <p:nvPicPr>
          <p:cNvPr id="22534" name="Picture 5">
            <a:extLst>
              <a:ext uri="{FF2B5EF4-FFF2-40B4-BE49-F238E27FC236}">
                <a16:creationId xmlns:a16="http://schemas.microsoft.com/office/drawing/2014/main" id="{82D609BE-538B-7950-E98A-4DCB3B9EF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46417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8628-1586-00FB-19A2-72D810F5C86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FC60F48-3A90-CA8B-F348-9E7E8AEF0BD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5391029-59CC-1DDC-76DA-A546A3E6833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54</a:t>
            </a:fld>
            <a:endParaRPr lang="en-US" altLang="en-US" sz="900">
              <a:solidFill>
                <a:srgbClr val="FFFFFF"/>
              </a:solidFill>
            </a:endParaRPr>
          </a:p>
        </p:txBody>
      </p:sp>
      <p:sp>
        <p:nvSpPr>
          <p:cNvPr id="5" name="TextBox 4">
            <a:extLst>
              <a:ext uri="{FF2B5EF4-FFF2-40B4-BE49-F238E27FC236}">
                <a16:creationId xmlns:a16="http://schemas.microsoft.com/office/drawing/2014/main" id="{4723C0EB-8789-237E-0A95-C6F2008F742E}"/>
              </a:ext>
            </a:extLst>
          </p:cNvPr>
          <p:cNvSpPr txBox="1"/>
          <p:nvPr/>
        </p:nvSpPr>
        <p:spPr>
          <a:xfrm>
            <a:off x="4491" y="830917"/>
            <a:ext cx="9144000" cy="5842497"/>
          </a:xfrm>
          <a:prstGeom prst="rect">
            <a:avLst/>
          </a:prstGeom>
          <a:solidFill>
            <a:schemeClr val="bg1"/>
          </a:solidFill>
        </p:spPr>
        <p:txBody>
          <a:bodyPr wrap="square">
            <a:spAutoFit/>
          </a:bodyPr>
          <a:lstStyle/>
          <a:p>
            <a:pPr>
              <a:lnSpc>
                <a:spcPct val="150000"/>
              </a:lnSpc>
            </a:pPr>
            <a:r>
              <a:rPr lang="en-US" sz="2800" b="1" dirty="0">
                <a:latin typeface="+mn-lt"/>
              </a:rPr>
              <a:t>More examples for IT Governance students</a:t>
            </a:r>
          </a:p>
          <a:p>
            <a:pPr>
              <a:lnSpc>
                <a:spcPct val="150000"/>
              </a:lnSpc>
            </a:pPr>
            <a:r>
              <a:rPr lang="en-US" sz="2800" b="1" dirty="0">
                <a:latin typeface="+mn-lt"/>
              </a:rPr>
              <a:t>Example 5: Risk and control review</a:t>
            </a:r>
          </a:p>
          <a:p>
            <a:pPr>
              <a:lnSpc>
                <a:spcPct val="150000"/>
              </a:lnSpc>
            </a:pPr>
            <a:r>
              <a:rPr lang="en-US" sz="2800" dirty="0">
                <a:latin typeface="+mn-lt"/>
              </a:rPr>
              <a:t>Suppose a task asked the student to identify risks, compliance concerns, or control weaknesses.</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problem identification </a:t>
            </a:r>
          </a:p>
          <a:p>
            <a:pPr marL="914400" lvl="1" indent="-457200">
              <a:lnSpc>
                <a:spcPct val="150000"/>
              </a:lnSpc>
              <a:buFont typeface="Arial" panose="020B0604020202020204" pitchFamily="34" charset="0"/>
              <a:buChar char="•"/>
            </a:pPr>
            <a:r>
              <a:rPr lang="en-US" sz="2800" dirty="0">
                <a:latin typeface="+mn-lt"/>
              </a:rPr>
              <a:t>governance analysis </a:t>
            </a:r>
          </a:p>
          <a:p>
            <a:pPr marL="914400" lvl="1" indent="-457200">
              <a:lnSpc>
                <a:spcPct val="150000"/>
              </a:lnSpc>
              <a:buFont typeface="Arial" panose="020B0604020202020204" pitchFamily="34" charset="0"/>
              <a:buChar char="•"/>
            </a:pPr>
            <a:r>
              <a:rPr lang="en-US" sz="2800" dirty="0">
                <a:latin typeface="+mn-lt"/>
              </a:rPr>
              <a:t>risk assessment </a:t>
            </a:r>
          </a:p>
          <a:p>
            <a:pPr marL="914400" lvl="1" indent="-457200">
              <a:lnSpc>
                <a:spcPct val="150000"/>
              </a:lnSpc>
              <a:buFont typeface="Arial" panose="020B0604020202020204" pitchFamily="34" charset="0"/>
              <a:buChar char="•"/>
            </a:pPr>
            <a:r>
              <a:rPr lang="en-US" sz="2800" dirty="0">
                <a:latin typeface="+mn-lt"/>
              </a:rPr>
              <a:t>requirements for control and compliance</a:t>
            </a:r>
          </a:p>
        </p:txBody>
      </p:sp>
      <p:pic>
        <p:nvPicPr>
          <p:cNvPr id="22534" name="Picture 5">
            <a:extLst>
              <a:ext uri="{FF2B5EF4-FFF2-40B4-BE49-F238E27FC236}">
                <a16:creationId xmlns:a16="http://schemas.microsoft.com/office/drawing/2014/main" id="{24926974-D7AE-86C9-4DF1-889DE014C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00403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5E8C-DF20-621F-2C71-C97F07FBEDB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E524C3-2E65-11C7-9BB3-C5457EE10E0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81E2EA1-F18E-F09C-B5F8-93E06075F85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55</a:t>
            </a:fld>
            <a:endParaRPr lang="en-US" altLang="en-US" sz="900">
              <a:solidFill>
                <a:srgbClr val="FFFFFF"/>
              </a:solidFill>
            </a:endParaRPr>
          </a:p>
        </p:txBody>
      </p:sp>
      <p:sp>
        <p:nvSpPr>
          <p:cNvPr id="5" name="TextBox 4">
            <a:extLst>
              <a:ext uri="{FF2B5EF4-FFF2-40B4-BE49-F238E27FC236}">
                <a16:creationId xmlns:a16="http://schemas.microsoft.com/office/drawing/2014/main" id="{7676AF8C-018C-3475-7180-08F42FB437E6}"/>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One important task involved identifying risks and control weaknesses in an </a:t>
            </a:r>
            <a:r>
              <a:rPr lang="en-US" sz="2800" dirty="0" err="1">
                <a:latin typeface="+mn-lt"/>
              </a:rPr>
              <a:t>organisational</a:t>
            </a:r>
            <a:r>
              <a:rPr lang="en-US" sz="2800" dirty="0">
                <a:latin typeface="+mn-lt"/>
              </a:rPr>
              <a:t> scenario. This reflected the early design process because it required understanding the governance problem before considering an appropriate solution. In IT governance, design decisions must be informed by risk, accountability, and compliance requirements, not only by operational efficiency.</a:t>
            </a:r>
          </a:p>
        </p:txBody>
      </p:sp>
      <p:pic>
        <p:nvPicPr>
          <p:cNvPr id="22534" name="Picture 5">
            <a:extLst>
              <a:ext uri="{FF2B5EF4-FFF2-40B4-BE49-F238E27FC236}">
                <a16:creationId xmlns:a16="http://schemas.microsoft.com/office/drawing/2014/main" id="{55854001-188E-D393-176A-93D1C0BE6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18997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8928-708B-EEF9-E57B-94FB376FE3F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59702B-120F-CD67-43C7-04944CB465F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293CAD6-FD3A-4231-E1F7-58044F50E9D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56</a:t>
            </a:fld>
            <a:endParaRPr lang="en-US" altLang="en-US" sz="900">
              <a:solidFill>
                <a:srgbClr val="FFFFFF"/>
              </a:solidFill>
            </a:endParaRPr>
          </a:p>
        </p:txBody>
      </p:sp>
      <p:sp>
        <p:nvSpPr>
          <p:cNvPr id="5" name="TextBox 4">
            <a:extLst>
              <a:ext uri="{FF2B5EF4-FFF2-40B4-BE49-F238E27FC236}">
                <a16:creationId xmlns:a16="http://schemas.microsoft.com/office/drawing/2014/main" id="{594C0229-2688-BFCE-B24B-E044829CA314}"/>
              </a:ext>
            </a:extLst>
          </p:cNvPr>
          <p:cNvSpPr txBox="1"/>
          <p:nvPr/>
        </p:nvSpPr>
        <p:spPr>
          <a:xfrm>
            <a:off x="4491"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 6: Policy or compliance improvement</a:t>
            </a:r>
          </a:p>
          <a:p>
            <a:pPr>
              <a:lnSpc>
                <a:spcPct val="150000"/>
              </a:lnSpc>
            </a:pPr>
            <a:r>
              <a:rPr lang="en-US" sz="2800" dirty="0">
                <a:latin typeface="+mn-lt"/>
              </a:rPr>
              <a:t>Suppose a task required reviewing policies or suggesting governance improvements.</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requirements analysis </a:t>
            </a:r>
          </a:p>
          <a:p>
            <a:pPr marL="914400" lvl="1" indent="-457200">
              <a:lnSpc>
                <a:spcPct val="150000"/>
              </a:lnSpc>
              <a:buFont typeface="Arial" panose="020B0604020202020204" pitchFamily="34" charset="0"/>
              <a:buChar char="•"/>
            </a:pPr>
            <a:r>
              <a:rPr lang="en-US" sz="2800" dirty="0">
                <a:latin typeface="+mn-lt"/>
              </a:rPr>
              <a:t>planning </a:t>
            </a:r>
          </a:p>
          <a:p>
            <a:pPr marL="914400" lvl="1" indent="-457200">
              <a:lnSpc>
                <a:spcPct val="150000"/>
              </a:lnSpc>
              <a:buFont typeface="Arial" panose="020B0604020202020204" pitchFamily="34" charset="0"/>
              <a:buChar char="•"/>
            </a:pPr>
            <a:r>
              <a:rPr lang="en-US" sz="2800" dirty="0" err="1">
                <a:latin typeface="+mn-lt"/>
              </a:rPr>
              <a:t>organisational</a:t>
            </a:r>
            <a:r>
              <a:rPr lang="en-US" sz="2800" dirty="0">
                <a:latin typeface="+mn-lt"/>
              </a:rPr>
              <a:t> design considerations </a:t>
            </a:r>
          </a:p>
          <a:p>
            <a:pPr marL="914400" lvl="1" indent="-457200">
              <a:lnSpc>
                <a:spcPct val="150000"/>
              </a:lnSpc>
              <a:buFont typeface="Arial" panose="020B0604020202020204" pitchFamily="34" charset="0"/>
              <a:buChar char="•"/>
            </a:pPr>
            <a:r>
              <a:rPr lang="en-US" sz="2800" dirty="0">
                <a:latin typeface="+mn-lt"/>
              </a:rPr>
              <a:t>alignment of IT practices with governance standards</a:t>
            </a:r>
          </a:p>
        </p:txBody>
      </p:sp>
      <p:pic>
        <p:nvPicPr>
          <p:cNvPr id="22534" name="Picture 5">
            <a:extLst>
              <a:ext uri="{FF2B5EF4-FFF2-40B4-BE49-F238E27FC236}">
                <a16:creationId xmlns:a16="http://schemas.microsoft.com/office/drawing/2014/main" id="{799A0562-269A-B74C-3B73-ED8655DC8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7886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3D04-64F7-F0FF-0AD5-74DDCD4A277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E47457-3134-785C-DF53-412813FAD54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D297BE-AD69-8C64-347A-E188A540EB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57</a:t>
            </a:fld>
            <a:endParaRPr lang="en-US" altLang="en-US" sz="900">
              <a:solidFill>
                <a:srgbClr val="FFFFFF"/>
              </a:solidFill>
            </a:endParaRPr>
          </a:p>
        </p:txBody>
      </p:sp>
      <p:sp>
        <p:nvSpPr>
          <p:cNvPr id="5" name="TextBox 4">
            <a:extLst>
              <a:ext uri="{FF2B5EF4-FFF2-40B4-BE49-F238E27FC236}">
                <a16:creationId xmlns:a16="http://schemas.microsoft.com/office/drawing/2014/main" id="{E441388B-48FC-D35E-717E-E621226C210E}"/>
              </a:ext>
            </a:extLst>
          </p:cNvPr>
          <p:cNvSpPr txBox="1"/>
          <p:nvPr/>
        </p:nvSpPr>
        <p:spPr>
          <a:xfrm>
            <a:off x="4491" y="830917"/>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Another task involved reviewing existing practices and suggesting improvements to policy or compliance processes. This can be linked to planning and requirements analysis because the task required identifying what the </a:t>
            </a:r>
            <a:r>
              <a:rPr lang="en-US" sz="2800" dirty="0" err="1">
                <a:latin typeface="+mn-lt"/>
              </a:rPr>
              <a:t>organisation</a:t>
            </a:r>
            <a:r>
              <a:rPr lang="en-US" sz="2800" dirty="0">
                <a:latin typeface="+mn-lt"/>
              </a:rPr>
              <a:t> needed in order to improve governance outcomes. It showed that effective IT project design is not limited to technical system building, but also includes designing processes and controls that support responsible technology use.</a:t>
            </a:r>
          </a:p>
        </p:txBody>
      </p:sp>
      <p:pic>
        <p:nvPicPr>
          <p:cNvPr id="22534" name="Picture 5">
            <a:extLst>
              <a:ext uri="{FF2B5EF4-FFF2-40B4-BE49-F238E27FC236}">
                <a16:creationId xmlns:a16="http://schemas.microsoft.com/office/drawing/2014/main" id="{332F0D85-EB1F-93DD-6A58-EB0F27B15C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73913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502FC-6719-9213-0B9F-4BA858AE25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111C0A-1849-F3EC-CD48-519FD4E0B7F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83F70D3-331C-19E4-D348-C1469D18CB7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58</a:t>
            </a:fld>
            <a:endParaRPr lang="en-US" altLang="en-US" sz="900">
              <a:solidFill>
                <a:srgbClr val="FFFFFF"/>
              </a:solidFill>
            </a:endParaRPr>
          </a:p>
        </p:txBody>
      </p:sp>
      <p:sp>
        <p:nvSpPr>
          <p:cNvPr id="5" name="TextBox 4">
            <a:extLst>
              <a:ext uri="{FF2B5EF4-FFF2-40B4-BE49-F238E27FC236}">
                <a16:creationId xmlns:a16="http://schemas.microsoft.com/office/drawing/2014/main" id="{35049C9F-D167-5F34-B11B-CAB43C9DECDB}"/>
              </a:ext>
            </a:extLst>
          </p:cNvPr>
          <p:cNvSpPr txBox="1"/>
          <p:nvPr/>
        </p:nvSpPr>
        <p:spPr>
          <a:xfrm>
            <a:off x="4491" y="830917"/>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 7: Aligning IT with business strategy</a:t>
            </a:r>
          </a:p>
          <a:p>
            <a:pPr>
              <a:lnSpc>
                <a:spcPct val="150000"/>
              </a:lnSpc>
            </a:pPr>
            <a:r>
              <a:rPr lang="en-US" sz="2800" dirty="0">
                <a:latin typeface="+mn-lt"/>
              </a:rPr>
              <a:t>Suppose a task asked the student to recommend a governance or technology approach that supports business goals.</a:t>
            </a:r>
          </a:p>
          <a:p>
            <a:pPr>
              <a:lnSpc>
                <a:spcPct val="150000"/>
              </a:lnSpc>
            </a:pPr>
            <a:r>
              <a:rPr lang="en-US" sz="2800" dirty="0">
                <a:latin typeface="+mn-lt"/>
              </a:rPr>
              <a:t>That can be linked to:</a:t>
            </a:r>
          </a:p>
          <a:p>
            <a:pPr marL="914400" lvl="1" indent="-457200">
              <a:lnSpc>
                <a:spcPct val="150000"/>
              </a:lnSpc>
              <a:buFont typeface="Arial" panose="020B0604020202020204" pitchFamily="34" charset="0"/>
              <a:buChar char="•"/>
            </a:pPr>
            <a:r>
              <a:rPr lang="en-US" sz="2800" dirty="0">
                <a:latin typeface="+mn-lt"/>
              </a:rPr>
              <a:t>problem definition </a:t>
            </a:r>
          </a:p>
          <a:p>
            <a:pPr marL="914400" lvl="1" indent="-457200">
              <a:lnSpc>
                <a:spcPct val="150000"/>
              </a:lnSpc>
              <a:buFont typeface="Arial" panose="020B0604020202020204" pitchFamily="34" charset="0"/>
              <a:buChar char="•"/>
            </a:pPr>
            <a:r>
              <a:rPr lang="en-US" sz="2800" dirty="0">
                <a:latin typeface="+mn-lt"/>
              </a:rPr>
              <a:t>strategic alignment </a:t>
            </a:r>
          </a:p>
          <a:p>
            <a:pPr marL="914400" lvl="1" indent="-457200">
              <a:lnSpc>
                <a:spcPct val="150000"/>
              </a:lnSpc>
              <a:buFont typeface="Arial" panose="020B0604020202020204" pitchFamily="34" charset="0"/>
              <a:buChar char="•"/>
            </a:pPr>
            <a:r>
              <a:rPr lang="en-US" sz="2800" dirty="0">
                <a:latin typeface="+mn-lt"/>
              </a:rPr>
              <a:t>conceptual design </a:t>
            </a:r>
          </a:p>
          <a:p>
            <a:pPr marL="914400" lvl="1" indent="-457200">
              <a:lnSpc>
                <a:spcPct val="150000"/>
              </a:lnSpc>
              <a:buFont typeface="Arial" panose="020B0604020202020204" pitchFamily="34" charset="0"/>
              <a:buChar char="•"/>
            </a:pPr>
            <a:r>
              <a:rPr lang="en-US" sz="2800" dirty="0">
                <a:latin typeface="+mn-lt"/>
              </a:rPr>
              <a:t>evaluation of </a:t>
            </a:r>
            <a:r>
              <a:rPr lang="en-US" sz="2800" dirty="0" err="1">
                <a:latin typeface="+mn-lt"/>
              </a:rPr>
              <a:t>organisational</a:t>
            </a:r>
            <a:r>
              <a:rPr lang="en-US" sz="2800" dirty="0">
                <a:latin typeface="+mn-lt"/>
              </a:rPr>
              <a:t> needs</a:t>
            </a:r>
          </a:p>
        </p:txBody>
      </p:sp>
      <p:pic>
        <p:nvPicPr>
          <p:cNvPr id="22534" name="Picture 5">
            <a:extLst>
              <a:ext uri="{FF2B5EF4-FFF2-40B4-BE49-F238E27FC236}">
                <a16:creationId xmlns:a16="http://schemas.microsoft.com/office/drawing/2014/main" id="{5E7C1E2D-259C-0EF5-F5A3-948D1ECB3D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2523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D359-DD95-924A-40F5-682BD646723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C4FB239-88BA-8454-90D8-669AA563EE9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56D108E-A036-789A-0204-2BBC58786F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59</a:t>
            </a:fld>
            <a:endParaRPr lang="en-US" altLang="en-US" sz="900">
              <a:solidFill>
                <a:srgbClr val="FFFFFF"/>
              </a:solidFill>
            </a:endParaRPr>
          </a:p>
        </p:txBody>
      </p:sp>
      <p:sp>
        <p:nvSpPr>
          <p:cNvPr id="5" name="TextBox 4">
            <a:extLst>
              <a:ext uri="{FF2B5EF4-FFF2-40B4-BE49-F238E27FC236}">
                <a16:creationId xmlns:a16="http://schemas.microsoft.com/office/drawing/2014/main" id="{0284D9DE-6788-F38C-EEC2-2F9A17E6A32C}"/>
              </a:ext>
            </a:extLst>
          </p:cNvPr>
          <p:cNvSpPr txBox="1"/>
          <p:nvPr/>
        </p:nvSpPr>
        <p:spPr>
          <a:xfrm>
            <a:off x="4491" y="830917"/>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 wording</a:t>
            </a:r>
          </a:p>
          <a:p>
            <a:pPr>
              <a:lnSpc>
                <a:spcPct val="150000"/>
              </a:lnSpc>
            </a:pPr>
            <a:r>
              <a:rPr lang="en-US" sz="2800" dirty="0">
                <a:latin typeface="+mn-lt"/>
              </a:rPr>
              <a:t>In one scenario, I had to consider how an IT-related decision could support broader business objectives. This reflected conceptual design because the task was not just about choosing a tool, but about planning a suitable approach that aligned technology with </a:t>
            </a:r>
            <a:r>
              <a:rPr lang="en-US" sz="2800" dirty="0" err="1">
                <a:latin typeface="+mn-lt"/>
              </a:rPr>
              <a:t>organisational</a:t>
            </a:r>
            <a:r>
              <a:rPr lang="en-US" sz="2800" dirty="0">
                <a:latin typeface="+mn-lt"/>
              </a:rPr>
              <a:t> strategy. This is especially relevant in IT governance, where technology decisions must support accountability, risk management, and long-term business value.</a:t>
            </a:r>
          </a:p>
        </p:txBody>
      </p:sp>
      <p:pic>
        <p:nvPicPr>
          <p:cNvPr id="22534" name="Picture 5">
            <a:extLst>
              <a:ext uri="{FF2B5EF4-FFF2-40B4-BE49-F238E27FC236}">
                <a16:creationId xmlns:a16="http://schemas.microsoft.com/office/drawing/2014/main" id="{DD6D49F9-8592-CFBE-CC6D-D49056762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896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E587D-56BF-7F91-DCA2-E421374F25D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56EE56-4485-5EC2-DE3A-EB1EE67D107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C55BEB9-214C-441E-C70B-82559E9628C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60</a:t>
            </a:fld>
            <a:endParaRPr lang="en-US" altLang="en-US" sz="900">
              <a:solidFill>
                <a:srgbClr val="FFFFFF"/>
              </a:solidFill>
            </a:endParaRPr>
          </a:p>
        </p:txBody>
      </p:sp>
      <p:sp>
        <p:nvSpPr>
          <p:cNvPr id="5" name="TextBox 4">
            <a:extLst>
              <a:ext uri="{FF2B5EF4-FFF2-40B4-BE49-F238E27FC236}">
                <a16:creationId xmlns:a16="http://schemas.microsoft.com/office/drawing/2014/main" id="{5CD802FA-662F-B8BA-AD66-83BA0149F037}"/>
              </a:ext>
            </a:extLst>
          </p:cNvPr>
          <p:cNvSpPr txBox="1"/>
          <p:nvPr/>
        </p:nvSpPr>
        <p:spPr>
          <a:xfrm>
            <a:off x="0" y="1674593"/>
            <a:ext cx="9144000" cy="2610843"/>
          </a:xfrm>
          <a:prstGeom prst="rect">
            <a:avLst/>
          </a:prstGeom>
          <a:solidFill>
            <a:schemeClr val="bg1"/>
          </a:solidFill>
        </p:spPr>
        <p:txBody>
          <a:bodyPr wrap="square">
            <a:spAutoFit/>
          </a:bodyPr>
          <a:lstStyle/>
          <a:p>
            <a:pPr>
              <a:lnSpc>
                <a:spcPct val="150000"/>
              </a:lnSpc>
            </a:pPr>
            <a:r>
              <a:rPr lang="en-US" sz="2800" b="1" dirty="0">
                <a:latin typeface="+mn-lt"/>
              </a:rPr>
              <a:t>What else to discuss</a:t>
            </a:r>
          </a:p>
          <a:p>
            <a:pPr>
              <a:lnSpc>
                <a:spcPct val="150000"/>
              </a:lnSpc>
            </a:pPr>
            <a:r>
              <a:rPr lang="en-US" sz="2800" dirty="0">
                <a:latin typeface="+mn-lt"/>
              </a:rPr>
              <a:t>Students should also say:</a:t>
            </a:r>
          </a:p>
          <a:p>
            <a:pPr marL="914400" lvl="1" indent="-457200">
              <a:lnSpc>
                <a:spcPct val="150000"/>
              </a:lnSpc>
              <a:buFont typeface="Arial" panose="020B0604020202020204" pitchFamily="34" charset="0"/>
              <a:buChar char="•"/>
            </a:pPr>
            <a:r>
              <a:rPr lang="en-US" sz="2800" dirty="0">
                <a:latin typeface="+mn-lt"/>
              </a:rPr>
              <a:t>which design stages were strong in the internship </a:t>
            </a:r>
          </a:p>
          <a:p>
            <a:pPr marL="914400" lvl="1" indent="-457200">
              <a:lnSpc>
                <a:spcPct val="150000"/>
              </a:lnSpc>
              <a:buFont typeface="Arial" panose="020B0604020202020204" pitchFamily="34" charset="0"/>
              <a:buChar char="•"/>
            </a:pPr>
            <a:r>
              <a:rPr lang="en-US" sz="2800" dirty="0">
                <a:latin typeface="+mn-lt"/>
              </a:rPr>
              <a:t>which stages were missing or less visible</a:t>
            </a:r>
          </a:p>
        </p:txBody>
      </p:sp>
      <p:pic>
        <p:nvPicPr>
          <p:cNvPr id="22534" name="Picture 5">
            <a:extLst>
              <a:ext uri="{FF2B5EF4-FFF2-40B4-BE49-F238E27FC236}">
                <a16:creationId xmlns:a16="http://schemas.microsoft.com/office/drawing/2014/main" id="{F5AC2A5F-5E03-9764-1F7F-8494806E1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703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66A98-B8FF-CC2F-6AE7-0D70A03BCB4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4F5821-8C8C-59EE-9DAA-4DF97713BCB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24B45D1-C854-5E7C-ABC5-A1CD9FC9848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61</a:t>
            </a:fld>
            <a:endParaRPr lang="en-US" altLang="en-US" sz="900">
              <a:solidFill>
                <a:srgbClr val="FFFFFF"/>
              </a:solidFill>
            </a:endParaRPr>
          </a:p>
        </p:txBody>
      </p:sp>
      <p:sp>
        <p:nvSpPr>
          <p:cNvPr id="5" name="TextBox 4">
            <a:extLst>
              <a:ext uri="{FF2B5EF4-FFF2-40B4-BE49-F238E27FC236}">
                <a16:creationId xmlns:a16="http://schemas.microsoft.com/office/drawing/2014/main" id="{2030CC71-0A6B-0242-8139-32B07B162BED}"/>
              </a:ext>
            </a:extLst>
          </p:cNvPr>
          <p:cNvSpPr txBox="1"/>
          <p:nvPr/>
        </p:nvSpPr>
        <p:spPr>
          <a:xfrm>
            <a:off x="0" y="1674593"/>
            <a:ext cx="9144000" cy="3903504"/>
          </a:xfrm>
          <a:prstGeom prst="rect">
            <a:avLst/>
          </a:prstGeom>
          <a:solidFill>
            <a:schemeClr val="bg1"/>
          </a:solidFill>
        </p:spPr>
        <p:txBody>
          <a:bodyPr wrap="square">
            <a:spAutoFit/>
          </a:bodyPr>
          <a:lstStyle/>
          <a:p>
            <a:pPr>
              <a:lnSpc>
                <a:spcPct val="150000"/>
              </a:lnSpc>
            </a:pPr>
            <a:r>
              <a:rPr lang="en-US" sz="2800" b="1" dirty="0">
                <a:latin typeface="+mn-lt"/>
              </a:rPr>
              <a:t>Example</a:t>
            </a:r>
          </a:p>
          <a:p>
            <a:pPr>
              <a:lnSpc>
                <a:spcPct val="150000"/>
              </a:lnSpc>
            </a:pPr>
            <a:r>
              <a:rPr lang="en-US" sz="2800" dirty="0">
                <a:latin typeface="+mn-lt"/>
              </a:rPr>
              <a:t>The internship clearly demonstrated problem analysis and conceptual solution design. However, prototyping and iterative testing were less visible. In a real-world IT project, these stages would be important because they help validate whether the proposed solution actually works in practice.</a:t>
            </a:r>
          </a:p>
        </p:txBody>
      </p:sp>
      <p:pic>
        <p:nvPicPr>
          <p:cNvPr id="22534" name="Picture 5">
            <a:extLst>
              <a:ext uri="{FF2B5EF4-FFF2-40B4-BE49-F238E27FC236}">
                <a16:creationId xmlns:a16="http://schemas.microsoft.com/office/drawing/2014/main" id="{D365EEBE-9D9B-3FEC-089C-56116BAD5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70283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EBE46-9E22-9B2C-DD1C-67B91492790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A30FE2-EEF9-87F0-2421-DC24C1F9A1A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989A88D-B3D9-1FEB-FFBD-3882A1EBAA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62</a:t>
            </a:fld>
            <a:endParaRPr lang="en-US" altLang="en-US" sz="900">
              <a:solidFill>
                <a:srgbClr val="FFFFFF"/>
              </a:solidFill>
            </a:endParaRPr>
          </a:p>
        </p:txBody>
      </p:sp>
      <p:sp>
        <p:nvSpPr>
          <p:cNvPr id="5" name="TextBox 4">
            <a:extLst>
              <a:ext uri="{FF2B5EF4-FFF2-40B4-BE49-F238E27FC236}">
                <a16:creationId xmlns:a16="http://schemas.microsoft.com/office/drawing/2014/main" id="{4231E84B-222D-7563-FC6C-15C0C7B9E883}"/>
              </a:ext>
            </a:extLst>
          </p:cNvPr>
          <p:cNvSpPr txBox="1"/>
          <p:nvPr/>
        </p:nvSpPr>
        <p:spPr>
          <a:xfrm>
            <a:off x="0" y="391946"/>
            <a:ext cx="9144000" cy="6488828"/>
          </a:xfrm>
          <a:prstGeom prst="rect">
            <a:avLst/>
          </a:prstGeom>
          <a:solidFill>
            <a:schemeClr val="bg1"/>
          </a:solidFill>
        </p:spPr>
        <p:txBody>
          <a:bodyPr wrap="square">
            <a:spAutoFit/>
          </a:bodyPr>
          <a:lstStyle/>
          <a:p>
            <a:pPr>
              <a:lnSpc>
                <a:spcPct val="150000"/>
              </a:lnSpc>
            </a:pPr>
            <a:r>
              <a:rPr lang="en-US" sz="2800" b="1" dirty="0">
                <a:latin typeface="+mn-lt"/>
              </a:rPr>
              <a:t>Final reflection for this section</a:t>
            </a:r>
          </a:p>
          <a:p>
            <a:pPr>
              <a:lnSpc>
                <a:spcPct val="150000"/>
              </a:lnSpc>
            </a:pPr>
            <a:r>
              <a:rPr lang="en-US" sz="2800" dirty="0">
                <a:latin typeface="+mn-lt"/>
              </a:rPr>
              <a:t>Students should end by saying:</a:t>
            </a:r>
          </a:p>
          <a:p>
            <a:pPr marL="457200" indent="-457200">
              <a:lnSpc>
                <a:spcPct val="150000"/>
              </a:lnSpc>
              <a:buFont typeface="Arial" panose="020B0604020202020204" pitchFamily="34" charset="0"/>
              <a:buChar char="•"/>
            </a:pPr>
            <a:r>
              <a:rPr lang="en-US" sz="2800" dirty="0">
                <a:latin typeface="+mn-lt"/>
              </a:rPr>
              <a:t>how this improved their understanding of developing a project proposal </a:t>
            </a:r>
          </a:p>
          <a:p>
            <a:pPr>
              <a:lnSpc>
                <a:spcPct val="150000"/>
              </a:lnSpc>
            </a:pPr>
            <a:r>
              <a:rPr lang="en-US" sz="2800" b="1" dirty="0">
                <a:latin typeface="+mn-lt"/>
              </a:rPr>
              <a:t>Example</a:t>
            </a:r>
          </a:p>
          <a:p>
            <a:pPr>
              <a:lnSpc>
                <a:spcPct val="150000"/>
              </a:lnSpc>
            </a:pPr>
            <a:r>
              <a:rPr lang="en-US" sz="2800" dirty="0">
                <a:latin typeface="+mn-lt"/>
              </a:rPr>
              <a:t>This experience improved my understanding that project proposals should not begin with tools or coding. Instead, they should start with a clear problem, identified requirements, and a structured design process that links user needs to a realistic solution.</a:t>
            </a:r>
          </a:p>
        </p:txBody>
      </p:sp>
      <p:pic>
        <p:nvPicPr>
          <p:cNvPr id="22534" name="Picture 5">
            <a:extLst>
              <a:ext uri="{FF2B5EF4-FFF2-40B4-BE49-F238E27FC236}">
                <a16:creationId xmlns:a16="http://schemas.microsoft.com/office/drawing/2014/main" id="{27961596-3D47-8C23-8EEF-07238620F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10869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78363-4B54-52BC-83CD-03CE11BA8F0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C8455B-CABE-C9E4-86D5-90DFF9CA33F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BE3C273-BDD3-61AF-9C23-B2D1DAD6DE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63</a:t>
            </a:fld>
            <a:endParaRPr lang="en-US" altLang="en-US" sz="900">
              <a:solidFill>
                <a:srgbClr val="FFFFFF"/>
              </a:solidFill>
            </a:endParaRPr>
          </a:p>
        </p:txBody>
      </p:sp>
      <p:sp>
        <p:nvSpPr>
          <p:cNvPr id="5" name="TextBox 4">
            <a:extLst>
              <a:ext uri="{FF2B5EF4-FFF2-40B4-BE49-F238E27FC236}">
                <a16:creationId xmlns:a16="http://schemas.microsoft.com/office/drawing/2014/main" id="{8AD23248-84DF-21CE-0A9C-12195FDC062F}"/>
              </a:ext>
            </a:extLst>
          </p:cNvPr>
          <p:cNvSpPr txBox="1"/>
          <p:nvPr/>
        </p:nvSpPr>
        <p:spPr>
          <a:xfrm>
            <a:off x="0" y="391946"/>
            <a:ext cx="9144000" cy="4549835"/>
          </a:xfrm>
          <a:prstGeom prst="rect">
            <a:avLst/>
          </a:prstGeom>
          <a:solidFill>
            <a:schemeClr val="bg1"/>
          </a:solidFill>
        </p:spPr>
        <p:txBody>
          <a:bodyPr wrap="square">
            <a:spAutoFit/>
          </a:bodyPr>
          <a:lstStyle/>
          <a:p>
            <a:pPr>
              <a:lnSpc>
                <a:spcPct val="150000"/>
              </a:lnSpc>
            </a:pPr>
            <a:r>
              <a:rPr lang="en-US" sz="2800" b="1" dirty="0">
                <a:latin typeface="+mn-lt"/>
              </a:rPr>
              <a:t>Business Information Systems Example</a:t>
            </a:r>
          </a:p>
          <a:p>
            <a:pPr>
              <a:lnSpc>
                <a:spcPct val="150000"/>
              </a:lnSpc>
            </a:pPr>
            <a:r>
              <a:rPr lang="en-US" sz="2800" dirty="0">
                <a:latin typeface="+mn-lt"/>
              </a:rPr>
              <a:t>This experience improved my understanding that project proposals in business information systems should not begin with selecting software too quickly. Instead, they should begin with a clear understanding of the business problem, stakeholder needs, and process requirements so that the proposed system is both useful and realistic.</a:t>
            </a:r>
          </a:p>
        </p:txBody>
      </p:sp>
      <p:pic>
        <p:nvPicPr>
          <p:cNvPr id="22534" name="Picture 5">
            <a:extLst>
              <a:ext uri="{FF2B5EF4-FFF2-40B4-BE49-F238E27FC236}">
                <a16:creationId xmlns:a16="http://schemas.microsoft.com/office/drawing/2014/main" id="{DD07D5A0-038E-5483-0E43-C50FE1B6BC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07958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8ABA-B3B3-77D5-B5A4-6F2E9E819AC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952BE6-A668-2E9C-B3D9-3E209612F7B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99EB3F9-2B70-F418-152C-0A187D212C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64</a:t>
            </a:fld>
            <a:endParaRPr lang="en-US" altLang="en-US" sz="900">
              <a:solidFill>
                <a:srgbClr val="FFFFFF"/>
              </a:solidFill>
            </a:endParaRPr>
          </a:p>
        </p:txBody>
      </p:sp>
      <p:sp>
        <p:nvSpPr>
          <p:cNvPr id="5" name="TextBox 4">
            <a:extLst>
              <a:ext uri="{FF2B5EF4-FFF2-40B4-BE49-F238E27FC236}">
                <a16:creationId xmlns:a16="http://schemas.microsoft.com/office/drawing/2014/main" id="{318F1389-2FCE-6DBA-F153-DED7235A6734}"/>
              </a:ext>
            </a:extLst>
          </p:cNvPr>
          <p:cNvSpPr txBox="1"/>
          <p:nvPr/>
        </p:nvSpPr>
        <p:spPr>
          <a:xfrm>
            <a:off x="0" y="391946"/>
            <a:ext cx="9144000" cy="5196166"/>
          </a:xfrm>
          <a:prstGeom prst="rect">
            <a:avLst/>
          </a:prstGeom>
          <a:solidFill>
            <a:schemeClr val="bg1"/>
          </a:solidFill>
        </p:spPr>
        <p:txBody>
          <a:bodyPr wrap="square">
            <a:spAutoFit/>
          </a:bodyPr>
          <a:lstStyle/>
          <a:p>
            <a:pPr>
              <a:lnSpc>
                <a:spcPct val="150000"/>
              </a:lnSpc>
            </a:pPr>
            <a:r>
              <a:rPr lang="en-US" sz="2800" b="1" dirty="0">
                <a:latin typeface="+mn-lt"/>
              </a:rPr>
              <a:t>IT Governance version example</a:t>
            </a:r>
          </a:p>
          <a:p>
            <a:pPr>
              <a:lnSpc>
                <a:spcPct val="150000"/>
              </a:lnSpc>
            </a:pPr>
            <a:r>
              <a:rPr lang="en-US" sz="2800" dirty="0">
                <a:latin typeface="+mn-lt"/>
              </a:rPr>
              <a:t>This experience improved my understanding that project proposals in IT governance should not begin with a technology choice alone. They should begin with a clear understanding of </a:t>
            </a:r>
            <a:r>
              <a:rPr lang="en-US" sz="2800" dirty="0" err="1">
                <a:latin typeface="+mn-lt"/>
              </a:rPr>
              <a:t>organisational</a:t>
            </a:r>
            <a:r>
              <a:rPr lang="en-US" sz="2800" dirty="0">
                <a:latin typeface="+mn-lt"/>
              </a:rPr>
              <a:t> risks, governance needs, compliance expectations, and strategic goals so that any proposed solution is effective, accountable, and aligned with the business context.</a:t>
            </a:r>
          </a:p>
        </p:txBody>
      </p:sp>
      <p:pic>
        <p:nvPicPr>
          <p:cNvPr id="22534" name="Picture 5">
            <a:extLst>
              <a:ext uri="{FF2B5EF4-FFF2-40B4-BE49-F238E27FC236}">
                <a16:creationId xmlns:a16="http://schemas.microsoft.com/office/drawing/2014/main" id="{4EC0A420-289D-C1BB-3029-60DD9B543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58958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CE528-103A-8BF2-1570-19536677FF4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C052BD-4ED1-7EEC-DB35-F82FA36B5F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09F057B-D07C-E497-32BF-E368105833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65</a:t>
            </a:fld>
            <a:endParaRPr lang="en-US" altLang="en-US" sz="900">
              <a:solidFill>
                <a:srgbClr val="FFFFFF"/>
              </a:solidFill>
            </a:endParaRPr>
          </a:p>
        </p:txBody>
      </p:sp>
      <p:sp>
        <p:nvSpPr>
          <p:cNvPr id="5" name="TextBox 4">
            <a:extLst>
              <a:ext uri="{FF2B5EF4-FFF2-40B4-BE49-F238E27FC236}">
                <a16:creationId xmlns:a16="http://schemas.microsoft.com/office/drawing/2014/main" id="{9660638D-5428-C613-E163-BDDC0B128AF6}"/>
              </a:ext>
            </a:extLst>
          </p:cNvPr>
          <p:cNvSpPr txBox="1"/>
          <p:nvPr/>
        </p:nvSpPr>
        <p:spPr>
          <a:xfrm>
            <a:off x="0" y="651886"/>
            <a:ext cx="9144000" cy="5842497"/>
          </a:xfrm>
          <a:prstGeom prst="rect">
            <a:avLst/>
          </a:prstGeom>
          <a:solidFill>
            <a:schemeClr val="bg1"/>
          </a:solidFill>
        </p:spPr>
        <p:txBody>
          <a:bodyPr wrap="square">
            <a:spAutoFit/>
          </a:bodyPr>
          <a:lstStyle/>
          <a:p>
            <a:pPr>
              <a:lnSpc>
                <a:spcPct val="150000"/>
              </a:lnSpc>
            </a:pPr>
            <a:r>
              <a:rPr lang="en-US" sz="2800" b="1" dirty="0">
                <a:latin typeface="+mn-lt"/>
              </a:rPr>
              <a:t>Extra examples for IT Governance and Business Information Systems students</a:t>
            </a:r>
          </a:p>
          <a:p>
            <a:pPr>
              <a:lnSpc>
                <a:spcPct val="150000"/>
              </a:lnSpc>
            </a:pPr>
            <a:r>
              <a:rPr lang="en-US" sz="2800" dirty="0">
                <a:latin typeface="+mn-lt"/>
              </a:rPr>
              <a:t>If your Forage internship is more business- or governance-focused, you can still </a:t>
            </a:r>
            <a:r>
              <a:rPr lang="en-US" sz="2800" dirty="0" err="1">
                <a:latin typeface="+mn-lt"/>
              </a:rPr>
              <a:t>analyse</a:t>
            </a:r>
            <a:r>
              <a:rPr lang="en-US" sz="2800" dirty="0">
                <a:latin typeface="+mn-lt"/>
              </a:rPr>
              <a:t> it using the design process. For example:</a:t>
            </a:r>
          </a:p>
          <a:p>
            <a:pPr marL="457200" indent="-457200">
              <a:lnSpc>
                <a:spcPct val="150000"/>
              </a:lnSpc>
              <a:buFont typeface="Arial" panose="020B0604020202020204" pitchFamily="34" charset="0"/>
              <a:buChar char="•"/>
            </a:pPr>
            <a:r>
              <a:rPr lang="en-US" sz="2800" dirty="0">
                <a:latin typeface="+mn-lt"/>
              </a:rPr>
              <a:t>reviewing an inefficient business workflow → problem definition, process analysis, requirements gathering </a:t>
            </a:r>
          </a:p>
          <a:p>
            <a:pPr marL="457200" indent="-457200">
              <a:lnSpc>
                <a:spcPct val="150000"/>
              </a:lnSpc>
              <a:buFont typeface="Arial" panose="020B0604020202020204" pitchFamily="34" charset="0"/>
              <a:buChar char="•"/>
            </a:pPr>
            <a:r>
              <a:rPr lang="en-US" sz="2800" dirty="0">
                <a:latin typeface="+mn-lt"/>
              </a:rPr>
              <a:t>comparing stakeholder needs across departments → stakeholder analysis, requirements elicitation</a:t>
            </a:r>
          </a:p>
        </p:txBody>
      </p:sp>
      <p:pic>
        <p:nvPicPr>
          <p:cNvPr id="22534" name="Picture 5">
            <a:extLst>
              <a:ext uri="{FF2B5EF4-FFF2-40B4-BE49-F238E27FC236}">
                <a16:creationId xmlns:a16="http://schemas.microsoft.com/office/drawing/2014/main" id="{D2394CBE-20B3-B67E-2E28-449D5AE00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27345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2885-84DA-6DB2-A47A-FD59FDE0A52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4D1403-2194-6EAB-51CD-9F949B0572E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0BA6A2-7097-0CC4-659C-DDCC85C367F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66</a:t>
            </a:fld>
            <a:endParaRPr lang="en-US" altLang="en-US" sz="900">
              <a:solidFill>
                <a:srgbClr val="FFFFFF"/>
              </a:solidFill>
            </a:endParaRPr>
          </a:p>
        </p:txBody>
      </p:sp>
      <p:sp>
        <p:nvSpPr>
          <p:cNvPr id="5" name="TextBox 4">
            <a:extLst>
              <a:ext uri="{FF2B5EF4-FFF2-40B4-BE49-F238E27FC236}">
                <a16:creationId xmlns:a16="http://schemas.microsoft.com/office/drawing/2014/main" id="{48735DB6-3149-61A4-501D-50AC9B2BED70}"/>
              </a:ext>
            </a:extLst>
          </p:cNvPr>
          <p:cNvSpPr txBox="1"/>
          <p:nvPr/>
        </p:nvSpPr>
        <p:spPr>
          <a:xfrm>
            <a:off x="0" y="651886"/>
            <a:ext cx="9144000" cy="3903504"/>
          </a:xfrm>
          <a:prstGeom prst="rect">
            <a:avLst/>
          </a:prstGeom>
          <a:solidFill>
            <a:schemeClr val="bg1"/>
          </a:solidFill>
        </p:spPr>
        <p:txBody>
          <a:bodyPr wrap="square">
            <a:spAutoFit/>
          </a:bodyPr>
          <a:lstStyle/>
          <a:p>
            <a:pPr marL="457200" indent="-457200">
              <a:lnSpc>
                <a:spcPct val="150000"/>
              </a:lnSpc>
              <a:buFont typeface="Arial" panose="020B0604020202020204" pitchFamily="34" charset="0"/>
              <a:buChar char="•"/>
            </a:pPr>
            <a:r>
              <a:rPr lang="en-US" sz="2800" dirty="0">
                <a:latin typeface="+mn-lt"/>
              </a:rPr>
              <a:t>recommending a CRM, ERP, or reporting system → conceptual design, planning, solution modelling </a:t>
            </a:r>
          </a:p>
          <a:p>
            <a:pPr marL="457200" indent="-457200">
              <a:lnSpc>
                <a:spcPct val="150000"/>
              </a:lnSpc>
              <a:buFont typeface="Arial" panose="020B0604020202020204" pitchFamily="34" charset="0"/>
              <a:buChar char="•"/>
            </a:pPr>
            <a:r>
              <a:rPr lang="en-US" sz="2800" dirty="0">
                <a:latin typeface="+mn-lt"/>
              </a:rPr>
              <a:t>identifying risks or control weaknesses → problem identification, governance analysis, risk assessment </a:t>
            </a:r>
          </a:p>
          <a:p>
            <a:pPr marL="457200" indent="-457200">
              <a:lnSpc>
                <a:spcPct val="150000"/>
              </a:lnSpc>
              <a:buFont typeface="Arial" panose="020B0604020202020204" pitchFamily="34" charset="0"/>
              <a:buChar char="•"/>
            </a:pPr>
            <a:r>
              <a:rPr lang="en-US" sz="2800" dirty="0">
                <a:latin typeface="+mn-lt"/>
              </a:rPr>
              <a:t>reviewing policy or compliance issues → requirements analysis, planning, governance design</a:t>
            </a:r>
          </a:p>
        </p:txBody>
      </p:sp>
      <p:pic>
        <p:nvPicPr>
          <p:cNvPr id="22534" name="Picture 5">
            <a:extLst>
              <a:ext uri="{FF2B5EF4-FFF2-40B4-BE49-F238E27FC236}">
                <a16:creationId xmlns:a16="http://schemas.microsoft.com/office/drawing/2014/main" id="{847F2EF5-9A8F-61DF-CA05-26DE33A95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5514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9E0D-E5E2-DE13-0F57-A5C5AA4D30C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1EC6A2-8DD1-EEED-F576-2C4CC2B260A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449F03F-2238-CCBF-64B9-B5D97A35BF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67</a:t>
            </a:fld>
            <a:endParaRPr lang="en-US" altLang="en-US" sz="900">
              <a:solidFill>
                <a:srgbClr val="FFFFFF"/>
              </a:solidFill>
            </a:endParaRPr>
          </a:p>
        </p:txBody>
      </p:sp>
      <p:sp>
        <p:nvSpPr>
          <p:cNvPr id="5" name="TextBox 4">
            <a:extLst>
              <a:ext uri="{FF2B5EF4-FFF2-40B4-BE49-F238E27FC236}">
                <a16:creationId xmlns:a16="http://schemas.microsoft.com/office/drawing/2014/main" id="{31224957-E76F-42C6-DDA6-E894A7E39BCD}"/>
              </a:ext>
            </a:extLst>
          </p:cNvPr>
          <p:cNvSpPr txBox="1"/>
          <p:nvPr/>
        </p:nvSpPr>
        <p:spPr>
          <a:xfrm>
            <a:off x="0" y="651886"/>
            <a:ext cx="9144000" cy="3903504"/>
          </a:xfrm>
          <a:prstGeom prst="rect">
            <a:avLst/>
          </a:prstGeom>
          <a:solidFill>
            <a:schemeClr val="bg1"/>
          </a:solidFill>
        </p:spPr>
        <p:txBody>
          <a:bodyPr wrap="square">
            <a:spAutoFit/>
          </a:bodyPr>
          <a:lstStyle/>
          <a:p>
            <a:pPr marL="457200" indent="-457200">
              <a:lnSpc>
                <a:spcPct val="150000"/>
              </a:lnSpc>
              <a:buFont typeface="Arial" panose="020B0604020202020204" pitchFamily="34" charset="0"/>
              <a:buChar char="•"/>
            </a:pPr>
            <a:r>
              <a:rPr lang="en-US" sz="2800" dirty="0">
                <a:latin typeface="+mn-lt"/>
              </a:rPr>
              <a:t>aligning IT decisions with business strategy → conceptual design, strategic alignment, solution planning </a:t>
            </a:r>
          </a:p>
          <a:p>
            <a:pPr>
              <a:lnSpc>
                <a:spcPct val="150000"/>
              </a:lnSpc>
            </a:pPr>
            <a:r>
              <a:rPr lang="en-US" sz="2800" dirty="0">
                <a:latin typeface="+mn-lt"/>
              </a:rPr>
              <a:t>These examples show that the design process is not only about coding or technical architecture. It can also apply to business processes, governance structures, enterprise systems, and </a:t>
            </a:r>
            <a:r>
              <a:rPr lang="en-US" sz="2800" dirty="0" err="1">
                <a:latin typeface="+mn-lt"/>
              </a:rPr>
              <a:t>organisational</a:t>
            </a:r>
            <a:r>
              <a:rPr lang="en-US" sz="2800" dirty="0">
                <a:latin typeface="+mn-lt"/>
              </a:rPr>
              <a:t> decision-making.</a:t>
            </a:r>
          </a:p>
        </p:txBody>
      </p:sp>
      <p:pic>
        <p:nvPicPr>
          <p:cNvPr id="22534" name="Picture 5">
            <a:extLst>
              <a:ext uri="{FF2B5EF4-FFF2-40B4-BE49-F238E27FC236}">
                <a16:creationId xmlns:a16="http://schemas.microsoft.com/office/drawing/2014/main" id="{6B98CC9A-1C35-D89E-6762-7A9F8F679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37898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5D50A-796A-DF2A-4E8F-5709D01933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F54B9D-6C6B-930A-5E37-537C5F9AB4A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8BC8F90-04C3-434F-BEFA-ACB34B703E3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68</a:t>
            </a:fld>
            <a:endParaRPr lang="en-US" altLang="en-US" sz="900">
              <a:solidFill>
                <a:srgbClr val="FFFFFF"/>
              </a:solidFill>
            </a:endParaRPr>
          </a:p>
        </p:txBody>
      </p:sp>
      <p:sp>
        <p:nvSpPr>
          <p:cNvPr id="5" name="TextBox 4">
            <a:extLst>
              <a:ext uri="{FF2B5EF4-FFF2-40B4-BE49-F238E27FC236}">
                <a16:creationId xmlns:a16="http://schemas.microsoft.com/office/drawing/2014/main" id="{0CF79A9D-6673-FD0B-0783-63ABD1D3F88B}"/>
              </a:ext>
            </a:extLst>
          </p:cNvPr>
          <p:cNvSpPr txBox="1"/>
          <p:nvPr/>
        </p:nvSpPr>
        <p:spPr>
          <a:xfrm>
            <a:off x="0" y="1154082"/>
            <a:ext cx="9144000" cy="4549835"/>
          </a:xfrm>
          <a:prstGeom prst="rect">
            <a:avLst/>
          </a:prstGeom>
          <a:solidFill>
            <a:schemeClr val="bg1"/>
          </a:solidFill>
        </p:spPr>
        <p:txBody>
          <a:bodyPr wrap="square">
            <a:spAutoFit/>
          </a:bodyPr>
          <a:lstStyle/>
          <a:p>
            <a:pPr>
              <a:lnSpc>
                <a:spcPct val="150000"/>
              </a:lnSpc>
            </a:pPr>
            <a:r>
              <a:rPr lang="en-US" sz="2800" dirty="0">
                <a:latin typeface="+mn-lt"/>
              </a:rPr>
              <a:t>The design process in ICT502 should be understood broadly. It does not only apply to software coding or technical system architecture. For business information systems and IT governance students, it may also involve </a:t>
            </a:r>
            <a:r>
              <a:rPr lang="en-US" sz="2800" dirty="0" err="1">
                <a:latin typeface="+mn-lt"/>
              </a:rPr>
              <a:t>analysing</a:t>
            </a:r>
            <a:r>
              <a:rPr lang="en-US" sz="2800" dirty="0">
                <a:latin typeface="+mn-lt"/>
              </a:rPr>
              <a:t> </a:t>
            </a:r>
            <a:r>
              <a:rPr lang="en-US" sz="2800" dirty="0" err="1">
                <a:latin typeface="+mn-lt"/>
              </a:rPr>
              <a:t>organisational</a:t>
            </a:r>
            <a:r>
              <a:rPr lang="en-US" sz="2800" dirty="0">
                <a:latin typeface="+mn-lt"/>
              </a:rPr>
              <a:t> problems, understanding stakeholder needs, improving business processes, designing controls, supporting compliance, or aligning IT decisions with business strategy.</a:t>
            </a:r>
          </a:p>
        </p:txBody>
      </p:sp>
      <p:pic>
        <p:nvPicPr>
          <p:cNvPr id="22534" name="Picture 5">
            <a:extLst>
              <a:ext uri="{FF2B5EF4-FFF2-40B4-BE49-F238E27FC236}">
                <a16:creationId xmlns:a16="http://schemas.microsoft.com/office/drawing/2014/main" id="{DD4463CD-D6AE-35F3-E5F1-2787C194A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82464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4260F-3375-6486-B18E-63D446CA354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6C93A3-A91A-F414-0028-D903C074BB9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1FA3BCC-2F29-AFEF-05C6-488482DD06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69</a:t>
            </a:fld>
            <a:endParaRPr lang="en-US" altLang="en-US" sz="900">
              <a:solidFill>
                <a:srgbClr val="FFFFFF"/>
              </a:solidFill>
            </a:endParaRPr>
          </a:p>
        </p:txBody>
      </p:sp>
      <p:sp>
        <p:nvSpPr>
          <p:cNvPr id="5" name="TextBox 4">
            <a:extLst>
              <a:ext uri="{FF2B5EF4-FFF2-40B4-BE49-F238E27FC236}">
                <a16:creationId xmlns:a16="http://schemas.microsoft.com/office/drawing/2014/main" id="{4C15D390-283C-FEF0-9A9B-6918597A655F}"/>
              </a:ext>
            </a:extLst>
          </p:cNvPr>
          <p:cNvSpPr txBox="1"/>
          <p:nvPr/>
        </p:nvSpPr>
        <p:spPr>
          <a:xfrm>
            <a:off x="0" y="1154082"/>
            <a:ext cx="9144000" cy="4549835"/>
          </a:xfrm>
          <a:prstGeom prst="rect">
            <a:avLst/>
          </a:prstGeom>
          <a:solidFill>
            <a:schemeClr val="bg1"/>
          </a:solidFill>
        </p:spPr>
        <p:txBody>
          <a:bodyPr wrap="square">
            <a:spAutoFit/>
          </a:bodyPr>
          <a:lstStyle/>
          <a:p>
            <a:pPr>
              <a:lnSpc>
                <a:spcPct val="150000"/>
              </a:lnSpc>
            </a:pPr>
            <a:r>
              <a:rPr lang="en-US" sz="2800" b="1" dirty="0">
                <a:latin typeface="+mn-lt"/>
              </a:rPr>
              <a:t>Section D: Evaluation of Effective Technology Options (SLO2 Focus) (about 400 words)</a:t>
            </a:r>
          </a:p>
          <a:p>
            <a:pPr>
              <a:lnSpc>
                <a:spcPct val="150000"/>
              </a:lnSpc>
            </a:pPr>
            <a:r>
              <a:rPr lang="en-US" sz="2800" dirty="0">
                <a:latin typeface="+mn-lt"/>
              </a:rPr>
              <a:t>This is the second major section.</a:t>
            </a:r>
          </a:p>
          <a:p>
            <a:pPr>
              <a:lnSpc>
                <a:spcPct val="150000"/>
              </a:lnSpc>
            </a:pPr>
            <a:r>
              <a:rPr lang="en-US" sz="2800" dirty="0">
                <a:latin typeface="+mn-lt"/>
              </a:rPr>
              <a:t>What this part means</a:t>
            </a:r>
          </a:p>
          <a:p>
            <a:pPr>
              <a:lnSpc>
                <a:spcPct val="150000"/>
              </a:lnSpc>
            </a:pPr>
            <a:r>
              <a:rPr lang="en-US" sz="2800" dirty="0">
                <a:latin typeface="+mn-lt"/>
              </a:rPr>
              <a:t>Students need to identify at least one, preferably two, moments where technology choices were made, suggested, or implied.</a:t>
            </a:r>
          </a:p>
        </p:txBody>
      </p:sp>
      <p:pic>
        <p:nvPicPr>
          <p:cNvPr id="22534" name="Picture 5">
            <a:extLst>
              <a:ext uri="{FF2B5EF4-FFF2-40B4-BE49-F238E27FC236}">
                <a16:creationId xmlns:a16="http://schemas.microsoft.com/office/drawing/2014/main" id="{25E152A1-BC0F-240C-B0DC-D2CC919245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5427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F81C5-5496-D17A-6155-4D2D97BDA90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47928C-E294-B816-65ED-A4122FEF33A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A372F25-C8AE-32AB-A631-6E6D984CE8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70</a:t>
            </a:fld>
            <a:endParaRPr lang="en-US" altLang="en-US" sz="900">
              <a:solidFill>
                <a:srgbClr val="FFFFFF"/>
              </a:solidFill>
            </a:endParaRPr>
          </a:p>
        </p:txBody>
      </p:sp>
      <p:sp>
        <p:nvSpPr>
          <p:cNvPr id="5" name="TextBox 4">
            <a:extLst>
              <a:ext uri="{FF2B5EF4-FFF2-40B4-BE49-F238E27FC236}">
                <a16:creationId xmlns:a16="http://schemas.microsoft.com/office/drawing/2014/main" id="{CF368E7C-FF12-687F-0076-BCF0CBBE86E5}"/>
              </a:ext>
            </a:extLst>
          </p:cNvPr>
          <p:cNvSpPr txBox="1"/>
          <p:nvPr/>
        </p:nvSpPr>
        <p:spPr>
          <a:xfrm>
            <a:off x="0" y="622846"/>
            <a:ext cx="9144000" cy="5842497"/>
          </a:xfrm>
          <a:prstGeom prst="rect">
            <a:avLst/>
          </a:prstGeom>
          <a:solidFill>
            <a:schemeClr val="bg1"/>
          </a:solidFill>
        </p:spPr>
        <p:txBody>
          <a:bodyPr wrap="square">
            <a:spAutoFit/>
          </a:bodyPr>
          <a:lstStyle/>
          <a:p>
            <a:pPr>
              <a:lnSpc>
                <a:spcPct val="150000"/>
              </a:lnSpc>
            </a:pPr>
            <a:r>
              <a:rPr lang="en-US" sz="2800" dirty="0">
                <a:latin typeface="+mn-lt"/>
              </a:rPr>
              <a:t>This could include choosing between:</a:t>
            </a:r>
          </a:p>
          <a:p>
            <a:pPr marL="914400" lvl="1" indent="-457200">
              <a:lnSpc>
                <a:spcPct val="150000"/>
              </a:lnSpc>
              <a:buFont typeface="Arial" panose="020B0604020202020204" pitchFamily="34" charset="0"/>
              <a:buChar char="•"/>
            </a:pPr>
            <a:r>
              <a:rPr lang="en-US" sz="2800" dirty="0">
                <a:latin typeface="+mn-lt"/>
              </a:rPr>
              <a:t>a database </a:t>
            </a:r>
          </a:p>
          <a:p>
            <a:pPr marL="914400" lvl="1" indent="-457200">
              <a:lnSpc>
                <a:spcPct val="150000"/>
              </a:lnSpc>
              <a:buFont typeface="Arial" panose="020B0604020202020204" pitchFamily="34" charset="0"/>
              <a:buChar char="•"/>
            </a:pPr>
            <a:r>
              <a:rPr lang="en-US" sz="2800" dirty="0">
                <a:latin typeface="+mn-lt"/>
              </a:rPr>
              <a:t>a cloud platform </a:t>
            </a:r>
          </a:p>
          <a:p>
            <a:pPr marL="914400" lvl="1" indent="-457200">
              <a:lnSpc>
                <a:spcPct val="150000"/>
              </a:lnSpc>
              <a:buFont typeface="Arial" panose="020B0604020202020204" pitchFamily="34" charset="0"/>
              <a:buChar char="•"/>
            </a:pPr>
            <a:r>
              <a:rPr lang="en-US" sz="2800" dirty="0">
                <a:latin typeface="+mn-lt"/>
              </a:rPr>
              <a:t>a programming language </a:t>
            </a:r>
          </a:p>
          <a:p>
            <a:pPr marL="914400" lvl="1" indent="-457200">
              <a:lnSpc>
                <a:spcPct val="150000"/>
              </a:lnSpc>
              <a:buFont typeface="Arial" panose="020B0604020202020204" pitchFamily="34" charset="0"/>
              <a:buChar char="•"/>
            </a:pPr>
            <a:r>
              <a:rPr lang="en-US" sz="2800" dirty="0">
                <a:latin typeface="+mn-lt"/>
              </a:rPr>
              <a:t>a software tool </a:t>
            </a:r>
          </a:p>
          <a:p>
            <a:pPr marL="914400" lvl="1" indent="-457200">
              <a:lnSpc>
                <a:spcPct val="150000"/>
              </a:lnSpc>
              <a:buFont typeface="Arial" panose="020B0604020202020204" pitchFamily="34" charset="0"/>
              <a:buChar char="•"/>
            </a:pPr>
            <a:r>
              <a:rPr lang="en-US" sz="2800" dirty="0">
                <a:latin typeface="+mn-lt"/>
              </a:rPr>
              <a:t>a security tool </a:t>
            </a:r>
          </a:p>
          <a:p>
            <a:pPr marL="914400" lvl="1" indent="-457200">
              <a:lnSpc>
                <a:spcPct val="150000"/>
              </a:lnSpc>
              <a:buFont typeface="Arial" panose="020B0604020202020204" pitchFamily="34" charset="0"/>
              <a:buChar char="•"/>
            </a:pPr>
            <a:r>
              <a:rPr lang="en-US" sz="2800" dirty="0">
                <a:latin typeface="+mn-lt"/>
              </a:rPr>
              <a:t>a technical method </a:t>
            </a:r>
          </a:p>
          <a:p>
            <a:pPr marL="914400" lvl="1" indent="-457200">
              <a:lnSpc>
                <a:spcPct val="150000"/>
              </a:lnSpc>
              <a:buFont typeface="Arial" panose="020B0604020202020204" pitchFamily="34" charset="0"/>
              <a:buChar char="•"/>
            </a:pPr>
            <a:r>
              <a:rPr lang="en-US" sz="2800" dirty="0">
                <a:latin typeface="+mn-lt"/>
              </a:rPr>
              <a:t>manual vs automated process </a:t>
            </a:r>
          </a:p>
          <a:p>
            <a:pPr marL="914400" lvl="1" indent="-457200">
              <a:lnSpc>
                <a:spcPct val="150000"/>
              </a:lnSpc>
              <a:buFont typeface="Arial" panose="020B0604020202020204" pitchFamily="34" charset="0"/>
              <a:buChar char="•"/>
            </a:pPr>
            <a:r>
              <a:rPr lang="en-US" sz="2800" dirty="0">
                <a:latin typeface="+mn-lt"/>
              </a:rPr>
              <a:t>one architecture vs another</a:t>
            </a:r>
          </a:p>
        </p:txBody>
      </p:sp>
      <p:pic>
        <p:nvPicPr>
          <p:cNvPr id="22534" name="Picture 5">
            <a:extLst>
              <a:ext uri="{FF2B5EF4-FFF2-40B4-BE49-F238E27FC236}">
                <a16:creationId xmlns:a16="http://schemas.microsoft.com/office/drawing/2014/main" id="{F8EF6689-A6A5-43B2-2154-37CA6E2E0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93850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6FBF-AAE8-4299-C259-3C7A27F13E1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A34B25-48B2-4AA5-F384-3DDEC7A5C34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DF17AD4-EAA0-864D-AC1A-AD53444DC9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71</a:t>
            </a:fld>
            <a:endParaRPr lang="en-US" altLang="en-US" sz="900">
              <a:solidFill>
                <a:srgbClr val="FFFFFF"/>
              </a:solidFill>
            </a:endParaRPr>
          </a:p>
        </p:txBody>
      </p:sp>
      <p:sp>
        <p:nvSpPr>
          <p:cNvPr id="5" name="TextBox 4">
            <a:extLst>
              <a:ext uri="{FF2B5EF4-FFF2-40B4-BE49-F238E27FC236}">
                <a16:creationId xmlns:a16="http://schemas.microsoft.com/office/drawing/2014/main" id="{17F1D1B3-A16C-2D06-5320-84A26EA53777}"/>
              </a:ext>
            </a:extLst>
          </p:cNvPr>
          <p:cNvSpPr txBox="1"/>
          <p:nvPr/>
        </p:nvSpPr>
        <p:spPr>
          <a:xfrm>
            <a:off x="0" y="622846"/>
            <a:ext cx="9144000" cy="3903504"/>
          </a:xfrm>
          <a:prstGeom prst="rect">
            <a:avLst/>
          </a:prstGeom>
          <a:solidFill>
            <a:schemeClr val="bg1"/>
          </a:solidFill>
        </p:spPr>
        <p:txBody>
          <a:bodyPr wrap="square">
            <a:spAutoFit/>
          </a:bodyPr>
          <a:lstStyle/>
          <a:p>
            <a:pPr>
              <a:lnSpc>
                <a:spcPct val="150000"/>
              </a:lnSpc>
            </a:pPr>
            <a:r>
              <a:rPr lang="en-US" sz="2800" dirty="0">
                <a:latin typeface="+mn-lt"/>
              </a:rPr>
              <a:t>Evaluation of Technology Options (SLO2 Focus)</a:t>
            </a:r>
          </a:p>
          <a:p>
            <a:pPr>
              <a:lnSpc>
                <a:spcPct val="150000"/>
              </a:lnSpc>
            </a:pPr>
            <a:r>
              <a:rPr lang="en-US" sz="2800" dirty="0">
                <a:latin typeface="+mn-lt"/>
              </a:rPr>
              <a:t>What students should </a:t>
            </a:r>
            <a:r>
              <a:rPr lang="en-US" sz="2800" dirty="0" err="1">
                <a:latin typeface="+mn-lt"/>
              </a:rPr>
              <a:t>analyse</a:t>
            </a:r>
            <a:r>
              <a:rPr lang="en-US" sz="2800" dirty="0">
                <a:latin typeface="+mn-lt"/>
              </a:rPr>
              <a:t> for each example</a:t>
            </a:r>
          </a:p>
          <a:p>
            <a:pPr>
              <a:lnSpc>
                <a:spcPct val="150000"/>
              </a:lnSpc>
            </a:pPr>
            <a:r>
              <a:rPr lang="en-US" sz="2800" dirty="0">
                <a:latin typeface="+mn-lt"/>
              </a:rPr>
              <a:t>1. What were the options?</a:t>
            </a:r>
          </a:p>
          <a:p>
            <a:pPr>
              <a:lnSpc>
                <a:spcPct val="150000"/>
              </a:lnSpc>
            </a:pPr>
            <a:r>
              <a:rPr lang="en-US" sz="2800" dirty="0">
                <a:latin typeface="+mn-lt"/>
              </a:rPr>
              <a:t>Even if the internship only mentioned one option, you should still explain possible alternatives.</a:t>
            </a:r>
          </a:p>
          <a:p>
            <a:pPr>
              <a:lnSpc>
                <a:spcPct val="150000"/>
              </a:lnSpc>
            </a:pPr>
            <a:r>
              <a:rPr lang="en-US" sz="2800" dirty="0">
                <a:latin typeface="+mn-lt"/>
              </a:rPr>
              <a:t>Think broadly depending on your field:</a:t>
            </a:r>
          </a:p>
        </p:txBody>
      </p:sp>
      <p:pic>
        <p:nvPicPr>
          <p:cNvPr id="22534" name="Picture 5">
            <a:extLst>
              <a:ext uri="{FF2B5EF4-FFF2-40B4-BE49-F238E27FC236}">
                <a16:creationId xmlns:a16="http://schemas.microsoft.com/office/drawing/2014/main" id="{2AFC91BB-A38C-BD76-9CEC-0C8A88534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52610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87DF-D746-23DA-B013-FA13A3380EB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C23E780-D9A0-5FFB-254B-3DDA5ACEB22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0B0E78D-1AB5-9EE5-BE67-CC9F3AE174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72</a:t>
            </a:fld>
            <a:endParaRPr lang="en-US" altLang="en-US" sz="900">
              <a:solidFill>
                <a:srgbClr val="FFFFFF"/>
              </a:solidFill>
            </a:endParaRPr>
          </a:p>
        </p:txBody>
      </p:sp>
      <p:sp>
        <p:nvSpPr>
          <p:cNvPr id="5" name="TextBox 4">
            <a:extLst>
              <a:ext uri="{FF2B5EF4-FFF2-40B4-BE49-F238E27FC236}">
                <a16:creationId xmlns:a16="http://schemas.microsoft.com/office/drawing/2014/main" id="{69B973EA-7316-E722-9714-8C1F62CD4DBB}"/>
              </a:ext>
            </a:extLst>
          </p:cNvPr>
          <p:cNvSpPr txBox="1"/>
          <p:nvPr/>
        </p:nvSpPr>
        <p:spPr>
          <a:xfrm>
            <a:off x="0" y="622846"/>
            <a:ext cx="9144000" cy="3257174"/>
          </a:xfrm>
          <a:prstGeom prst="rect">
            <a:avLst/>
          </a:prstGeom>
          <a:solidFill>
            <a:schemeClr val="bg1"/>
          </a:solidFill>
        </p:spPr>
        <p:txBody>
          <a:bodyPr wrap="square">
            <a:spAutoFit/>
          </a:bodyPr>
          <a:lstStyle/>
          <a:p>
            <a:pPr>
              <a:lnSpc>
                <a:spcPct val="150000"/>
              </a:lnSpc>
            </a:pPr>
            <a:r>
              <a:rPr lang="en-US" sz="2800" b="1" dirty="0">
                <a:latin typeface="+mn-lt"/>
              </a:rPr>
              <a:t>Software Development examples</a:t>
            </a:r>
          </a:p>
          <a:p>
            <a:pPr marL="914400" lvl="1" indent="-457200">
              <a:lnSpc>
                <a:spcPct val="150000"/>
              </a:lnSpc>
              <a:buFont typeface="Arial" panose="020B0604020202020204" pitchFamily="34" charset="0"/>
              <a:buChar char="•"/>
            </a:pPr>
            <a:r>
              <a:rPr lang="en-US" sz="2800" dirty="0">
                <a:latin typeface="+mn-lt"/>
              </a:rPr>
              <a:t>SQL database vs NoSQL database </a:t>
            </a:r>
          </a:p>
          <a:p>
            <a:pPr marL="914400" lvl="1" indent="-457200">
              <a:lnSpc>
                <a:spcPct val="150000"/>
              </a:lnSpc>
              <a:buFont typeface="Arial" panose="020B0604020202020204" pitchFamily="34" charset="0"/>
              <a:buChar char="•"/>
            </a:pPr>
            <a:r>
              <a:rPr lang="en-US" sz="2800" dirty="0">
                <a:latin typeface="+mn-lt"/>
              </a:rPr>
              <a:t>Java vs Python </a:t>
            </a:r>
          </a:p>
          <a:p>
            <a:pPr marL="914400" lvl="1" indent="-457200">
              <a:lnSpc>
                <a:spcPct val="150000"/>
              </a:lnSpc>
              <a:buFont typeface="Arial" panose="020B0604020202020204" pitchFamily="34" charset="0"/>
              <a:buChar char="•"/>
            </a:pPr>
            <a:r>
              <a:rPr lang="en-US" sz="2800" dirty="0">
                <a:latin typeface="+mn-lt"/>
              </a:rPr>
              <a:t>AWS vs Azure </a:t>
            </a:r>
          </a:p>
          <a:p>
            <a:pPr marL="914400" lvl="1" indent="-457200">
              <a:lnSpc>
                <a:spcPct val="150000"/>
              </a:lnSpc>
              <a:buFont typeface="Arial" panose="020B0604020202020204" pitchFamily="34" charset="0"/>
              <a:buChar char="•"/>
            </a:pPr>
            <a:r>
              <a:rPr lang="en-US" sz="2800" dirty="0">
                <a:latin typeface="+mn-lt"/>
              </a:rPr>
              <a:t>Monolithic vs microservices architecture</a:t>
            </a:r>
          </a:p>
        </p:txBody>
      </p:sp>
      <p:pic>
        <p:nvPicPr>
          <p:cNvPr id="22534" name="Picture 5">
            <a:extLst>
              <a:ext uri="{FF2B5EF4-FFF2-40B4-BE49-F238E27FC236}">
                <a16:creationId xmlns:a16="http://schemas.microsoft.com/office/drawing/2014/main" id="{A03FD95E-93B4-B1AA-FBEF-481E439B6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78163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EDF9-EB38-AD24-B9B0-DEBF7FFA267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BCBD82-3F27-3D16-F4C4-9D232E63F43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93B9D1F-3C3D-9F85-5CA7-AB3DDB346F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73</a:t>
            </a:fld>
            <a:endParaRPr lang="en-US" altLang="en-US" sz="900">
              <a:solidFill>
                <a:srgbClr val="FFFFFF"/>
              </a:solidFill>
            </a:endParaRPr>
          </a:p>
        </p:txBody>
      </p:sp>
      <p:sp>
        <p:nvSpPr>
          <p:cNvPr id="5" name="TextBox 4">
            <a:extLst>
              <a:ext uri="{FF2B5EF4-FFF2-40B4-BE49-F238E27FC236}">
                <a16:creationId xmlns:a16="http://schemas.microsoft.com/office/drawing/2014/main" id="{10CCA4F3-8982-E6FC-35C7-8E37D52872BF}"/>
              </a:ext>
            </a:extLst>
          </p:cNvPr>
          <p:cNvSpPr txBox="1"/>
          <p:nvPr/>
        </p:nvSpPr>
        <p:spPr>
          <a:xfrm>
            <a:off x="0" y="622846"/>
            <a:ext cx="9144000" cy="3257174"/>
          </a:xfrm>
          <a:prstGeom prst="rect">
            <a:avLst/>
          </a:prstGeom>
          <a:solidFill>
            <a:schemeClr val="bg1"/>
          </a:solidFill>
        </p:spPr>
        <p:txBody>
          <a:bodyPr wrap="square">
            <a:spAutoFit/>
          </a:bodyPr>
          <a:lstStyle/>
          <a:p>
            <a:pPr>
              <a:lnSpc>
                <a:spcPct val="150000"/>
              </a:lnSpc>
            </a:pPr>
            <a:r>
              <a:rPr lang="en-US" sz="2800" b="1" dirty="0">
                <a:latin typeface="+mn-lt"/>
              </a:rPr>
              <a:t>Business Information Systems examples</a:t>
            </a:r>
          </a:p>
          <a:p>
            <a:pPr marL="914400" lvl="1" indent="-457200">
              <a:lnSpc>
                <a:spcPct val="150000"/>
              </a:lnSpc>
              <a:buFont typeface="Arial" panose="020B0604020202020204" pitchFamily="34" charset="0"/>
              <a:buChar char="•"/>
            </a:pPr>
            <a:r>
              <a:rPr lang="en-US" sz="2800" dirty="0">
                <a:latin typeface="+mn-lt"/>
              </a:rPr>
              <a:t>ERP system vs custom-built system </a:t>
            </a:r>
          </a:p>
          <a:p>
            <a:pPr marL="914400" lvl="1" indent="-457200">
              <a:lnSpc>
                <a:spcPct val="150000"/>
              </a:lnSpc>
              <a:buFont typeface="Arial" panose="020B0604020202020204" pitchFamily="34" charset="0"/>
              <a:buChar char="•"/>
            </a:pPr>
            <a:r>
              <a:rPr lang="en-US" sz="2800" dirty="0">
                <a:latin typeface="+mn-lt"/>
              </a:rPr>
              <a:t>CRM platform A vs CRM platform B </a:t>
            </a:r>
          </a:p>
          <a:p>
            <a:pPr marL="914400" lvl="1" indent="-457200">
              <a:lnSpc>
                <a:spcPct val="150000"/>
              </a:lnSpc>
              <a:buFont typeface="Arial" panose="020B0604020202020204" pitchFamily="34" charset="0"/>
              <a:buChar char="•"/>
            </a:pPr>
            <a:r>
              <a:rPr lang="en-US" sz="2800" dirty="0">
                <a:latin typeface="+mn-lt"/>
              </a:rPr>
              <a:t>Cloud-based system vs on-premise system </a:t>
            </a:r>
          </a:p>
          <a:p>
            <a:pPr marL="914400" lvl="1" indent="-457200">
              <a:lnSpc>
                <a:spcPct val="150000"/>
              </a:lnSpc>
              <a:buFont typeface="Arial" panose="020B0604020202020204" pitchFamily="34" charset="0"/>
              <a:buChar char="•"/>
            </a:pPr>
            <a:r>
              <a:rPr lang="en-US" sz="2800" dirty="0">
                <a:latin typeface="+mn-lt"/>
              </a:rPr>
              <a:t>Dashboard tool vs spreadsheet reporting</a:t>
            </a:r>
          </a:p>
        </p:txBody>
      </p:sp>
      <p:pic>
        <p:nvPicPr>
          <p:cNvPr id="22534" name="Picture 5">
            <a:extLst>
              <a:ext uri="{FF2B5EF4-FFF2-40B4-BE49-F238E27FC236}">
                <a16:creationId xmlns:a16="http://schemas.microsoft.com/office/drawing/2014/main" id="{94EA8894-0F3C-99CA-831F-7E7904B96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85171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B068A-E6B4-1E4B-C2DE-BCAE6E5A8C4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DBB6F9-CEC9-D85A-75F8-9BFE6346936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9CF5CF6-0A79-F012-DC5A-0112DF74D2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74</a:t>
            </a:fld>
            <a:endParaRPr lang="en-US" altLang="en-US" sz="900">
              <a:solidFill>
                <a:srgbClr val="FFFFFF"/>
              </a:solidFill>
            </a:endParaRPr>
          </a:p>
        </p:txBody>
      </p:sp>
      <p:sp>
        <p:nvSpPr>
          <p:cNvPr id="5" name="TextBox 4">
            <a:extLst>
              <a:ext uri="{FF2B5EF4-FFF2-40B4-BE49-F238E27FC236}">
                <a16:creationId xmlns:a16="http://schemas.microsoft.com/office/drawing/2014/main" id="{60E99D03-F796-FD53-ADD4-E3AE7E6E33A0}"/>
              </a:ext>
            </a:extLst>
          </p:cNvPr>
          <p:cNvSpPr txBox="1"/>
          <p:nvPr/>
        </p:nvSpPr>
        <p:spPr>
          <a:xfrm>
            <a:off x="0" y="622846"/>
            <a:ext cx="9144000" cy="3257174"/>
          </a:xfrm>
          <a:prstGeom prst="rect">
            <a:avLst/>
          </a:prstGeom>
          <a:solidFill>
            <a:schemeClr val="bg1"/>
          </a:solidFill>
        </p:spPr>
        <p:txBody>
          <a:bodyPr wrap="square">
            <a:spAutoFit/>
          </a:bodyPr>
          <a:lstStyle/>
          <a:p>
            <a:pPr>
              <a:lnSpc>
                <a:spcPct val="150000"/>
              </a:lnSpc>
            </a:pPr>
            <a:r>
              <a:rPr lang="en-US" sz="2800" b="1" dirty="0">
                <a:latin typeface="+mn-lt"/>
              </a:rPr>
              <a:t>IT Governance examples</a:t>
            </a:r>
          </a:p>
          <a:p>
            <a:pPr marL="914400" lvl="1" indent="-457200">
              <a:lnSpc>
                <a:spcPct val="150000"/>
              </a:lnSpc>
              <a:buFont typeface="Arial" panose="020B0604020202020204" pitchFamily="34" charset="0"/>
              <a:buChar char="•"/>
            </a:pPr>
            <a:r>
              <a:rPr lang="en-US" sz="2800" dirty="0">
                <a:latin typeface="+mn-lt"/>
              </a:rPr>
              <a:t>Automated compliance tool vs manual auditing </a:t>
            </a:r>
          </a:p>
          <a:p>
            <a:pPr marL="914400" lvl="1" indent="-457200">
              <a:lnSpc>
                <a:spcPct val="150000"/>
              </a:lnSpc>
              <a:buFont typeface="Arial" panose="020B0604020202020204" pitchFamily="34" charset="0"/>
              <a:buChar char="•"/>
            </a:pPr>
            <a:r>
              <a:rPr lang="en-US" sz="2800" dirty="0" err="1">
                <a:latin typeface="+mn-lt"/>
              </a:rPr>
              <a:t>Centralised</a:t>
            </a:r>
            <a:r>
              <a:rPr lang="en-US" sz="2800" dirty="0">
                <a:latin typeface="+mn-lt"/>
              </a:rPr>
              <a:t> IT governance vs </a:t>
            </a:r>
            <a:r>
              <a:rPr lang="en-US" sz="2800" dirty="0" err="1">
                <a:latin typeface="+mn-lt"/>
              </a:rPr>
              <a:t>decentralised</a:t>
            </a:r>
            <a:r>
              <a:rPr lang="en-US" sz="2800" dirty="0">
                <a:latin typeface="+mn-lt"/>
              </a:rPr>
              <a:t> approach </a:t>
            </a:r>
          </a:p>
          <a:p>
            <a:pPr marL="914400" lvl="1" indent="-457200">
              <a:lnSpc>
                <a:spcPct val="150000"/>
              </a:lnSpc>
              <a:buFont typeface="Arial" panose="020B0604020202020204" pitchFamily="34" charset="0"/>
              <a:buChar char="•"/>
            </a:pPr>
            <a:r>
              <a:rPr lang="en-US" sz="2800" dirty="0">
                <a:latin typeface="+mn-lt"/>
              </a:rPr>
              <a:t>Cloud security solution vs internal security controls </a:t>
            </a:r>
          </a:p>
          <a:p>
            <a:pPr marL="914400" lvl="1" indent="-457200">
              <a:lnSpc>
                <a:spcPct val="150000"/>
              </a:lnSpc>
              <a:buFont typeface="Arial" panose="020B0604020202020204" pitchFamily="34" charset="0"/>
              <a:buChar char="•"/>
            </a:pPr>
            <a:r>
              <a:rPr lang="en-US" sz="2800" dirty="0">
                <a:latin typeface="+mn-lt"/>
              </a:rPr>
              <a:t>Risk management software vs manual tracking</a:t>
            </a:r>
          </a:p>
        </p:txBody>
      </p:sp>
      <p:pic>
        <p:nvPicPr>
          <p:cNvPr id="22534" name="Picture 5">
            <a:extLst>
              <a:ext uri="{FF2B5EF4-FFF2-40B4-BE49-F238E27FC236}">
                <a16:creationId xmlns:a16="http://schemas.microsoft.com/office/drawing/2014/main" id="{C6DF9811-D0A7-8594-812E-2A4C1B9E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87082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0F911-C9D6-6F83-E06D-8448F5E69A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7E384F-BE27-9CFD-91FA-1BCB0707D6D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AD220F1-F385-565F-599F-DC142C1CE2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75</a:t>
            </a:fld>
            <a:endParaRPr lang="en-US" altLang="en-US" sz="900">
              <a:solidFill>
                <a:srgbClr val="FFFFFF"/>
              </a:solidFill>
            </a:endParaRPr>
          </a:p>
        </p:txBody>
      </p:sp>
      <p:sp>
        <p:nvSpPr>
          <p:cNvPr id="5" name="TextBox 4">
            <a:extLst>
              <a:ext uri="{FF2B5EF4-FFF2-40B4-BE49-F238E27FC236}">
                <a16:creationId xmlns:a16="http://schemas.microsoft.com/office/drawing/2014/main" id="{0C8EEE41-7356-7F5E-5EBB-EBEE2076DC0A}"/>
              </a:ext>
            </a:extLst>
          </p:cNvPr>
          <p:cNvSpPr txBox="1"/>
          <p:nvPr/>
        </p:nvSpPr>
        <p:spPr>
          <a:xfrm>
            <a:off x="0" y="622846"/>
            <a:ext cx="9144000" cy="3257174"/>
          </a:xfrm>
          <a:prstGeom prst="rect">
            <a:avLst/>
          </a:prstGeom>
          <a:solidFill>
            <a:schemeClr val="bg1"/>
          </a:solidFill>
        </p:spPr>
        <p:txBody>
          <a:bodyPr wrap="square">
            <a:spAutoFit/>
          </a:bodyPr>
          <a:lstStyle/>
          <a:p>
            <a:pPr>
              <a:lnSpc>
                <a:spcPct val="150000"/>
              </a:lnSpc>
            </a:pPr>
            <a:r>
              <a:rPr lang="en-US" sz="2800" b="1" dirty="0">
                <a:latin typeface="+mn-lt"/>
              </a:rPr>
              <a:t>Business Administration examples</a:t>
            </a:r>
          </a:p>
          <a:p>
            <a:pPr marL="914400" lvl="1" indent="-457200">
              <a:lnSpc>
                <a:spcPct val="150000"/>
              </a:lnSpc>
              <a:buFont typeface="Arial" panose="020B0604020202020204" pitchFamily="34" charset="0"/>
              <a:buChar char="•"/>
            </a:pPr>
            <a:r>
              <a:rPr lang="en-US" sz="2800" dirty="0">
                <a:latin typeface="+mn-lt"/>
              </a:rPr>
              <a:t>Manual process vs automated system </a:t>
            </a:r>
          </a:p>
          <a:p>
            <a:pPr marL="914400" lvl="1" indent="-457200">
              <a:lnSpc>
                <a:spcPct val="150000"/>
              </a:lnSpc>
              <a:buFont typeface="Arial" panose="020B0604020202020204" pitchFamily="34" charset="0"/>
              <a:buChar char="•"/>
            </a:pPr>
            <a:r>
              <a:rPr lang="en-US" sz="2800" dirty="0">
                <a:latin typeface="+mn-lt"/>
              </a:rPr>
              <a:t>Outsourced IT service vs in-house solution </a:t>
            </a:r>
          </a:p>
          <a:p>
            <a:pPr marL="914400" lvl="1" indent="-457200">
              <a:lnSpc>
                <a:spcPct val="150000"/>
              </a:lnSpc>
              <a:buFont typeface="Arial" panose="020B0604020202020204" pitchFamily="34" charset="0"/>
              <a:buChar char="•"/>
            </a:pPr>
            <a:r>
              <a:rPr lang="en-US" sz="2800" dirty="0">
                <a:latin typeface="+mn-lt"/>
              </a:rPr>
              <a:t>Digital platform vs traditional business process </a:t>
            </a:r>
          </a:p>
          <a:p>
            <a:pPr marL="914400" lvl="1" indent="-457200">
              <a:lnSpc>
                <a:spcPct val="150000"/>
              </a:lnSpc>
              <a:buFont typeface="Arial" panose="020B0604020202020204" pitchFamily="34" charset="0"/>
              <a:buChar char="•"/>
            </a:pPr>
            <a:r>
              <a:rPr lang="en-US" sz="2800" dirty="0">
                <a:latin typeface="+mn-lt"/>
              </a:rPr>
              <a:t>Basic tool (Excel) vs advanced system (BI tool)</a:t>
            </a:r>
          </a:p>
        </p:txBody>
      </p:sp>
      <p:pic>
        <p:nvPicPr>
          <p:cNvPr id="22534" name="Picture 5">
            <a:extLst>
              <a:ext uri="{FF2B5EF4-FFF2-40B4-BE49-F238E27FC236}">
                <a16:creationId xmlns:a16="http://schemas.microsoft.com/office/drawing/2014/main" id="{89D11E3C-9D3A-4937-2DD1-08BA9068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3685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35BB7-FEF4-513F-4AE7-A5614CCC61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BDA262-03E3-E96E-B518-51C64E117CD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9A69952-0ECE-0942-493C-3E618B0CF91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76</a:t>
            </a:fld>
            <a:endParaRPr lang="en-US" altLang="en-US" sz="900">
              <a:solidFill>
                <a:srgbClr val="FFFFFF"/>
              </a:solidFill>
            </a:endParaRPr>
          </a:p>
        </p:txBody>
      </p:sp>
      <p:sp>
        <p:nvSpPr>
          <p:cNvPr id="5" name="TextBox 4">
            <a:extLst>
              <a:ext uri="{FF2B5EF4-FFF2-40B4-BE49-F238E27FC236}">
                <a16:creationId xmlns:a16="http://schemas.microsoft.com/office/drawing/2014/main" id="{67DC00B8-4857-A151-476A-63AAEA467C02}"/>
              </a:ext>
            </a:extLst>
          </p:cNvPr>
          <p:cNvSpPr txBox="1"/>
          <p:nvPr/>
        </p:nvSpPr>
        <p:spPr>
          <a:xfrm>
            <a:off x="0" y="182973"/>
            <a:ext cx="9144000" cy="6641690"/>
          </a:xfrm>
          <a:prstGeom prst="rect">
            <a:avLst/>
          </a:prstGeom>
          <a:solidFill>
            <a:schemeClr val="bg1"/>
          </a:solidFill>
        </p:spPr>
        <p:txBody>
          <a:bodyPr wrap="square">
            <a:spAutoFit/>
          </a:bodyPr>
          <a:lstStyle/>
          <a:p>
            <a:pPr>
              <a:lnSpc>
                <a:spcPct val="150000"/>
              </a:lnSpc>
            </a:pPr>
            <a:r>
              <a:rPr lang="en-US" sz="2200" b="1" dirty="0">
                <a:latin typeface="+mn-lt"/>
              </a:rPr>
              <a:t>2. What criteria were or should have been used?</a:t>
            </a:r>
          </a:p>
          <a:p>
            <a:pPr>
              <a:lnSpc>
                <a:spcPct val="150000"/>
              </a:lnSpc>
            </a:pPr>
            <a:r>
              <a:rPr lang="en-US" sz="2200" dirty="0">
                <a:latin typeface="+mn-lt"/>
              </a:rPr>
              <a:t>You should explain how the options were evaluated.</a:t>
            </a:r>
          </a:p>
          <a:p>
            <a:pPr>
              <a:lnSpc>
                <a:spcPct val="150000"/>
              </a:lnSpc>
            </a:pPr>
            <a:r>
              <a:rPr lang="en-US" sz="2200" dirty="0">
                <a:latin typeface="+mn-lt"/>
              </a:rPr>
              <a:t>Common criteria (for all students)</a:t>
            </a:r>
          </a:p>
          <a:p>
            <a:pPr marL="800100" lvl="1" indent="-342900">
              <a:lnSpc>
                <a:spcPct val="150000"/>
              </a:lnSpc>
              <a:buFont typeface="Arial" panose="020B0604020202020204" pitchFamily="34" charset="0"/>
              <a:buChar char="•"/>
            </a:pPr>
            <a:r>
              <a:rPr lang="en-US" sz="2200" dirty="0">
                <a:latin typeface="+mn-lt"/>
              </a:rPr>
              <a:t>cost </a:t>
            </a:r>
          </a:p>
          <a:p>
            <a:pPr marL="800100" lvl="1" indent="-342900">
              <a:lnSpc>
                <a:spcPct val="150000"/>
              </a:lnSpc>
              <a:buFont typeface="Arial" panose="020B0604020202020204" pitchFamily="34" charset="0"/>
              <a:buChar char="•"/>
            </a:pPr>
            <a:r>
              <a:rPr lang="en-US" sz="2200" dirty="0">
                <a:latin typeface="+mn-lt"/>
              </a:rPr>
              <a:t>performance </a:t>
            </a:r>
          </a:p>
          <a:p>
            <a:pPr marL="800100" lvl="1" indent="-342900">
              <a:lnSpc>
                <a:spcPct val="150000"/>
              </a:lnSpc>
              <a:buFont typeface="Arial" panose="020B0604020202020204" pitchFamily="34" charset="0"/>
              <a:buChar char="•"/>
            </a:pPr>
            <a:r>
              <a:rPr lang="en-US" sz="2200" dirty="0">
                <a:latin typeface="+mn-lt"/>
              </a:rPr>
              <a:t>scalability </a:t>
            </a:r>
          </a:p>
          <a:p>
            <a:pPr marL="800100" lvl="1" indent="-342900">
              <a:lnSpc>
                <a:spcPct val="150000"/>
              </a:lnSpc>
              <a:buFont typeface="Arial" panose="020B0604020202020204" pitchFamily="34" charset="0"/>
              <a:buChar char="•"/>
            </a:pPr>
            <a:r>
              <a:rPr lang="en-US" sz="2200" dirty="0">
                <a:latin typeface="+mn-lt"/>
              </a:rPr>
              <a:t>security </a:t>
            </a:r>
          </a:p>
          <a:p>
            <a:pPr marL="800100" lvl="1" indent="-342900">
              <a:lnSpc>
                <a:spcPct val="150000"/>
              </a:lnSpc>
              <a:buFont typeface="Arial" panose="020B0604020202020204" pitchFamily="34" charset="0"/>
              <a:buChar char="•"/>
            </a:pPr>
            <a:r>
              <a:rPr lang="en-US" sz="2200" dirty="0">
                <a:latin typeface="+mn-lt"/>
              </a:rPr>
              <a:t>ease of use </a:t>
            </a:r>
          </a:p>
          <a:p>
            <a:pPr marL="800100" lvl="1" indent="-342900">
              <a:lnSpc>
                <a:spcPct val="150000"/>
              </a:lnSpc>
              <a:buFont typeface="Arial" panose="020B0604020202020204" pitchFamily="34" charset="0"/>
              <a:buChar char="•"/>
            </a:pPr>
            <a:r>
              <a:rPr lang="en-US" sz="2200" dirty="0">
                <a:latin typeface="+mn-lt"/>
              </a:rPr>
              <a:t>compatibility </a:t>
            </a:r>
          </a:p>
          <a:p>
            <a:pPr marL="800100" lvl="1" indent="-342900">
              <a:lnSpc>
                <a:spcPct val="150000"/>
              </a:lnSpc>
              <a:buFont typeface="Arial" panose="020B0604020202020204" pitchFamily="34" charset="0"/>
              <a:buChar char="•"/>
            </a:pPr>
            <a:r>
              <a:rPr lang="en-US" sz="2200" dirty="0">
                <a:latin typeface="+mn-lt"/>
              </a:rPr>
              <a:t>ease of integration </a:t>
            </a:r>
          </a:p>
          <a:p>
            <a:pPr marL="800100" lvl="1" indent="-342900">
              <a:lnSpc>
                <a:spcPct val="150000"/>
              </a:lnSpc>
              <a:buFont typeface="Arial" panose="020B0604020202020204" pitchFamily="34" charset="0"/>
              <a:buChar char="•"/>
            </a:pPr>
            <a:r>
              <a:rPr lang="en-US" sz="2200" dirty="0">
                <a:latin typeface="+mn-lt"/>
              </a:rPr>
              <a:t>time required </a:t>
            </a:r>
          </a:p>
          <a:p>
            <a:pPr marL="800100" lvl="1" indent="-342900">
              <a:lnSpc>
                <a:spcPct val="150000"/>
              </a:lnSpc>
              <a:buFont typeface="Arial" panose="020B0604020202020204" pitchFamily="34" charset="0"/>
              <a:buChar char="•"/>
            </a:pPr>
            <a:r>
              <a:rPr lang="en-US" sz="2200" dirty="0">
                <a:latin typeface="+mn-lt"/>
              </a:rPr>
              <a:t>maintainability </a:t>
            </a:r>
          </a:p>
          <a:p>
            <a:pPr marL="800100" lvl="1" indent="-342900">
              <a:lnSpc>
                <a:spcPct val="150000"/>
              </a:lnSpc>
              <a:buFont typeface="Arial" panose="020B0604020202020204" pitchFamily="34" charset="0"/>
              <a:buChar char="•"/>
            </a:pPr>
            <a:r>
              <a:rPr lang="en-US" sz="2200" dirty="0">
                <a:latin typeface="+mn-lt"/>
              </a:rPr>
              <a:t>business needs</a:t>
            </a:r>
          </a:p>
        </p:txBody>
      </p:sp>
      <p:pic>
        <p:nvPicPr>
          <p:cNvPr id="22534" name="Picture 5">
            <a:extLst>
              <a:ext uri="{FF2B5EF4-FFF2-40B4-BE49-F238E27FC236}">
                <a16:creationId xmlns:a16="http://schemas.microsoft.com/office/drawing/2014/main" id="{73C10934-33E2-6527-B8A8-C6EF1B2998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78733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FDA2F-7A44-8838-D20D-A8B00960CD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F20AAB-096D-DC5D-6BE6-95F69953F48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197217E-AE4C-6843-41A8-684821E4B2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77</a:t>
            </a:fld>
            <a:endParaRPr lang="en-US" altLang="en-US" sz="900">
              <a:solidFill>
                <a:srgbClr val="FFFFFF"/>
              </a:solidFill>
            </a:endParaRPr>
          </a:p>
        </p:txBody>
      </p:sp>
      <p:sp>
        <p:nvSpPr>
          <p:cNvPr id="5" name="TextBox 4">
            <a:extLst>
              <a:ext uri="{FF2B5EF4-FFF2-40B4-BE49-F238E27FC236}">
                <a16:creationId xmlns:a16="http://schemas.microsoft.com/office/drawing/2014/main" id="{0A927F9F-497A-4F0E-1DC7-73806AECECCB}"/>
              </a:ext>
            </a:extLst>
          </p:cNvPr>
          <p:cNvSpPr txBox="1"/>
          <p:nvPr/>
        </p:nvSpPr>
        <p:spPr>
          <a:xfrm>
            <a:off x="0" y="628650"/>
            <a:ext cx="9144000" cy="5196166"/>
          </a:xfrm>
          <a:prstGeom prst="rect">
            <a:avLst/>
          </a:prstGeom>
          <a:solidFill>
            <a:schemeClr val="bg1"/>
          </a:solidFill>
        </p:spPr>
        <p:txBody>
          <a:bodyPr wrap="square">
            <a:spAutoFit/>
          </a:bodyPr>
          <a:lstStyle/>
          <a:p>
            <a:pPr>
              <a:lnSpc>
                <a:spcPct val="150000"/>
              </a:lnSpc>
            </a:pPr>
            <a:r>
              <a:rPr lang="en-US" sz="2800" b="1" dirty="0">
                <a:latin typeface="+mn-lt"/>
              </a:rPr>
              <a:t>Business-focused criteria (BIS / Business Admin / Governance)</a:t>
            </a:r>
          </a:p>
          <a:p>
            <a:pPr marL="914400" lvl="1" indent="-457200">
              <a:lnSpc>
                <a:spcPct val="150000"/>
              </a:lnSpc>
              <a:buFont typeface="Arial" panose="020B0604020202020204" pitchFamily="34" charset="0"/>
              <a:buChar char="•"/>
            </a:pPr>
            <a:r>
              <a:rPr lang="en-US" sz="2800" dirty="0">
                <a:latin typeface="+mn-lt"/>
              </a:rPr>
              <a:t>alignment with business goals </a:t>
            </a:r>
          </a:p>
          <a:p>
            <a:pPr marL="914400" lvl="1" indent="-457200">
              <a:lnSpc>
                <a:spcPct val="150000"/>
              </a:lnSpc>
              <a:buFont typeface="Arial" panose="020B0604020202020204" pitchFamily="34" charset="0"/>
              <a:buChar char="•"/>
            </a:pPr>
            <a:r>
              <a:rPr lang="en-US" sz="2800" dirty="0">
                <a:latin typeface="+mn-lt"/>
              </a:rPr>
              <a:t>impact on stakeholders </a:t>
            </a:r>
          </a:p>
          <a:p>
            <a:pPr marL="914400" lvl="1" indent="-457200">
              <a:lnSpc>
                <a:spcPct val="150000"/>
              </a:lnSpc>
              <a:buFont typeface="Arial" panose="020B0604020202020204" pitchFamily="34" charset="0"/>
              <a:buChar char="•"/>
            </a:pPr>
            <a:r>
              <a:rPr lang="en-US" sz="2800" dirty="0">
                <a:latin typeface="+mn-lt"/>
              </a:rPr>
              <a:t>risk and compliance requirements </a:t>
            </a:r>
          </a:p>
          <a:p>
            <a:pPr marL="914400" lvl="1" indent="-457200">
              <a:lnSpc>
                <a:spcPct val="150000"/>
              </a:lnSpc>
              <a:buFont typeface="Arial" panose="020B0604020202020204" pitchFamily="34" charset="0"/>
              <a:buChar char="•"/>
            </a:pPr>
            <a:r>
              <a:rPr lang="en-US" sz="2800" dirty="0">
                <a:latin typeface="+mn-lt"/>
              </a:rPr>
              <a:t>process efficiency </a:t>
            </a:r>
          </a:p>
          <a:p>
            <a:pPr marL="914400" lvl="1" indent="-457200">
              <a:lnSpc>
                <a:spcPct val="150000"/>
              </a:lnSpc>
              <a:buFont typeface="Arial" panose="020B0604020202020204" pitchFamily="34" charset="0"/>
              <a:buChar char="•"/>
            </a:pPr>
            <a:r>
              <a:rPr lang="en-US" sz="2800" dirty="0">
                <a:latin typeface="+mn-lt"/>
              </a:rPr>
              <a:t>user adoption </a:t>
            </a:r>
          </a:p>
          <a:p>
            <a:pPr marL="914400" lvl="1" indent="-457200">
              <a:lnSpc>
                <a:spcPct val="150000"/>
              </a:lnSpc>
              <a:buFont typeface="Arial" panose="020B0604020202020204" pitchFamily="34" charset="0"/>
              <a:buChar char="•"/>
            </a:pPr>
            <a:r>
              <a:rPr lang="en-US" sz="2800" dirty="0" err="1">
                <a:latin typeface="+mn-lt"/>
              </a:rPr>
              <a:t>organisational</a:t>
            </a:r>
            <a:r>
              <a:rPr lang="en-US" sz="2800" dirty="0">
                <a:latin typeface="+mn-lt"/>
              </a:rPr>
              <a:t> capability</a:t>
            </a:r>
          </a:p>
        </p:txBody>
      </p:sp>
      <p:pic>
        <p:nvPicPr>
          <p:cNvPr id="22534" name="Picture 5">
            <a:extLst>
              <a:ext uri="{FF2B5EF4-FFF2-40B4-BE49-F238E27FC236}">
                <a16:creationId xmlns:a16="http://schemas.microsoft.com/office/drawing/2014/main" id="{BECBC62E-D328-017B-9159-2B96A8435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56202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9A95-21A7-74B1-877D-817867CD481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70D50F-36F9-4C45-38AF-83491F9E67F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1C23732-C693-BCAA-6D76-344CD816518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78</a:t>
            </a:fld>
            <a:endParaRPr lang="en-US" altLang="en-US" sz="900">
              <a:solidFill>
                <a:srgbClr val="FFFFFF"/>
              </a:solidFill>
            </a:endParaRPr>
          </a:p>
        </p:txBody>
      </p:sp>
      <p:sp>
        <p:nvSpPr>
          <p:cNvPr id="5" name="TextBox 4">
            <a:extLst>
              <a:ext uri="{FF2B5EF4-FFF2-40B4-BE49-F238E27FC236}">
                <a16:creationId xmlns:a16="http://schemas.microsoft.com/office/drawing/2014/main" id="{4FBF2D00-0E6F-8C74-E0E1-67D97DB9640B}"/>
              </a:ext>
            </a:extLst>
          </p:cNvPr>
          <p:cNvSpPr txBox="1"/>
          <p:nvPr/>
        </p:nvSpPr>
        <p:spPr>
          <a:xfrm>
            <a:off x="0" y="628650"/>
            <a:ext cx="9144000" cy="3903504"/>
          </a:xfrm>
          <a:prstGeom prst="rect">
            <a:avLst/>
          </a:prstGeom>
          <a:solidFill>
            <a:schemeClr val="bg1"/>
          </a:solidFill>
        </p:spPr>
        <p:txBody>
          <a:bodyPr wrap="square">
            <a:spAutoFit/>
          </a:bodyPr>
          <a:lstStyle/>
          <a:p>
            <a:pPr>
              <a:lnSpc>
                <a:spcPct val="150000"/>
              </a:lnSpc>
            </a:pPr>
            <a:r>
              <a:rPr lang="en-US" sz="2800" b="1" dirty="0">
                <a:latin typeface="+mn-lt"/>
              </a:rPr>
              <a:t>Technical-focused criteria (Software Development)</a:t>
            </a:r>
          </a:p>
          <a:p>
            <a:pPr marL="914400" lvl="1" indent="-457200">
              <a:lnSpc>
                <a:spcPct val="150000"/>
              </a:lnSpc>
              <a:buFont typeface="Arial" panose="020B0604020202020204" pitchFamily="34" charset="0"/>
              <a:buChar char="•"/>
            </a:pPr>
            <a:r>
              <a:rPr lang="en-US" sz="2800" dirty="0">
                <a:latin typeface="+mn-lt"/>
              </a:rPr>
              <a:t>system performance </a:t>
            </a:r>
          </a:p>
          <a:p>
            <a:pPr marL="914400" lvl="1" indent="-457200">
              <a:lnSpc>
                <a:spcPct val="150000"/>
              </a:lnSpc>
              <a:buFont typeface="Arial" panose="020B0604020202020204" pitchFamily="34" charset="0"/>
              <a:buChar char="•"/>
            </a:pPr>
            <a:r>
              <a:rPr lang="en-US" sz="2800" dirty="0">
                <a:latin typeface="+mn-lt"/>
              </a:rPr>
              <a:t>flexibility </a:t>
            </a:r>
          </a:p>
          <a:p>
            <a:pPr marL="914400" lvl="1" indent="-457200">
              <a:lnSpc>
                <a:spcPct val="150000"/>
              </a:lnSpc>
              <a:buFont typeface="Arial" panose="020B0604020202020204" pitchFamily="34" charset="0"/>
              <a:buChar char="•"/>
            </a:pPr>
            <a:r>
              <a:rPr lang="en-US" sz="2800" dirty="0">
                <a:latin typeface="+mn-lt"/>
              </a:rPr>
              <a:t>development complexity </a:t>
            </a:r>
          </a:p>
          <a:p>
            <a:pPr marL="914400" lvl="1" indent="-457200">
              <a:lnSpc>
                <a:spcPct val="150000"/>
              </a:lnSpc>
              <a:buFont typeface="Arial" panose="020B0604020202020204" pitchFamily="34" charset="0"/>
              <a:buChar char="•"/>
            </a:pPr>
            <a:r>
              <a:rPr lang="en-US" sz="2800" dirty="0">
                <a:latin typeface="+mn-lt"/>
              </a:rPr>
              <a:t>maintainability </a:t>
            </a:r>
          </a:p>
          <a:p>
            <a:pPr marL="914400" lvl="1" indent="-457200">
              <a:lnSpc>
                <a:spcPct val="150000"/>
              </a:lnSpc>
              <a:buFont typeface="Arial" panose="020B0604020202020204" pitchFamily="34" charset="0"/>
              <a:buChar char="•"/>
            </a:pPr>
            <a:r>
              <a:rPr lang="en-US" sz="2800" dirty="0">
                <a:latin typeface="+mn-lt"/>
              </a:rPr>
              <a:t>compatibility with existing systems</a:t>
            </a:r>
          </a:p>
        </p:txBody>
      </p:sp>
      <p:pic>
        <p:nvPicPr>
          <p:cNvPr id="22534" name="Picture 5">
            <a:extLst>
              <a:ext uri="{FF2B5EF4-FFF2-40B4-BE49-F238E27FC236}">
                <a16:creationId xmlns:a16="http://schemas.microsoft.com/office/drawing/2014/main" id="{06BD12BC-CEB9-822D-0994-8B81FF495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95528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3BCB3-4879-F07C-B6CE-B4091A51249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AFCEFF-5CC4-8C05-28F5-BEECC16E423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81DA6D0-C102-7A40-89E6-04B0FBEC118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79</a:t>
            </a:fld>
            <a:endParaRPr lang="en-US" altLang="en-US" sz="900">
              <a:solidFill>
                <a:srgbClr val="FFFFFF"/>
              </a:solidFill>
            </a:endParaRPr>
          </a:p>
        </p:txBody>
      </p:sp>
      <p:sp>
        <p:nvSpPr>
          <p:cNvPr id="5" name="TextBox 4">
            <a:extLst>
              <a:ext uri="{FF2B5EF4-FFF2-40B4-BE49-F238E27FC236}">
                <a16:creationId xmlns:a16="http://schemas.microsoft.com/office/drawing/2014/main" id="{0D10BD3F-4008-3672-9CF9-9BACA5E63200}"/>
              </a:ext>
            </a:extLst>
          </p:cNvPr>
          <p:cNvSpPr txBox="1"/>
          <p:nvPr/>
        </p:nvSpPr>
        <p:spPr>
          <a:xfrm>
            <a:off x="0" y="628650"/>
            <a:ext cx="9144000" cy="3257174"/>
          </a:xfrm>
          <a:prstGeom prst="rect">
            <a:avLst/>
          </a:prstGeom>
          <a:solidFill>
            <a:schemeClr val="bg1"/>
          </a:solidFill>
        </p:spPr>
        <p:txBody>
          <a:bodyPr wrap="square">
            <a:spAutoFit/>
          </a:bodyPr>
          <a:lstStyle/>
          <a:p>
            <a:pPr>
              <a:lnSpc>
                <a:spcPct val="150000"/>
              </a:lnSpc>
            </a:pPr>
            <a:r>
              <a:rPr lang="en-US" sz="2800" b="1" dirty="0">
                <a:latin typeface="+mn-lt"/>
              </a:rPr>
              <a:t>3. How was the effective option chosen?</a:t>
            </a:r>
          </a:p>
          <a:p>
            <a:pPr>
              <a:lnSpc>
                <a:spcPct val="150000"/>
              </a:lnSpc>
            </a:pPr>
            <a:r>
              <a:rPr lang="en-US" sz="2800" dirty="0">
                <a:latin typeface="+mn-lt"/>
              </a:rPr>
              <a:t>You should explain:</a:t>
            </a:r>
          </a:p>
          <a:p>
            <a:pPr marL="914400" lvl="1" indent="-457200">
              <a:lnSpc>
                <a:spcPct val="150000"/>
              </a:lnSpc>
              <a:buFont typeface="Arial" panose="020B0604020202020204" pitchFamily="34" charset="0"/>
              <a:buChar char="•"/>
            </a:pPr>
            <a:r>
              <a:rPr lang="en-US" sz="2800" dirty="0">
                <a:latin typeface="+mn-lt"/>
              </a:rPr>
              <a:t>why the chosen option was suitable </a:t>
            </a:r>
          </a:p>
          <a:p>
            <a:pPr marL="914400" lvl="1" indent="-457200">
              <a:lnSpc>
                <a:spcPct val="150000"/>
              </a:lnSpc>
              <a:buFont typeface="Arial" panose="020B0604020202020204" pitchFamily="34" charset="0"/>
              <a:buChar char="•"/>
            </a:pPr>
            <a:r>
              <a:rPr lang="en-US" sz="2800" dirty="0">
                <a:latin typeface="+mn-lt"/>
              </a:rPr>
              <a:t>whether you agree with the decision </a:t>
            </a:r>
          </a:p>
          <a:p>
            <a:pPr marL="914400" lvl="1" indent="-457200">
              <a:lnSpc>
                <a:spcPct val="150000"/>
              </a:lnSpc>
              <a:buFont typeface="Arial" panose="020B0604020202020204" pitchFamily="34" charset="0"/>
              <a:buChar char="•"/>
            </a:pPr>
            <a:r>
              <a:rPr lang="en-US" sz="2800" dirty="0">
                <a:latin typeface="+mn-lt"/>
              </a:rPr>
              <a:t>or suggest a better alternative</a:t>
            </a:r>
          </a:p>
        </p:txBody>
      </p:sp>
      <p:pic>
        <p:nvPicPr>
          <p:cNvPr id="22534" name="Picture 5">
            <a:extLst>
              <a:ext uri="{FF2B5EF4-FFF2-40B4-BE49-F238E27FC236}">
                <a16:creationId xmlns:a16="http://schemas.microsoft.com/office/drawing/2014/main" id="{71792781-D414-BB32-11D0-0A16C6CC8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6501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CF7D-E391-B7E0-215D-C889DA7B975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682C68-4B97-DA65-E97E-258CA8BEF9E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4AFA142-7E35-45C0-EB51-B2EE91803C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80</a:t>
            </a:fld>
            <a:endParaRPr lang="en-US" altLang="en-US" sz="900">
              <a:solidFill>
                <a:srgbClr val="FFFFFF"/>
              </a:solidFill>
            </a:endParaRPr>
          </a:p>
        </p:txBody>
      </p:sp>
      <p:sp>
        <p:nvSpPr>
          <p:cNvPr id="5" name="TextBox 4">
            <a:extLst>
              <a:ext uri="{FF2B5EF4-FFF2-40B4-BE49-F238E27FC236}">
                <a16:creationId xmlns:a16="http://schemas.microsoft.com/office/drawing/2014/main" id="{1504D5AD-89CF-E0A6-C3E1-5EF79C64F7D7}"/>
              </a:ext>
            </a:extLst>
          </p:cNvPr>
          <p:cNvSpPr txBox="1"/>
          <p:nvPr/>
        </p:nvSpPr>
        <p:spPr>
          <a:xfrm>
            <a:off x="0" y="174952"/>
            <a:ext cx="9144000" cy="6683048"/>
          </a:xfrm>
          <a:prstGeom prst="rect">
            <a:avLst/>
          </a:prstGeom>
          <a:solidFill>
            <a:schemeClr val="bg1"/>
          </a:solidFill>
        </p:spPr>
        <p:txBody>
          <a:bodyPr wrap="square">
            <a:spAutoFit/>
          </a:bodyPr>
          <a:lstStyle/>
          <a:p>
            <a:pPr>
              <a:lnSpc>
                <a:spcPct val="150000"/>
              </a:lnSpc>
            </a:pPr>
            <a:r>
              <a:rPr lang="en-US" sz="2400" b="1" dirty="0">
                <a:latin typeface="+mn-lt"/>
              </a:rPr>
              <a:t>Example paragraph</a:t>
            </a:r>
          </a:p>
          <a:p>
            <a:pPr>
              <a:lnSpc>
                <a:spcPct val="150000"/>
              </a:lnSpc>
            </a:pPr>
            <a:r>
              <a:rPr lang="en-US" sz="2400" dirty="0">
                <a:latin typeface="+mn-lt"/>
              </a:rPr>
              <a:t>One clear instance of technology evaluation occurred when the task required selecting an appropriate tool or system to support business operations. Although the internship recommended a specific option, alternative solutions were also possible. These options could be evaluated based on criteria such as cost, ease of use, scalability, integration with existing systems, and alignment with business needs. In this case, the selected option appeared effective because it was practical, easy to implement, and suitable for the </a:t>
            </a:r>
            <a:r>
              <a:rPr lang="en-US" sz="2400" dirty="0" err="1">
                <a:latin typeface="+mn-lt"/>
              </a:rPr>
              <a:t>organisation’s</a:t>
            </a:r>
            <a:r>
              <a:rPr lang="en-US" sz="2400" dirty="0">
                <a:latin typeface="+mn-lt"/>
              </a:rPr>
              <a:t> requirements. I agree with this choice because a simpler and well-integrated solution is often more beneficial than a more complex system that may not be fully </a:t>
            </a:r>
            <a:r>
              <a:rPr lang="en-US" sz="2400" dirty="0" err="1">
                <a:latin typeface="+mn-lt"/>
              </a:rPr>
              <a:t>utilised</a:t>
            </a:r>
            <a:r>
              <a:rPr lang="en-US" sz="2400" dirty="0">
                <a:latin typeface="+mn-lt"/>
              </a:rPr>
              <a:t>.</a:t>
            </a:r>
          </a:p>
        </p:txBody>
      </p:sp>
      <p:pic>
        <p:nvPicPr>
          <p:cNvPr id="22534" name="Picture 5">
            <a:extLst>
              <a:ext uri="{FF2B5EF4-FFF2-40B4-BE49-F238E27FC236}">
                <a16:creationId xmlns:a16="http://schemas.microsoft.com/office/drawing/2014/main" id="{DE188E8A-7BCA-9A07-1F30-7A8817A0CA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89172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24CC-9123-47AA-EE9E-BEB2B81259C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306662-0C85-229E-2A3D-A6E0DF16D89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BB8E553-645D-C3F3-86D1-E83397E11FC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81</a:t>
            </a:fld>
            <a:endParaRPr lang="en-US" altLang="en-US" sz="900">
              <a:solidFill>
                <a:srgbClr val="FFFFFF"/>
              </a:solidFill>
            </a:endParaRPr>
          </a:p>
        </p:txBody>
      </p:sp>
      <p:sp>
        <p:nvSpPr>
          <p:cNvPr id="5" name="TextBox 4">
            <a:extLst>
              <a:ext uri="{FF2B5EF4-FFF2-40B4-BE49-F238E27FC236}">
                <a16:creationId xmlns:a16="http://schemas.microsoft.com/office/drawing/2014/main" id="{A50EE15E-1621-753A-3FD4-EF2E15DEE910}"/>
              </a:ext>
            </a:extLst>
          </p:cNvPr>
          <p:cNvSpPr txBox="1"/>
          <p:nvPr/>
        </p:nvSpPr>
        <p:spPr>
          <a:xfrm>
            <a:off x="0" y="381892"/>
            <a:ext cx="9144000" cy="6488828"/>
          </a:xfrm>
          <a:prstGeom prst="rect">
            <a:avLst/>
          </a:prstGeom>
          <a:solidFill>
            <a:schemeClr val="bg1"/>
          </a:solidFill>
        </p:spPr>
        <p:txBody>
          <a:bodyPr wrap="square">
            <a:spAutoFit/>
          </a:bodyPr>
          <a:lstStyle/>
          <a:p>
            <a:pPr>
              <a:lnSpc>
                <a:spcPct val="150000"/>
              </a:lnSpc>
            </a:pPr>
            <a:r>
              <a:rPr lang="en-US" sz="2800" b="1" dirty="0">
                <a:latin typeface="+mn-lt"/>
              </a:rPr>
              <a:t>Another example</a:t>
            </a:r>
          </a:p>
          <a:p>
            <a:pPr>
              <a:lnSpc>
                <a:spcPct val="150000"/>
              </a:lnSpc>
            </a:pPr>
            <a:r>
              <a:rPr lang="en-US" sz="2800" dirty="0">
                <a:latin typeface="+mn-lt"/>
              </a:rPr>
              <a:t>A second example involved the choice between manual processes and automation. While manual approaches may have lower initial costs, automation can improve efficiency, accuracy, and scalability over time. In the internship scenario, automation was the more effective option because the task involved repeated processes and required consistency. This reflects real-world practice, where </a:t>
            </a:r>
            <a:r>
              <a:rPr lang="en-US" sz="2800" dirty="0" err="1">
                <a:latin typeface="+mn-lt"/>
              </a:rPr>
              <a:t>organisations</a:t>
            </a:r>
            <a:r>
              <a:rPr lang="en-US" sz="2800" dirty="0">
                <a:latin typeface="+mn-lt"/>
              </a:rPr>
              <a:t> often adopt automated systems to improve productivity and reduce errors.</a:t>
            </a:r>
          </a:p>
        </p:txBody>
      </p:sp>
      <p:pic>
        <p:nvPicPr>
          <p:cNvPr id="22534" name="Picture 5">
            <a:extLst>
              <a:ext uri="{FF2B5EF4-FFF2-40B4-BE49-F238E27FC236}">
                <a16:creationId xmlns:a16="http://schemas.microsoft.com/office/drawing/2014/main" id="{969AB69F-50B5-7E9E-E653-FB42CB2D0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55217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26D2-5CB3-8791-846C-A1B33E124F9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4FF359-48E2-CB3E-8D97-F469917497C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67E1F5B-98F9-4E7A-A8A9-5CC94DBAAD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82</a:t>
            </a:fld>
            <a:endParaRPr lang="en-US" altLang="en-US" sz="900">
              <a:solidFill>
                <a:srgbClr val="FFFFFF"/>
              </a:solidFill>
            </a:endParaRPr>
          </a:p>
        </p:txBody>
      </p:sp>
      <p:sp>
        <p:nvSpPr>
          <p:cNvPr id="5" name="TextBox 4">
            <a:extLst>
              <a:ext uri="{FF2B5EF4-FFF2-40B4-BE49-F238E27FC236}">
                <a16:creationId xmlns:a16="http://schemas.microsoft.com/office/drawing/2014/main" id="{8BD73521-3AD2-F6F5-B866-6E772114E011}"/>
              </a:ext>
            </a:extLst>
          </p:cNvPr>
          <p:cNvSpPr txBox="1"/>
          <p:nvPr/>
        </p:nvSpPr>
        <p:spPr>
          <a:xfrm>
            <a:off x="0" y="381892"/>
            <a:ext cx="9144000" cy="2610843"/>
          </a:xfrm>
          <a:prstGeom prst="rect">
            <a:avLst/>
          </a:prstGeom>
          <a:solidFill>
            <a:schemeClr val="bg1"/>
          </a:solidFill>
        </p:spPr>
        <p:txBody>
          <a:bodyPr wrap="square">
            <a:spAutoFit/>
          </a:bodyPr>
          <a:lstStyle/>
          <a:p>
            <a:pPr>
              <a:lnSpc>
                <a:spcPct val="150000"/>
              </a:lnSpc>
            </a:pPr>
            <a:r>
              <a:rPr lang="en-US" sz="2800" b="1" dirty="0">
                <a:latin typeface="+mn-lt"/>
              </a:rPr>
              <a:t>Reflection sentence for this section</a:t>
            </a:r>
          </a:p>
          <a:p>
            <a:pPr>
              <a:lnSpc>
                <a:spcPct val="150000"/>
              </a:lnSpc>
            </a:pPr>
            <a:r>
              <a:rPr lang="en-US" sz="2800" dirty="0">
                <a:latin typeface="+mn-lt"/>
              </a:rPr>
              <a:t>This experience strengthened my ability to evaluate technology options not only from a technical perspective, but also from a business and </a:t>
            </a:r>
            <a:r>
              <a:rPr lang="en-US" sz="2800" dirty="0" err="1">
                <a:latin typeface="+mn-lt"/>
              </a:rPr>
              <a:t>organisational</a:t>
            </a:r>
            <a:r>
              <a:rPr lang="en-US" sz="2800" dirty="0">
                <a:latin typeface="+mn-lt"/>
              </a:rPr>
              <a:t> perspective.</a:t>
            </a:r>
          </a:p>
        </p:txBody>
      </p:sp>
      <p:pic>
        <p:nvPicPr>
          <p:cNvPr id="22534" name="Picture 5">
            <a:extLst>
              <a:ext uri="{FF2B5EF4-FFF2-40B4-BE49-F238E27FC236}">
                <a16:creationId xmlns:a16="http://schemas.microsoft.com/office/drawing/2014/main" id="{91142A66-02B6-F519-3F6A-A5C4D67A2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98986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4FE19-27D2-2132-7E9F-16F46BA83E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E30E5AA-556F-9884-21C8-ED5BB2594FE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F066F4A-6B1C-ED34-721C-B551D011557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83</a:t>
            </a:fld>
            <a:endParaRPr lang="en-US" altLang="en-US" sz="900">
              <a:solidFill>
                <a:srgbClr val="FFFFFF"/>
              </a:solidFill>
            </a:endParaRPr>
          </a:p>
        </p:txBody>
      </p:sp>
      <p:sp>
        <p:nvSpPr>
          <p:cNvPr id="5" name="TextBox 4">
            <a:extLst>
              <a:ext uri="{FF2B5EF4-FFF2-40B4-BE49-F238E27FC236}">
                <a16:creationId xmlns:a16="http://schemas.microsoft.com/office/drawing/2014/main" id="{3910CD6F-10AC-1028-B31E-46A80C974461}"/>
              </a:ext>
            </a:extLst>
          </p:cNvPr>
          <p:cNvSpPr txBox="1"/>
          <p:nvPr/>
        </p:nvSpPr>
        <p:spPr>
          <a:xfrm>
            <a:off x="0" y="381892"/>
            <a:ext cx="9144000" cy="4549835"/>
          </a:xfrm>
          <a:prstGeom prst="rect">
            <a:avLst/>
          </a:prstGeom>
          <a:solidFill>
            <a:schemeClr val="bg1"/>
          </a:solidFill>
        </p:spPr>
        <p:txBody>
          <a:bodyPr wrap="square">
            <a:spAutoFit/>
          </a:bodyPr>
          <a:lstStyle/>
          <a:p>
            <a:pPr>
              <a:lnSpc>
                <a:spcPct val="150000"/>
              </a:lnSpc>
            </a:pPr>
            <a:r>
              <a:rPr lang="en-US" sz="2800" b="1" dirty="0">
                <a:latin typeface="+mn-lt"/>
              </a:rPr>
              <a:t>Section E: Conclusion (about 100 words)</a:t>
            </a:r>
          </a:p>
          <a:p>
            <a:pPr>
              <a:lnSpc>
                <a:spcPct val="150000"/>
              </a:lnSpc>
            </a:pPr>
            <a:r>
              <a:rPr lang="en-US" sz="2800" b="1" dirty="0">
                <a:latin typeface="+mn-lt"/>
              </a:rPr>
              <a:t>What to include</a:t>
            </a:r>
          </a:p>
          <a:p>
            <a:pPr marL="914400" lvl="1" indent="-457200">
              <a:lnSpc>
                <a:spcPct val="150000"/>
              </a:lnSpc>
              <a:buFont typeface="Arial" panose="020B0604020202020204" pitchFamily="34" charset="0"/>
              <a:buChar char="•"/>
            </a:pPr>
            <a:r>
              <a:rPr lang="en-US" sz="2800" dirty="0" err="1">
                <a:latin typeface="+mn-lt"/>
              </a:rPr>
              <a:t>summarise</a:t>
            </a:r>
            <a:r>
              <a:rPr lang="en-US" sz="2800" dirty="0">
                <a:latin typeface="+mn-lt"/>
              </a:rPr>
              <a:t> key lessons </a:t>
            </a:r>
          </a:p>
          <a:p>
            <a:pPr marL="914400" lvl="1" indent="-457200">
              <a:lnSpc>
                <a:spcPct val="150000"/>
              </a:lnSpc>
              <a:buFont typeface="Arial" panose="020B0604020202020204" pitchFamily="34" charset="0"/>
              <a:buChar char="•"/>
            </a:pPr>
            <a:r>
              <a:rPr lang="en-US" sz="2800" dirty="0">
                <a:latin typeface="+mn-lt"/>
              </a:rPr>
              <a:t>mention design process (SLO1) </a:t>
            </a:r>
          </a:p>
          <a:p>
            <a:pPr marL="914400" lvl="1" indent="-457200">
              <a:lnSpc>
                <a:spcPct val="150000"/>
              </a:lnSpc>
              <a:buFont typeface="Arial" panose="020B0604020202020204" pitchFamily="34" charset="0"/>
              <a:buChar char="•"/>
            </a:pPr>
            <a:r>
              <a:rPr lang="en-US" sz="2800" dirty="0">
                <a:latin typeface="+mn-lt"/>
              </a:rPr>
              <a:t>mention technology evaluation (SLO2) </a:t>
            </a:r>
          </a:p>
          <a:p>
            <a:pPr marL="914400" lvl="1" indent="-457200">
              <a:lnSpc>
                <a:spcPct val="150000"/>
              </a:lnSpc>
              <a:buFont typeface="Arial" panose="020B0604020202020204" pitchFamily="34" charset="0"/>
              <a:buChar char="•"/>
            </a:pPr>
            <a:r>
              <a:rPr lang="en-US" sz="2800" dirty="0">
                <a:latin typeface="+mn-lt"/>
              </a:rPr>
              <a:t>explain how this helps your understanding of IT projects</a:t>
            </a:r>
          </a:p>
        </p:txBody>
      </p:sp>
      <p:pic>
        <p:nvPicPr>
          <p:cNvPr id="22534" name="Picture 5">
            <a:extLst>
              <a:ext uri="{FF2B5EF4-FFF2-40B4-BE49-F238E27FC236}">
                <a16:creationId xmlns:a16="http://schemas.microsoft.com/office/drawing/2014/main" id="{AC944C6F-B00E-18B7-86EB-55AF0C0F4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94028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D0C52-4407-C116-13CB-36E4104C2B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EEB151-FEF6-A3D8-6683-65173F3B723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42A6D0D-4E3C-E04B-48DE-38F897618C4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84</a:t>
            </a:fld>
            <a:endParaRPr lang="en-US" altLang="en-US" sz="900">
              <a:solidFill>
                <a:srgbClr val="FFFFFF"/>
              </a:solidFill>
            </a:endParaRPr>
          </a:p>
        </p:txBody>
      </p:sp>
      <p:sp>
        <p:nvSpPr>
          <p:cNvPr id="5" name="TextBox 4">
            <a:extLst>
              <a:ext uri="{FF2B5EF4-FFF2-40B4-BE49-F238E27FC236}">
                <a16:creationId xmlns:a16="http://schemas.microsoft.com/office/drawing/2014/main" id="{AF655EAC-E61E-0B7F-7A5D-D1C477B91F0B}"/>
              </a:ext>
            </a:extLst>
          </p:cNvPr>
          <p:cNvSpPr txBox="1"/>
          <p:nvPr/>
        </p:nvSpPr>
        <p:spPr>
          <a:xfrm>
            <a:off x="0" y="-119829"/>
            <a:ext cx="9144000" cy="6957674"/>
          </a:xfrm>
          <a:prstGeom prst="rect">
            <a:avLst/>
          </a:prstGeom>
          <a:solidFill>
            <a:schemeClr val="bg1"/>
          </a:solidFill>
        </p:spPr>
        <p:txBody>
          <a:bodyPr wrap="square">
            <a:spAutoFit/>
          </a:bodyPr>
          <a:lstStyle/>
          <a:p>
            <a:pPr>
              <a:lnSpc>
                <a:spcPct val="150000"/>
              </a:lnSpc>
            </a:pPr>
            <a:r>
              <a:rPr lang="en-US" sz="2500" b="1" dirty="0">
                <a:latin typeface="+mn-lt"/>
              </a:rPr>
              <a:t>Example (adapted for all students)</a:t>
            </a:r>
          </a:p>
          <a:p>
            <a:pPr>
              <a:lnSpc>
                <a:spcPct val="150000"/>
              </a:lnSpc>
            </a:pPr>
            <a:r>
              <a:rPr lang="en-US" sz="2500" dirty="0">
                <a:latin typeface="+mn-lt"/>
              </a:rPr>
              <a:t>In conclusion, the Forage virtual internship helped me better understand how IT and business professionals apply a structured design process and evaluate technology options in real-world situations. The experience highlighted the importance of clearly defining problems, understanding stakeholder needs, and selecting solutions based on relevant criteria such as business value, efficiency, and feasibility. It also showed that effective IT project development requires both technical knowledge and an understanding of </a:t>
            </a:r>
            <a:r>
              <a:rPr lang="en-US" sz="2500" dirty="0" err="1">
                <a:latin typeface="+mn-lt"/>
              </a:rPr>
              <a:t>organisational</a:t>
            </a:r>
            <a:r>
              <a:rPr lang="en-US" sz="2500" dirty="0">
                <a:latin typeface="+mn-lt"/>
              </a:rPr>
              <a:t> context. Overall, this experience improved my ability to </a:t>
            </a:r>
            <a:r>
              <a:rPr lang="en-US" sz="2500" dirty="0" err="1">
                <a:latin typeface="+mn-lt"/>
              </a:rPr>
              <a:t>analyse</a:t>
            </a:r>
            <a:r>
              <a:rPr lang="en-US" sz="2500" dirty="0">
                <a:latin typeface="+mn-lt"/>
              </a:rPr>
              <a:t> problems and make informed decisions in IT and business environments.</a:t>
            </a:r>
          </a:p>
        </p:txBody>
      </p:sp>
      <p:pic>
        <p:nvPicPr>
          <p:cNvPr id="22534" name="Picture 5">
            <a:extLst>
              <a:ext uri="{FF2B5EF4-FFF2-40B4-BE49-F238E27FC236}">
                <a16:creationId xmlns:a16="http://schemas.microsoft.com/office/drawing/2014/main" id="{7161C183-53A3-4D98-F85C-8A74694A1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119829"/>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5738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E0F25-7015-20FC-AC55-F73E232A11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3E8017-96EB-9406-2B31-503C3CC9143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F7B7341-0051-7A0B-EAF1-0D362B20653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85</a:t>
            </a:fld>
            <a:endParaRPr lang="en-US" altLang="en-US" sz="900">
              <a:solidFill>
                <a:srgbClr val="FFFFFF"/>
              </a:solidFill>
            </a:endParaRPr>
          </a:p>
        </p:txBody>
      </p:sp>
      <p:sp>
        <p:nvSpPr>
          <p:cNvPr id="5" name="TextBox 4">
            <a:extLst>
              <a:ext uri="{FF2B5EF4-FFF2-40B4-BE49-F238E27FC236}">
                <a16:creationId xmlns:a16="http://schemas.microsoft.com/office/drawing/2014/main" id="{EE213739-371D-0D65-27CB-99A291E48CBE}"/>
              </a:ext>
            </a:extLst>
          </p:cNvPr>
          <p:cNvSpPr txBox="1"/>
          <p:nvPr/>
        </p:nvSpPr>
        <p:spPr>
          <a:xfrm>
            <a:off x="0" y="1857589"/>
            <a:ext cx="9144000" cy="1964512"/>
          </a:xfrm>
          <a:prstGeom prst="rect">
            <a:avLst/>
          </a:prstGeom>
          <a:solidFill>
            <a:schemeClr val="bg1"/>
          </a:solidFill>
        </p:spPr>
        <p:txBody>
          <a:bodyPr wrap="square">
            <a:spAutoFit/>
          </a:bodyPr>
          <a:lstStyle/>
          <a:p>
            <a:pPr>
              <a:lnSpc>
                <a:spcPct val="150000"/>
              </a:lnSpc>
            </a:pPr>
            <a:r>
              <a:rPr lang="en-US" sz="2800" b="1" dirty="0">
                <a:latin typeface="+mn-lt"/>
              </a:rPr>
              <a:t>Hint</a:t>
            </a:r>
          </a:p>
          <a:p>
            <a:pPr>
              <a:lnSpc>
                <a:spcPct val="150000"/>
              </a:lnSpc>
            </a:pPr>
            <a:r>
              <a:rPr lang="en-US" sz="2800" dirty="0">
                <a:latin typeface="+mn-lt"/>
              </a:rPr>
              <a:t>Do not introduce new ideas in the conclusion — only </a:t>
            </a:r>
            <a:r>
              <a:rPr lang="en-US" sz="2800" dirty="0" err="1">
                <a:latin typeface="+mn-lt"/>
              </a:rPr>
              <a:t>summarise</a:t>
            </a:r>
            <a:r>
              <a:rPr lang="en-US" sz="2800" dirty="0">
                <a:latin typeface="+mn-lt"/>
              </a:rPr>
              <a:t>.</a:t>
            </a:r>
          </a:p>
        </p:txBody>
      </p:sp>
      <p:pic>
        <p:nvPicPr>
          <p:cNvPr id="22534" name="Picture 5">
            <a:extLst>
              <a:ext uri="{FF2B5EF4-FFF2-40B4-BE49-F238E27FC236}">
                <a16:creationId xmlns:a16="http://schemas.microsoft.com/office/drawing/2014/main" id="{EB184E0E-4000-99B9-2A7D-EB0B50D15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119829"/>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81673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14017-0E03-D7F7-C1FC-21CB2C0B0EF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868897-3119-A1C3-40D0-094619886A4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032646B-46C1-87CF-1EDF-F3D4E2CB52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86</a:t>
            </a:fld>
            <a:endParaRPr lang="en-US" altLang="en-US" sz="900">
              <a:solidFill>
                <a:srgbClr val="FFFFFF"/>
              </a:solidFill>
            </a:endParaRPr>
          </a:p>
        </p:txBody>
      </p:sp>
      <p:sp>
        <p:nvSpPr>
          <p:cNvPr id="5" name="TextBox 4">
            <a:extLst>
              <a:ext uri="{FF2B5EF4-FFF2-40B4-BE49-F238E27FC236}">
                <a16:creationId xmlns:a16="http://schemas.microsoft.com/office/drawing/2014/main" id="{91674B0F-C5FE-0BC3-6FF8-0EC0FA52A639}"/>
              </a:ext>
            </a:extLst>
          </p:cNvPr>
          <p:cNvSpPr txBox="1"/>
          <p:nvPr/>
        </p:nvSpPr>
        <p:spPr>
          <a:xfrm>
            <a:off x="0" y="799603"/>
            <a:ext cx="9144000" cy="5842497"/>
          </a:xfrm>
          <a:prstGeom prst="rect">
            <a:avLst/>
          </a:prstGeom>
          <a:solidFill>
            <a:schemeClr val="bg1"/>
          </a:solidFill>
        </p:spPr>
        <p:txBody>
          <a:bodyPr wrap="square">
            <a:spAutoFit/>
          </a:bodyPr>
          <a:lstStyle/>
          <a:p>
            <a:pPr>
              <a:lnSpc>
                <a:spcPct val="150000"/>
              </a:lnSpc>
            </a:pPr>
            <a:r>
              <a:rPr lang="en-US" sz="2800" b="1" dirty="0">
                <a:latin typeface="+mn-lt"/>
              </a:rPr>
              <a:t>Easy template students can follow</a:t>
            </a:r>
          </a:p>
          <a:p>
            <a:pPr>
              <a:lnSpc>
                <a:spcPct val="150000"/>
              </a:lnSpc>
            </a:pPr>
            <a:r>
              <a:rPr lang="en-US" sz="2800" b="1" dirty="0">
                <a:latin typeface="+mn-lt"/>
              </a:rPr>
              <a:t>Title Page</a:t>
            </a:r>
          </a:p>
          <a:p>
            <a:pPr>
              <a:lnSpc>
                <a:spcPct val="150000"/>
              </a:lnSpc>
            </a:pPr>
            <a:r>
              <a:rPr lang="en-US" sz="2800" dirty="0">
                <a:latin typeface="+mn-lt"/>
              </a:rPr>
              <a:t>Include:</a:t>
            </a:r>
          </a:p>
          <a:p>
            <a:pPr marL="914400" lvl="1" indent="-457200">
              <a:lnSpc>
                <a:spcPct val="150000"/>
              </a:lnSpc>
              <a:buFont typeface="Arial" panose="020B0604020202020204" pitchFamily="34" charset="0"/>
              <a:buChar char="•"/>
            </a:pPr>
            <a:r>
              <a:rPr lang="en-US" sz="2800" dirty="0">
                <a:latin typeface="+mn-lt"/>
              </a:rPr>
              <a:t>unit name </a:t>
            </a:r>
          </a:p>
          <a:p>
            <a:pPr marL="914400" lvl="1" indent="-457200">
              <a:lnSpc>
                <a:spcPct val="150000"/>
              </a:lnSpc>
              <a:buFont typeface="Arial" panose="020B0604020202020204" pitchFamily="34" charset="0"/>
              <a:buChar char="•"/>
            </a:pPr>
            <a:r>
              <a:rPr lang="en-US" sz="2800" dirty="0">
                <a:latin typeface="+mn-lt"/>
              </a:rPr>
              <a:t>assessment title </a:t>
            </a:r>
          </a:p>
          <a:p>
            <a:pPr marL="914400" lvl="1" indent="-457200">
              <a:lnSpc>
                <a:spcPct val="150000"/>
              </a:lnSpc>
              <a:buFont typeface="Arial" panose="020B0604020202020204" pitchFamily="34" charset="0"/>
              <a:buChar char="•"/>
            </a:pPr>
            <a:r>
              <a:rPr lang="en-US" sz="2800" dirty="0">
                <a:latin typeface="+mn-lt"/>
              </a:rPr>
              <a:t>student name </a:t>
            </a:r>
          </a:p>
          <a:p>
            <a:pPr marL="914400" lvl="1" indent="-457200">
              <a:lnSpc>
                <a:spcPct val="150000"/>
              </a:lnSpc>
              <a:buFont typeface="Arial" panose="020B0604020202020204" pitchFamily="34" charset="0"/>
              <a:buChar char="•"/>
            </a:pPr>
            <a:r>
              <a:rPr lang="en-US" sz="2800" dirty="0">
                <a:latin typeface="+mn-lt"/>
              </a:rPr>
              <a:t>student number </a:t>
            </a:r>
          </a:p>
          <a:p>
            <a:pPr marL="914400" lvl="1" indent="-457200">
              <a:lnSpc>
                <a:spcPct val="150000"/>
              </a:lnSpc>
              <a:buFont typeface="Arial" panose="020B0604020202020204" pitchFamily="34" charset="0"/>
              <a:buChar char="•"/>
            </a:pPr>
            <a:r>
              <a:rPr lang="en-US" sz="2800" dirty="0">
                <a:latin typeface="+mn-lt"/>
              </a:rPr>
              <a:t>lecturer/tutor </a:t>
            </a:r>
          </a:p>
          <a:p>
            <a:pPr marL="914400" lvl="1" indent="-457200">
              <a:lnSpc>
                <a:spcPct val="150000"/>
              </a:lnSpc>
              <a:buFont typeface="Arial" panose="020B0604020202020204" pitchFamily="34" charset="0"/>
              <a:buChar char="•"/>
            </a:pPr>
            <a:r>
              <a:rPr lang="en-US" sz="2800" dirty="0">
                <a:latin typeface="+mn-lt"/>
              </a:rPr>
              <a:t>due date</a:t>
            </a:r>
          </a:p>
        </p:txBody>
      </p:sp>
      <p:pic>
        <p:nvPicPr>
          <p:cNvPr id="22534" name="Picture 5">
            <a:extLst>
              <a:ext uri="{FF2B5EF4-FFF2-40B4-BE49-F238E27FC236}">
                <a16:creationId xmlns:a16="http://schemas.microsoft.com/office/drawing/2014/main" id="{40C850BC-4115-3BE4-DC4A-D40DB7073D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3269" y="33337"/>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24434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4ADA-4EFE-BBC7-293A-D9F6DB5A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8C5EA8-87C7-AE4F-347C-55880F6D860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6271F0E-5E48-D8F5-FE0A-AC236EC8788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87</a:t>
            </a:fld>
            <a:endParaRPr lang="en-US" altLang="en-US" sz="900">
              <a:solidFill>
                <a:srgbClr val="FFFFFF"/>
              </a:solidFill>
            </a:endParaRPr>
          </a:p>
        </p:txBody>
      </p:sp>
      <p:sp>
        <p:nvSpPr>
          <p:cNvPr id="5" name="TextBox 4">
            <a:extLst>
              <a:ext uri="{FF2B5EF4-FFF2-40B4-BE49-F238E27FC236}">
                <a16:creationId xmlns:a16="http://schemas.microsoft.com/office/drawing/2014/main" id="{5E10FC9B-B2E9-82EB-CECB-6877D6345DB0}"/>
              </a:ext>
            </a:extLst>
          </p:cNvPr>
          <p:cNvSpPr txBox="1"/>
          <p:nvPr/>
        </p:nvSpPr>
        <p:spPr>
          <a:xfrm>
            <a:off x="0" y="182938"/>
            <a:ext cx="9144000" cy="6641690"/>
          </a:xfrm>
          <a:prstGeom prst="rect">
            <a:avLst/>
          </a:prstGeom>
          <a:solidFill>
            <a:schemeClr val="bg1"/>
          </a:solidFill>
        </p:spPr>
        <p:txBody>
          <a:bodyPr wrap="square">
            <a:spAutoFit/>
          </a:bodyPr>
          <a:lstStyle/>
          <a:p>
            <a:pPr>
              <a:lnSpc>
                <a:spcPct val="150000"/>
              </a:lnSpc>
            </a:pPr>
            <a:r>
              <a:rPr lang="en-US" sz="2200" b="1" dirty="0">
                <a:latin typeface="+mn-lt"/>
              </a:rPr>
              <a:t>Header</a:t>
            </a:r>
          </a:p>
          <a:p>
            <a:pPr marL="800100" lvl="1" indent="-342900">
              <a:lnSpc>
                <a:spcPct val="150000"/>
              </a:lnSpc>
              <a:buFont typeface="Arial" panose="020B0604020202020204" pitchFamily="34" charset="0"/>
              <a:buChar char="•"/>
            </a:pPr>
            <a:r>
              <a:rPr lang="en-US" sz="2200" dirty="0">
                <a:latin typeface="+mn-lt"/>
              </a:rPr>
              <a:t>student name </a:t>
            </a:r>
          </a:p>
          <a:p>
            <a:pPr marL="800100" lvl="1" indent="-342900">
              <a:lnSpc>
                <a:spcPct val="150000"/>
              </a:lnSpc>
              <a:buFont typeface="Arial" panose="020B0604020202020204" pitchFamily="34" charset="0"/>
              <a:buChar char="•"/>
            </a:pPr>
            <a:r>
              <a:rPr lang="en-US" sz="2200" dirty="0">
                <a:latin typeface="+mn-lt"/>
              </a:rPr>
              <a:t>student number </a:t>
            </a:r>
          </a:p>
          <a:p>
            <a:pPr>
              <a:lnSpc>
                <a:spcPct val="150000"/>
              </a:lnSpc>
            </a:pPr>
            <a:r>
              <a:rPr lang="en-US" sz="2200" b="1" dirty="0">
                <a:latin typeface="+mn-lt"/>
              </a:rPr>
              <a:t>Table of Contents</a:t>
            </a:r>
          </a:p>
          <a:p>
            <a:pPr>
              <a:lnSpc>
                <a:spcPct val="150000"/>
              </a:lnSpc>
            </a:pPr>
            <a:r>
              <a:rPr lang="en-US" sz="2200" b="1" dirty="0">
                <a:latin typeface="+mn-lt"/>
              </a:rPr>
              <a:t>Main Report</a:t>
            </a:r>
          </a:p>
          <a:p>
            <a:pPr marL="914400" lvl="1" indent="-457200">
              <a:lnSpc>
                <a:spcPct val="150000"/>
              </a:lnSpc>
              <a:buFont typeface="+mj-lt"/>
              <a:buAutoNum type="arabicPeriod"/>
            </a:pPr>
            <a:r>
              <a:rPr lang="en-US" sz="2200" dirty="0">
                <a:latin typeface="+mn-lt"/>
              </a:rPr>
              <a:t>Introduction </a:t>
            </a:r>
          </a:p>
          <a:p>
            <a:pPr marL="914400" lvl="1" indent="-457200">
              <a:lnSpc>
                <a:spcPct val="150000"/>
              </a:lnSpc>
              <a:buFont typeface="+mj-lt"/>
              <a:buAutoNum type="arabicPeriod"/>
            </a:pPr>
            <a:r>
              <a:rPr lang="en-US" sz="2200" dirty="0">
                <a:latin typeface="+mn-lt"/>
              </a:rPr>
              <a:t>Overview of the Forage Program and Key Tasks </a:t>
            </a:r>
          </a:p>
          <a:p>
            <a:pPr marL="914400" lvl="1" indent="-457200">
              <a:lnSpc>
                <a:spcPct val="150000"/>
              </a:lnSpc>
              <a:buFont typeface="+mj-lt"/>
              <a:buAutoNum type="arabicPeriod"/>
            </a:pPr>
            <a:r>
              <a:rPr lang="en-US" sz="2200" dirty="0">
                <a:latin typeface="+mn-lt"/>
              </a:rPr>
              <a:t>Application of the Design Process </a:t>
            </a:r>
          </a:p>
          <a:p>
            <a:pPr marL="914400" lvl="1" indent="-457200">
              <a:lnSpc>
                <a:spcPct val="150000"/>
              </a:lnSpc>
              <a:buFont typeface="+mj-lt"/>
              <a:buAutoNum type="arabicPeriod"/>
            </a:pPr>
            <a:r>
              <a:rPr lang="en-US" sz="2200" dirty="0">
                <a:latin typeface="+mn-lt"/>
              </a:rPr>
              <a:t>Evaluation of Technology Options </a:t>
            </a:r>
          </a:p>
          <a:p>
            <a:pPr marL="914400" lvl="1" indent="-457200">
              <a:lnSpc>
                <a:spcPct val="150000"/>
              </a:lnSpc>
              <a:buFont typeface="+mj-lt"/>
              <a:buAutoNum type="arabicPeriod"/>
            </a:pPr>
            <a:r>
              <a:rPr lang="en-US" sz="2200" dirty="0">
                <a:latin typeface="+mn-lt"/>
              </a:rPr>
              <a:t>Conclusion </a:t>
            </a:r>
          </a:p>
          <a:p>
            <a:pPr marL="914400" lvl="1" indent="-457200">
              <a:lnSpc>
                <a:spcPct val="150000"/>
              </a:lnSpc>
              <a:buFont typeface="+mj-lt"/>
              <a:buAutoNum type="arabicPeriod"/>
            </a:pPr>
            <a:r>
              <a:rPr lang="en-US" sz="2200" dirty="0">
                <a:latin typeface="+mn-lt"/>
              </a:rPr>
              <a:t>References </a:t>
            </a:r>
          </a:p>
          <a:p>
            <a:pPr>
              <a:lnSpc>
                <a:spcPct val="150000"/>
              </a:lnSpc>
            </a:pPr>
            <a:r>
              <a:rPr lang="en-US" sz="2200" b="1" dirty="0">
                <a:latin typeface="+mn-lt"/>
              </a:rPr>
              <a:t>Appendix A</a:t>
            </a:r>
          </a:p>
          <a:p>
            <a:pPr marL="800100" lvl="1" indent="-342900">
              <a:lnSpc>
                <a:spcPct val="150000"/>
              </a:lnSpc>
              <a:buFont typeface="Arial" panose="020B0604020202020204" pitchFamily="34" charset="0"/>
              <a:buChar char="•"/>
            </a:pPr>
            <a:r>
              <a:rPr lang="en-US" sz="2200" dirty="0">
                <a:latin typeface="+mn-lt"/>
              </a:rPr>
              <a:t>Screenshot of Forage certificate</a:t>
            </a:r>
          </a:p>
        </p:txBody>
      </p:sp>
      <p:pic>
        <p:nvPicPr>
          <p:cNvPr id="22534" name="Picture 5">
            <a:extLst>
              <a:ext uri="{FF2B5EF4-FFF2-40B4-BE49-F238E27FC236}">
                <a16:creationId xmlns:a16="http://schemas.microsoft.com/office/drawing/2014/main" id="{5DBEFB7A-F196-182F-429A-548A3974C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91293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9103-5DCB-A3F4-F4EA-7FBA4A79502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2ABEDE9-640D-AE8B-1A6B-3733C263DEE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DFBBD11-4ED1-FB9B-89E8-CACC15BA863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88</a:t>
            </a:fld>
            <a:endParaRPr lang="en-US" altLang="en-US" sz="900">
              <a:solidFill>
                <a:srgbClr val="FFFFFF"/>
              </a:solidFill>
            </a:endParaRPr>
          </a:p>
        </p:txBody>
      </p:sp>
      <p:sp>
        <p:nvSpPr>
          <p:cNvPr id="5" name="TextBox 4">
            <a:extLst>
              <a:ext uri="{FF2B5EF4-FFF2-40B4-BE49-F238E27FC236}">
                <a16:creationId xmlns:a16="http://schemas.microsoft.com/office/drawing/2014/main" id="{4D9F4F78-006D-709E-7870-378BBB30035C}"/>
              </a:ext>
            </a:extLst>
          </p:cNvPr>
          <p:cNvSpPr txBox="1"/>
          <p:nvPr/>
        </p:nvSpPr>
        <p:spPr>
          <a:xfrm>
            <a:off x="0" y="182938"/>
            <a:ext cx="9144000" cy="6488828"/>
          </a:xfrm>
          <a:prstGeom prst="rect">
            <a:avLst/>
          </a:prstGeom>
          <a:solidFill>
            <a:schemeClr val="bg1"/>
          </a:solidFill>
        </p:spPr>
        <p:txBody>
          <a:bodyPr wrap="square">
            <a:spAutoFit/>
          </a:bodyPr>
          <a:lstStyle/>
          <a:p>
            <a:pPr>
              <a:lnSpc>
                <a:spcPct val="150000"/>
              </a:lnSpc>
            </a:pPr>
            <a:r>
              <a:rPr lang="en-US" sz="2800" b="1" dirty="0">
                <a:latin typeface="+mn-lt"/>
              </a:rPr>
              <a:t>Very important writing advice</a:t>
            </a:r>
          </a:p>
          <a:p>
            <a:pPr>
              <a:lnSpc>
                <a:spcPct val="150000"/>
              </a:lnSpc>
            </a:pPr>
            <a:r>
              <a:rPr lang="en-US" sz="2800" b="1" dirty="0">
                <a:latin typeface="+mn-lt"/>
              </a:rPr>
              <a:t>Do this</a:t>
            </a:r>
          </a:p>
          <a:p>
            <a:pPr marL="914400" lvl="1" indent="-457200">
              <a:lnSpc>
                <a:spcPct val="150000"/>
              </a:lnSpc>
              <a:buFont typeface="Arial" panose="020B0604020202020204" pitchFamily="34" charset="0"/>
              <a:buChar char="•"/>
            </a:pPr>
            <a:r>
              <a:rPr lang="en-US" sz="2800" dirty="0">
                <a:latin typeface="+mn-lt"/>
              </a:rPr>
              <a:t>write formally </a:t>
            </a:r>
          </a:p>
          <a:p>
            <a:pPr marL="914400" lvl="1" indent="-457200">
              <a:lnSpc>
                <a:spcPct val="150000"/>
              </a:lnSpc>
              <a:buFont typeface="Arial" panose="020B0604020202020204" pitchFamily="34" charset="0"/>
              <a:buChar char="•"/>
            </a:pPr>
            <a:r>
              <a:rPr lang="en-US" sz="2800" dirty="0">
                <a:latin typeface="+mn-lt"/>
              </a:rPr>
              <a:t>use headings </a:t>
            </a:r>
          </a:p>
          <a:p>
            <a:pPr marL="914400" lvl="1" indent="-457200">
              <a:lnSpc>
                <a:spcPct val="150000"/>
              </a:lnSpc>
              <a:buFont typeface="Arial" panose="020B0604020202020204" pitchFamily="34" charset="0"/>
              <a:buChar char="•"/>
            </a:pPr>
            <a:r>
              <a:rPr lang="en-US" sz="2800" dirty="0">
                <a:latin typeface="+mn-lt"/>
              </a:rPr>
              <a:t>link your discussion to SLO1 and SLO2 </a:t>
            </a:r>
          </a:p>
          <a:p>
            <a:pPr marL="914400" lvl="1" indent="-457200">
              <a:lnSpc>
                <a:spcPct val="150000"/>
              </a:lnSpc>
              <a:buFont typeface="Arial" panose="020B0604020202020204" pitchFamily="34" charset="0"/>
              <a:buChar char="•"/>
            </a:pPr>
            <a:r>
              <a:rPr lang="en-US" sz="2800" dirty="0">
                <a:latin typeface="+mn-lt"/>
              </a:rPr>
              <a:t>use real examples from the internship </a:t>
            </a:r>
          </a:p>
          <a:p>
            <a:pPr marL="914400" lvl="1" indent="-457200">
              <a:lnSpc>
                <a:spcPct val="150000"/>
              </a:lnSpc>
              <a:buFont typeface="Arial" panose="020B0604020202020204" pitchFamily="34" charset="0"/>
              <a:buChar char="•"/>
            </a:pPr>
            <a:r>
              <a:rPr lang="en-US" sz="2800" dirty="0" err="1">
                <a:latin typeface="+mn-lt"/>
              </a:rPr>
              <a:t>analyse</a:t>
            </a:r>
            <a:r>
              <a:rPr lang="en-US" sz="2800" dirty="0">
                <a:latin typeface="+mn-lt"/>
              </a:rPr>
              <a:t>, not just describe </a:t>
            </a:r>
          </a:p>
          <a:p>
            <a:pPr marL="914400" lvl="1" indent="-457200">
              <a:lnSpc>
                <a:spcPct val="150000"/>
              </a:lnSpc>
              <a:buFont typeface="Arial" panose="020B0604020202020204" pitchFamily="34" charset="0"/>
              <a:buChar char="•"/>
            </a:pPr>
            <a:r>
              <a:rPr lang="en-US" sz="2800" dirty="0">
                <a:latin typeface="+mn-lt"/>
              </a:rPr>
              <a:t>use APA referencing </a:t>
            </a:r>
          </a:p>
          <a:p>
            <a:pPr marL="914400" lvl="1" indent="-457200">
              <a:lnSpc>
                <a:spcPct val="150000"/>
              </a:lnSpc>
              <a:buFont typeface="Arial" panose="020B0604020202020204" pitchFamily="34" charset="0"/>
              <a:buChar char="•"/>
            </a:pPr>
            <a:r>
              <a:rPr lang="en-US" sz="2800" dirty="0">
                <a:latin typeface="+mn-lt"/>
              </a:rPr>
              <a:t>include a reference list </a:t>
            </a:r>
          </a:p>
          <a:p>
            <a:pPr marL="914400" lvl="1" indent="-457200">
              <a:lnSpc>
                <a:spcPct val="150000"/>
              </a:lnSpc>
              <a:buFont typeface="Arial" panose="020B0604020202020204" pitchFamily="34" charset="0"/>
              <a:buChar char="•"/>
            </a:pPr>
            <a:r>
              <a:rPr lang="en-US" sz="2800" dirty="0">
                <a:latin typeface="+mn-lt"/>
              </a:rPr>
              <a:t>submit as one PDF</a:t>
            </a:r>
          </a:p>
        </p:txBody>
      </p:sp>
      <p:pic>
        <p:nvPicPr>
          <p:cNvPr id="22534" name="Picture 5">
            <a:extLst>
              <a:ext uri="{FF2B5EF4-FFF2-40B4-BE49-F238E27FC236}">
                <a16:creationId xmlns:a16="http://schemas.microsoft.com/office/drawing/2014/main" id="{B66E23E3-1310-50FD-5D06-D45356F19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43052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44C09-93ED-CD74-0EFA-E108C04E14E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1B34911-452B-F05F-87CA-135A4FC7119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3470BC1-DADF-F4AC-1577-3AE4513637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89</a:t>
            </a:fld>
            <a:endParaRPr lang="en-US" altLang="en-US" sz="900">
              <a:solidFill>
                <a:srgbClr val="FFFFFF"/>
              </a:solidFill>
            </a:endParaRPr>
          </a:p>
        </p:txBody>
      </p:sp>
      <p:sp>
        <p:nvSpPr>
          <p:cNvPr id="5" name="TextBox 4">
            <a:extLst>
              <a:ext uri="{FF2B5EF4-FFF2-40B4-BE49-F238E27FC236}">
                <a16:creationId xmlns:a16="http://schemas.microsoft.com/office/drawing/2014/main" id="{355F4F89-F1B8-7C76-6CA8-216292AA4E5E}"/>
              </a:ext>
            </a:extLst>
          </p:cNvPr>
          <p:cNvSpPr txBox="1"/>
          <p:nvPr/>
        </p:nvSpPr>
        <p:spPr>
          <a:xfrm>
            <a:off x="0" y="182938"/>
            <a:ext cx="9144000" cy="5196166"/>
          </a:xfrm>
          <a:prstGeom prst="rect">
            <a:avLst/>
          </a:prstGeom>
          <a:solidFill>
            <a:schemeClr val="bg1"/>
          </a:solidFill>
        </p:spPr>
        <p:txBody>
          <a:bodyPr wrap="square">
            <a:spAutoFit/>
          </a:bodyPr>
          <a:lstStyle/>
          <a:p>
            <a:pPr>
              <a:lnSpc>
                <a:spcPct val="150000"/>
              </a:lnSpc>
            </a:pPr>
            <a:r>
              <a:rPr lang="en-US" sz="2800" b="1" dirty="0">
                <a:latin typeface="+mn-lt"/>
              </a:rPr>
              <a:t>Avoid this</a:t>
            </a:r>
          </a:p>
          <a:p>
            <a:pPr marL="914400" lvl="1" indent="-457200">
              <a:lnSpc>
                <a:spcPct val="150000"/>
              </a:lnSpc>
              <a:buFont typeface="Arial" panose="020B0604020202020204" pitchFamily="34" charset="0"/>
              <a:buChar char="•"/>
            </a:pPr>
            <a:r>
              <a:rPr lang="en-US" sz="2800" dirty="0">
                <a:latin typeface="+mn-lt"/>
              </a:rPr>
              <a:t>only </a:t>
            </a:r>
            <a:r>
              <a:rPr lang="en-US" sz="2800" dirty="0" err="1">
                <a:latin typeface="+mn-lt"/>
              </a:rPr>
              <a:t>summarising</a:t>
            </a:r>
            <a:r>
              <a:rPr lang="en-US" sz="2800" dirty="0">
                <a:latin typeface="+mn-lt"/>
              </a:rPr>
              <a:t> tasks </a:t>
            </a:r>
          </a:p>
          <a:p>
            <a:pPr marL="914400" lvl="1" indent="-457200">
              <a:lnSpc>
                <a:spcPct val="150000"/>
              </a:lnSpc>
              <a:buFont typeface="Arial" panose="020B0604020202020204" pitchFamily="34" charset="0"/>
              <a:buChar char="•"/>
            </a:pPr>
            <a:r>
              <a:rPr lang="en-US" sz="2800" dirty="0">
                <a:latin typeface="+mn-lt"/>
              </a:rPr>
              <a:t>writing like a diary </a:t>
            </a:r>
          </a:p>
          <a:p>
            <a:pPr marL="914400" lvl="1" indent="-457200">
              <a:lnSpc>
                <a:spcPct val="150000"/>
              </a:lnSpc>
              <a:buFont typeface="Arial" panose="020B0604020202020204" pitchFamily="34" charset="0"/>
              <a:buChar char="•"/>
            </a:pPr>
            <a:r>
              <a:rPr lang="en-US" sz="2800" dirty="0">
                <a:latin typeface="+mn-lt"/>
              </a:rPr>
              <a:t>saying “it was good” without explanation </a:t>
            </a:r>
          </a:p>
          <a:p>
            <a:pPr marL="914400" lvl="1" indent="-457200">
              <a:lnSpc>
                <a:spcPct val="150000"/>
              </a:lnSpc>
              <a:buFont typeface="Arial" panose="020B0604020202020204" pitchFamily="34" charset="0"/>
              <a:buChar char="•"/>
            </a:pPr>
            <a:r>
              <a:rPr lang="en-US" sz="2800" dirty="0">
                <a:latin typeface="+mn-lt"/>
              </a:rPr>
              <a:t>copying from Forage </a:t>
            </a:r>
          </a:p>
          <a:p>
            <a:pPr marL="914400" lvl="1" indent="-457200">
              <a:lnSpc>
                <a:spcPct val="150000"/>
              </a:lnSpc>
              <a:buFont typeface="Arial" panose="020B0604020202020204" pitchFamily="34" charset="0"/>
              <a:buChar char="•"/>
            </a:pPr>
            <a:r>
              <a:rPr lang="en-US" sz="2800" dirty="0">
                <a:latin typeface="+mn-lt"/>
              </a:rPr>
              <a:t>no critical thinking </a:t>
            </a:r>
          </a:p>
          <a:p>
            <a:pPr marL="914400" lvl="1" indent="-457200">
              <a:lnSpc>
                <a:spcPct val="150000"/>
              </a:lnSpc>
              <a:buFont typeface="Arial" panose="020B0604020202020204" pitchFamily="34" charset="0"/>
              <a:buChar char="•"/>
            </a:pPr>
            <a:r>
              <a:rPr lang="en-US" sz="2800" dirty="0">
                <a:latin typeface="+mn-lt"/>
              </a:rPr>
              <a:t>forgetting Appendix A </a:t>
            </a:r>
          </a:p>
          <a:p>
            <a:pPr marL="914400" lvl="1" indent="-457200">
              <a:lnSpc>
                <a:spcPct val="150000"/>
              </a:lnSpc>
              <a:buFont typeface="Arial" panose="020B0604020202020204" pitchFamily="34" charset="0"/>
              <a:buChar char="•"/>
            </a:pPr>
            <a:r>
              <a:rPr lang="en-US" sz="2800" dirty="0">
                <a:latin typeface="+mn-lt"/>
              </a:rPr>
              <a:t>forgetting APA style</a:t>
            </a:r>
          </a:p>
        </p:txBody>
      </p:sp>
      <p:pic>
        <p:nvPicPr>
          <p:cNvPr id="22534" name="Picture 5">
            <a:extLst>
              <a:ext uri="{FF2B5EF4-FFF2-40B4-BE49-F238E27FC236}">
                <a16:creationId xmlns:a16="http://schemas.microsoft.com/office/drawing/2014/main" id="{DB4FE7EA-D851-7FC1-0CAF-C48430D2C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3249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CEE83-70D5-E912-C134-212BB9A8F58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183CC6D-C82F-85E9-7B3B-D84F761BA81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D80B953-1A82-0A85-1BB8-B8A171CC96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90</a:t>
            </a:fld>
            <a:endParaRPr lang="en-US" altLang="en-US" sz="900">
              <a:solidFill>
                <a:srgbClr val="FFFFFF"/>
              </a:solidFill>
            </a:endParaRPr>
          </a:p>
        </p:txBody>
      </p:sp>
      <p:sp>
        <p:nvSpPr>
          <p:cNvPr id="5" name="TextBox 4">
            <a:extLst>
              <a:ext uri="{FF2B5EF4-FFF2-40B4-BE49-F238E27FC236}">
                <a16:creationId xmlns:a16="http://schemas.microsoft.com/office/drawing/2014/main" id="{1791CCC4-BC66-DB6D-DC0C-72351F3041C4}"/>
              </a:ext>
            </a:extLst>
          </p:cNvPr>
          <p:cNvSpPr txBox="1"/>
          <p:nvPr/>
        </p:nvSpPr>
        <p:spPr>
          <a:xfrm>
            <a:off x="0" y="182938"/>
            <a:ext cx="9144000" cy="6488828"/>
          </a:xfrm>
          <a:prstGeom prst="rect">
            <a:avLst/>
          </a:prstGeom>
          <a:solidFill>
            <a:schemeClr val="bg1"/>
          </a:solidFill>
        </p:spPr>
        <p:txBody>
          <a:bodyPr wrap="square">
            <a:spAutoFit/>
          </a:bodyPr>
          <a:lstStyle/>
          <a:p>
            <a:pPr>
              <a:lnSpc>
                <a:spcPct val="150000"/>
              </a:lnSpc>
            </a:pPr>
            <a:r>
              <a:rPr lang="en-US" sz="2800" b="1" dirty="0">
                <a:latin typeface="+mn-lt"/>
              </a:rPr>
              <a:t>Description vs Analysis (very important)</a:t>
            </a:r>
          </a:p>
          <a:p>
            <a:pPr>
              <a:lnSpc>
                <a:spcPct val="150000"/>
              </a:lnSpc>
            </a:pPr>
            <a:r>
              <a:rPr lang="en-US" sz="2800" b="1" dirty="0">
                <a:latin typeface="+mn-lt"/>
              </a:rPr>
              <a:t>Description (weak)</a:t>
            </a:r>
          </a:p>
          <a:p>
            <a:pPr>
              <a:lnSpc>
                <a:spcPct val="150000"/>
              </a:lnSpc>
            </a:pPr>
            <a:r>
              <a:rPr lang="en-US" sz="2800" dirty="0">
                <a:latin typeface="+mn-lt"/>
              </a:rPr>
              <a:t>The internship asked me to review a company problem and recommend a solution.</a:t>
            </a:r>
          </a:p>
          <a:p>
            <a:pPr>
              <a:lnSpc>
                <a:spcPct val="150000"/>
              </a:lnSpc>
            </a:pPr>
            <a:r>
              <a:rPr lang="en-US" sz="2800" b="1" dirty="0">
                <a:latin typeface="+mn-lt"/>
              </a:rPr>
              <a:t>Analysis (strong)</a:t>
            </a:r>
          </a:p>
          <a:p>
            <a:pPr>
              <a:lnSpc>
                <a:spcPct val="150000"/>
              </a:lnSpc>
            </a:pPr>
            <a:r>
              <a:rPr lang="en-US" sz="2800" dirty="0">
                <a:latin typeface="+mn-lt"/>
              </a:rPr>
              <a:t>This task reflected the problem-definition stage of the design process because it required understanding the business issue before proposing a solution. This is important because poorly defined problems can lead to ineffective systems and unsuitable technology choices.</a:t>
            </a:r>
          </a:p>
        </p:txBody>
      </p:sp>
      <p:pic>
        <p:nvPicPr>
          <p:cNvPr id="22534" name="Picture 5">
            <a:extLst>
              <a:ext uri="{FF2B5EF4-FFF2-40B4-BE49-F238E27FC236}">
                <a16:creationId xmlns:a16="http://schemas.microsoft.com/office/drawing/2014/main" id="{86648496-CF31-6DC5-F236-904B08084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69743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BCA73-7F4A-723A-706C-49D4A447678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E62E6D-7B87-EA80-BEE4-FC089D2146C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483DFAA-DA4D-4043-4121-DA595741ED6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91</a:t>
            </a:fld>
            <a:endParaRPr lang="en-US" altLang="en-US" sz="900">
              <a:solidFill>
                <a:srgbClr val="FFFFFF"/>
              </a:solidFill>
            </a:endParaRPr>
          </a:p>
        </p:txBody>
      </p:sp>
      <p:pic>
        <p:nvPicPr>
          <p:cNvPr id="22534" name="Picture 5">
            <a:extLst>
              <a:ext uri="{FF2B5EF4-FFF2-40B4-BE49-F238E27FC236}">
                <a16:creationId xmlns:a16="http://schemas.microsoft.com/office/drawing/2014/main" id="{8C803603-99EB-4898-93FE-DF18E66279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6BD4712-770C-0793-2CDA-8A87CD871EE1}"/>
              </a:ext>
            </a:extLst>
          </p:cNvPr>
          <p:cNvSpPr txBox="1"/>
          <p:nvPr/>
        </p:nvSpPr>
        <p:spPr>
          <a:xfrm>
            <a:off x="0" y="617041"/>
            <a:ext cx="9144000" cy="5842497"/>
          </a:xfrm>
          <a:prstGeom prst="rect">
            <a:avLst/>
          </a:prstGeom>
          <a:solidFill>
            <a:schemeClr val="bg1"/>
          </a:solidFill>
        </p:spPr>
        <p:txBody>
          <a:bodyPr wrap="square">
            <a:spAutoFit/>
          </a:bodyPr>
          <a:lstStyle/>
          <a:p>
            <a:pPr>
              <a:lnSpc>
                <a:spcPct val="150000"/>
              </a:lnSpc>
            </a:pPr>
            <a:r>
              <a:rPr lang="en-US" sz="2800" b="1" dirty="0">
                <a:latin typeface="+mn-lt"/>
              </a:rPr>
              <a:t>Suggested paragraph method (very easy structure)</a:t>
            </a:r>
          </a:p>
          <a:p>
            <a:pPr>
              <a:lnSpc>
                <a:spcPct val="150000"/>
              </a:lnSpc>
            </a:pPr>
            <a:r>
              <a:rPr lang="en-US" sz="2800" b="1" dirty="0">
                <a:latin typeface="+mn-lt"/>
              </a:rPr>
              <a:t>Point</a:t>
            </a:r>
          </a:p>
          <a:p>
            <a:pPr>
              <a:lnSpc>
                <a:spcPct val="150000"/>
              </a:lnSpc>
            </a:pPr>
            <a:r>
              <a:rPr lang="en-US" sz="2800" dirty="0">
                <a:latin typeface="+mn-lt"/>
              </a:rPr>
              <a:t>What is the main idea?</a:t>
            </a:r>
          </a:p>
          <a:p>
            <a:pPr>
              <a:lnSpc>
                <a:spcPct val="150000"/>
              </a:lnSpc>
            </a:pPr>
            <a:r>
              <a:rPr lang="en-US" sz="2800" b="1" dirty="0">
                <a:latin typeface="+mn-lt"/>
              </a:rPr>
              <a:t>Evidence</a:t>
            </a:r>
          </a:p>
          <a:p>
            <a:pPr>
              <a:lnSpc>
                <a:spcPct val="150000"/>
              </a:lnSpc>
            </a:pPr>
            <a:r>
              <a:rPr lang="en-US" sz="2800" dirty="0">
                <a:latin typeface="+mn-lt"/>
              </a:rPr>
              <a:t>What task shows this?</a:t>
            </a:r>
          </a:p>
          <a:p>
            <a:pPr>
              <a:lnSpc>
                <a:spcPct val="150000"/>
              </a:lnSpc>
            </a:pPr>
            <a:r>
              <a:rPr lang="en-US" sz="2800" b="1" dirty="0">
                <a:latin typeface="+mn-lt"/>
              </a:rPr>
              <a:t>Explanation</a:t>
            </a:r>
          </a:p>
          <a:p>
            <a:pPr>
              <a:lnSpc>
                <a:spcPct val="150000"/>
              </a:lnSpc>
            </a:pPr>
            <a:r>
              <a:rPr lang="en-US" sz="2800" dirty="0">
                <a:latin typeface="+mn-lt"/>
              </a:rPr>
              <a:t>How does it link to design or technology evaluation?</a:t>
            </a:r>
          </a:p>
          <a:p>
            <a:pPr>
              <a:lnSpc>
                <a:spcPct val="150000"/>
              </a:lnSpc>
            </a:pPr>
            <a:r>
              <a:rPr lang="en-US" sz="2800" b="1" dirty="0">
                <a:latin typeface="+mn-lt"/>
              </a:rPr>
              <a:t>Reflection</a:t>
            </a:r>
          </a:p>
          <a:p>
            <a:pPr>
              <a:lnSpc>
                <a:spcPct val="150000"/>
              </a:lnSpc>
            </a:pPr>
            <a:r>
              <a:rPr lang="en-US" sz="2800" dirty="0">
                <a:latin typeface="+mn-lt"/>
              </a:rPr>
              <a:t>What did you learn?</a:t>
            </a:r>
          </a:p>
        </p:txBody>
      </p:sp>
    </p:spTree>
    <p:extLst>
      <p:ext uri="{BB962C8B-B14F-4D97-AF65-F5344CB8AC3E}">
        <p14:creationId xmlns:p14="http://schemas.microsoft.com/office/powerpoint/2010/main" val="5830250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D9C68-1B24-DBC4-CC08-31643A554FE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151CF9-A569-38CA-3B5E-83C84CEEFC2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C361826-49FF-9BFA-D344-477E36F9B4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92</a:t>
            </a:fld>
            <a:endParaRPr lang="en-US" altLang="en-US" sz="900">
              <a:solidFill>
                <a:srgbClr val="FFFFFF"/>
              </a:solidFill>
            </a:endParaRPr>
          </a:p>
        </p:txBody>
      </p:sp>
      <p:sp>
        <p:nvSpPr>
          <p:cNvPr id="3" name="TextBox 2">
            <a:extLst>
              <a:ext uri="{FF2B5EF4-FFF2-40B4-BE49-F238E27FC236}">
                <a16:creationId xmlns:a16="http://schemas.microsoft.com/office/drawing/2014/main" id="{1E826034-5102-335E-8D87-E37C4A8D1B62}"/>
              </a:ext>
            </a:extLst>
          </p:cNvPr>
          <p:cNvSpPr txBox="1"/>
          <p:nvPr/>
        </p:nvSpPr>
        <p:spPr>
          <a:xfrm>
            <a:off x="0" y="617041"/>
            <a:ext cx="9144000" cy="5842497"/>
          </a:xfrm>
          <a:prstGeom prst="rect">
            <a:avLst/>
          </a:prstGeom>
          <a:solidFill>
            <a:schemeClr val="bg1"/>
          </a:solidFill>
        </p:spPr>
        <p:txBody>
          <a:bodyPr wrap="square">
            <a:spAutoFit/>
          </a:bodyPr>
          <a:lstStyle/>
          <a:p>
            <a:pPr>
              <a:lnSpc>
                <a:spcPct val="150000"/>
              </a:lnSpc>
            </a:pPr>
            <a:r>
              <a:rPr lang="en-US" sz="2800" b="1" dirty="0">
                <a:latin typeface="+mn-lt"/>
              </a:rPr>
              <a:t>Example</a:t>
            </a:r>
          </a:p>
          <a:p>
            <a:pPr>
              <a:lnSpc>
                <a:spcPct val="150000"/>
              </a:lnSpc>
            </a:pPr>
            <a:r>
              <a:rPr lang="en-US" sz="2800" dirty="0">
                <a:latin typeface="+mn-lt"/>
              </a:rPr>
              <a:t>A key design stage demonstrated in the internship was requirements gathering. In one task, I had to </a:t>
            </a:r>
            <a:r>
              <a:rPr lang="en-US" sz="2800" dirty="0" err="1">
                <a:latin typeface="+mn-lt"/>
              </a:rPr>
              <a:t>analyse</a:t>
            </a:r>
            <a:r>
              <a:rPr lang="en-US" sz="2800" dirty="0">
                <a:latin typeface="+mn-lt"/>
              </a:rPr>
              <a:t> a business scenario and identify what the </a:t>
            </a:r>
            <a:r>
              <a:rPr lang="en-US" sz="2800" dirty="0" err="1">
                <a:latin typeface="+mn-lt"/>
              </a:rPr>
              <a:t>organisation</a:t>
            </a:r>
            <a:r>
              <a:rPr lang="en-US" sz="2800" dirty="0">
                <a:latin typeface="+mn-lt"/>
              </a:rPr>
              <a:t> needed. This connects to the design process because requirements gathering ensures that solutions address real user and business needs. From this, I learned that successful project outcomes depend on understanding the problem before selecting any technology.</a:t>
            </a:r>
          </a:p>
        </p:txBody>
      </p:sp>
      <p:pic>
        <p:nvPicPr>
          <p:cNvPr id="22534" name="Picture 5">
            <a:extLst>
              <a:ext uri="{FF2B5EF4-FFF2-40B4-BE49-F238E27FC236}">
                <a16:creationId xmlns:a16="http://schemas.microsoft.com/office/drawing/2014/main" id="{6564A3ED-D334-42A3-855C-2163E318B3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9952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172E-8DB9-266E-FCAA-BF268180D33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10F904-1B4D-A07F-ED72-FD4841D37A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BE9F339-95B4-5B8B-EC67-37CC820C188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93</a:t>
            </a:fld>
            <a:endParaRPr lang="en-US" altLang="en-US" sz="900">
              <a:solidFill>
                <a:srgbClr val="FFFFFF"/>
              </a:solidFill>
            </a:endParaRPr>
          </a:p>
        </p:txBody>
      </p:sp>
      <p:sp>
        <p:nvSpPr>
          <p:cNvPr id="3" name="TextBox 2">
            <a:extLst>
              <a:ext uri="{FF2B5EF4-FFF2-40B4-BE49-F238E27FC236}">
                <a16:creationId xmlns:a16="http://schemas.microsoft.com/office/drawing/2014/main" id="{721B8B88-DB94-0A0F-87DC-DDAF0073AC5C}"/>
              </a:ext>
            </a:extLst>
          </p:cNvPr>
          <p:cNvSpPr txBox="1"/>
          <p:nvPr/>
        </p:nvSpPr>
        <p:spPr>
          <a:xfrm>
            <a:off x="0" y="617041"/>
            <a:ext cx="9144000" cy="5196166"/>
          </a:xfrm>
          <a:prstGeom prst="rect">
            <a:avLst/>
          </a:prstGeom>
          <a:solidFill>
            <a:schemeClr val="bg1"/>
          </a:solidFill>
        </p:spPr>
        <p:txBody>
          <a:bodyPr wrap="square">
            <a:spAutoFit/>
          </a:bodyPr>
          <a:lstStyle/>
          <a:p>
            <a:pPr>
              <a:lnSpc>
                <a:spcPct val="150000"/>
              </a:lnSpc>
            </a:pPr>
            <a:r>
              <a:rPr lang="en-US" sz="2800" b="1" dirty="0">
                <a:latin typeface="+mn-lt"/>
              </a:rPr>
              <a:t>Hints for choosing examples</a:t>
            </a:r>
          </a:p>
          <a:p>
            <a:pPr>
              <a:lnSpc>
                <a:spcPct val="150000"/>
              </a:lnSpc>
            </a:pPr>
            <a:r>
              <a:rPr lang="en-US" sz="2800" b="1" dirty="0">
                <a:latin typeface="+mn-lt"/>
              </a:rPr>
              <a:t>Strong examples</a:t>
            </a:r>
          </a:p>
          <a:p>
            <a:pPr marL="914400" lvl="1" indent="-457200">
              <a:lnSpc>
                <a:spcPct val="150000"/>
              </a:lnSpc>
              <a:buFont typeface="Arial" panose="020B0604020202020204" pitchFamily="34" charset="0"/>
              <a:buChar char="•"/>
            </a:pPr>
            <a:r>
              <a:rPr lang="en-US" sz="2800" dirty="0">
                <a:latin typeface="+mn-lt"/>
              </a:rPr>
              <a:t>identifying business or client needs </a:t>
            </a:r>
          </a:p>
          <a:p>
            <a:pPr marL="914400" lvl="1" indent="-457200">
              <a:lnSpc>
                <a:spcPct val="150000"/>
              </a:lnSpc>
              <a:buFont typeface="Arial" panose="020B0604020202020204" pitchFamily="34" charset="0"/>
              <a:buChar char="•"/>
            </a:pPr>
            <a:r>
              <a:rPr lang="en-US" sz="2800" dirty="0">
                <a:latin typeface="+mn-lt"/>
              </a:rPr>
              <a:t>defining a problem </a:t>
            </a:r>
          </a:p>
          <a:p>
            <a:pPr marL="914400" lvl="1" indent="-457200">
              <a:lnSpc>
                <a:spcPct val="150000"/>
              </a:lnSpc>
              <a:buFont typeface="Arial" panose="020B0604020202020204" pitchFamily="34" charset="0"/>
              <a:buChar char="•"/>
            </a:pPr>
            <a:r>
              <a:rPr lang="en-US" sz="2800" dirty="0" err="1">
                <a:latin typeface="+mn-lt"/>
              </a:rPr>
              <a:t>analysing</a:t>
            </a:r>
            <a:r>
              <a:rPr lang="en-US" sz="2800" dirty="0">
                <a:latin typeface="+mn-lt"/>
              </a:rPr>
              <a:t> a scenario </a:t>
            </a:r>
          </a:p>
          <a:p>
            <a:pPr marL="914400" lvl="1" indent="-457200">
              <a:lnSpc>
                <a:spcPct val="150000"/>
              </a:lnSpc>
              <a:buFont typeface="Arial" panose="020B0604020202020204" pitchFamily="34" charset="0"/>
              <a:buChar char="•"/>
            </a:pPr>
            <a:r>
              <a:rPr lang="en-US" sz="2800" dirty="0">
                <a:latin typeface="+mn-lt"/>
              </a:rPr>
              <a:t>comparing tools or systems </a:t>
            </a:r>
          </a:p>
          <a:p>
            <a:pPr marL="914400" lvl="1" indent="-457200">
              <a:lnSpc>
                <a:spcPct val="150000"/>
              </a:lnSpc>
              <a:buFont typeface="Arial" panose="020B0604020202020204" pitchFamily="34" charset="0"/>
              <a:buChar char="•"/>
            </a:pPr>
            <a:r>
              <a:rPr lang="en-US" sz="2800" dirty="0">
                <a:latin typeface="+mn-lt"/>
              </a:rPr>
              <a:t>recommending a solution </a:t>
            </a:r>
          </a:p>
          <a:p>
            <a:pPr marL="914400" lvl="1" indent="-457200">
              <a:lnSpc>
                <a:spcPct val="150000"/>
              </a:lnSpc>
              <a:buFont typeface="Arial" panose="020B0604020202020204" pitchFamily="34" charset="0"/>
              <a:buChar char="•"/>
            </a:pPr>
            <a:r>
              <a:rPr lang="en-US" sz="2800" dirty="0">
                <a:latin typeface="+mn-lt"/>
              </a:rPr>
              <a:t>discussing risks or constraints</a:t>
            </a:r>
          </a:p>
        </p:txBody>
      </p:sp>
      <p:pic>
        <p:nvPicPr>
          <p:cNvPr id="22534" name="Picture 5">
            <a:extLst>
              <a:ext uri="{FF2B5EF4-FFF2-40B4-BE49-F238E27FC236}">
                <a16:creationId xmlns:a16="http://schemas.microsoft.com/office/drawing/2014/main" id="{E4C4E415-7923-728D-BEBE-40ED405EF5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33612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9C3B-B925-ACEF-4FA8-7EC46117458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5C45C7-AC58-9BB8-B926-3E83B51971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AE808F9-2106-DE86-889F-6E8014F8ABF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94</a:t>
            </a:fld>
            <a:endParaRPr lang="en-US" altLang="en-US" sz="900">
              <a:solidFill>
                <a:srgbClr val="FFFFFF"/>
              </a:solidFill>
            </a:endParaRPr>
          </a:p>
        </p:txBody>
      </p:sp>
      <p:sp>
        <p:nvSpPr>
          <p:cNvPr id="3" name="TextBox 2">
            <a:extLst>
              <a:ext uri="{FF2B5EF4-FFF2-40B4-BE49-F238E27FC236}">
                <a16:creationId xmlns:a16="http://schemas.microsoft.com/office/drawing/2014/main" id="{06D8220E-57A1-EB44-1C52-AE80376DC35B}"/>
              </a:ext>
            </a:extLst>
          </p:cNvPr>
          <p:cNvSpPr txBox="1"/>
          <p:nvPr/>
        </p:nvSpPr>
        <p:spPr>
          <a:xfrm>
            <a:off x="0" y="617041"/>
            <a:ext cx="9144000" cy="2610843"/>
          </a:xfrm>
          <a:prstGeom prst="rect">
            <a:avLst/>
          </a:prstGeom>
          <a:solidFill>
            <a:schemeClr val="bg1"/>
          </a:solidFill>
        </p:spPr>
        <p:txBody>
          <a:bodyPr wrap="square">
            <a:spAutoFit/>
          </a:bodyPr>
          <a:lstStyle/>
          <a:p>
            <a:pPr>
              <a:lnSpc>
                <a:spcPct val="150000"/>
              </a:lnSpc>
            </a:pPr>
            <a:r>
              <a:rPr lang="en-US" sz="2800" b="1" dirty="0">
                <a:latin typeface="+mn-lt"/>
              </a:rPr>
              <a:t>Harder examples</a:t>
            </a:r>
          </a:p>
          <a:p>
            <a:pPr marL="914400" lvl="1" indent="-457200">
              <a:lnSpc>
                <a:spcPct val="150000"/>
              </a:lnSpc>
              <a:buFont typeface="Arial" panose="020B0604020202020204" pitchFamily="34" charset="0"/>
              <a:buChar char="•"/>
            </a:pPr>
            <a:r>
              <a:rPr lang="en-US" sz="2800" dirty="0">
                <a:latin typeface="+mn-lt"/>
              </a:rPr>
              <a:t>very short tasks </a:t>
            </a:r>
          </a:p>
          <a:p>
            <a:pPr marL="914400" lvl="1" indent="-457200">
              <a:lnSpc>
                <a:spcPct val="150000"/>
              </a:lnSpc>
              <a:buFont typeface="Arial" panose="020B0604020202020204" pitchFamily="34" charset="0"/>
              <a:buChar char="•"/>
            </a:pPr>
            <a:r>
              <a:rPr lang="en-US" sz="2800" dirty="0">
                <a:latin typeface="+mn-lt"/>
              </a:rPr>
              <a:t>tasks with no decision-making </a:t>
            </a:r>
          </a:p>
          <a:p>
            <a:pPr marL="914400" lvl="1" indent="-457200">
              <a:lnSpc>
                <a:spcPct val="150000"/>
              </a:lnSpc>
              <a:buFont typeface="Arial" panose="020B0604020202020204" pitchFamily="34" charset="0"/>
              <a:buChar char="•"/>
            </a:pPr>
            <a:r>
              <a:rPr lang="en-US" sz="2800" dirty="0">
                <a:latin typeface="+mn-lt"/>
              </a:rPr>
              <a:t>tasks with no technology or system relevance</a:t>
            </a:r>
          </a:p>
        </p:txBody>
      </p:sp>
      <p:pic>
        <p:nvPicPr>
          <p:cNvPr id="22534" name="Picture 5">
            <a:extLst>
              <a:ext uri="{FF2B5EF4-FFF2-40B4-BE49-F238E27FC236}">
                <a16:creationId xmlns:a16="http://schemas.microsoft.com/office/drawing/2014/main" id="{F91F5005-A625-D81E-9722-1CBD304B8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73579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4230-5E97-E875-F04E-C34DFAD2541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6D552E-23D3-D273-F931-1FBF3A82D49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7A721EA-8435-6304-CBA3-E4A8E019C9A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95</a:t>
            </a:fld>
            <a:endParaRPr lang="en-US" altLang="en-US" sz="900">
              <a:solidFill>
                <a:srgbClr val="FFFFFF"/>
              </a:solidFill>
            </a:endParaRPr>
          </a:p>
        </p:txBody>
      </p:sp>
      <p:sp>
        <p:nvSpPr>
          <p:cNvPr id="3" name="TextBox 2">
            <a:extLst>
              <a:ext uri="{FF2B5EF4-FFF2-40B4-BE49-F238E27FC236}">
                <a16:creationId xmlns:a16="http://schemas.microsoft.com/office/drawing/2014/main" id="{CF6E8B55-C9D2-8376-29A3-C93E92C6E6BF}"/>
              </a:ext>
            </a:extLst>
          </p:cNvPr>
          <p:cNvSpPr txBox="1"/>
          <p:nvPr/>
        </p:nvSpPr>
        <p:spPr>
          <a:xfrm>
            <a:off x="0" y="617041"/>
            <a:ext cx="9144000" cy="5842497"/>
          </a:xfrm>
          <a:prstGeom prst="rect">
            <a:avLst/>
          </a:prstGeom>
          <a:solidFill>
            <a:schemeClr val="bg1"/>
          </a:solidFill>
        </p:spPr>
        <p:txBody>
          <a:bodyPr wrap="square">
            <a:spAutoFit/>
          </a:bodyPr>
          <a:lstStyle/>
          <a:p>
            <a:pPr>
              <a:lnSpc>
                <a:spcPct val="150000"/>
              </a:lnSpc>
            </a:pPr>
            <a:r>
              <a:rPr lang="en-US" sz="2800" b="1" dirty="0">
                <a:latin typeface="+mn-lt"/>
              </a:rPr>
              <a:t>References (7</a:t>
            </a:r>
            <a:r>
              <a:rPr lang="en-US" sz="2800" b="1" baseline="30000" dirty="0">
                <a:latin typeface="+mn-lt"/>
              </a:rPr>
              <a:t>th</a:t>
            </a:r>
            <a:r>
              <a:rPr lang="en-US" sz="2800" b="1" dirty="0">
                <a:latin typeface="+mn-lt"/>
              </a:rPr>
              <a:t> APA)</a:t>
            </a:r>
          </a:p>
          <a:p>
            <a:pPr>
              <a:lnSpc>
                <a:spcPct val="150000"/>
              </a:lnSpc>
            </a:pPr>
            <a:r>
              <a:rPr lang="en-US" sz="2800" dirty="0">
                <a:latin typeface="+mn-lt"/>
              </a:rPr>
              <a:t>How many?</a:t>
            </a:r>
          </a:p>
          <a:p>
            <a:pPr marL="914400" lvl="1" indent="-457200">
              <a:lnSpc>
                <a:spcPct val="150000"/>
              </a:lnSpc>
              <a:buFont typeface="Arial" panose="020B0604020202020204" pitchFamily="34" charset="0"/>
              <a:buChar char="•"/>
            </a:pPr>
            <a:r>
              <a:rPr lang="en-US" sz="2800" dirty="0">
                <a:latin typeface="+mn-lt"/>
              </a:rPr>
              <a:t>At least 4–6 sources </a:t>
            </a:r>
          </a:p>
          <a:p>
            <a:pPr>
              <a:lnSpc>
                <a:spcPct val="150000"/>
              </a:lnSpc>
            </a:pPr>
            <a:r>
              <a:rPr lang="en-US" sz="2800" dirty="0">
                <a:latin typeface="+mn-lt"/>
              </a:rPr>
              <a:t>Possible sources</a:t>
            </a:r>
          </a:p>
          <a:p>
            <a:pPr marL="914400" lvl="1" indent="-457200">
              <a:lnSpc>
                <a:spcPct val="150000"/>
              </a:lnSpc>
              <a:buFont typeface="Arial" panose="020B0604020202020204" pitchFamily="34" charset="0"/>
              <a:buChar char="•"/>
            </a:pPr>
            <a:r>
              <a:rPr lang="en-US" sz="2800" dirty="0">
                <a:latin typeface="+mn-lt"/>
              </a:rPr>
              <a:t>Forage materials </a:t>
            </a:r>
          </a:p>
          <a:p>
            <a:pPr marL="914400" lvl="1" indent="-457200">
              <a:lnSpc>
                <a:spcPct val="150000"/>
              </a:lnSpc>
              <a:buFont typeface="Arial" panose="020B0604020202020204" pitchFamily="34" charset="0"/>
              <a:buChar char="•"/>
            </a:pPr>
            <a:r>
              <a:rPr lang="en-US" sz="2800" dirty="0">
                <a:latin typeface="+mn-lt"/>
              </a:rPr>
              <a:t>academic journals </a:t>
            </a:r>
          </a:p>
          <a:p>
            <a:pPr marL="914400" lvl="1" indent="-457200">
              <a:lnSpc>
                <a:spcPct val="150000"/>
              </a:lnSpc>
              <a:buFont typeface="Arial" panose="020B0604020202020204" pitchFamily="34" charset="0"/>
              <a:buChar char="•"/>
            </a:pPr>
            <a:r>
              <a:rPr lang="en-US" sz="2800" dirty="0">
                <a:latin typeface="+mn-lt"/>
              </a:rPr>
              <a:t>industry reports </a:t>
            </a:r>
          </a:p>
          <a:p>
            <a:pPr marL="914400" lvl="1" indent="-457200">
              <a:lnSpc>
                <a:spcPct val="150000"/>
              </a:lnSpc>
              <a:buFont typeface="Arial" panose="020B0604020202020204" pitchFamily="34" charset="0"/>
              <a:buChar char="•"/>
            </a:pPr>
            <a:r>
              <a:rPr lang="en-US" sz="2800" dirty="0">
                <a:latin typeface="+mn-lt"/>
              </a:rPr>
              <a:t>textbooks </a:t>
            </a:r>
          </a:p>
          <a:p>
            <a:pPr marL="914400" lvl="1" indent="-457200">
              <a:lnSpc>
                <a:spcPct val="150000"/>
              </a:lnSpc>
              <a:buFont typeface="Arial" panose="020B0604020202020204" pitchFamily="34" charset="0"/>
              <a:buChar char="•"/>
            </a:pPr>
            <a:r>
              <a:rPr lang="en-US" sz="2800" dirty="0">
                <a:latin typeface="+mn-lt"/>
              </a:rPr>
              <a:t>reliable websites</a:t>
            </a:r>
          </a:p>
        </p:txBody>
      </p:sp>
      <p:pic>
        <p:nvPicPr>
          <p:cNvPr id="22534" name="Picture 5">
            <a:extLst>
              <a:ext uri="{FF2B5EF4-FFF2-40B4-BE49-F238E27FC236}">
                <a16:creationId xmlns:a16="http://schemas.microsoft.com/office/drawing/2014/main" id="{5E5E3B20-0949-1E64-B013-C85A46987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7006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B7BE3-86AC-06CE-B380-541B397F52C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D4A223-2A5C-4D3B-4D01-294BE78425A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8A0194A-6AC3-3783-FF78-7A84F73E43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96</a:t>
            </a:fld>
            <a:endParaRPr lang="en-US" altLang="en-US" sz="900">
              <a:solidFill>
                <a:srgbClr val="FFFFFF"/>
              </a:solidFill>
            </a:endParaRPr>
          </a:p>
        </p:txBody>
      </p:sp>
      <p:sp>
        <p:nvSpPr>
          <p:cNvPr id="3" name="TextBox 2">
            <a:extLst>
              <a:ext uri="{FF2B5EF4-FFF2-40B4-BE49-F238E27FC236}">
                <a16:creationId xmlns:a16="http://schemas.microsoft.com/office/drawing/2014/main" id="{31AD6EA1-4F10-2E5F-D45B-7FABD1BE9FFE}"/>
              </a:ext>
            </a:extLst>
          </p:cNvPr>
          <p:cNvSpPr txBox="1"/>
          <p:nvPr/>
        </p:nvSpPr>
        <p:spPr>
          <a:xfrm>
            <a:off x="0" y="617041"/>
            <a:ext cx="9144000" cy="5842497"/>
          </a:xfrm>
          <a:prstGeom prst="rect">
            <a:avLst/>
          </a:prstGeom>
          <a:solidFill>
            <a:schemeClr val="bg1"/>
          </a:solidFill>
        </p:spPr>
        <p:txBody>
          <a:bodyPr wrap="square">
            <a:spAutoFit/>
          </a:bodyPr>
          <a:lstStyle/>
          <a:p>
            <a:pPr>
              <a:lnSpc>
                <a:spcPct val="150000"/>
              </a:lnSpc>
            </a:pPr>
            <a:r>
              <a:rPr lang="en-US" sz="2800" b="1" dirty="0">
                <a:latin typeface="+mn-lt"/>
              </a:rPr>
              <a:t>APA 7th Edition – Simple Guide for Students</a:t>
            </a:r>
          </a:p>
          <a:p>
            <a:pPr>
              <a:lnSpc>
                <a:spcPct val="150000"/>
              </a:lnSpc>
            </a:pPr>
            <a:r>
              <a:rPr lang="en-US" sz="2800" dirty="0">
                <a:latin typeface="+mn-lt"/>
              </a:rPr>
              <a:t>In-text citation (APA 7)</a:t>
            </a:r>
          </a:p>
          <a:p>
            <a:pPr>
              <a:lnSpc>
                <a:spcPct val="150000"/>
              </a:lnSpc>
            </a:pPr>
            <a:r>
              <a:rPr lang="en-US" sz="2800" dirty="0">
                <a:latin typeface="+mn-lt"/>
              </a:rPr>
              <a:t>Use the author-date format:</a:t>
            </a:r>
          </a:p>
          <a:p>
            <a:pPr>
              <a:lnSpc>
                <a:spcPct val="150000"/>
              </a:lnSpc>
            </a:pPr>
            <a:r>
              <a:rPr lang="en-US" sz="2800" dirty="0">
                <a:latin typeface="+mn-lt"/>
              </a:rPr>
              <a:t>Basic format</a:t>
            </a:r>
          </a:p>
          <a:p>
            <a:pPr marL="457200" indent="-457200">
              <a:lnSpc>
                <a:spcPct val="150000"/>
              </a:lnSpc>
              <a:buFont typeface="Arial" panose="020B0604020202020204" pitchFamily="34" charset="0"/>
              <a:buChar char="•"/>
            </a:pPr>
            <a:r>
              <a:rPr lang="en-US" sz="2800" dirty="0">
                <a:latin typeface="+mn-lt"/>
              </a:rPr>
              <a:t>(Author, Year)</a:t>
            </a:r>
          </a:p>
          <a:p>
            <a:pPr>
              <a:lnSpc>
                <a:spcPct val="150000"/>
              </a:lnSpc>
            </a:pPr>
            <a:r>
              <a:rPr lang="en-US" sz="2800" dirty="0">
                <a:latin typeface="+mn-lt"/>
              </a:rPr>
              <a:t>Examples</a:t>
            </a:r>
          </a:p>
          <a:p>
            <a:pPr marL="457200" indent="-457200">
              <a:lnSpc>
                <a:spcPct val="150000"/>
              </a:lnSpc>
              <a:buFont typeface="Arial" panose="020B0604020202020204" pitchFamily="34" charset="0"/>
              <a:buChar char="•"/>
            </a:pPr>
            <a:r>
              <a:rPr lang="en-US" sz="2800" dirty="0">
                <a:latin typeface="+mn-lt"/>
              </a:rPr>
              <a:t>(Smith, 2020)</a:t>
            </a:r>
            <a:br>
              <a:rPr lang="en-US" sz="2800" dirty="0">
                <a:latin typeface="+mn-lt"/>
              </a:rPr>
            </a:br>
            <a:r>
              <a:rPr lang="en-US" sz="2800" dirty="0">
                <a:latin typeface="+mn-lt"/>
              </a:rPr>
              <a:t>(Johnson &amp; Lee, 2021)</a:t>
            </a:r>
            <a:br>
              <a:rPr lang="en-US" sz="2800" dirty="0">
                <a:latin typeface="+mn-lt"/>
              </a:rPr>
            </a:br>
            <a:r>
              <a:rPr lang="en-US" sz="2800" dirty="0">
                <a:latin typeface="+mn-lt"/>
              </a:rPr>
              <a:t>(World Bank, 2022)</a:t>
            </a:r>
          </a:p>
        </p:txBody>
      </p:sp>
      <p:pic>
        <p:nvPicPr>
          <p:cNvPr id="22534" name="Picture 5">
            <a:extLst>
              <a:ext uri="{FF2B5EF4-FFF2-40B4-BE49-F238E27FC236}">
                <a16:creationId xmlns:a16="http://schemas.microsoft.com/office/drawing/2014/main" id="{6E6884A8-81A4-4398-F1D8-204BCF724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80184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E17CD-96DE-039A-C878-A821A422D70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E93805-26FE-19EB-90B6-679F646E3B5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1405A5B-E91A-5A73-89F8-B773E95039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97</a:t>
            </a:fld>
            <a:endParaRPr lang="en-US" altLang="en-US" sz="900">
              <a:solidFill>
                <a:srgbClr val="FFFFFF"/>
              </a:solidFill>
            </a:endParaRPr>
          </a:p>
        </p:txBody>
      </p:sp>
      <p:sp>
        <p:nvSpPr>
          <p:cNvPr id="3" name="TextBox 2">
            <a:extLst>
              <a:ext uri="{FF2B5EF4-FFF2-40B4-BE49-F238E27FC236}">
                <a16:creationId xmlns:a16="http://schemas.microsoft.com/office/drawing/2014/main" id="{FA80E78A-2515-3837-33D0-B213871A02CA}"/>
              </a:ext>
            </a:extLst>
          </p:cNvPr>
          <p:cNvSpPr txBox="1"/>
          <p:nvPr/>
        </p:nvSpPr>
        <p:spPr>
          <a:xfrm>
            <a:off x="0" y="617041"/>
            <a:ext cx="9144000" cy="2610843"/>
          </a:xfrm>
          <a:prstGeom prst="rect">
            <a:avLst/>
          </a:prstGeom>
          <a:solidFill>
            <a:schemeClr val="bg1"/>
          </a:solidFill>
        </p:spPr>
        <p:txBody>
          <a:bodyPr wrap="square">
            <a:spAutoFit/>
          </a:bodyPr>
          <a:lstStyle/>
          <a:p>
            <a:pPr>
              <a:lnSpc>
                <a:spcPct val="150000"/>
              </a:lnSpc>
            </a:pPr>
            <a:r>
              <a:rPr lang="en-US" sz="2800" b="1" dirty="0">
                <a:latin typeface="+mn-lt"/>
              </a:rPr>
              <a:t>When using the author in the sentence</a:t>
            </a:r>
          </a:p>
          <a:p>
            <a:pPr>
              <a:lnSpc>
                <a:spcPct val="150000"/>
              </a:lnSpc>
            </a:pPr>
            <a:r>
              <a:rPr lang="en-US" sz="2800" dirty="0">
                <a:latin typeface="+mn-lt"/>
              </a:rPr>
              <a:t>If you mention the author in your writing:</a:t>
            </a:r>
          </a:p>
          <a:p>
            <a:pPr>
              <a:lnSpc>
                <a:spcPct val="150000"/>
              </a:lnSpc>
            </a:pPr>
            <a:r>
              <a:rPr lang="en-US" sz="2800" dirty="0">
                <a:latin typeface="+mn-lt"/>
              </a:rPr>
              <a:t>Smith (2020) explains that requirements gathering is a critical stage in system design.</a:t>
            </a:r>
          </a:p>
        </p:txBody>
      </p:sp>
      <p:pic>
        <p:nvPicPr>
          <p:cNvPr id="22534" name="Picture 5">
            <a:extLst>
              <a:ext uri="{FF2B5EF4-FFF2-40B4-BE49-F238E27FC236}">
                <a16:creationId xmlns:a16="http://schemas.microsoft.com/office/drawing/2014/main" id="{353E707F-008F-6607-9DD7-101A5DE355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89699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45B5-BBBC-EA97-7D62-95D267A50CA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F8B4172-C3E1-C64D-7895-8CEAB1EEFB0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F80F542-29B1-FBE0-FB42-073532EE89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98</a:t>
            </a:fld>
            <a:endParaRPr lang="en-US" altLang="en-US" sz="900">
              <a:solidFill>
                <a:srgbClr val="FFFFFF"/>
              </a:solidFill>
            </a:endParaRPr>
          </a:p>
        </p:txBody>
      </p:sp>
      <p:sp>
        <p:nvSpPr>
          <p:cNvPr id="3" name="TextBox 2">
            <a:extLst>
              <a:ext uri="{FF2B5EF4-FFF2-40B4-BE49-F238E27FC236}">
                <a16:creationId xmlns:a16="http://schemas.microsoft.com/office/drawing/2014/main" id="{E479E115-E8C0-11C4-7AD7-184CA577F050}"/>
              </a:ext>
            </a:extLst>
          </p:cNvPr>
          <p:cNvSpPr txBox="1"/>
          <p:nvPr/>
        </p:nvSpPr>
        <p:spPr>
          <a:xfrm>
            <a:off x="0" y="617041"/>
            <a:ext cx="9144000" cy="3257174"/>
          </a:xfrm>
          <a:prstGeom prst="rect">
            <a:avLst/>
          </a:prstGeom>
          <a:solidFill>
            <a:schemeClr val="bg1"/>
          </a:solidFill>
        </p:spPr>
        <p:txBody>
          <a:bodyPr wrap="square">
            <a:spAutoFit/>
          </a:bodyPr>
          <a:lstStyle/>
          <a:p>
            <a:pPr>
              <a:lnSpc>
                <a:spcPct val="150000"/>
              </a:lnSpc>
            </a:pPr>
            <a:r>
              <a:rPr lang="en-US" sz="2800" b="1" dirty="0">
                <a:latin typeface="+mn-lt"/>
              </a:rPr>
              <a:t>Multiple authors</a:t>
            </a:r>
          </a:p>
          <a:p>
            <a:pPr marL="457200" indent="-457200">
              <a:lnSpc>
                <a:spcPct val="150000"/>
              </a:lnSpc>
              <a:buFont typeface="Arial" panose="020B0604020202020204" pitchFamily="34" charset="0"/>
              <a:buChar char="•"/>
            </a:pPr>
            <a:r>
              <a:rPr lang="en-US" sz="2800" b="1" dirty="0">
                <a:latin typeface="+mn-lt"/>
              </a:rPr>
              <a:t>2 authors</a:t>
            </a:r>
            <a:r>
              <a:rPr lang="en-US" sz="2800" dirty="0">
                <a:latin typeface="+mn-lt"/>
              </a:rPr>
              <a:t> → use both names</a:t>
            </a:r>
          </a:p>
          <a:p>
            <a:pPr>
              <a:lnSpc>
                <a:spcPct val="150000"/>
              </a:lnSpc>
            </a:pPr>
            <a:r>
              <a:rPr lang="en-US" sz="2800" dirty="0">
                <a:latin typeface="+mn-lt"/>
              </a:rPr>
              <a:t>(Smith &amp; Lee, 2020)</a:t>
            </a:r>
          </a:p>
          <a:p>
            <a:pPr marL="457200" indent="-457200">
              <a:lnSpc>
                <a:spcPct val="150000"/>
              </a:lnSpc>
              <a:buFont typeface="Arial" panose="020B0604020202020204" pitchFamily="34" charset="0"/>
              <a:buChar char="•"/>
            </a:pPr>
            <a:r>
              <a:rPr lang="en-US" sz="2800" b="1" dirty="0">
                <a:latin typeface="+mn-lt"/>
              </a:rPr>
              <a:t>3 or more authors</a:t>
            </a:r>
            <a:r>
              <a:rPr lang="en-US" sz="2800" dirty="0">
                <a:latin typeface="+mn-lt"/>
              </a:rPr>
              <a:t> → use “et al.”</a:t>
            </a:r>
          </a:p>
          <a:p>
            <a:pPr>
              <a:lnSpc>
                <a:spcPct val="150000"/>
              </a:lnSpc>
            </a:pPr>
            <a:r>
              <a:rPr lang="en-US" sz="2800" dirty="0">
                <a:latin typeface="+mn-lt"/>
              </a:rPr>
              <a:t>(Smith et al., 2021)</a:t>
            </a:r>
          </a:p>
        </p:txBody>
      </p:sp>
      <p:pic>
        <p:nvPicPr>
          <p:cNvPr id="22534" name="Picture 5">
            <a:extLst>
              <a:ext uri="{FF2B5EF4-FFF2-40B4-BE49-F238E27FC236}">
                <a16:creationId xmlns:a16="http://schemas.microsoft.com/office/drawing/2014/main" id="{3AA8C44F-BADA-7043-878A-84435111E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84111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B1A00-D1FE-647D-DBB1-3FCDA6D080F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2F5767-04C3-693F-3111-775BDF617E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A24D0A8-100F-83AF-4256-BD0CFDDE8D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99</a:t>
            </a:fld>
            <a:endParaRPr lang="en-US" altLang="en-US" sz="900">
              <a:solidFill>
                <a:srgbClr val="FFFFFF"/>
              </a:solidFill>
            </a:endParaRPr>
          </a:p>
        </p:txBody>
      </p:sp>
      <p:sp>
        <p:nvSpPr>
          <p:cNvPr id="3" name="TextBox 2">
            <a:extLst>
              <a:ext uri="{FF2B5EF4-FFF2-40B4-BE49-F238E27FC236}">
                <a16:creationId xmlns:a16="http://schemas.microsoft.com/office/drawing/2014/main" id="{3CFF172B-A941-848C-F267-201A2741B0A7}"/>
              </a:ext>
            </a:extLst>
          </p:cNvPr>
          <p:cNvSpPr txBox="1"/>
          <p:nvPr/>
        </p:nvSpPr>
        <p:spPr>
          <a:xfrm>
            <a:off x="0" y="617041"/>
            <a:ext cx="9144000" cy="3903504"/>
          </a:xfrm>
          <a:prstGeom prst="rect">
            <a:avLst/>
          </a:prstGeom>
          <a:solidFill>
            <a:schemeClr val="bg1"/>
          </a:solidFill>
        </p:spPr>
        <p:txBody>
          <a:bodyPr wrap="square">
            <a:spAutoFit/>
          </a:bodyPr>
          <a:lstStyle/>
          <a:p>
            <a:pPr>
              <a:lnSpc>
                <a:spcPct val="150000"/>
              </a:lnSpc>
            </a:pPr>
            <a:r>
              <a:rPr lang="en-US" sz="2800" b="1" dirty="0">
                <a:latin typeface="+mn-lt"/>
              </a:rPr>
              <a:t>Direct quotes (use sparingly)</a:t>
            </a:r>
          </a:p>
          <a:p>
            <a:pPr>
              <a:lnSpc>
                <a:spcPct val="150000"/>
              </a:lnSpc>
            </a:pPr>
            <a:r>
              <a:rPr lang="en-US" sz="2800" dirty="0">
                <a:latin typeface="+mn-lt"/>
              </a:rPr>
              <a:t>If you include a direct quote, add a page number:</a:t>
            </a:r>
          </a:p>
          <a:p>
            <a:pPr>
              <a:lnSpc>
                <a:spcPct val="150000"/>
              </a:lnSpc>
            </a:pPr>
            <a:r>
              <a:rPr lang="en-US" sz="2800" dirty="0">
                <a:highlight>
                  <a:srgbClr val="FFFF00"/>
                </a:highlight>
                <a:latin typeface="+mn-lt"/>
              </a:rPr>
              <a:t>(Smith, 2020, p. 15)</a:t>
            </a:r>
          </a:p>
          <a:p>
            <a:pPr>
              <a:lnSpc>
                <a:spcPct val="150000"/>
              </a:lnSpc>
            </a:pPr>
            <a:r>
              <a:rPr lang="en-US" sz="2800" dirty="0">
                <a:latin typeface="+mn-lt"/>
              </a:rPr>
              <a:t>Example:</a:t>
            </a:r>
          </a:p>
          <a:p>
            <a:pPr>
              <a:lnSpc>
                <a:spcPct val="150000"/>
              </a:lnSpc>
            </a:pPr>
            <a:r>
              <a:rPr lang="en-US" sz="2800" dirty="0">
                <a:highlight>
                  <a:srgbClr val="FFFF00"/>
                </a:highlight>
                <a:latin typeface="+mn-lt"/>
              </a:rPr>
              <a:t>“Effective system design begins with a clear understanding of user needs” (Smith, 2020, p. 15).</a:t>
            </a:r>
          </a:p>
        </p:txBody>
      </p:sp>
      <p:pic>
        <p:nvPicPr>
          <p:cNvPr id="22534" name="Picture 5">
            <a:extLst>
              <a:ext uri="{FF2B5EF4-FFF2-40B4-BE49-F238E27FC236}">
                <a16:creationId xmlns:a16="http://schemas.microsoft.com/office/drawing/2014/main" id="{A5949CA5-A5DB-E2AA-A23F-EB926B58B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97032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07E51-855D-6AC4-B713-D04261E93FD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391C24-FFAB-6C8D-C13D-B96F8B12FE7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DE6782E-70EC-10D5-8E98-E7682FD15F0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100</a:t>
            </a:fld>
            <a:endParaRPr lang="en-US" altLang="en-US" sz="900">
              <a:solidFill>
                <a:srgbClr val="FFFFFF"/>
              </a:solidFill>
            </a:endParaRPr>
          </a:p>
        </p:txBody>
      </p:sp>
      <p:sp>
        <p:nvSpPr>
          <p:cNvPr id="3" name="TextBox 2">
            <a:extLst>
              <a:ext uri="{FF2B5EF4-FFF2-40B4-BE49-F238E27FC236}">
                <a16:creationId xmlns:a16="http://schemas.microsoft.com/office/drawing/2014/main" id="{EC1D38A2-9DE7-35D6-00D5-69DC5D09E786}"/>
              </a:ext>
            </a:extLst>
          </p:cNvPr>
          <p:cNvSpPr txBox="1"/>
          <p:nvPr/>
        </p:nvSpPr>
        <p:spPr>
          <a:xfrm>
            <a:off x="0" y="617041"/>
            <a:ext cx="9144000" cy="2610843"/>
          </a:xfrm>
          <a:prstGeom prst="rect">
            <a:avLst/>
          </a:prstGeom>
          <a:solidFill>
            <a:schemeClr val="bg1"/>
          </a:solidFill>
        </p:spPr>
        <p:txBody>
          <a:bodyPr wrap="square">
            <a:spAutoFit/>
          </a:bodyPr>
          <a:lstStyle/>
          <a:p>
            <a:pPr>
              <a:lnSpc>
                <a:spcPct val="150000"/>
              </a:lnSpc>
            </a:pPr>
            <a:r>
              <a:rPr lang="en-US" sz="2800" b="1" dirty="0">
                <a:latin typeface="+mn-lt"/>
              </a:rPr>
              <a:t>Reference List (APA 7)</a:t>
            </a:r>
          </a:p>
          <a:p>
            <a:pPr>
              <a:lnSpc>
                <a:spcPct val="150000"/>
              </a:lnSpc>
            </a:pPr>
            <a:r>
              <a:rPr lang="en-US" sz="2800" dirty="0">
                <a:latin typeface="+mn-lt"/>
              </a:rPr>
              <a:t>At the end of your report, include a Reference List.</a:t>
            </a:r>
          </a:p>
          <a:p>
            <a:pPr>
              <a:lnSpc>
                <a:spcPct val="150000"/>
              </a:lnSpc>
            </a:pPr>
            <a:r>
              <a:rPr lang="en-US" sz="2800" dirty="0">
                <a:latin typeface="+mn-lt"/>
              </a:rPr>
              <a:t>Basic format</a:t>
            </a:r>
          </a:p>
          <a:p>
            <a:pPr>
              <a:lnSpc>
                <a:spcPct val="150000"/>
              </a:lnSpc>
            </a:pPr>
            <a:r>
              <a:rPr lang="en-US" sz="2800" dirty="0">
                <a:latin typeface="+mn-lt"/>
              </a:rPr>
              <a:t>Author, A. A. (Year). </a:t>
            </a:r>
            <a:r>
              <a:rPr lang="en-US" sz="2800" i="1" dirty="0">
                <a:latin typeface="+mn-lt"/>
              </a:rPr>
              <a:t>Title of the work</a:t>
            </a:r>
            <a:r>
              <a:rPr lang="en-US" sz="2800" dirty="0">
                <a:latin typeface="+mn-lt"/>
              </a:rPr>
              <a:t>. Publisher or Journal.</a:t>
            </a:r>
          </a:p>
        </p:txBody>
      </p:sp>
      <p:pic>
        <p:nvPicPr>
          <p:cNvPr id="22534" name="Picture 5">
            <a:extLst>
              <a:ext uri="{FF2B5EF4-FFF2-40B4-BE49-F238E27FC236}">
                <a16:creationId xmlns:a16="http://schemas.microsoft.com/office/drawing/2014/main" id="{C9467F4A-FA79-2622-E992-322B283C1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46209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F4A1-FDDF-8E06-C6E1-95A89C124E2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9CEF51-19C8-AE19-CACB-ABC74A669D0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D0CF563-B319-B0BB-C51F-519E617011B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101</a:t>
            </a:fld>
            <a:endParaRPr lang="en-US" altLang="en-US" sz="900">
              <a:solidFill>
                <a:srgbClr val="FFFFFF"/>
              </a:solidFill>
            </a:endParaRPr>
          </a:p>
        </p:txBody>
      </p:sp>
      <p:sp>
        <p:nvSpPr>
          <p:cNvPr id="3" name="TextBox 2">
            <a:extLst>
              <a:ext uri="{FF2B5EF4-FFF2-40B4-BE49-F238E27FC236}">
                <a16:creationId xmlns:a16="http://schemas.microsoft.com/office/drawing/2014/main" id="{E3E053D5-7DAB-DFCC-0C70-07BFE56645DB}"/>
              </a:ext>
            </a:extLst>
          </p:cNvPr>
          <p:cNvSpPr txBox="1"/>
          <p:nvPr/>
        </p:nvSpPr>
        <p:spPr>
          <a:xfrm>
            <a:off x="0" y="617041"/>
            <a:ext cx="9144000" cy="2610843"/>
          </a:xfrm>
          <a:prstGeom prst="rect">
            <a:avLst/>
          </a:prstGeom>
          <a:solidFill>
            <a:schemeClr val="bg1"/>
          </a:solidFill>
        </p:spPr>
        <p:txBody>
          <a:bodyPr wrap="square">
            <a:spAutoFit/>
          </a:bodyPr>
          <a:lstStyle/>
          <a:p>
            <a:pPr>
              <a:lnSpc>
                <a:spcPct val="150000"/>
              </a:lnSpc>
            </a:pPr>
            <a:r>
              <a:rPr lang="en-US" sz="2800" b="1" dirty="0">
                <a:latin typeface="+mn-lt"/>
              </a:rPr>
              <a:t>Examples for common sources</a:t>
            </a:r>
          </a:p>
          <a:p>
            <a:pPr>
              <a:lnSpc>
                <a:spcPct val="150000"/>
              </a:lnSpc>
            </a:pPr>
            <a:r>
              <a:rPr lang="en-US" sz="2800" b="1" dirty="0">
                <a:latin typeface="+mn-lt"/>
              </a:rPr>
              <a:t>Journal article</a:t>
            </a:r>
          </a:p>
          <a:p>
            <a:pPr>
              <a:lnSpc>
                <a:spcPct val="150000"/>
              </a:lnSpc>
            </a:pPr>
            <a:r>
              <a:rPr lang="en-US" sz="2800" dirty="0">
                <a:latin typeface="+mn-lt"/>
              </a:rPr>
              <a:t>Smith, J. A., &amp; Lee, K. (2020). Evaluating technology choices in IT projects. </a:t>
            </a:r>
            <a:r>
              <a:rPr lang="en-US" sz="2800" i="1" dirty="0">
                <a:latin typeface="+mn-lt"/>
              </a:rPr>
              <a:t>Journal of Information Systems</a:t>
            </a:r>
            <a:r>
              <a:rPr lang="en-US" sz="2800" dirty="0">
                <a:latin typeface="+mn-lt"/>
              </a:rPr>
              <a:t>, 15(2), 45–60.</a:t>
            </a:r>
          </a:p>
        </p:txBody>
      </p:sp>
      <p:pic>
        <p:nvPicPr>
          <p:cNvPr id="22534" name="Picture 5">
            <a:extLst>
              <a:ext uri="{FF2B5EF4-FFF2-40B4-BE49-F238E27FC236}">
                <a16:creationId xmlns:a16="http://schemas.microsoft.com/office/drawing/2014/main" id="{358A999C-56A2-DF89-B223-1B04D9BCC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473227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0E13-DB3A-1B95-D33F-071FC48BED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0DEE9B-F144-500E-CDA6-24F2F1C6BBC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61466E9-3F92-ECB8-8B80-077C82C1D67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102</a:t>
            </a:fld>
            <a:endParaRPr lang="en-US" altLang="en-US" sz="900">
              <a:solidFill>
                <a:srgbClr val="FFFFFF"/>
              </a:solidFill>
            </a:endParaRPr>
          </a:p>
        </p:txBody>
      </p:sp>
      <p:sp>
        <p:nvSpPr>
          <p:cNvPr id="3" name="TextBox 2">
            <a:extLst>
              <a:ext uri="{FF2B5EF4-FFF2-40B4-BE49-F238E27FC236}">
                <a16:creationId xmlns:a16="http://schemas.microsoft.com/office/drawing/2014/main" id="{18FC4A47-8BC5-8B69-B2E1-4BF5AF5AFA8C}"/>
              </a:ext>
            </a:extLst>
          </p:cNvPr>
          <p:cNvSpPr txBox="1"/>
          <p:nvPr/>
        </p:nvSpPr>
        <p:spPr>
          <a:xfrm>
            <a:off x="0" y="617041"/>
            <a:ext cx="9144000" cy="1964512"/>
          </a:xfrm>
          <a:prstGeom prst="rect">
            <a:avLst/>
          </a:prstGeom>
          <a:solidFill>
            <a:schemeClr val="bg1"/>
          </a:solidFill>
        </p:spPr>
        <p:txBody>
          <a:bodyPr wrap="square">
            <a:spAutoFit/>
          </a:bodyPr>
          <a:lstStyle/>
          <a:p>
            <a:pPr>
              <a:lnSpc>
                <a:spcPct val="150000"/>
              </a:lnSpc>
            </a:pPr>
            <a:r>
              <a:rPr lang="en-US" sz="2800" b="1" dirty="0">
                <a:latin typeface="+mn-lt"/>
              </a:rPr>
              <a:t>Book</a:t>
            </a:r>
          </a:p>
          <a:p>
            <a:pPr>
              <a:lnSpc>
                <a:spcPct val="150000"/>
              </a:lnSpc>
            </a:pPr>
            <a:r>
              <a:rPr lang="en-US" sz="2800" dirty="0">
                <a:latin typeface="+mn-lt"/>
              </a:rPr>
              <a:t>Sommerville, I. (2016). </a:t>
            </a:r>
            <a:r>
              <a:rPr lang="en-US" sz="2800" i="1" dirty="0">
                <a:latin typeface="+mn-lt"/>
              </a:rPr>
              <a:t>Software engineering</a:t>
            </a:r>
            <a:r>
              <a:rPr lang="en-US" sz="2800" dirty="0">
                <a:latin typeface="+mn-lt"/>
              </a:rPr>
              <a:t> (10th ed.). Pearson.</a:t>
            </a:r>
          </a:p>
        </p:txBody>
      </p:sp>
      <p:pic>
        <p:nvPicPr>
          <p:cNvPr id="22534" name="Picture 5">
            <a:extLst>
              <a:ext uri="{FF2B5EF4-FFF2-40B4-BE49-F238E27FC236}">
                <a16:creationId xmlns:a16="http://schemas.microsoft.com/office/drawing/2014/main" id="{7D4C399B-B87D-8851-B1C8-7827D4624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1178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893A3-E609-E2E2-5EEA-9F090981544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CECE84-AB52-904B-ED1D-FBEC2C0BD9F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2411653-AAA6-5C61-049C-DA26D9F3C5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103</a:t>
            </a:fld>
            <a:endParaRPr lang="en-US" altLang="en-US" sz="900">
              <a:solidFill>
                <a:srgbClr val="FFFFFF"/>
              </a:solidFill>
            </a:endParaRPr>
          </a:p>
        </p:txBody>
      </p:sp>
      <p:sp>
        <p:nvSpPr>
          <p:cNvPr id="3" name="TextBox 2">
            <a:extLst>
              <a:ext uri="{FF2B5EF4-FFF2-40B4-BE49-F238E27FC236}">
                <a16:creationId xmlns:a16="http://schemas.microsoft.com/office/drawing/2014/main" id="{C7BA96D7-8647-FC68-87D0-F113397E8F48}"/>
              </a:ext>
            </a:extLst>
          </p:cNvPr>
          <p:cNvSpPr txBox="1"/>
          <p:nvPr/>
        </p:nvSpPr>
        <p:spPr>
          <a:xfrm>
            <a:off x="0" y="617041"/>
            <a:ext cx="9144000" cy="1964512"/>
          </a:xfrm>
          <a:prstGeom prst="rect">
            <a:avLst/>
          </a:prstGeom>
          <a:solidFill>
            <a:schemeClr val="bg1"/>
          </a:solidFill>
        </p:spPr>
        <p:txBody>
          <a:bodyPr wrap="square">
            <a:spAutoFit/>
          </a:bodyPr>
          <a:lstStyle/>
          <a:p>
            <a:pPr>
              <a:lnSpc>
                <a:spcPct val="150000"/>
              </a:lnSpc>
            </a:pPr>
            <a:r>
              <a:rPr lang="en-US" sz="2800" b="1" dirty="0">
                <a:latin typeface="+mn-lt"/>
              </a:rPr>
              <a:t>Website</a:t>
            </a:r>
          </a:p>
          <a:p>
            <a:pPr>
              <a:lnSpc>
                <a:spcPct val="150000"/>
              </a:lnSpc>
            </a:pPr>
            <a:r>
              <a:rPr lang="en-US" sz="2800" dirty="0">
                <a:latin typeface="+mn-lt"/>
              </a:rPr>
              <a:t>World Bank. (2022). </a:t>
            </a:r>
            <a:r>
              <a:rPr lang="en-US" sz="2800" i="1" dirty="0">
                <a:latin typeface="+mn-lt"/>
              </a:rPr>
              <a:t>Digital transformation overview</a:t>
            </a:r>
            <a:r>
              <a:rPr lang="en-US" sz="2800" dirty="0">
                <a:latin typeface="+mn-lt"/>
              </a:rPr>
              <a:t>. </a:t>
            </a:r>
            <a:r>
              <a:rPr lang="en-US" sz="2800" dirty="0">
                <a:latin typeface="+mn-lt"/>
                <a:hlinkClick r:id="rId2"/>
              </a:rPr>
              <a:t>https://www.worldbank.org/</a:t>
            </a:r>
            <a:endParaRPr lang="en-US" sz="2800" dirty="0">
              <a:latin typeface="+mn-lt"/>
            </a:endParaRPr>
          </a:p>
        </p:txBody>
      </p:sp>
      <p:pic>
        <p:nvPicPr>
          <p:cNvPr id="22534" name="Picture 5">
            <a:extLst>
              <a:ext uri="{FF2B5EF4-FFF2-40B4-BE49-F238E27FC236}">
                <a16:creationId xmlns:a16="http://schemas.microsoft.com/office/drawing/2014/main" id="{273C5D03-3783-6523-BB09-06E5C7B87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66381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16A65-EA96-E1EF-0ECE-EB8FEC5892E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772480-4311-04A5-FC95-DC53BCE1D75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747EDD0-8F55-4CB6-9CD8-907DCD210D2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104</a:t>
            </a:fld>
            <a:endParaRPr lang="en-US" altLang="en-US" sz="900">
              <a:solidFill>
                <a:srgbClr val="FFFFFF"/>
              </a:solidFill>
            </a:endParaRPr>
          </a:p>
        </p:txBody>
      </p:sp>
      <p:sp>
        <p:nvSpPr>
          <p:cNvPr id="3" name="TextBox 2">
            <a:extLst>
              <a:ext uri="{FF2B5EF4-FFF2-40B4-BE49-F238E27FC236}">
                <a16:creationId xmlns:a16="http://schemas.microsoft.com/office/drawing/2014/main" id="{4E391C1E-719F-06B8-142D-5400FD26F34F}"/>
              </a:ext>
            </a:extLst>
          </p:cNvPr>
          <p:cNvSpPr txBox="1"/>
          <p:nvPr/>
        </p:nvSpPr>
        <p:spPr>
          <a:xfrm>
            <a:off x="0" y="617041"/>
            <a:ext cx="9144000" cy="1318181"/>
          </a:xfrm>
          <a:prstGeom prst="rect">
            <a:avLst/>
          </a:prstGeom>
          <a:solidFill>
            <a:schemeClr val="bg1"/>
          </a:solidFill>
        </p:spPr>
        <p:txBody>
          <a:bodyPr wrap="square">
            <a:spAutoFit/>
          </a:bodyPr>
          <a:lstStyle/>
          <a:p>
            <a:pPr>
              <a:lnSpc>
                <a:spcPct val="150000"/>
              </a:lnSpc>
            </a:pPr>
            <a:r>
              <a:rPr lang="en-US" sz="2800" b="1" dirty="0">
                <a:latin typeface="+mn-lt"/>
              </a:rPr>
              <a:t>Forage (if referenced)</a:t>
            </a:r>
          </a:p>
          <a:p>
            <a:pPr>
              <a:lnSpc>
                <a:spcPct val="150000"/>
              </a:lnSpc>
            </a:pPr>
            <a:r>
              <a:rPr lang="en-US" sz="2800" dirty="0">
                <a:latin typeface="+mn-lt"/>
              </a:rPr>
              <a:t>Forage. (Year). </a:t>
            </a:r>
            <a:r>
              <a:rPr lang="en-US" sz="2800" i="1" dirty="0">
                <a:latin typeface="+mn-lt"/>
              </a:rPr>
              <a:t>Program title</a:t>
            </a:r>
            <a:r>
              <a:rPr lang="en-US" sz="2800" dirty="0">
                <a:latin typeface="+mn-lt"/>
              </a:rPr>
              <a:t>. </a:t>
            </a:r>
            <a:r>
              <a:rPr lang="en-US" sz="2800" dirty="0">
                <a:latin typeface="+mn-lt"/>
                <a:hlinkClick r:id="rId2"/>
              </a:rPr>
              <a:t>https://www.theforage.com/</a:t>
            </a:r>
            <a:endParaRPr lang="en-US" sz="2800" dirty="0">
              <a:latin typeface="+mn-lt"/>
            </a:endParaRPr>
          </a:p>
        </p:txBody>
      </p:sp>
      <p:pic>
        <p:nvPicPr>
          <p:cNvPr id="22534" name="Picture 5">
            <a:extLst>
              <a:ext uri="{FF2B5EF4-FFF2-40B4-BE49-F238E27FC236}">
                <a16:creationId xmlns:a16="http://schemas.microsoft.com/office/drawing/2014/main" id="{37C2D84A-C5DD-F8B9-7D54-0DCAB17DB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00702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42D6-8572-0921-7F86-B3F6AB1A356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F0C268-B83D-5DB6-5838-F6D24A923C6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865AACF-7C67-5C4B-2130-4E6E317386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105</a:t>
            </a:fld>
            <a:endParaRPr lang="en-US" altLang="en-US" sz="900">
              <a:solidFill>
                <a:srgbClr val="FFFFFF"/>
              </a:solidFill>
            </a:endParaRPr>
          </a:p>
        </p:txBody>
      </p:sp>
      <p:sp>
        <p:nvSpPr>
          <p:cNvPr id="3" name="TextBox 2">
            <a:extLst>
              <a:ext uri="{FF2B5EF4-FFF2-40B4-BE49-F238E27FC236}">
                <a16:creationId xmlns:a16="http://schemas.microsoft.com/office/drawing/2014/main" id="{FB27D98E-6B0C-10B1-681C-E7098DC2CF99}"/>
              </a:ext>
            </a:extLst>
          </p:cNvPr>
          <p:cNvSpPr txBox="1"/>
          <p:nvPr/>
        </p:nvSpPr>
        <p:spPr>
          <a:xfrm>
            <a:off x="0" y="617041"/>
            <a:ext cx="9144000" cy="4549835"/>
          </a:xfrm>
          <a:prstGeom prst="rect">
            <a:avLst/>
          </a:prstGeom>
          <a:solidFill>
            <a:schemeClr val="bg1"/>
          </a:solidFill>
        </p:spPr>
        <p:txBody>
          <a:bodyPr wrap="square">
            <a:spAutoFit/>
          </a:bodyPr>
          <a:lstStyle/>
          <a:p>
            <a:pPr>
              <a:lnSpc>
                <a:spcPct val="150000"/>
              </a:lnSpc>
            </a:pPr>
            <a:r>
              <a:rPr lang="en-US" sz="2800" dirty="0">
                <a:latin typeface="+mn-lt"/>
              </a:rPr>
              <a:t>Important 7</a:t>
            </a:r>
            <a:r>
              <a:rPr lang="en-US" sz="2800" baseline="30000" dirty="0">
                <a:latin typeface="+mn-lt"/>
              </a:rPr>
              <a:t>th</a:t>
            </a:r>
            <a:r>
              <a:rPr lang="en-US" sz="2800" dirty="0">
                <a:latin typeface="+mn-lt"/>
              </a:rPr>
              <a:t> APA rules students must follow</a:t>
            </a:r>
          </a:p>
          <a:p>
            <a:pPr marL="914400" lvl="1" indent="-457200">
              <a:lnSpc>
                <a:spcPct val="150000"/>
              </a:lnSpc>
              <a:buFont typeface="Arial" panose="020B0604020202020204" pitchFamily="34" charset="0"/>
              <a:buChar char="•"/>
            </a:pPr>
            <a:r>
              <a:rPr lang="en-US" sz="2800" dirty="0">
                <a:latin typeface="+mn-lt"/>
              </a:rPr>
              <a:t>Use a separate References page </a:t>
            </a:r>
          </a:p>
          <a:p>
            <a:pPr marL="914400" lvl="1" indent="-457200">
              <a:lnSpc>
                <a:spcPct val="150000"/>
              </a:lnSpc>
              <a:buFont typeface="Arial" panose="020B0604020202020204" pitchFamily="34" charset="0"/>
              <a:buChar char="•"/>
            </a:pPr>
            <a:r>
              <a:rPr lang="en-US" sz="2800" dirty="0">
                <a:latin typeface="+mn-lt"/>
              </a:rPr>
              <a:t>Title it: References (not “Bibliography”) </a:t>
            </a:r>
          </a:p>
          <a:p>
            <a:pPr marL="914400" lvl="1" indent="-457200">
              <a:lnSpc>
                <a:spcPct val="150000"/>
              </a:lnSpc>
              <a:buFont typeface="Arial" panose="020B0604020202020204" pitchFamily="34" charset="0"/>
              <a:buChar char="•"/>
            </a:pPr>
            <a:r>
              <a:rPr lang="en-US" sz="2800" dirty="0">
                <a:latin typeface="+mn-lt"/>
              </a:rPr>
              <a:t>List sources in alphabetical order </a:t>
            </a:r>
          </a:p>
          <a:p>
            <a:pPr marL="914400" lvl="1" indent="-457200">
              <a:lnSpc>
                <a:spcPct val="150000"/>
              </a:lnSpc>
              <a:buFont typeface="Arial" panose="020B0604020202020204" pitchFamily="34" charset="0"/>
              <a:buChar char="•"/>
            </a:pPr>
            <a:r>
              <a:rPr lang="en-US" sz="2800" dirty="0">
                <a:latin typeface="+mn-lt"/>
              </a:rPr>
              <a:t>Use hanging indent (second line indented) </a:t>
            </a:r>
          </a:p>
          <a:p>
            <a:pPr marL="914400" lvl="1" indent="-457200">
              <a:lnSpc>
                <a:spcPct val="150000"/>
              </a:lnSpc>
              <a:buFont typeface="Arial" panose="020B0604020202020204" pitchFamily="34" charset="0"/>
              <a:buChar char="•"/>
            </a:pPr>
            <a:r>
              <a:rPr lang="en-US" sz="2800" dirty="0">
                <a:latin typeface="+mn-lt"/>
              </a:rPr>
              <a:t>Use italics for book and journal titles </a:t>
            </a:r>
          </a:p>
          <a:p>
            <a:pPr marL="914400" lvl="1" indent="-457200">
              <a:lnSpc>
                <a:spcPct val="150000"/>
              </a:lnSpc>
              <a:buFont typeface="Arial" panose="020B0604020202020204" pitchFamily="34" charset="0"/>
              <a:buChar char="•"/>
            </a:pPr>
            <a:r>
              <a:rPr lang="en-US" sz="2800" dirty="0">
                <a:latin typeface="+mn-lt"/>
              </a:rPr>
              <a:t>Be consistent with formatting</a:t>
            </a:r>
          </a:p>
        </p:txBody>
      </p:sp>
      <p:pic>
        <p:nvPicPr>
          <p:cNvPr id="22534" name="Picture 5">
            <a:extLst>
              <a:ext uri="{FF2B5EF4-FFF2-40B4-BE49-F238E27FC236}">
                <a16:creationId xmlns:a16="http://schemas.microsoft.com/office/drawing/2014/main" id="{B584A855-ED4C-3F7D-FFEA-EC243B3A7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74261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B83D6-B907-87A5-096B-ACB8A1097C5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4B5866A-240B-B80C-54C1-06E0FC2B3B0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C64B707-0320-6A38-398D-DBB8014CEB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106</a:t>
            </a:fld>
            <a:endParaRPr lang="en-US" altLang="en-US" sz="900">
              <a:solidFill>
                <a:srgbClr val="FFFFFF"/>
              </a:solidFill>
            </a:endParaRPr>
          </a:p>
        </p:txBody>
      </p:sp>
      <p:sp>
        <p:nvSpPr>
          <p:cNvPr id="3" name="TextBox 2">
            <a:extLst>
              <a:ext uri="{FF2B5EF4-FFF2-40B4-BE49-F238E27FC236}">
                <a16:creationId xmlns:a16="http://schemas.microsoft.com/office/drawing/2014/main" id="{C65CA7F2-C7CE-51A6-F335-36FC98601829}"/>
              </a:ext>
            </a:extLst>
          </p:cNvPr>
          <p:cNvSpPr txBox="1"/>
          <p:nvPr/>
        </p:nvSpPr>
        <p:spPr>
          <a:xfrm>
            <a:off x="0" y="617041"/>
            <a:ext cx="9144000" cy="1315425"/>
          </a:xfrm>
          <a:prstGeom prst="rect">
            <a:avLst/>
          </a:prstGeom>
          <a:solidFill>
            <a:schemeClr val="bg1"/>
          </a:solidFill>
        </p:spPr>
        <p:txBody>
          <a:bodyPr wrap="square">
            <a:spAutoFit/>
          </a:bodyPr>
          <a:lstStyle/>
          <a:p>
            <a:pPr>
              <a:lnSpc>
                <a:spcPct val="150000"/>
              </a:lnSpc>
            </a:pPr>
            <a:r>
              <a:rPr lang="en-US" sz="2800" dirty="0">
                <a:latin typeface="+mn-lt"/>
              </a:rPr>
              <a:t>Use (Author, Year) in the text, and include full details in the References list at the end in APA 7th format.</a:t>
            </a:r>
          </a:p>
        </p:txBody>
      </p:sp>
      <p:pic>
        <p:nvPicPr>
          <p:cNvPr id="22534" name="Picture 5">
            <a:extLst>
              <a:ext uri="{FF2B5EF4-FFF2-40B4-BE49-F238E27FC236}">
                <a16:creationId xmlns:a16="http://schemas.microsoft.com/office/drawing/2014/main" id="{D57F4FAA-4E5B-2379-3621-D1E30381E8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35427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1229B-52DE-FBBF-0EA6-4B340FAFEEB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742C86-4E43-6D09-0D75-50B67890DA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A08DC26-C9CB-A503-51FD-62AE1B4254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107</a:t>
            </a:fld>
            <a:endParaRPr lang="en-US" altLang="en-US" sz="900">
              <a:solidFill>
                <a:srgbClr val="FFFFFF"/>
              </a:solidFill>
            </a:endParaRPr>
          </a:p>
        </p:txBody>
      </p:sp>
      <p:sp>
        <p:nvSpPr>
          <p:cNvPr id="3" name="TextBox 2">
            <a:extLst>
              <a:ext uri="{FF2B5EF4-FFF2-40B4-BE49-F238E27FC236}">
                <a16:creationId xmlns:a16="http://schemas.microsoft.com/office/drawing/2014/main" id="{E42E4A9C-0C63-F1A9-E24A-2206FC050C62}"/>
              </a:ext>
            </a:extLst>
          </p:cNvPr>
          <p:cNvSpPr txBox="1"/>
          <p:nvPr/>
        </p:nvSpPr>
        <p:spPr>
          <a:xfrm>
            <a:off x="0" y="617041"/>
            <a:ext cx="9144000" cy="4549835"/>
          </a:xfrm>
          <a:prstGeom prst="rect">
            <a:avLst/>
          </a:prstGeom>
          <a:solidFill>
            <a:schemeClr val="bg1"/>
          </a:solidFill>
        </p:spPr>
        <p:txBody>
          <a:bodyPr wrap="square">
            <a:spAutoFit/>
          </a:bodyPr>
          <a:lstStyle/>
          <a:p>
            <a:pPr>
              <a:lnSpc>
                <a:spcPct val="150000"/>
              </a:lnSpc>
            </a:pPr>
            <a:r>
              <a:rPr lang="en-US" sz="2800" b="1" dirty="0">
                <a:latin typeface="+mn-lt"/>
              </a:rPr>
              <a:t>Final simple advice to students</a:t>
            </a:r>
          </a:p>
          <a:p>
            <a:pPr marL="914400" lvl="1" indent="-457200">
              <a:lnSpc>
                <a:spcPct val="150000"/>
              </a:lnSpc>
              <a:buFont typeface="Arial" panose="020B0604020202020204" pitchFamily="34" charset="0"/>
              <a:buChar char="•"/>
            </a:pPr>
            <a:r>
              <a:rPr lang="en-US" sz="2800" dirty="0">
                <a:latin typeface="+mn-lt"/>
              </a:rPr>
              <a:t>Choose a relevant Forage program </a:t>
            </a:r>
          </a:p>
          <a:p>
            <a:pPr marL="914400" lvl="1" indent="-457200">
              <a:lnSpc>
                <a:spcPct val="150000"/>
              </a:lnSpc>
              <a:buFont typeface="Arial" panose="020B0604020202020204" pitchFamily="34" charset="0"/>
              <a:buChar char="•"/>
            </a:pPr>
            <a:r>
              <a:rPr lang="en-US" sz="2800" dirty="0">
                <a:latin typeface="+mn-lt"/>
              </a:rPr>
              <a:t>Take notes while completing it </a:t>
            </a:r>
          </a:p>
          <a:p>
            <a:pPr marL="914400" lvl="1" indent="-457200">
              <a:lnSpc>
                <a:spcPct val="150000"/>
              </a:lnSpc>
              <a:buFont typeface="Arial" panose="020B0604020202020204" pitchFamily="34" charset="0"/>
              <a:buChar char="•"/>
            </a:pPr>
            <a:r>
              <a:rPr lang="en-US" sz="2800" dirty="0">
                <a:latin typeface="+mn-lt"/>
              </a:rPr>
              <a:t>Use real examples in your report </a:t>
            </a:r>
          </a:p>
          <a:p>
            <a:pPr marL="914400" lvl="1" indent="-457200">
              <a:lnSpc>
                <a:spcPct val="150000"/>
              </a:lnSpc>
              <a:buFont typeface="Arial" panose="020B0604020202020204" pitchFamily="34" charset="0"/>
              <a:buChar char="•"/>
            </a:pPr>
            <a:r>
              <a:rPr lang="en-US" sz="2800" dirty="0">
                <a:latin typeface="+mn-lt"/>
              </a:rPr>
              <a:t>Focus on analysis, not description </a:t>
            </a:r>
          </a:p>
          <a:p>
            <a:pPr marL="914400" lvl="1" indent="-457200">
              <a:lnSpc>
                <a:spcPct val="150000"/>
              </a:lnSpc>
              <a:buFont typeface="Arial" panose="020B0604020202020204" pitchFamily="34" charset="0"/>
              <a:buChar char="•"/>
            </a:pPr>
            <a:r>
              <a:rPr lang="en-US" sz="2800" dirty="0">
                <a:latin typeface="+mn-lt"/>
              </a:rPr>
              <a:t>Link everything to SLO1 and SLO2 </a:t>
            </a:r>
          </a:p>
          <a:p>
            <a:pPr marL="914400" lvl="1" indent="-457200">
              <a:lnSpc>
                <a:spcPct val="150000"/>
              </a:lnSpc>
              <a:buFont typeface="Arial" panose="020B0604020202020204" pitchFamily="34" charset="0"/>
              <a:buChar char="•"/>
            </a:pPr>
            <a:r>
              <a:rPr lang="en-US" sz="2800" dirty="0">
                <a:latin typeface="+mn-lt"/>
              </a:rPr>
              <a:t>Reflect on what you learned </a:t>
            </a:r>
          </a:p>
        </p:txBody>
      </p:sp>
      <p:pic>
        <p:nvPicPr>
          <p:cNvPr id="22534" name="Picture 5">
            <a:extLst>
              <a:ext uri="{FF2B5EF4-FFF2-40B4-BE49-F238E27FC236}">
                <a16:creationId xmlns:a16="http://schemas.microsoft.com/office/drawing/2014/main" id="{4AD6A746-6EE3-33FA-FEF4-21B780F6F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49323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B018-F4F0-5830-E176-D41FAB43CA6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D56BB0-CBB4-0B20-FDFB-BE978457DD6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F9FCFFB-C3DA-ADAE-D607-A3A9FFA1888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108</a:t>
            </a:fld>
            <a:endParaRPr lang="en-US" altLang="en-US" sz="900">
              <a:solidFill>
                <a:srgbClr val="FFFFFF"/>
              </a:solidFill>
            </a:endParaRPr>
          </a:p>
        </p:txBody>
      </p:sp>
      <p:sp>
        <p:nvSpPr>
          <p:cNvPr id="3" name="TextBox 2">
            <a:extLst>
              <a:ext uri="{FF2B5EF4-FFF2-40B4-BE49-F238E27FC236}">
                <a16:creationId xmlns:a16="http://schemas.microsoft.com/office/drawing/2014/main" id="{CF6E25A8-011C-C114-2DCF-676E6897A69D}"/>
              </a:ext>
            </a:extLst>
          </p:cNvPr>
          <p:cNvSpPr txBox="1"/>
          <p:nvPr/>
        </p:nvSpPr>
        <p:spPr>
          <a:xfrm>
            <a:off x="0" y="691484"/>
            <a:ext cx="9144000" cy="5842497"/>
          </a:xfrm>
          <a:prstGeom prst="rect">
            <a:avLst/>
          </a:prstGeom>
          <a:solidFill>
            <a:schemeClr val="bg1"/>
          </a:solidFill>
        </p:spPr>
        <p:txBody>
          <a:bodyPr wrap="square">
            <a:spAutoFit/>
          </a:bodyPr>
          <a:lstStyle/>
          <a:p>
            <a:pPr>
              <a:lnSpc>
                <a:spcPct val="150000"/>
              </a:lnSpc>
            </a:pPr>
            <a:r>
              <a:rPr lang="en-US" sz="2800" b="1" dirty="0">
                <a:latin typeface="+mn-lt"/>
              </a:rPr>
              <a:t>One-paragraph explanation students can remember</a:t>
            </a:r>
          </a:p>
          <a:p>
            <a:pPr>
              <a:lnSpc>
                <a:spcPct val="150000"/>
              </a:lnSpc>
            </a:pPr>
            <a:r>
              <a:rPr lang="en-US" sz="2800" dirty="0">
                <a:latin typeface="+mn-lt"/>
              </a:rPr>
              <a:t>Assessment 3 requires you to complete a Forage virtual internship and write a reflective report </a:t>
            </a:r>
            <a:r>
              <a:rPr lang="en-US" sz="2800" dirty="0" err="1">
                <a:latin typeface="+mn-lt"/>
              </a:rPr>
              <a:t>analysing</a:t>
            </a:r>
            <a:r>
              <a:rPr lang="en-US" sz="2800" dirty="0">
                <a:latin typeface="+mn-lt"/>
              </a:rPr>
              <a:t> how the experience demonstrated the design process and the evaluation of technology options. It builds on Assessment 2 by moving from group-based project planning to individual reflection on real-world decision-making. A strong report uses clear examples, explains them properly, and shows what you learned about IT and business project development.</a:t>
            </a:r>
          </a:p>
        </p:txBody>
      </p:sp>
      <p:pic>
        <p:nvPicPr>
          <p:cNvPr id="22534" name="Picture 5">
            <a:extLst>
              <a:ext uri="{FF2B5EF4-FFF2-40B4-BE49-F238E27FC236}">
                <a16:creationId xmlns:a16="http://schemas.microsoft.com/office/drawing/2014/main" id="{040CCE9A-DF21-6BEC-AE78-B1BB82727F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14602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05458-D0A3-6392-DDD8-F6CA36EE98C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1FD82A6-AA48-52A8-F897-317BC0ADB9A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EF67B4E-8102-1E8A-B289-D69BC14A0269}"/>
              </a:ext>
            </a:extLst>
          </p:cNvPr>
          <p:cNvSpPr>
            <a:spLocks noGrp="1" noChangeArrowheads="1"/>
          </p:cNvSpPr>
          <p:nvPr>
            <p:ph idx="1"/>
          </p:nvPr>
        </p:nvSpPr>
        <p:spPr>
          <a:xfrm>
            <a:off x="558006" y="1835151"/>
            <a:ext cx="8027988" cy="3776662"/>
          </a:xfrm>
        </p:spPr>
        <p:txBody>
          <a:bodyPr/>
          <a:lstStyle/>
          <a:p>
            <a:pPr marL="342900" lvl="0" indent="-342900">
              <a:buSzPts val="1000"/>
              <a:buFont typeface="Symbol" panose="05050102010706020507" pitchFamily="18" charset="2"/>
              <a:buChar char=""/>
              <a:tabLst>
                <a:tab pos="457200" algn="l"/>
              </a:tabLst>
            </a:pPr>
            <a:r>
              <a:rPr lang="en-AU" sz="2800" dirty="0">
                <a:effectLst/>
                <a:latin typeface="Times New Roman" panose="02020603050405020304" pitchFamily="18" charset="0"/>
                <a:ea typeface="Times New Roman" panose="02020603050405020304" pitchFamily="18" charset="0"/>
              </a:rPr>
              <a:t>Criteria for selecting technology solutions</a:t>
            </a:r>
          </a:p>
          <a:p>
            <a:pPr marL="342900" lvl="0" indent="-342900">
              <a:buSzPts val="1000"/>
              <a:buFont typeface="Symbol" panose="05050102010706020507" pitchFamily="18" charset="2"/>
              <a:buChar char=""/>
              <a:tabLst>
                <a:tab pos="457200" algn="l"/>
              </a:tabLst>
            </a:pPr>
            <a:r>
              <a:rPr lang="en-AU" sz="2800" dirty="0">
                <a:effectLst/>
                <a:latin typeface="Times New Roman" panose="02020603050405020304" pitchFamily="18" charset="0"/>
                <a:ea typeface="Times New Roman" panose="02020603050405020304" pitchFamily="18" charset="0"/>
              </a:rPr>
              <a:t>Comparative analysis of different technologies</a:t>
            </a:r>
          </a:p>
          <a:p>
            <a:pPr marL="342900" lvl="0" indent="-342900">
              <a:buSzPts val="1000"/>
              <a:buFont typeface="Symbol" panose="05050102010706020507" pitchFamily="18" charset="2"/>
              <a:buChar char=""/>
              <a:tabLst>
                <a:tab pos="457200" algn="l"/>
              </a:tabLst>
            </a:pPr>
            <a:r>
              <a:rPr lang="en-AU" sz="2800" dirty="0">
                <a:effectLst/>
                <a:latin typeface="Times New Roman" panose="02020603050405020304" pitchFamily="18" charset="0"/>
                <a:ea typeface="Times New Roman" panose="02020603050405020304" pitchFamily="18" charset="0"/>
              </a:rPr>
              <a:t>Impact of Emerging Technologies on Design Choices </a:t>
            </a:r>
          </a:p>
          <a:p>
            <a:pPr marL="342900" lvl="0" indent="-342900">
              <a:buSzPts val="1000"/>
              <a:buFont typeface="Symbol" panose="05050102010706020507" pitchFamily="18" charset="2"/>
              <a:buChar char=""/>
              <a:tabLst>
                <a:tab pos="457200" algn="l"/>
              </a:tabLst>
            </a:pPr>
            <a:r>
              <a:rPr lang="en-AU" sz="2800" dirty="0">
                <a:effectLst/>
                <a:latin typeface="Times New Roman" panose="02020603050405020304" pitchFamily="18" charset="0"/>
                <a:ea typeface="Times New Roman" panose="02020603050405020304" pitchFamily="18" charset="0"/>
              </a:rPr>
              <a:t>Risk Assessment in Design Option Evaluation</a:t>
            </a:r>
          </a:p>
          <a:p>
            <a:pPr marL="342900" lvl="0" indent="-342900">
              <a:buSzPts val="1000"/>
              <a:buFont typeface="Symbol" panose="05050102010706020507" pitchFamily="18" charset="2"/>
              <a:buChar char=""/>
              <a:tabLst>
                <a:tab pos="457200" algn="l"/>
              </a:tabLst>
            </a:pPr>
            <a:r>
              <a:rPr lang="en-AU" sz="2800" dirty="0">
                <a:effectLst/>
                <a:latin typeface="Times New Roman" panose="02020603050405020304" pitchFamily="18" charset="0"/>
                <a:ea typeface="Times New Roman" panose="02020603050405020304" pitchFamily="18" charset="0"/>
              </a:rPr>
              <a:t>User-</a:t>
            </a:r>
            <a:r>
              <a:rPr lang="en-AU" sz="2800" dirty="0" err="1">
                <a:effectLst/>
                <a:latin typeface="Times New Roman" panose="02020603050405020304" pitchFamily="18" charset="0"/>
                <a:ea typeface="Times New Roman" panose="02020603050405020304" pitchFamily="18" charset="0"/>
              </a:rPr>
              <a:t>Centered</a:t>
            </a:r>
            <a:r>
              <a:rPr lang="en-AU" sz="2800" dirty="0">
                <a:effectLst/>
                <a:latin typeface="Times New Roman" panose="02020603050405020304" pitchFamily="18" charset="0"/>
                <a:ea typeface="Times New Roman" panose="02020603050405020304" pitchFamily="18" charset="0"/>
              </a:rPr>
              <a:t> Design Approaches in IT Projects</a:t>
            </a:r>
          </a:p>
        </p:txBody>
      </p:sp>
      <p:sp>
        <p:nvSpPr>
          <p:cNvPr id="2" name="Footer Placeholder 1">
            <a:extLst>
              <a:ext uri="{FF2B5EF4-FFF2-40B4-BE49-F238E27FC236}">
                <a16:creationId xmlns:a16="http://schemas.microsoft.com/office/drawing/2014/main" id="{167D88B3-2F1A-98F7-E83C-48DF7AD2454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319D671-7DE3-CC0B-D4D1-8256A4D2E7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109</a:t>
            </a:fld>
            <a:endParaRPr lang="en-US" altLang="en-US" sz="900">
              <a:solidFill>
                <a:srgbClr val="FFFFFF"/>
              </a:solidFill>
            </a:endParaRPr>
          </a:p>
        </p:txBody>
      </p:sp>
      <p:pic>
        <p:nvPicPr>
          <p:cNvPr id="22534" name="Picture 5">
            <a:extLst>
              <a:ext uri="{FF2B5EF4-FFF2-40B4-BE49-F238E27FC236}">
                <a16:creationId xmlns:a16="http://schemas.microsoft.com/office/drawing/2014/main" id="{B9989C61-49B0-566F-CC19-54CC860778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37343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4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1800" b="0" i="0" u="none" strike="noStrike" baseline="0" dirty="0">
              <a:solidFill>
                <a:srgbClr val="000000"/>
              </a:solidFill>
              <a:latin typeface="Arial" panose="020B0604020202020204" pitchFamily="34" charset="0"/>
            </a:endParaRPr>
          </a:p>
          <a:p>
            <a:r>
              <a:rPr lang="en-AU" sz="1800" b="0" i="0" u="none" strike="noStrike" baseline="0" dirty="0">
                <a:solidFill>
                  <a:srgbClr val="4B1858"/>
                </a:solidFill>
                <a:highlight>
                  <a:srgbClr val="FFFF00"/>
                </a:highlight>
                <a:latin typeface="Arial" panose="020B0604020202020204" pitchFamily="34" charset="0"/>
              </a:rPr>
              <a:t>YouTube Video: </a:t>
            </a:r>
          </a:p>
          <a:p>
            <a:endParaRPr lang="en-AU" sz="1800" b="0" i="0" u="none" strike="noStrike" baseline="0" dirty="0">
              <a:solidFill>
                <a:srgbClr val="4B1858"/>
              </a:solidFill>
              <a:highlight>
                <a:srgbClr val="FFFF00"/>
              </a:highlight>
              <a:latin typeface="Arial" panose="020B0604020202020204" pitchFamily="34" charset="0"/>
            </a:endParaRPr>
          </a:p>
          <a:p>
            <a:r>
              <a:rPr lang="en-AU" sz="1800" dirty="0">
                <a:solidFill>
                  <a:srgbClr val="4B1858"/>
                </a:solidFill>
                <a:latin typeface="Arial" panose="020B0604020202020204" pitchFamily="34" charset="0"/>
              </a:rPr>
              <a:t>UML Diagrams Full Course:</a:t>
            </a:r>
          </a:p>
          <a:p>
            <a:r>
              <a:rPr lang="en-AU" sz="1800" b="0" i="0" u="none" strike="noStrike" baseline="0" dirty="0">
                <a:solidFill>
                  <a:srgbClr val="4B1858"/>
                </a:solidFill>
                <a:latin typeface="Arial" panose="020B0604020202020204" pitchFamily="34" charset="0"/>
                <a:hlinkClick r:id="rId2"/>
              </a:rPr>
              <a:t>https://www.youtube.com/watch?v=WnMQ8HlmeXc&amp;t=170s</a:t>
            </a:r>
            <a:endParaRPr lang="en-AU" sz="1800" b="0" i="0" u="none" strike="noStrike" baseline="0" dirty="0">
              <a:solidFill>
                <a:srgbClr val="4B1858"/>
              </a:solidFill>
              <a:latin typeface="Arial" panose="020B0604020202020204" pitchFamily="34" charset="0"/>
            </a:endParaRPr>
          </a:p>
          <a:p>
            <a:endParaRPr lang="en-AU" sz="30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110</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4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lvl="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Introduction to Modelling</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What is UML? </a:t>
            </a:r>
            <a:endParaRPr lang="en-AU" sz="2400"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Use case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Class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Sequence diagrams </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Activity diagrams </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Best Practices in Choosing UML Diagrams </a:t>
            </a:r>
            <a:r>
              <a:rPr lang="en-US" altLang="zh-CN" sz="2400" dirty="0">
                <a:latin typeface="Times New Roman" panose="02020603050405020304" pitchFamily="18" charset="0"/>
              </a:rPr>
              <a:t>in </a:t>
            </a:r>
            <a:r>
              <a:rPr lang="en-AU" sz="2400" dirty="0">
                <a:latin typeface="Times New Roman" panose="02020603050405020304" pitchFamily="18" charset="0"/>
              </a:rPr>
              <a:t>IT Projects</a:t>
            </a:r>
          </a:p>
          <a:p>
            <a:pPr marL="342900" lvl="0" indent="-342900">
              <a:buSzPts val="1000"/>
              <a:buFont typeface="Symbol" panose="05050102010706020507" pitchFamily="18" charset="2"/>
              <a:buChar char=""/>
              <a:tabLst>
                <a:tab pos="457200" algn="l"/>
              </a:tabLst>
            </a:pPr>
            <a:r>
              <a:rPr lang="en-AU" sz="2400" dirty="0">
                <a:effectLst/>
                <a:latin typeface="Times New Roman" panose="02020603050405020304" pitchFamily="18" charset="0"/>
                <a:ea typeface="Times New Roman" panose="02020603050405020304" pitchFamily="18" charset="0"/>
              </a:rPr>
              <a:t>Summary</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111</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52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Pre-Class Discussion</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lgn="just" eaLnBrk="1" hangingPunct="1">
              <a:buClr>
                <a:schemeClr val="hlink"/>
              </a:buClr>
              <a:buNone/>
            </a:pPr>
            <a:r>
              <a:rPr lang="en-AU" sz="2800" dirty="0"/>
              <a:t>What is Data Modelling? </a:t>
            </a:r>
          </a:p>
          <a:p>
            <a:pPr marL="0" indent="0" algn="just" eaLnBrk="1" hangingPunct="1">
              <a:buClr>
                <a:schemeClr val="hlink"/>
              </a:buClr>
              <a:buNone/>
            </a:pPr>
            <a:r>
              <a:rPr lang="en-AU" sz="2800" dirty="0"/>
              <a:t>Why it's important in IT project?</a:t>
            </a:r>
          </a:p>
          <a:p>
            <a:pPr marL="0" indent="0" algn="just" eaLnBrk="1" hangingPunct="1">
              <a:buClr>
                <a:schemeClr val="hlink"/>
              </a:buClr>
              <a:buNone/>
            </a:pPr>
            <a:r>
              <a:rPr lang="en-AU" sz="2800" dirty="0"/>
              <a:t>What tools you can use to implement it?</a:t>
            </a:r>
          </a:p>
          <a:p>
            <a:pPr marL="0" indent="0" algn="just" eaLnBrk="1" hangingPunct="1">
              <a:buClr>
                <a:schemeClr val="hlink"/>
              </a:buClr>
              <a:buNone/>
            </a:pPr>
            <a:endParaRPr lang="en-AU" altLang="en-US" sz="3000" dirty="0"/>
          </a:p>
          <a:p>
            <a:pPr marL="0" indent="0" algn="just" eaLnBrk="1" hangingPunct="1">
              <a:buClr>
                <a:schemeClr val="hlink"/>
              </a:buClr>
              <a:buNone/>
            </a:pPr>
            <a:r>
              <a:rPr lang="en-AU" altLang="en-US" sz="3000" dirty="0">
                <a:highlight>
                  <a:srgbClr val="FFFF00"/>
                </a:highlight>
              </a:rPr>
              <a:t>Y</a:t>
            </a:r>
            <a:r>
              <a:rPr lang="en-US" altLang="zh-CN" sz="3000" dirty="0" err="1">
                <a:highlight>
                  <a:srgbClr val="FFFF00"/>
                </a:highlight>
              </a:rPr>
              <a:t>outube</a:t>
            </a:r>
            <a:r>
              <a:rPr lang="en-US" altLang="zh-CN" sz="3000" dirty="0">
                <a:highlight>
                  <a:srgbClr val="FFFF00"/>
                </a:highlight>
              </a:rPr>
              <a:t>:</a:t>
            </a:r>
          </a:p>
          <a:p>
            <a:pPr marL="0" indent="0" algn="just" eaLnBrk="1" hangingPunct="1">
              <a:buClr>
                <a:schemeClr val="hlink"/>
              </a:buClr>
              <a:buNone/>
            </a:pPr>
            <a:r>
              <a:rPr lang="en-AU" sz="2800" b="1" i="0" dirty="0">
                <a:solidFill>
                  <a:srgbClr val="0F0F0F"/>
                </a:solidFill>
                <a:effectLst/>
                <a:highlight>
                  <a:srgbClr val="FFFFFF"/>
                </a:highlight>
                <a:latin typeface="Roboto" panose="02000000000000000000" pitchFamily="2" charset="0"/>
                <a:hlinkClick r:id="rId2"/>
              </a:rPr>
              <a:t>https://www.youtube.com/watch?v=CUR6rKrIEGc</a:t>
            </a:r>
            <a:endParaRPr lang="en-AU" sz="2800" b="1" i="0" dirty="0">
              <a:solidFill>
                <a:srgbClr val="0F0F0F"/>
              </a:solidFill>
              <a:effectLst/>
              <a:highlight>
                <a:srgbClr val="FFFFFF"/>
              </a:highlight>
              <a:latin typeface="Roboto" panose="02000000000000000000" pitchFamily="2" charset="0"/>
            </a:endParaRPr>
          </a:p>
          <a:p>
            <a:pPr marL="0" indent="0" algn="just" eaLnBrk="1" hangingPunct="1">
              <a:buClr>
                <a:schemeClr val="hlink"/>
              </a:buClr>
              <a:buNone/>
            </a:pPr>
            <a:endParaRPr lang="en-US" altLang="en-US" sz="3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103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367850" y="913504"/>
            <a:ext cx="9016998" cy="863600"/>
          </a:xfrm>
        </p:spPr>
        <p:txBody>
          <a:bodyPr>
            <a:noAutofit/>
          </a:bodyPr>
          <a:lstStyle/>
          <a:p>
            <a:pPr algn="ctr" eaLnBrk="1" fontAlgn="auto" hangingPunct="1">
              <a:spcAft>
                <a:spcPts val="0"/>
              </a:spcAft>
              <a:defRPr/>
            </a:pPr>
            <a:r>
              <a:rPr lang="en-AU" sz="4000" b="1" dirty="0">
                <a:solidFill>
                  <a:srgbClr val="00B0F0"/>
                </a:solidFill>
              </a:rPr>
              <a:t>What is modelling?</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F359124A-DF24-84E6-C607-E9689AA4A89E}"/>
              </a:ext>
            </a:extLst>
          </p:cNvPr>
          <p:cNvSpPr>
            <a:spLocks noGrp="1"/>
          </p:cNvSpPr>
          <p:nvPr>
            <p:ph idx="1"/>
          </p:nvPr>
        </p:nvSpPr>
        <p:spPr/>
        <p:txBody>
          <a:bodyPr/>
          <a:lstStyle/>
          <a:p>
            <a:pPr marL="0" indent="0">
              <a:buNone/>
            </a:pPr>
            <a:endParaRPr lang="en-AU" dirty="0"/>
          </a:p>
        </p:txBody>
      </p:sp>
      <p:pic>
        <p:nvPicPr>
          <p:cNvPr id="4" name="Picture 2">
            <a:extLst>
              <a:ext uri="{FF2B5EF4-FFF2-40B4-BE49-F238E27FC236}">
                <a16:creationId xmlns:a16="http://schemas.microsoft.com/office/drawing/2014/main" id="{F4381692-89D8-C638-3D0B-A1A898806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846263"/>
            <a:ext cx="7418033" cy="417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6112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Modelling</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marL="90488" lvl="1" indent="-90488">
              <a:spcBef>
                <a:spcPts val="1200"/>
              </a:spcBef>
              <a:spcAft>
                <a:spcPts val="200"/>
              </a:spcAft>
              <a:buSzPct val="100000"/>
              <a:buFont typeface="Calibri" panose="020F0502020204030204" pitchFamily="34" charset="0"/>
              <a:buChar char=" "/>
            </a:pPr>
            <a:r>
              <a:rPr lang="en-AU" altLang="en-US" sz="2400" b="1" dirty="0">
                <a:solidFill>
                  <a:schemeClr val="accent2">
                    <a:lumMod val="75000"/>
                  </a:schemeClr>
                </a:solidFill>
              </a:rPr>
              <a:t>Definition of Modelling:</a:t>
            </a:r>
          </a:p>
          <a:p>
            <a:pPr lvl="1">
              <a:buFont typeface="Arial" panose="020B0604020202020204" pitchFamily="34" charset="0"/>
              <a:buChar char="•"/>
            </a:pPr>
            <a:r>
              <a:rPr lang="en-AU" altLang="en-US" sz="2000" dirty="0"/>
              <a:t>Modelling is the process of creating a simplified representation of a system to understand, analyse, and communicate its structure and </a:t>
            </a:r>
            <a:r>
              <a:rPr lang="en-AU" altLang="en-US" sz="2000" dirty="0" err="1"/>
              <a:t>behavior</a:t>
            </a:r>
            <a:r>
              <a:rPr lang="en-AU" altLang="en-US" sz="2000" dirty="0"/>
              <a:t>.</a:t>
            </a:r>
          </a:p>
          <a:p>
            <a:pPr marL="200025" lvl="1" indent="0">
              <a:buNone/>
            </a:pPr>
            <a:endParaRPr lang="en-AU" altLang="en-US" sz="2000" dirty="0"/>
          </a:p>
          <a:p>
            <a:pPr marL="90488" lvl="1" indent="-90488">
              <a:spcBef>
                <a:spcPts val="1200"/>
              </a:spcBef>
              <a:spcAft>
                <a:spcPts val="200"/>
              </a:spcAft>
              <a:buSzPct val="100000"/>
              <a:buFont typeface="Calibri" panose="020F0502020204030204" pitchFamily="34" charset="0"/>
              <a:buChar char=" "/>
            </a:pPr>
            <a:r>
              <a:rPr lang="en-AU" altLang="en-US" sz="2400" b="1" dirty="0">
                <a:solidFill>
                  <a:schemeClr val="accent2">
                    <a:lumMod val="75000"/>
                  </a:schemeClr>
                </a:solidFill>
              </a:rPr>
              <a:t>Importance of Modelling:</a:t>
            </a:r>
          </a:p>
          <a:p>
            <a:pPr lvl="1">
              <a:buFont typeface="Arial" panose="020B0604020202020204" pitchFamily="34" charset="0"/>
              <a:buChar char="•"/>
            </a:pPr>
            <a:r>
              <a:rPr lang="en-AU" altLang="en-US" sz="2000" dirty="0"/>
              <a:t>Helps visualise complex systems</a:t>
            </a:r>
          </a:p>
          <a:p>
            <a:pPr lvl="1">
              <a:buFont typeface="Arial" panose="020B0604020202020204" pitchFamily="34" charset="0"/>
              <a:buChar char="•"/>
            </a:pPr>
            <a:r>
              <a:rPr lang="en-AU" altLang="en-US" sz="2000" dirty="0"/>
              <a:t>Facilitates communication among stakeholders</a:t>
            </a:r>
          </a:p>
          <a:p>
            <a:pPr lvl="1">
              <a:buFont typeface="Arial" panose="020B0604020202020204" pitchFamily="34" charset="0"/>
              <a:buChar char="•"/>
            </a:pPr>
            <a:r>
              <a:rPr lang="en-AU" altLang="en-US" sz="2000" dirty="0"/>
              <a:t>Serves as a blueprint for system development</a:t>
            </a:r>
          </a:p>
          <a:p>
            <a:pPr lvl="1">
              <a:buFont typeface="Arial" panose="020B0604020202020204" pitchFamily="34" charset="0"/>
              <a:buChar char="•"/>
            </a:pPr>
            <a:endParaRPr lang="en-AU" altLang="en-US" sz="2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53358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Introduction to Modelling</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marL="90488" lvl="1" indent="-90488">
              <a:spcBef>
                <a:spcPts val="1200"/>
              </a:spcBef>
              <a:spcAft>
                <a:spcPts val="200"/>
              </a:spcAft>
              <a:buSzPct val="100000"/>
              <a:buFont typeface="Calibri" panose="020F0502020204030204" pitchFamily="34" charset="0"/>
              <a:buChar char=" "/>
            </a:pPr>
            <a:r>
              <a:rPr lang="en-AU" sz="2400" b="1" dirty="0">
                <a:solidFill>
                  <a:schemeClr val="accent2">
                    <a:lumMod val="75000"/>
                  </a:schemeClr>
                </a:solidFill>
              </a:rPr>
              <a:t>Types of Models: </a:t>
            </a:r>
          </a:p>
          <a:p>
            <a:pPr>
              <a:buFont typeface="Arial" panose="020B0604020202020204" pitchFamily="34" charset="0"/>
              <a:buChar char="•"/>
            </a:pPr>
            <a:r>
              <a:rPr lang="en-AU" b="1" dirty="0"/>
              <a:t>Conceptual Models:</a:t>
            </a:r>
            <a:r>
              <a:rPr lang="en-AU" dirty="0"/>
              <a:t> </a:t>
            </a:r>
          </a:p>
          <a:p>
            <a:pPr lvl="1">
              <a:buFont typeface="Arial" panose="020B0604020202020204" pitchFamily="34" charset="0"/>
              <a:buChar char="•"/>
            </a:pPr>
            <a:r>
              <a:rPr lang="en-AU" sz="2000" dirty="0"/>
              <a:t>High-level representation of concepts and relationships (e.g., ER diagrams)</a:t>
            </a:r>
          </a:p>
          <a:p>
            <a:pPr>
              <a:buFont typeface="Arial" panose="020B0604020202020204" pitchFamily="34" charset="0"/>
              <a:buChar char="•"/>
            </a:pPr>
            <a:r>
              <a:rPr lang="en-AU" b="1" dirty="0"/>
              <a:t>Logical Models:</a:t>
            </a:r>
            <a:r>
              <a:rPr lang="en-AU" dirty="0"/>
              <a:t> </a:t>
            </a:r>
          </a:p>
          <a:p>
            <a:pPr lvl="1">
              <a:buFont typeface="Arial" panose="020B0604020202020204" pitchFamily="34" charset="0"/>
              <a:buChar char="•"/>
            </a:pPr>
            <a:r>
              <a:rPr lang="en-AU" sz="2000" dirty="0"/>
              <a:t>Detailed representation of system components and interactions (e.g., UML diagrams)</a:t>
            </a:r>
          </a:p>
          <a:p>
            <a:pPr>
              <a:buFont typeface="Arial" panose="020B0604020202020204" pitchFamily="34" charset="0"/>
              <a:buChar char="•"/>
            </a:pPr>
            <a:r>
              <a:rPr lang="en-AU" b="1" dirty="0"/>
              <a:t>Physical Models:</a:t>
            </a:r>
            <a:r>
              <a:rPr lang="en-AU" dirty="0"/>
              <a:t> </a:t>
            </a:r>
          </a:p>
          <a:p>
            <a:pPr lvl="1">
              <a:buFont typeface="Arial" panose="020B0604020202020204" pitchFamily="34" charset="0"/>
              <a:buChar char="•"/>
            </a:pPr>
            <a:r>
              <a:rPr lang="en-AU" sz="2000" dirty="0"/>
              <a:t>Concrete implementation of the system (e.g., database schemas)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823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The Role of Modelling in IT Project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Visualisation of Complex Systems:</a:t>
            </a:r>
            <a:endParaRPr lang="en-AU" dirty="0"/>
          </a:p>
          <a:p>
            <a:pPr marL="742950" lvl="1" indent="-285750">
              <a:buFont typeface="Arial" panose="020B0604020202020204" pitchFamily="34" charset="0"/>
              <a:buChar char="•"/>
            </a:pPr>
            <a:r>
              <a:rPr lang="en-AU" dirty="0"/>
              <a:t>Models help stakeholders understand the overall architecture and flow of a system.</a:t>
            </a:r>
          </a:p>
          <a:p>
            <a:pPr>
              <a:buFont typeface="Arial" panose="020B0604020202020204" pitchFamily="34" charset="0"/>
              <a:buChar char="•"/>
            </a:pPr>
            <a:r>
              <a:rPr lang="en-AU" b="1" dirty="0"/>
              <a:t>Facilitating Communication:</a:t>
            </a:r>
            <a:endParaRPr lang="en-AU" dirty="0"/>
          </a:p>
          <a:p>
            <a:pPr marL="742950" lvl="1" indent="-285750">
              <a:buFont typeface="Arial" panose="020B0604020202020204" pitchFamily="34" charset="0"/>
              <a:buChar char="•"/>
            </a:pPr>
            <a:r>
              <a:rPr lang="en-AU" dirty="0"/>
              <a:t>Common language for developers, clients, and project managers.</a:t>
            </a:r>
          </a:p>
          <a:p>
            <a:pPr>
              <a:buFont typeface="Arial" panose="020B0604020202020204" pitchFamily="34" charset="0"/>
              <a:buChar char="•"/>
            </a:pPr>
            <a:r>
              <a:rPr lang="en-AU" b="1" dirty="0"/>
              <a:t>Documentation:</a:t>
            </a:r>
            <a:endParaRPr lang="en-AU" dirty="0"/>
          </a:p>
          <a:p>
            <a:pPr marL="742950" lvl="1" indent="-285750">
              <a:buFont typeface="Arial" panose="020B0604020202020204" pitchFamily="34" charset="0"/>
              <a:buChar char="•"/>
            </a:pPr>
            <a:r>
              <a:rPr lang="en-AU" dirty="0"/>
              <a:t>Models serve as a detailed record of system design and requirements.</a:t>
            </a:r>
          </a:p>
          <a:p>
            <a:pPr>
              <a:buFont typeface="Arial" panose="020B0604020202020204" pitchFamily="34" charset="0"/>
              <a:buChar char="•"/>
            </a:pPr>
            <a:r>
              <a:rPr lang="en-AU" b="1" dirty="0"/>
              <a:t>Supporting System Analysis and Design:</a:t>
            </a:r>
            <a:endParaRPr lang="en-AU" dirty="0"/>
          </a:p>
          <a:p>
            <a:pPr marL="742950" lvl="1" indent="-285750">
              <a:buFont typeface="Arial" panose="020B0604020202020204" pitchFamily="34" charset="0"/>
              <a:buChar char="•"/>
            </a:pPr>
            <a:r>
              <a:rPr lang="en-AU" dirty="0"/>
              <a:t>Identify potential issues and optimise design before implementation.</a:t>
            </a:r>
          </a:p>
          <a:p>
            <a:r>
              <a:rPr lang="en-AU" b="1" i="1" dirty="0"/>
              <a:t>Example: </a:t>
            </a:r>
            <a:r>
              <a:rPr lang="en-AU" i="1" dirty="0"/>
              <a:t>A conceptual model of an online bookstore showing entities such as Customers, Orders, and Books, and their relationships.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96644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Modelling Techniques and Tools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Popular Modelling Techniques:</a:t>
            </a:r>
          </a:p>
          <a:p>
            <a:pPr lvl="1">
              <a:buFont typeface="Arial" panose="020B0604020202020204" pitchFamily="34" charset="0"/>
              <a:buChar char="•"/>
            </a:pPr>
            <a:r>
              <a:rPr lang="en-AU" sz="2000" dirty="0"/>
              <a:t>ER Diagrams: Represent entities and relationships in a database.</a:t>
            </a:r>
          </a:p>
          <a:p>
            <a:pPr lvl="1">
              <a:buFont typeface="Arial" panose="020B0604020202020204" pitchFamily="34" charset="0"/>
              <a:buChar char="•"/>
            </a:pPr>
            <a:r>
              <a:rPr lang="en-AU" sz="2000" dirty="0"/>
              <a:t>Flowcharts: Visualise process flows.</a:t>
            </a:r>
          </a:p>
          <a:p>
            <a:pPr lvl="1">
              <a:buFont typeface="Arial" panose="020B0604020202020204" pitchFamily="34" charset="0"/>
              <a:buChar char="•"/>
            </a:pPr>
            <a:r>
              <a:rPr lang="en-AU" sz="2000" dirty="0"/>
              <a:t>Data Flow Diagrams (DFD): Show data movement within a system.</a:t>
            </a:r>
          </a:p>
          <a:p>
            <a:pPr marL="200025" lvl="1" indent="0">
              <a:buNone/>
            </a:pPr>
            <a:endParaRPr lang="en-AU" sz="2000" dirty="0"/>
          </a:p>
          <a:p>
            <a:pPr>
              <a:buFont typeface="Arial" panose="020B0604020202020204" pitchFamily="34" charset="0"/>
              <a:buChar char="•"/>
            </a:pPr>
            <a:r>
              <a:rPr lang="en-AU" b="1" dirty="0"/>
              <a:t>Modelling Tools:</a:t>
            </a:r>
          </a:p>
          <a:p>
            <a:pPr lvl="1">
              <a:buFont typeface="Arial" panose="020B0604020202020204" pitchFamily="34" charset="0"/>
              <a:buChar char="•"/>
            </a:pPr>
            <a:r>
              <a:rPr lang="en-AU" sz="2000" dirty="0" err="1"/>
              <a:t>Lucidchart</a:t>
            </a:r>
            <a:r>
              <a:rPr lang="en-AU" sz="2000" dirty="0"/>
              <a:t>: Online diagramming tool for creating flowcharts and UML diagrams.</a:t>
            </a:r>
          </a:p>
          <a:p>
            <a:pPr lvl="1">
              <a:buFont typeface="Arial" panose="020B0604020202020204" pitchFamily="34" charset="0"/>
              <a:buChar char="•"/>
            </a:pPr>
            <a:r>
              <a:rPr lang="en-AU" sz="2000" dirty="0"/>
              <a:t>Microsoft Visio: Diagramming software for creating various types of diagrams.</a:t>
            </a:r>
          </a:p>
          <a:p>
            <a:pPr lvl="1">
              <a:buFont typeface="Arial" panose="020B0604020202020204" pitchFamily="34" charset="0"/>
              <a:buChar char="•"/>
            </a:pPr>
            <a:r>
              <a:rPr lang="en-AU" sz="2000" dirty="0"/>
              <a:t>Draw.io: Free online tool for creating diagrams and flowcharts.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94900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What is UML?</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Definition and History of UML:</a:t>
            </a:r>
          </a:p>
          <a:p>
            <a:pPr lvl="1">
              <a:buFont typeface="Arial" panose="020B0604020202020204" pitchFamily="34" charset="0"/>
              <a:buChar char="•"/>
            </a:pPr>
            <a:r>
              <a:rPr lang="en-AU" dirty="0"/>
              <a:t>UML (Unified Modelling Language) is a standardised modelling language developed by Object Management Group (OMG) in the 1990s.</a:t>
            </a:r>
          </a:p>
          <a:p>
            <a:pPr>
              <a:buFont typeface="Arial" panose="020B0604020202020204" pitchFamily="34" charset="0"/>
              <a:buChar char="•"/>
            </a:pPr>
            <a:r>
              <a:rPr lang="en-AU" b="1" dirty="0"/>
              <a:t>Objectives of UML:</a:t>
            </a:r>
          </a:p>
          <a:p>
            <a:pPr lvl="1">
              <a:buFont typeface="Arial" panose="020B0604020202020204" pitchFamily="34" charset="0"/>
              <a:buChar char="•"/>
            </a:pPr>
            <a:r>
              <a:rPr lang="en-AU" dirty="0"/>
              <a:t>Provide a standard way to visualise the design of a system.</a:t>
            </a:r>
          </a:p>
          <a:p>
            <a:pPr lvl="1">
              <a:buFont typeface="Arial" panose="020B0604020202020204" pitchFamily="34" charset="0"/>
              <a:buChar char="•"/>
            </a:pPr>
            <a:r>
              <a:rPr lang="en-AU" dirty="0"/>
              <a:t>Facilitate communication and understanding among stakeholders.</a:t>
            </a:r>
          </a:p>
          <a:p>
            <a:pPr>
              <a:buFont typeface="Arial" panose="020B0604020202020204" pitchFamily="34" charset="0"/>
              <a:buChar char="•"/>
            </a:pPr>
            <a:r>
              <a:rPr lang="en-AU" b="1" dirty="0"/>
              <a:t>Benefits of Using UML:</a:t>
            </a:r>
          </a:p>
          <a:p>
            <a:pPr lvl="1">
              <a:buFont typeface="Arial" panose="020B0604020202020204" pitchFamily="34" charset="0"/>
              <a:buChar char="•"/>
            </a:pPr>
            <a:r>
              <a:rPr lang="en-AU" dirty="0"/>
              <a:t>Improves clarity and accuracy in system design.</a:t>
            </a:r>
          </a:p>
          <a:p>
            <a:pPr lvl="1">
              <a:buFont typeface="Arial" panose="020B0604020202020204" pitchFamily="34" charset="0"/>
              <a:buChar char="•"/>
            </a:pPr>
            <a:r>
              <a:rPr lang="en-AU" dirty="0"/>
              <a:t>Supports various stages of software development.</a:t>
            </a:r>
          </a:p>
          <a:p>
            <a:pPr lvl="1">
              <a:buFont typeface="Arial" panose="020B0604020202020204" pitchFamily="34" charset="0"/>
              <a:buChar char="•"/>
            </a:pPr>
            <a:r>
              <a:rPr lang="en-AU" dirty="0"/>
              <a:t>Enhances collaboration and reduces ambiguity.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66400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What is UML ? (C</a:t>
            </a:r>
            <a:r>
              <a:rPr lang="en-US" altLang="zh-CN" sz="3600" b="1" dirty="0" err="1">
                <a:solidFill>
                  <a:srgbClr val="00B0F0"/>
                </a:solidFill>
              </a:rPr>
              <a:t>ont.</a:t>
            </a:r>
            <a:r>
              <a:rPr lang="en-US" altLang="zh-CN" sz="3600" b="1" dirty="0">
                <a:solidFill>
                  <a:srgbClr val="00B0F0"/>
                </a:solidFill>
              </a:rPr>
              <a:t>)</a:t>
            </a:r>
            <a:endParaRPr lang="en-AU" altLang="en-US" sz="3600" b="1" dirty="0">
              <a:solidFill>
                <a:srgbClr val="00B0F0"/>
              </a:solidFill>
            </a:endParaRPr>
          </a:p>
        </p:txBody>
      </p:sp>
      <p:pic>
        <p:nvPicPr>
          <p:cNvPr id="4" name="Content Placeholder 3">
            <a:extLst>
              <a:ext uri="{FF2B5EF4-FFF2-40B4-BE49-F238E27FC236}">
                <a16:creationId xmlns:a16="http://schemas.microsoft.com/office/drawing/2014/main" id="{140EBB03-187D-5640-777F-F0B157CEF40C}"/>
              </a:ext>
            </a:extLst>
          </p:cNvPr>
          <p:cNvPicPr>
            <a:picLocks noGrp="1" noChangeAspect="1"/>
          </p:cNvPicPr>
          <p:nvPr>
            <p:ph idx="1"/>
          </p:nvPr>
        </p:nvPicPr>
        <p:blipFill>
          <a:blip r:embed="rId2"/>
          <a:stretch>
            <a:fillRect/>
          </a:stretch>
        </p:blipFill>
        <p:spPr>
          <a:xfrm>
            <a:off x="767332" y="1831112"/>
            <a:ext cx="7414994" cy="3909338"/>
          </a:xfrm>
        </p:spPr>
      </p:pic>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41591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What is UML: </a:t>
            </a:r>
            <a:r>
              <a:rPr lang="en-AU" sz="3600" b="1" dirty="0">
                <a:solidFill>
                  <a:schemeClr val="accent2">
                    <a:lumMod val="75000"/>
                  </a:schemeClr>
                </a:solidFill>
              </a:rPr>
              <a:t>The UML Framework</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r>
              <a:rPr lang="en-AU" sz="2400" b="1" dirty="0">
                <a:solidFill>
                  <a:schemeClr val="accent2">
                    <a:lumMod val="75000"/>
                  </a:schemeClr>
                </a:solidFill>
              </a:rPr>
              <a:t>UML</a:t>
            </a:r>
            <a:r>
              <a:rPr lang="en-AU" sz="2400" dirty="0">
                <a:solidFill>
                  <a:schemeClr val="accent2">
                    <a:lumMod val="75000"/>
                  </a:schemeClr>
                </a:solidFill>
              </a:rPr>
              <a:t> </a:t>
            </a:r>
            <a:r>
              <a:rPr lang="en-AU" sz="2400" dirty="0"/>
              <a:t>provides a comprehensive framework for modelling software systems.</a:t>
            </a:r>
          </a:p>
          <a:p>
            <a:pPr>
              <a:buFont typeface="Arial" panose="020B0604020202020204" pitchFamily="34" charset="0"/>
              <a:buChar char="•"/>
            </a:pPr>
            <a:r>
              <a:rPr lang="en-AU" b="1" dirty="0"/>
              <a:t>Structure of UML Diagrams:</a:t>
            </a:r>
            <a:endParaRPr lang="en-AU" dirty="0"/>
          </a:p>
          <a:p>
            <a:pPr marL="742950" lvl="1" indent="-285750">
              <a:buFont typeface="Arial" panose="020B0604020202020204" pitchFamily="34" charset="0"/>
              <a:buChar char="•"/>
            </a:pPr>
            <a:r>
              <a:rPr lang="en-AU" b="1" dirty="0"/>
              <a:t>Structural Diagrams:</a:t>
            </a:r>
            <a:r>
              <a:rPr lang="en-AU" dirty="0"/>
              <a:t> Represent static aspects of the system.</a:t>
            </a:r>
          </a:p>
          <a:p>
            <a:pPr marL="742950" lvl="1" indent="-285750">
              <a:buFont typeface="Arial" panose="020B0604020202020204" pitchFamily="34" charset="0"/>
              <a:buChar char="•"/>
            </a:pPr>
            <a:r>
              <a:rPr lang="en-AU" b="1" dirty="0" err="1"/>
              <a:t>Behavioral</a:t>
            </a:r>
            <a:r>
              <a:rPr lang="en-AU" b="1" dirty="0"/>
              <a:t> Diagrams:</a:t>
            </a:r>
            <a:r>
              <a:rPr lang="en-AU" dirty="0"/>
              <a:t> Represent dynamic aspects of the system.</a:t>
            </a:r>
          </a:p>
          <a:p>
            <a:pPr>
              <a:buFont typeface="Arial" panose="020B0604020202020204" pitchFamily="34" charset="0"/>
              <a:buChar char="•"/>
            </a:pPr>
            <a:r>
              <a:rPr lang="en-AU" b="1" dirty="0"/>
              <a:t>Different Types of UML Diagrams:</a:t>
            </a:r>
            <a:endParaRPr lang="en-AU" dirty="0"/>
          </a:p>
          <a:p>
            <a:pPr marL="742950" lvl="1" indent="-285750">
              <a:buFont typeface="Arial" panose="020B0604020202020204" pitchFamily="34" charset="0"/>
              <a:buChar char="•"/>
            </a:pPr>
            <a:r>
              <a:rPr lang="en-AU" b="1" dirty="0"/>
              <a:t>Structural Diagrams:</a:t>
            </a:r>
            <a:r>
              <a:rPr lang="en-AU" dirty="0"/>
              <a:t> Class Diagram, Object Diagram, Component Diagram, Deployment Diagram.</a:t>
            </a:r>
          </a:p>
          <a:p>
            <a:pPr marL="742950" lvl="1" indent="-285750">
              <a:buFont typeface="Arial" panose="020B0604020202020204" pitchFamily="34" charset="0"/>
              <a:buChar char="•"/>
            </a:pPr>
            <a:r>
              <a:rPr lang="en-AU" b="1" dirty="0" err="1"/>
              <a:t>Behavioral</a:t>
            </a:r>
            <a:r>
              <a:rPr lang="en-AU" b="1" dirty="0"/>
              <a:t> Diagrams:</a:t>
            </a:r>
            <a:r>
              <a:rPr lang="en-AU" dirty="0"/>
              <a:t> Use Case Diagram, Sequence Diagram, Activity Diagram, State Diagram.</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84854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What is UML: </a:t>
            </a:r>
            <a:r>
              <a:rPr lang="en-AU" sz="3600" b="1" dirty="0">
                <a:solidFill>
                  <a:schemeClr val="accent2">
                    <a:lumMod val="75000"/>
                  </a:schemeClr>
                </a:solidFill>
              </a:rPr>
              <a:t>UML Diagrams Classification</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31627" y="1831112"/>
            <a:ext cx="8548871" cy="4321533"/>
          </a:xfrm>
        </p:spPr>
        <p:txBody>
          <a:bodyPr/>
          <a:lstStyle/>
          <a:p>
            <a:pPr>
              <a:buFont typeface="Arial" panose="020B0604020202020204" pitchFamily="34" charset="0"/>
              <a:buChar char="•"/>
            </a:pPr>
            <a:r>
              <a:rPr lang="en-AU" sz="2400" b="1" dirty="0">
                <a:solidFill>
                  <a:schemeClr val="accent2">
                    <a:lumMod val="75000"/>
                  </a:schemeClr>
                </a:solidFill>
              </a:rPr>
              <a:t>Structural Diagrams:</a:t>
            </a:r>
            <a:endParaRPr lang="en-AU" sz="2400" dirty="0">
              <a:solidFill>
                <a:schemeClr val="accent2">
                  <a:lumMod val="75000"/>
                </a:schemeClr>
              </a:solidFill>
            </a:endParaRPr>
          </a:p>
          <a:p>
            <a:pPr marL="742950" lvl="1" indent="-285750">
              <a:buFont typeface="Arial" panose="020B0604020202020204" pitchFamily="34" charset="0"/>
              <a:buChar char="•"/>
            </a:pPr>
            <a:r>
              <a:rPr lang="en-AU" sz="2000" b="1" dirty="0"/>
              <a:t>Class Diagram:</a:t>
            </a:r>
            <a:r>
              <a:rPr lang="en-AU" sz="2000" dirty="0"/>
              <a:t> Shows classes, attributes, methods, and relationships.</a:t>
            </a:r>
          </a:p>
          <a:p>
            <a:pPr marL="742950" lvl="1" indent="-285750">
              <a:buFont typeface="Arial" panose="020B0604020202020204" pitchFamily="34" charset="0"/>
              <a:buChar char="•"/>
            </a:pPr>
            <a:r>
              <a:rPr lang="en-AU" sz="2000" b="1" dirty="0"/>
              <a:t>Component Diagram:</a:t>
            </a:r>
            <a:r>
              <a:rPr lang="en-AU" sz="2000" dirty="0"/>
              <a:t> Depicts components and their interconnections.</a:t>
            </a:r>
          </a:p>
          <a:p>
            <a:pPr>
              <a:buFont typeface="Arial" panose="020B0604020202020204" pitchFamily="34" charset="0"/>
              <a:buChar char="•"/>
            </a:pPr>
            <a:r>
              <a:rPr lang="en-AU" sz="2400" b="1" dirty="0" err="1">
                <a:solidFill>
                  <a:schemeClr val="accent2">
                    <a:lumMod val="75000"/>
                  </a:schemeClr>
                </a:solidFill>
              </a:rPr>
              <a:t>Behavioral</a:t>
            </a:r>
            <a:r>
              <a:rPr lang="en-AU" sz="2400" b="1" dirty="0">
                <a:solidFill>
                  <a:schemeClr val="accent2">
                    <a:lumMod val="75000"/>
                  </a:schemeClr>
                </a:solidFill>
              </a:rPr>
              <a:t> Diagrams:</a:t>
            </a:r>
          </a:p>
          <a:p>
            <a:pPr marL="742950" lvl="1" indent="-285750">
              <a:buFont typeface="Arial" panose="020B0604020202020204" pitchFamily="34" charset="0"/>
              <a:buChar char="•"/>
            </a:pPr>
            <a:r>
              <a:rPr lang="en-AU" sz="2000" b="1" dirty="0"/>
              <a:t>Use Case Diagram:</a:t>
            </a:r>
            <a:r>
              <a:rPr lang="en-AU" sz="2000" dirty="0"/>
              <a:t> Represents the interactions between users and the system.</a:t>
            </a:r>
          </a:p>
          <a:p>
            <a:pPr marL="742950" lvl="1" indent="-285750">
              <a:buFont typeface="Arial" panose="020B0604020202020204" pitchFamily="34" charset="0"/>
              <a:buChar char="•"/>
            </a:pPr>
            <a:r>
              <a:rPr lang="en-AU" sz="2000" b="1" dirty="0"/>
              <a:t>Sequence Diagram:</a:t>
            </a:r>
            <a:r>
              <a:rPr lang="en-AU" sz="2000" dirty="0"/>
              <a:t> Visualises the sequence of messages between objects.</a:t>
            </a:r>
          </a:p>
          <a:p>
            <a:pPr marL="742950" lvl="1" indent="-285750">
              <a:buFont typeface="Arial" panose="020B0604020202020204" pitchFamily="34" charset="0"/>
              <a:buChar char="•"/>
            </a:pPr>
            <a:r>
              <a:rPr lang="en-AU" sz="2000" b="1" dirty="0"/>
              <a:t>Activity Diagram:</a:t>
            </a:r>
            <a:r>
              <a:rPr lang="en-AU" sz="2000" dirty="0"/>
              <a:t> Illustrates the flow of activities in a system.</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93600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Use Case Diagrams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619711" y="1902155"/>
            <a:ext cx="8643668" cy="4321533"/>
          </a:xfrm>
        </p:spPr>
        <p:txBody>
          <a:bodyPr/>
          <a:lstStyle/>
          <a:p>
            <a:pPr>
              <a:buFont typeface="Arial" panose="020B0604020202020204" pitchFamily="34" charset="0"/>
              <a:buChar char="•"/>
            </a:pPr>
            <a:r>
              <a:rPr lang="en-AU" b="1" dirty="0"/>
              <a:t>Definition and Purpose:</a:t>
            </a:r>
          </a:p>
          <a:p>
            <a:pPr lvl="1">
              <a:buFont typeface="Arial" panose="020B0604020202020204" pitchFamily="34" charset="0"/>
              <a:buChar char="•"/>
            </a:pPr>
            <a:r>
              <a:rPr lang="en-AU" dirty="0"/>
              <a:t>Use case diagrams model the interactions between users (actors) and the system.</a:t>
            </a:r>
          </a:p>
          <a:p>
            <a:pPr>
              <a:buFont typeface="Arial" panose="020B0604020202020204" pitchFamily="34" charset="0"/>
              <a:buChar char="•"/>
            </a:pPr>
            <a:r>
              <a:rPr lang="en-AU" b="1" dirty="0"/>
              <a:t>Key Components:</a:t>
            </a:r>
          </a:p>
          <a:p>
            <a:pPr lvl="1">
              <a:buFont typeface="Arial" panose="020B0604020202020204" pitchFamily="34" charset="0"/>
              <a:buChar char="•"/>
            </a:pPr>
            <a:r>
              <a:rPr lang="en-AU" dirty="0"/>
              <a:t>Actors: Represent roles that interact with the system (e.g., users, external systems).</a:t>
            </a:r>
          </a:p>
          <a:p>
            <a:pPr lvl="1">
              <a:buFont typeface="Arial" panose="020B0604020202020204" pitchFamily="34" charset="0"/>
              <a:buChar char="•"/>
            </a:pPr>
            <a:r>
              <a:rPr lang="en-AU" dirty="0"/>
              <a:t>Use Cases: Describe the system's functionality from an external perspective.</a:t>
            </a:r>
          </a:p>
          <a:p>
            <a:pPr lvl="1">
              <a:buFont typeface="Arial" panose="020B0604020202020204" pitchFamily="34" charset="0"/>
              <a:buChar char="•"/>
            </a:pPr>
            <a:r>
              <a:rPr lang="en-AU" dirty="0"/>
              <a:t>System Boundary: Defines the scope of the system.</a:t>
            </a:r>
          </a:p>
          <a:p>
            <a:pPr>
              <a:buFont typeface="Arial" panose="020B0604020202020204" pitchFamily="34" charset="0"/>
              <a:buChar char="•"/>
            </a:pPr>
            <a:r>
              <a:rPr lang="en-AU" b="1" dirty="0"/>
              <a:t>Relationships:</a:t>
            </a:r>
          </a:p>
          <a:p>
            <a:pPr lvl="1">
              <a:buFont typeface="Arial" panose="020B0604020202020204" pitchFamily="34" charset="0"/>
              <a:buChar char="•"/>
            </a:pPr>
            <a:r>
              <a:rPr lang="en-AU" dirty="0"/>
              <a:t>Include: A use case includes the </a:t>
            </a:r>
            <a:r>
              <a:rPr lang="en-AU" dirty="0" err="1"/>
              <a:t>behavior</a:t>
            </a:r>
            <a:r>
              <a:rPr lang="en-AU" dirty="0"/>
              <a:t> of another use case.</a:t>
            </a:r>
          </a:p>
          <a:p>
            <a:pPr lvl="1">
              <a:buFont typeface="Arial" panose="020B0604020202020204" pitchFamily="34" charset="0"/>
              <a:buChar char="•"/>
            </a:pPr>
            <a:r>
              <a:rPr lang="en-AU" dirty="0"/>
              <a:t>Extend: A use case extends the </a:t>
            </a:r>
            <a:r>
              <a:rPr lang="en-AU" dirty="0" err="1"/>
              <a:t>behavior</a:t>
            </a:r>
            <a:r>
              <a:rPr lang="en-AU" dirty="0"/>
              <a:t> of another use case under certain conditions.</a:t>
            </a:r>
          </a:p>
          <a:p>
            <a:pPr lvl="1">
              <a:buFont typeface="Arial" panose="020B0604020202020204" pitchFamily="34" charset="0"/>
              <a:buChar char="•"/>
            </a:pPr>
            <a:r>
              <a:rPr lang="en-AU" dirty="0"/>
              <a:t>Generalisation: An actor or use case inherits the </a:t>
            </a:r>
            <a:r>
              <a:rPr lang="en-AU" dirty="0" err="1"/>
              <a:t>behavior</a:t>
            </a:r>
            <a:r>
              <a:rPr lang="en-AU" dirty="0"/>
              <a:t> of another actor or use case.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59229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Use Case Diagrams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2" descr="Use Case Diagram Tutorial (Guide with Examples) | Creately">
            <a:extLst>
              <a:ext uri="{FF2B5EF4-FFF2-40B4-BE49-F238E27FC236}">
                <a16:creationId xmlns:a16="http://schemas.microsoft.com/office/drawing/2014/main" id="{888912F0-8C65-5E1A-9BF5-EC46FEFF297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 name="AutoShape 8" descr="Use Case Diagram Tutorial (Guide with Examples) | Creately">
            <a:extLst>
              <a:ext uri="{FF2B5EF4-FFF2-40B4-BE49-F238E27FC236}">
                <a16:creationId xmlns:a16="http://schemas.microsoft.com/office/drawing/2014/main" id="{DCAB2112-BBFB-D654-3C94-A3194B464E09}"/>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3326" name="Picture 14">
            <a:extLst>
              <a:ext uri="{FF2B5EF4-FFF2-40B4-BE49-F238E27FC236}">
                <a16:creationId xmlns:a16="http://schemas.microsoft.com/office/drawing/2014/main" id="{3083AFE1-F4AB-B1A9-6D25-627F850C5E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5987" y="1812062"/>
            <a:ext cx="4467225" cy="446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66464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Use Case Diagrams: </a:t>
            </a:r>
            <a:br>
              <a:rPr lang="en-AU" sz="3600" b="1" dirty="0">
                <a:solidFill>
                  <a:srgbClr val="00B0F0"/>
                </a:solidFill>
              </a:rPr>
            </a:br>
            <a:r>
              <a:rPr lang="en-AU" sz="3600" b="1" dirty="0">
                <a:solidFill>
                  <a:schemeClr val="accent2">
                    <a:lumMod val="75000"/>
                  </a:schemeClr>
                </a:solidFill>
              </a:rPr>
              <a:t>How to Create it?</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619711" y="1902155"/>
            <a:ext cx="8643668" cy="4321533"/>
          </a:xfrm>
        </p:spPr>
        <p:txBody>
          <a:bodyPr/>
          <a:lstStyle/>
          <a:p>
            <a:pPr>
              <a:buFont typeface="Arial" panose="020B0604020202020204" pitchFamily="34" charset="0"/>
              <a:buChar char="•"/>
            </a:pPr>
            <a:r>
              <a:rPr lang="en-AU" b="1" dirty="0"/>
              <a:t>Steps to Create a Use Case Diagram:</a:t>
            </a:r>
          </a:p>
          <a:p>
            <a:pPr lvl="1">
              <a:buFont typeface="Arial" panose="020B0604020202020204" pitchFamily="34" charset="0"/>
              <a:buChar char="•"/>
            </a:pPr>
            <a:r>
              <a:rPr lang="en-AU" dirty="0"/>
              <a:t>Identify actors interacting with the system.</a:t>
            </a:r>
          </a:p>
          <a:p>
            <a:pPr lvl="1">
              <a:buFont typeface="Arial" panose="020B0604020202020204" pitchFamily="34" charset="0"/>
              <a:buChar char="•"/>
            </a:pPr>
            <a:r>
              <a:rPr lang="en-AU" dirty="0"/>
              <a:t>Define the use cases representing the system's functionality.</a:t>
            </a:r>
          </a:p>
          <a:p>
            <a:pPr lvl="1">
              <a:buFont typeface="Arial" panose="020B0604020202020204" pitchFamily="34" charset="0"/>
              <a:buChar char="•"/>
            </a:pPr>
            <a:r>
              <a:rPr lang="en-AU" dirty="0"/>
              <a:t>Draw the system boundary.</a:t>
            </a:r>
          </a:p>
          <a:p>
            <a:pPr lvl="1">
              <a:buFont typeface="Arial" panose="020B0604020202020204" pitchFamily="34" charset="0"/>
              <a:buChar char="•"/>
            </a:pPr>
            <a:r>
              <a:rPr lang="en-AU" dirty="0"/>
              <a:t>Establish relationships between actors and use cases.</a:t>
            </a:r>
          </a:p>
          <a:p>
            <a:pPr>
              <a:buFont typeface="Arial" panose="020B0604020202020204" pitchFamily="34" charset="0"/>
              <a:buChar char="•"/>
            </a:pPr>
            <a:r>
              <a:rPr lang="en-AU" b="1" u="sng" dirty="0"/>
              <a:t>Practical Example:</a:t>
            </a:r>
          </a:p>
          <a:p>
            <a:pPr lvl="1">
              <a:buFont typeface="Arial" panose="020B0604020202020204" pitchFamily="34" charset="0"/>
              <a:buChar char="•"/>
            </a:pPr>
            <a:r>
              <a:rPr lang="en-AU" dirty="0"/>
              <a:t>ATM System Use Case Diagram:</a:t>
            </a:r>
          </a:p>
          <a:p>
            <a:pPr lvl="1">
              <a:buFont typeface="Arial" panose="020B0604020202020204" pitchFamily="34" charset="0"/>
              <a:buChar char="•"/>
            </a:pPr>
            <a:r>
              <a:rPr lang="en-AU" dirty="0"/>
              <a:t>Actors: Customer, Bank</a:t>
            </a:r>
          </a:p>
          <a:p>
            <a:pPr lvl="1">
              <a:buFont typeface="Arial" panose="020B0604020202020204" pitchFamily="34" charset="0"/>
              <a:buChar char="•"/>
            </a:pPr>
            <a:r>
              <a:rPr lang="en-AU" dirty="0"/>
              <a:t>Use Cases: Withdraw Cash, Check Balance, Transfer Funds</a:t>
            </a:r>
          </a:p>
          <a:p>
            <a:pPr lvl="1">
              <a:buFont typeface="Arial" panose="020B0604020202020204" pitchFamily="34" charset="0"/>
              <a:buChar char="•"/>
            </a:pPr>
            <a:r>
              <a:rPr lang="en-AU" dirty="0"/>
              <a:t>Relationships: Customer includes Withdraw Cash and Check Balance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01061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Use Case Diagrams: </a:t>
            </a:r>
            <a:br>
              <a:rPr lang="en-AU" sz="3600" b="1" dirty="0">
                <a:solidFill>
                  <a:srgbClr val="00B0F0"/>
                </a:solidFill>
              </a:rPr>
            </a:br>
            <a:r>
              <a:rPr lang="en-AU" sz="3600" b="1" dirty="0">
                <a:solidFill>
                  <a:schemeClr val="accent2">
                    <a:lumMod val="75000"/>
                  </a:schemeClr>
                </a:solidFill>
              </a:rPr>
              <a:t>How to Create it?(C</a:t>
            </a:r>
            <a:r>
              <a:rPr lang="en-US" altLang="zh-CN" sz="3600" b="1" dirty="0" err="1">
                <a:solidFill>
                  <a:schemeClr val="accent2">
                    <a:lumMod val="75000"/>
                  </a:schemeClr>
                </a:solidFill>
              </a:rPr>
              <a:t>ont.</a:t>
            </a:r>
            <a:r>
              <a:rPr lang="en-US" altLang="zh-CN" sz="3600" b="1" dirty="0">
                <a:solidFill>
                  <a:schemeClr val="accent2">
                    <a:lumMod val="75000"/>
                  </a:schemeClr>
                </a:solidFill>
              </a:rPr>
              <a:t>)</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619711" y="1902155"/>
            <a:ext cx="8643668" cy="4321533"/>
          </a:xfrm>
        </p:spPr>
        <p:txBody>
          <a:bodyPr/>
          <a:lstStyle/>
          <a:p>
            <a:pPr>
              <a:buFont typeface="Arial" panose="020B0604020202020204" pitchFamily="34" charset="0"/>
              <a:buChar char="•"/>
            </a:pPr>
            <a:r>
              <a:rPr lang="en-AU" b="1" dirty="0"/>
              <a:t>Steps to Create a Use Case Diagram:</a:t>
            </a:r>
          </a:p>
          <a:p>
            <a:pPr lvl="1">
              <a:buFont typeface="Arial" panose="020B0604020202020204" pitchFamily="34" charset="0"/>
              <a:buChar char="•"/>
            </a:pPr>
            <a:r>
              <a:rPr lang="en-AU" dirty="0"/>
              <a:t>Identify actors interacting with the system.</a:t>
            </a:r>
          </a:p>
          <a:p>
            <a:pPr lvl="1">
              <a:buFont typeface="Arial" panose="020B0604020202020204" pitchFamily="34" charset="0"/>
              <a:buChar char="•"/>
            </a:pPr>
            <a:r>
              <a:rPr lang="en-AU" dirty="0"/>
              <a:t>Define the use cases representing the system's functionality.</a:t>
            </a:r>
          </a:p>
          <a:p>
            <a:pPr lvl="1">
              <a:buFont typeface="Arial" panose="020B0604020202020204" pitchFamily="34" charset="0"/>
              <a:buChar char="•"/>
            </a:pPr>
            <a:r>
              <a:rPr lang="en-AU" dirty="0"/>
              <a:t>Draw the system boundary.</a:t>
            </a:r>
          </a:p>
          <a:p>
            <a:pPr lvl="1">
              <a:buFont typeface="Arial" panose="020B0604020202020204" pitchFamily="34" charset="0"/>
              <a:buChar char="•"/>
            </a:pPr>
            <a:r>
              <a:rPr lang="en-AU" dirty="0"/>
              <a:t>Establish relationships between actors and use cases.</a:t>
            </a:r>
          </a:p>
          <a:p>
            <a:pPr marL="200025" lvl="1" indent="0">
              <a:buNone/>
            </a:pPr>
            <a:endParaRPr lang="en-AU" dirty="0"/>
          </a:p>
          <a:p>
            <a:pPr marL="200025" lvl="1" indent="0">
              <a:buNone/>
            </a:pPr>
            <a:endParaRPr lang="en-AU" dirty="0"/>
          </a:p>
          <a:p>
            <a:pPr>
              <a:buFont typeface="Arial" panose="020B0604020202020204" pitchFamily="34" charset="0"/>
              <a:buChar char="•"/>
            </a:pPr>
            <a:r>
              <a:rPr lang="en-AU" b="1" u="sng" dirty="0"/>
              <a:t>Practical Example:</a:t>
            </a:r>
          </a:p>
          <a:p>
            <a:pPr lvl="1">
              <a:buFont typeface="Arial" panose="020B0604020202020204" pitchFamily="34" charset="0"/>
              <a:buChar char="•"/>
            </a:pPr>
            <a:r>
              <a:rPr lang="en-AU" dirty="0"/>
              <a:t>ATM System Use Case Diagram </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6" descr="问号素材-问号图片-问号素材图片下载-觅知网">
            <a:extLst>
              <a:ext uri="{FF2B5EF4-FFF2-40B4-BE49-F238E27FC236}">
                <a16:creationId xmlns:a16="http://schemas.microsoft.com/office/drawing/2014/main" id="{C31507C0-74EE-D66A-AA21-B3087843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8138" y="3662363"/>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4026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Use Case Diagrams: </a:t>
            </a:r>
            <a:br>
              <a:rPr lang="en-AU" sz="3600" b="1" dirty="0">
                <a:solidFill>
                  <a:srgbClr val="00B0F0"/>
                </a:solidFill>
              </a:rPr>
            </a:br>
            <a:r>
              <a:rPr lang="en-AU" sz="3600" b="1" dirty="0">
                <a:solidFill>
                  <a:schemeClr val="accent2">
                    <a:lumMod val="75000"/>
                  </a:schemeClr>
                </a:solidFill>
              </a:rPr>
              <a:t>How to Create it? (C</a:t>
            </a:r>
            <a:r>
              <a:rPr lang="en-US" altLang="zh-CN" sz="3600" b="1" dirty="0" err="1">
                <a:solidFill>
                  <a:schemeClr val="accent2">
                    <a:lumMod val="75000"/>
                  </a:schemeClr>
                </a:solidFill>
              </a:rPr>
              <a:t>ont.</a:t>
            </a:r>
            <a:r>
              <a:rPr lang="en-US" altLang="zh-CN" sz="3600" b="1" dirty="0">
                <a:solidFill>
                  <a:schemeClr val="accent2">
                    <a:lumMod val="75000"/>
                  </a:schemeClr>
                </a:solidFill>
              </a:rPr>
              <a:t>)</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738386"/>
            <a:ext cx="8643668" cy="4557639"/>
          </a:xfrm>
        </p:spPr>
        <p:txBody>
          <a:bodyPr/>
          <a:lstStyle/>
          <a:p>
            <a:pPr marL="0" lvl="1" indent="0">
              <a:spcBef>
                <a:spcPts val="1200"/>
              </a:spcBef>
              <a:spcAft>
                <a:spcPts val="200"/>
              </a:spcAft>
              <a:buSzPct val="100000"/>
              <a:buNone/>
            </a:pPr>
            <a:r>
              <a:rPr lang="en-AU" b="1" dirty="0">
                <a:solidFill>
                  <a:schemeClr val="accent2">
                    <a:lumMod val="75000"/>
                  </a:schemeClr>
                </a:solidFill>
              </a:rPr>
              <a:t>Explanation:</a:t>
            </a:r>
          </a:p>
          <a:p>
            <a:pPr marL="90488" lvl="1" indent="-90488">
              <a:spcBef>
                <a:spcPts val="1200"/>
              </a:spcBef>
              <a:spcAft>
                <a:spcPts val="200"/>
              </a:spcAft>
              <a:buSzPct val="100000"/>
              <a:buFont typeface="Arial" panose="020B0604020202020204" pitchFamily="34" charset="0"/>
              <a:buChar char="•"/>
            </a:pPr>
            <a:r>
              <a:rPr lang="en-AU" sz="1600" b="1" dirty="0"/>
              <a:t>Actors:</a:t>
            </a:r>
            <a:endParaRPr lang="en-AU" sz="1400" dirty="0"/>
          </a:p>
          <a:p>
            <a:pPr lvl="1">
              <a:buFont typeface="Arial" panose="020B0604020202020204" pitchFamily="34" charset="0"/>
              <a:buChar char="•"/>
            </a:pPr>
            <a:r>
              <a:rPr lang="en-AU" sz="1400" u="sng" dirty="0"/>
              <a:t>Customer: </a:t>
            </a:r>
            <a:r>
              <a:rPr lang="en-AU" sz="1400" dirty="0"/>
              <a:t>Represents the person using the ATM machine.</a:t>
            </a:r>
          </a:p>
          <a:p>
            <a:pPr lvl="1">
              <a:buFont typeface="Arial" panose="020B0604020202020204" pitchFamily="34" charset="0"/>
              <a:buChar char="•"/>
            </a:pPr>
            <a:r>
              <a:rPr lang="en-AU" sz="1400" u="sng" dirty="0"/>
              <a:t>Bank: </a:t>
            </a:r>
            <a:r>
              <a:rPr lang="en-AU" sz="1400" dirty="0"/>
              <a:t>Represents the bank's backend system interacting with the ATM.</a:t>
            </a:r>
          </a:p>
          <a:p>
            <a:pPr marL="90488" lvl="1" indent="-90488">
              <a:spcBef>
                <a:spcPts val="1200"/>
              </a:spcBef>
              <a:spcAft>
                <a:spcPts val="200"/>
              </a:spcAft>
              <a:buSzPct val="100000"/>
              <a:buFont typeface="Arial" panose="020B0604020202020204" pitchFamily="34" charset="0"/>
              <a:buChar char="•"/>
            </a:pPr>
            <a:r>
              <a:rPr lang="en-AU" sz="1600" b="1" dirty="0"/>
              <a:t>Use Cases:</a:t>
            </a:r>
            <a:endParaRPr lang="en-AU" sz="1400" dirty="0"/>
          </a:p>
          <a:p>
            <a:pPr lvl="1">
              <a:buFont typeface="Arial" panose="020B0604020202020204" pitchFamily="34" charset="0"/>
              <a:buChar char="•"/>
            </a:pPr>
            <a:r>
              <a:rPr lang="en-AU" sz="1400" u="sng" dirty="0"/>
              <a:t>Withdraw Cash: </a:t>
            </a:r>
            <a:r>
              <a:rPr lang="en-AU" sz="1400" dirty="0"/>
              <a:t>Allows the customer to withdraw cash from their account.</a:t>
            </a:r>
          </a:p>
          <a:p>
            <a:pPr lvl="1">
              <a:buFont typeface="Arial" panose="020B0604020202020204" pitchFamily="34" charset="0"/>
              <a:buChar char="•"/>
            </a:pPr>
            <a:r>
              <a:rPr lang="en-AU" sz="1400" u="sng" dirty="0"/>
              <a:t>Check Balance: </a:t>
            </a:r>
            <a:r>
              <a:rPr lang="en-AU" sz="1400" dirty="0"/>
              <a:t>Allows the customer to check their account balance.</a:t>
            </a:r>
          </a:p>
          <a:p>
            <a:pPr lvl="1">
              <a:buFont typeface="Arial" panose="020B0604020202020204" pitchFamily="34" charset="0"/>
              <a:buChar char="•"/>
            </a:pPr>
            <a:r>
              <a:rPr lang="en-AU" sz="1400" u="sng" dirty="0"/>
              <a:t>Transfer Funds: </a:t>
            </a:r>
            <a:r>
              <a:rPr lang="en-AU" sz="1400" dirty="0"/>
              <a:t>Enables the customer to transfer money between accounts.</a:t>
            </a:r>
          </a:p>
          <a:p>
            <a:pPr lvl="1">
              <a:buFont typeface="Arial" panose="020B0604020202020204" pitchFamily="34" charset="0"/>
              <a:buChar char="•"/>
            </a:pPr>
            <a:r>
              <a:rPr lang="en-AU" sz="1400" u="sng" dirty="0"/>
              <a:t>Deposit Cash: </a:t>
            </a:r>
            <a:r>
              <a:rPr lang="en-AU" sz="1400" dirty="0"/>
              <a:t>Allows the customer to deposit cash into their account.</a:t>
            </a:r>
          </a:p>
          <a:p>
            <a:pPr marL="90488" lvl="1" indent="-90488">
              <a:spcBef>
                <a:spcPts val="1200"/>
              </a:spcBef>
              <a:spcAft>
                <a:spcPts val="200"/>
              </a:spcAft>
              <a:buSzPct val="100000"/>
              <a:buFont typeface="Arial" panose="020B0604020202020204" pitchFamily="34" charset="0"/>
              <a:buChar char="•"/>
            </a:pPr>
            <a:r>
              <a:rPr lang="en-AU" sz="1600" b="1" dirty="0"/>
              <a:t>Relationships:</a:t>
            </a:r>
            <a:endParaRPr lang="en-AU" sz="1400" dirty="0"/>
          </a:p>
          <a:p>
            <a:pPr lvl="1">
              <a:buFont typeface="Arial" panose="020B0604020202020204" pitchFamily="34" charset="0"/>
              <a:buChar char="•"/>
            </a:pPr>
            <a:r>
              <a:rPr lang="en-AU" sz="1400" u="sng" dirty="0"/>
              <a:t>Customer - Withdraw Cash: </a:t>
            </a:r>
            <a:r>
              <a:rPr lang="en-AU" sz="1400" dirty="0"/>
              <a:t>The customer interacts with the ATM to withdraw cash.</a:t>
            </a:r>
          </a:p>
          <a:p>
            <a:pPr lvl="1">
              <a:buFont typeface="Arial" panose="020B0604020202020204" pitchFamily="34" charset="0"/>
              <a:buChar char="•"/>
            </a:pPr>
            <a:r>
              <a:rPr lang="en-AU" sz="1400" u="sng" dirty="0"/>
              <a:t>Customer - Check Balance: </a:t>
            </a:r>
            <a:r>
              <a:rPr lang="en-AU" sz="1400" dirty="0"/>
              <a:t>The customer interacts with the ATM to check their account balance.</a:t>
            </a:r>
          </a:p>
          <a:p>
            <a:pPr lvl="1">
              <a:buFont typeface="Arial" panose="020B0604020202020204" pitchFamily="34" charset="0"/>
              <a:buChar char="•"/>
            </a:pPr>
            <a:r>
              <a:rPr lang="en-AU" sz="1400" u="sng" dirty="0"/>
              <a:t>Customer - Transfer Funds: </a:t>
            </a:r>
            <a:r>
              <a:rPr lang="en-AU" sz="1400" dirty="0"/>
              <a:t>The customer uses the ATM to transfer funds between accounts.</a:t>
            </a:r>
          </a:p>
          <a:p>
            <a:pPr lvl="1">
              <a:buFont typeface="Arial" panose="020B0604020202020204" pitchFamily="34" charset="0"/>
              <a:buChar char="•"/>
            </a:pPr>
            <a:r>
              <a:rPr lang="en-AU" sz="1400" u="sng" dirty="0"/>
              <a:t>Customer - Deposit Cash: </a:t>
            </a:r>
            <a:r>
              <a:rPr lang="en-AU" sz="1400" dirty="0"/>
              <a:t>The customer uses the ATM to deposit cash into their account.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50062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6BDE-7159-BECF-D9BE-BAD4F048546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3F262A-C198-5723-350E-5107671BF03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1860B23-A29C-0B25-5619-1E972324D9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127</a:t>
            </a:fld>
            <a:endParaRPr lang="en-US" altLang="en-US" sz="900">
              <a:solidFill>
                <a:srgbClr val="FFFFFF"/>
              </a:solidFill>
            </a:endParaRPr>
          </a:p>
        </p:txBody>
      </p:sp>
      <p:pic>
        <p:nvPicPr>
          <p:cNvPr id="22534" name="Picture 5">
            <a:extLst>
              <a:ext uri="{FF2B5EF4-FFF2-40B4-BE49-F238E27FC236}">
                <a16:creationId xmlns:a16="http://schemas.microsoft.com/office/drawing/2014/main" id="{A3D332E8-C9C6-8F34-CE93-74DFF23AD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059C0F24-5A17-692B-36D2-5C1CE19B982B}"/>
              </a:ext>
            </a:extLst>
          </p:cNvPr>
          <p:cNvPicPr>
            <a:picLocks noChangeAspect="1"/>
          </p:cNvPicPr>
          <p:nvPr/>
        </p:nvPicPr>
        <p:blipFill>
          <a:blip r:embed="rId3"/>
          <a:srcRect l="4354" t="18889" r="45162" b="18029"/>
          <a:stretch>
            <a:fillRect/>
          </a:stretch>
        </p:blipFill>
        <p:spPr>
          <a:xfrm>
            <a:off x="4527754" y="840658"/>
            <a:ext cx="4616246" cy="3244645"/>
          </a:xfrm>
          <a:prstGeom prst="rect">
            <a:avLst/>
          </a:prstGeom>
          <a:ln>
            <a:solidFill>
              <a:srgbClr val="FF0000"/>
            </a:solidFill>
          </a:ln>
        </p:spPr>
      </p:pic>
      <p:sp>
        <p:nvSpPr>
          <p:cNvPr id="7" name="TextBox 6">
            <a:extLst>
              <a:ext uri="{FF2B5EF4-FFF2-40B4-BE49-F238E27FC236}">
                <a16:creationId xmlns:a16="http://schemas.microsoft.com/office/drawing/2014/main" id="{68B26B11-E6FD-7856-3F8D-3E07B9A36029}"/>
              </a:ext>
            </a:extLst>
          </p:cNvPr>
          <p:cNvSpPr txBox="1"/>
          <p:nvPr/>
        </p:nvSpPr>
        <p:spPr>
          <a:xfrm>
            <a:off x="4708422" y="4085303"/>
            <a:ext cx="4579374" cy="646331"/>
          </a:xfrm>
          <a:prstGeom prst="rect">
            <a:avLst/>
          </a:prstGeom>
          <a:noFill/>
        </p:spPr>
        <p:txBody>
          <a:bodyPr wrap="square">
            <a:spAutoFit/>
          </a:bodyPr>
          <a:lstStyle/>
          <a:p>
            <a:r>
              <a:rPr lang="en-US" dirty="0">
                <a:hlinkClick r:id="rId4"/>
              </a:rPr>
              <a:t>https://youtu.be/hF4yg1yFrdU?si=fqXFLMchXeptHhWJ</a:t>
            </a:r>
            <a:r>
              <a:rPr lang="en-US" dirty="0"/>
              <a:t> </a:t>
            </a:r>
          </a:p>
        </p:txBody>
      </p:sp>
      <p:sp>
        <p:nvSpPr>
          <p:cNvPr id="11" name="TextBox 10">
            <a:extLst>
              <a:ext uri="{FF2B5EF4-FFF2-40B4-BE49-F238E27FC236}">
                <a16:creationId xmlns:a16="http://schemas.microsoft.com/office/drawing/2014/main" id="{D1BFBF1A-6D1A-0A27-821E-19AD4C30A0BF}"/>
              </a:ext>
            </a:extLst>
          </p:cNvPr>
          <p:cNvSpPr txBox="1"/>
          <p:nvPr/>
        </p:nvSpPr>
        <p:spPr>
          <a:xfrm>
            <a:off x="-27654" y="-8619"/>
            <a:ext cx="4645742" cy="4549835"/>
          </a:xfrm>
          <a:prstGeom prst="rect">
            <a:avLst/>
          </a:prstGeom>
          <a:solidFill>
            <a:schemeClr val="bg1"/>
          </a:solidFill>
        </p:spPr>
        <p:txBody>
          <a:bodyPr wrap="square">
            <a:spAutoFit/>
          </a:bodyPr>
          <a:lstStyle/>
          <a:p>
            <a:pPr>
              <a:lnSpc>
                <a:spcPct val="150000"/>
              </a:lnSpc>
            </a:pPr>
            <a:r>
              <a:rPr lang="en-US" sz="2800" b="1" dirty="0">
                <a:latin typeface="+mn-lt"/>
              </a:rPr>
              <a:t>Example:</a:t>
            </a:r>
          </a:p>
          <a:p>
            <a:pPr>
              <a:lnSpc>
                <a:spcPct val="150000"/>
              </a:lnSpc>
            </a:pPr>
            <a:r>
              <a:rPr lang="en-US" sz="2800" dirty="0">
                <a:latin typeface="+mn-lt"/>
              </a:rPr>
              <a:t>A Use Case Diagram shows:</a:t>
            </a:r>
          </a:p>
          <a:p>
            <a:pPr marL="633413" indent="-457200">
              <a:lnSpc>
                <a:spcPct val="150000"/>
              </a:lnSpc>
              <a:buFont typeface="Arial" panose="020B0604020202020204" pitchFamily="34" charset="0"/>
              <a:buChar char="•"/>
            </a:pPr>
            <a:r>
              <a:rPr lang="en-US" sz="2800" dirty="0">
                <a:latin typeface="+mn-lt"/>
              </a:rPr>
              <a:t>Who uses the system (actors)</a:t>
            </a:r>
          </a:p>
          <a:p>
            <a:pPr marL="633413" indent="-457200">
              <a:lnSpc>
                <a:spcPct val="150000"/>
              </a:lnSpc>
              <a:buFont typeface="Arial" panose="020B0604020202020204" pitchFamily="34" charset="0"/>
              <a:buChar char="•"/>
            </a:pPr>
            <a:r>
              <a:rPr lang="en-US" sz="2800" dirty="0">
                <a:latin typeface="+mn-lt"/>
              </a:rPr>
              <a:t>What they do (use cases)</a:t>
            </a:r>
          </a:p>
          <a:p>
            <a:pPr marL="633413" indent="-457200">
              <a:lnSpc>
                <a:spcPct val="150000"/>
              </a:lnSpc>
              <a:buFont typeface="Arial" panose="020B0604020202020204" pitchFamily="34" charset="0"/>
              <a:buChar char="•"/>
            </a:pPr>
            <a:r>
              <a:rPr lang="en-US" sz="2800" dirty="0">
                <a:latin typeface="+mn-lt"/>
              </a:rPr>
              <a:t>How they interact with the system</a:t>
            </a:r>
          </a:p>
        </p:txBody>
      </p:sp>
      <p:pic>
        <p:nvPicPr>
          <p:cNvPr id="12" name="Picture 11">
            <a:extLst>
              <a:ext uri="{FF2B5EF4-FFF2-40B4-BE49-F238E27FC236}">
                <a16:creationId xmlns:a16="http://schemas.microsoft.com/office/drawing/2014/main" id="{40718CF7-5857-5F24-1C18-5C6FC598DC8A}"/>
              </a:ext>
            </a:extLst>
          </p:cNvPr>
          <p:cNvPicPr>
            <a:picLocks noChangeAspect="1"/>
          </p:cNvPicPr>
          <p:nvPr/>
        </p:nvPicPr>
        <p:blipFill>
          <a:blip r:embed="rId5"/>
          <a:stretch>
            <a:fillRect/>
          </a:stretch>
        </p:blipFill>
        <p:spPr>
          <a:xfrm>
            <a:off x="5781368" y="4695350"/>
            <a:ext cx="3408720" cy="2162650"/>
          </a:xfrm>
          <a:prstGeom prst="rect">
            <a:avLst/>
          </a:prstGeom>
        </p:spPr>
      </p:pic>
    </p:spTree>
    <p:extLst>
      <p:ext uri="{BB962C8B-B14F-4D97-AF65-F5344CB8AC3E}">
        <p14:creationId xmlns:p14="http://schemas.microsoft.com/office/powerpoint/2010/main" val="340709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fade">
                                      <p:cBhvr>
                                        <p:cTn id="14" dur="1000"/>
                                        <p:tgtEl>
                                          <p:spTgt spid="11">
                                            <p:txEl>
                                              <p:pRg st="1" end="1"/>
                                            </p:txEl>
                                          </p:spTgt>
                                        </p:tgtEl>
                                      </p:cBhvr>
                                    </p:animEffect>
                                    <p:anim calcmode="lin" valueType="num">
                                      <p:cBhvr>
                                        <p:cTn id="15"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fade">
                                      <p:cBhvr>
                                        <p:cTn id="19" dur="1000"/>
                                        <p:tgtEl>
                                          <p:spTgt spid="11">
                                            <p:txEl>
                                              <p:pRg st="2" end="2"/>
                                            </p:txEl>
                                          </p:spTgt>
                                        </p:tgtEl>
                                      </p:cBhvr>
                                    </p:animEffect>
                                    <p:anim calcmode="lin" valueType="num">
                                      <p:cBhvr>
                                        <p:cTn id="20"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3" end="3"/>
                                            </p:txEl>
                                          </p:spTgt>
                                        </p:tgtEl>
                                        <p:attrNameLst>
                                          <p:attrName>style.visibility</p:attrName>
                                        </p:attrNameLst>
                                      </p:cBhvr>
                                      <p:to>
                                        <p:strVal val="visible"/>
                                      </p:to>
                                    </p:set>
                                    <p:animEffect transition="in" filter="fade">
                                      <p:cBhvr>
                                        <p:cTn id="24" dur="1000"/>
                                        <p:tgtEl>
                                          <p:spTgt spid="11">
                                            <p:txEl>
                                              <p:pRg st="3" end="3"/>
                                            </p:txEl>
                                          </p:spTgt>
                                        </p:tgtEl>
                                      </p:cBhvr>
                                    </p:animEffect>
                                    <p:anim calcmode="lin" valueType="num">
                                      <p:cBhvr>
                                        <p:cTn id="2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animEffect transition="in" filter="fade">
                                      <p:cBhvr>
                                        <p:cTn id="29" dur="1000"/>
                                        <p:tgtEl>
                                          <p:spTgt spid="11">
                                            <p:txEl>
                                              <p:pRg st="4" end="4"/>
                                            </p:txEl>
                                          </p:spTgt>
                                        </p:tgtEl>
                                      </p:cBhvr>
                                    </p:animEffect>
                                    <p:anim calcmode="lin" valueType="num">
                                      <p:cBhvr>
                                        <p:cTn id="3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E953D-9795-D52A-918B-244DA3AFB6B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08939E-0F31-0513-C977-C9E72F00D7E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B8A7B4D-7F12-DA58-1CA2-B68D2943F7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128</a:t>
            </a:fld>
            <a:endParaRPr lang="en-US" altLang="en-US" sz="900">
              <a:solidFill>
                <a:srgbClr val="FFFFFF"/>
              </a:solidFill>
            </a:endParaRPr>
          </a:p>
        </p:txBody>
      </p:sp>
      <p:pic>
        <p:nvPicPr>
          <p:cNvPr id="22534" name="Picture 5">
            <a:extLst>
              <a:ext uri="{FF2B5EF4-FFF2-40B4-BE49-F238E27FC236}">
                <a16:creationId xmlns:a16="http://schemas.microsoft.com/office/drawing/2014/main" id="{73291C04-2E7D-984F-99CB-56A427049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BBE14B3-84B6-4F5B-D4E2-11A845F7DB0B}"/>
              </a:ext>
            </a:extLst>
          </p:cNvPr>
          <p:cNvSpPr txBox="1"/>
          <p:nvPr/>
        </p:nvSpPr>
        <p:spPr>
          <a:xfrm>
            <a:off x="0" y="-7264"/>
            <a:ext cx="4594122" cy="6281848"/>
          </a:xfrm>
          <a:prstGeom prst="rect">
            <a:avLst/>
          </a:prstGeom>
          <a:solidFill>
            <a:schemeClr val="bg1"/>
          </a:solidFill>
        </p:spPr>
        <p:txBody>
          <a:bodyPr wrap="square">
            <a:spAutoFit/>
          </a:bodyPr>
          <a:lstStyle/>
          <a:p>
            <a:pPr>
              <a:lnSpc>
                <a:spcPct val="150000"/>
              </a:lnSpc>
              <a:buNone/>
            </a:pPr>
            <a:r>
              <a:rPr lang="en-US" dirty="0">
                <a:latin typeface="+mn-lt"/>
              </a:rPr>
              <a:t>This diagram shows who uses the system and what they do.</a:t>
            </a:r>
          </a:p>
          <a:p>
            <a:pPr>
              <a:lnSpc>
                <a:spcPct val="150000"/>
              </a:lnSpc>
              <a:buFont typeface="Arial" panose="020B0604020202020204" pitchFamily="34" charset="0"/>
              <a:buChar char="•"/>
            </a:pPr>
            <a:r>
              <a:rPr lang="en-US" dirty="0">
                <a:latin typeface="+mn-lt"/>
              </a:rPr>
              <a:t>Actors (people): </a:t>
            </a:r>
          </a:p>
          <a:p>
            <a:pPr marL="742950" lvl="1" indent="-285750">
              <a:lnSpc>
                <a:spcPct val="150000"/>
              </a:lnSpc>
              <a:buFont typeface="Arial" panose="020B0604020202020204" pitchFamily="34" charset="0"/>
              <a:buChar char="•"/>
            </a:pPr>
            <a:r>
              <a:rPr lang="en-US" dirty="0">
                <a:latin typeface="+mn-lt"/>
              </a:rPr>
              <a:t>Customer </a:t>
            </a:r>
          </a:p>
          <a:p>
            <a:pPr marL="742950" lvl="1" indent="-285750">
              <a:lnSpc>
                <a:spcPct val="150000"/>
              </a:lnSpc>
              <a:buFont typeface="Arial" panose="020B0604020202020204" pitchFamily="34" charset="0"/>
              <a:buChar char="•"/>
            </a:pPr>
            <a:r>
              <a:rPr lang="en-US" dirty="0">
                <a:latin typeface="+mn-lt"/>
              </a:rPr>
              <a:t>Manager </a:t>
            </a:r>
          </a:p>
          <a:p>
            <a:pPr marL="742950" lvl="1" indent="-285750">
              <a:lnSpc>
                <a:spcPct val="150000"/>
              </a:lnSpc>
              <a:buFont typeface="Arial" panose="020B0604020202020204" pitchFamily="34" charset="0"/>
              <a:buChar char="•"/>
            </a:pPr>
            <a:r>
              <a:rPr lang="en-US" dirty="0">
                <a:latin typeface="+mn-lt"/>
              </a:rPr>
              <a:t>Sales Person </a:t>
            </a:r>
          </a:p>
          <a:p>
            <a:pPr>
              <a:lnSpc>
                <a:spcPct val="150000"/>
              </a:lnSpc>
              <a:buFont typeface="Arial" panose="020B0604020202020204" pitchFamily="34" charset="0"/>
              <a:buChar char="•"/>
            </a:pPr>
            <a:r>
              <a:rPr lang="en-US" dirty="0">
                <a:latin typeface="+mn-lt"/>
              </a:rPr>
              <a:t>System: </a:t>
            </a:r>
          </a:p>
          <a:p>
            <a:pPr marL="742950" lvl="1" indent="-285750">
              <a:lnSpc>
                <a:spcPct val="150000"/>
              </a:lnSpc>
              <a:buFont typeface="Arial" panose="020B0604020202020204" pitchFamily="34" charset="0"/>
              <a:buChar char="•"/>
            </a:pPr>
            <a:r>
              <a:rPr lang="en-US" i="1" dirty="0">
                <a:latin typeface="+mn-lt"/>
              </a:rPr>
              <a:t>Car Sales System</a:t>
            </a:r>
            <a:r>
              <a:rPr lang="en-US" dirty="0">
                <a:latin typeface="+mn-lt"/>
              </a:rPr>
              <a:t> (the big box) </a:t>
            </a:r>
          </a:p>
          <a:p>
            <a:pPr>
              <a:lnSpc>
                <a:spcPct val="150000"/>
              </a:lnSpc>
              <a:buFont typeface="Arial" panose="020B0604020202020204" pitchFamily="34" charset="0"/>
              <a:buChar char="•"/>
            </a:pPr>
            <a:r>
              <a:rPr lang="en-US" dirty="0">
                <a:latin typeface="+mn-lt"/>
              </a:rPr>
              <a:t>Use cases (actions): </a:t>
            </a:r>
          </a:p>
          <a:p>
            <a:pPr marL="742950" lvl="1" indent="-285750">
              <a:lnSpc>
                <a:spcPct val="150000"/>
              </a:lnSpc>
              <a:buFont typeface="Arial" panose="020B0604020202020204" pitchFamily="34" charset="0"/>
              <a:buChar char="•"/>
            </a:pPr>
            <a:r>
              <a:rPr lang="en-US" dirty="0">
                <a:latin typeface="+mn-lt"/>
              </a:rPr>
              <a:t>Make an offer </a:t>
            </a:r>
          </a:p>
          <a:p>
            <a:pPr marL="742950" lvl="1" indent="-285750">
              <a:lnSpc>
                <a:spcPct val="150000"/>
              </a:lnSpc>
              <a:buFont typeface="Arial" panose="020B0604020202020204" pitchFamily="34" charset="0"/>
              <a:buChar char="•"/>
            </a:pPr>
            <a:r>
              <a:rPr lang="en-US" dirty="0">
                <a:latin typeface="+mn-lt"/>
              </a:rPr>
              <a:t>Accept offer </a:t>
            </a:r>
          </a:p>
          <a:p>
            <a:pPr marL="742950" lvl="1" indent="-285750">
              <a:lnSpc>
                <a:spcPct val="150000"/>
              </a:lnSpc>
              <a:buFont typeface="Arial" panose="020B0604020202020204" pitchFamily="34" charset="0"/>
              <a:buChar char="•"/>
            </a:pPr>
            <a:r>
              <a:rPr lang="en-US" dirty="0">
                <a:latin typeface="+mn-lt"/>
              </a:rPr>
              <a:t>Update customer info </a:t>
            </a:r>
          </a:p>
          <a:p>
            <a:pPr marL="742950" lvl="1" indent="-285750">
              <a:lnSpc>
                <a:spcPct val="150000"/>
              </a:lnSpc>
              <a:buFont typeface="Arial" panose="020B0604020202020204" pitchFamily="34" charset="0"/>
              <a:buChar char="•"/>
            </a:pPr>
            <a:r>
              <a:rPr lang="en-US" dirty="0">
                <a:latin typeface="+mn-lt"/>
              </a:rPr>
              <a:t>Create new customer </a:t>
            </a:r>
          </a:p>
          <a:p>
            <a:pPr marL="742950" lvl="1" indent="-285750">
              <a:lnSpc>
                <a:spcPct val="150000"/>
              </a:lnSpc>
              <a:buFont typeface="Arial" panose="020B0604020202020204" pitchFamily="34" charset="0"/>
              <a:buChar char="•"/>
            </a:pPr>
            <a:r>
              <a:rPr lang="en-US" dirty="0">
                <a:latin typeface="+mn-lt"/>
              </a:rPr>
              <a:t>Manage offers </a:t>
            </a:r>
          </a:p>
          <a:p>
            <a:pPr marL="742950" lvl="1" indent="-285750">
              <a:lnSpc>
                <a:spcPct val="150000"/>
              </a:lnSpc>
              <a:buFont typeface="Arial" panose="020B0604020202020204" pitchFamily="34" charset="0"/>
              <a:buChar char="•"/>
            </a:pPr>
            <a:r>
              <a:rPr lang="en-US" dirty="0">
                <a:latin typeface="+mn-lt"/>
              </a:rPr>
              <a:t>Prepare contract</a:t>
            </a:r>
          </a:p>
        </p:txBody>
      </p:sp>
      <p:pic>
        <p:nvPicPr>
          <p:cNvPr id="12" name="Picture 11">
            <a:extLst>
              <a:ext uri="{FF2B5EF4-FFF2-40B4-BE49-F238E27FC236}">
                <a16:creationId xmlns:a16="http://schemas.microsoft.com/office/drawing/2014/main" id="{C42EC1D6-065F-9520-57B2-5A094B7DD2E3}"/>
              </a:ext>
            </a:extLst>
          </p:cNvPr>
          <p:cNvPicPr>
            <a:picLocks noChangeAspect="1"/>
          </p:cNvPicPr>
          <p:nvPr/>
        </p:nvPicPr>
        <p:blipFill>
          <a:blip r:embed="rId3"/>
          <a:stretch>
            <a:fillRect/>
          </a:stretch>
        </p:blipFill>
        <p:spPr>
          <a:xfrm>
            <a:off x="3645003" y="1397340"/>
            <a:ext cx="5473494" cy="3472639"/>
          </a:xfrm>
          <a:prstGeom prst="rect">
            <a:avLst/>
          </a:prstGeom>
          <a:ln>
            <a:solidFill>
              <a:srgbClr val="FF0000"/>
            </a:solidFill>
          </a:ln>
        </p:spPr>
      </p:pic>
    </p:spTree>
    <p:extLst>
      <p:ext uri="{BB962C8B-B14F-4D97-AF65-F5344CB8AC3E}">
        <p14:creationId xmlns:p14="http://schemas.microsoft.com/office/powerpoint/2010/main" val="7414568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E964-5AD1-1F05-FAB3-162C099EFA5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87002F-7443-28DB-3195-027FAC5369F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81536B2-8073-7B45-E9E8-BE40DA9679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129</a:t>
            </a:fld>
            <a:endParaRPr lang="en-US" altLang="en-US" sz="900">
              <a:solidFill>
                <a:srgbClr val="FFFFFF"/>
              </a:solidFill>
            </a:endParaRPr>
          </a:p>
        </p:txBody>
      </p:sp>
      <p:pic>
        <p:nvPicPr>
          <p:cNvPr id="22534" name="Picture 5">
            <a:extLst>
              <a:ext uri="{FF2B5EF4-FFF2-40B4-BE49-F238E27FC236}">
                <a16:creationId xmlns:a16="http://schemas.microsoft.com/office/drawing/2014/main" id="{49364AB6-53AF-EEC0-379B-F97CD6E4B0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C5CCF3F2-ED5A-9DFD-B3B1-AB82B666DD15}"/>
              </a:ext>
            </a:extLst>
          </p:cNvPr>
          <p:cNvSpPr txBox="1"/>
          <p:nvPr/>
        </p:nvSpPr>
        <p:spPr>
          <a:xfrm>
            <a:off x="0" y="-7264"/>
            <a:ext cx="4594122" cy="7149521"/>
          </a:xfrm>
          <a:prstGeom prst="rect">
            <a:avLst/>
          </a:prstGeom>
          <a:solidFill>
            <a:schemeClr val="bg1"/>
          </a:solidFill>
          <a:ln>
            <a:solidFill>
              <a:srgbClr val="FF0000"/>
            </a:solidFill>
          </a:ln>
        </p:spPr>
        <p:txBody>
          <a:bodyPr wrap="square">
            <a:spAutoFit/>
          </a:bodyPr>
          <a:lstStyle/>
          <a:p>
            <a:pPr>
              <a:lnSpc>
                <a:spcPct val="150000"/>
              </a:lnSpc>
            </a:pPr>
            <a:r>
              <a:rPr lang="en-US" sz="2200" dirty="0">
                <a:latin typeface="+mn-lt"/>
              </a:rPr>
              <a:t>In simple terms:</a:t>
            </a:r>
          </a:p>
          <a:p>
            <a:pPr marL="342900" indent="-342900">
              <a:lnSpc>
                <a:spcPct val="150000"/>
              </a:lnSpc>
              <a:buFont typeface="Arial" panose="020B0604020202020204" pitchFamily="34" charset="0"/>
              <a:buChar char="•"/>
            </a:pPr>
            <a:r>
              <a:rPr lang="en-US" sz="2200" dirty="0">
                <a:latin typeface="+mn-lt"/>
              </a:rPr>
              <a:t>A customer can request or receive an offer. </a:t>
            </a:r>
          </a:p>
          <a:p>
            <a:pPr marL="342900" indent="-342900">
              <a:lnSpc>
                <a:spcPct val="150000"/>
              </a:lnSpc>
              <a:buFont typeface="Arial" panose="020B0604020202020204" pitchFamily="34" charset="0"/>
              <a:buChar char="•"/>
            </a:pPr>
            <a:r>
              <a:rPr lang="en-US" sz="2200" dirty="0">
                <a:latin typeface="+mn-lt"/>
              </a:rPr>
              <a:t>A sales person helps manage offers and prepares contracts. </a:t>
            </a:r>
          </a:p>
          <a:p>
            <a:pPr marL="342900" indent="-342900">
              <a:lnSpc>
                <a:spcPct val="150000"/>
              </a:lnSpc>
              <a:buFont typeface="Arial" panose="020B0604020202020204" pitchFamily="34" charset="0"/>
              <a:buChar char="•"/>
            </a:pPr>
            <a:r>
              <a:rPr lang="en-US" sz="2200" dirty="0">
                <a:latin typeface="+mn-lt"/>
              </a:rPr>
              <a:t>A manager may approve or handle offers. </a:t>
            </a:r>
          </a:p>
          <a:p>
            <a:pPr marL="342900" indent="-342900">
              <a:lnSpc>
                <a:spcPct val="150000"/>
              </a:lnSpc>
              <a:buFont typeface="Arial" panose="020B0604020202020204" pitchFamily="34" charset="0"/>
              <a:buChar char="•"/>
            </a:pPr>
            <a:r>
              <a:rPr lang="en-US" sz="2200" dirty="0">
                <a:latin typeface="+mn-lt"/>
              </a:rPr>
              <a:t>Some actions depend on others: </a:t>
            </a:r>
          </a:p>
          <a:p>
            <a:pPr marL="800100" lvl="1" indent="-342900">
              <a:lnSpc>
                <a:spcPct val="150000"/>
              </a:lnSpc>
              <a:buFont typeface="Arial" panose="020B0604020202020204" pitchFamily="34" charset="0"/>
              <a:buChar char="•"/>
            </a:pPr>
            <a:r>
              <a:rPr lang="en-US" sz="2200" dirty="0">
                <a:latin typeface="+mn-lt"/>
              </a:rPr>
              <a:t>“Create New Customer” is included when dealing with a new customer. </a:t>
            </a:r>
          </a:p>
          <a:p>
            <a:pPr marL="800100" lvl="1" indent="-342900">
              <a:lnSpc>
                <a:spcPct val="150000"/>
              </a:lnSpc>
              <a:buFont typeface="Arial" panose="020B0604020202020204" pitchFamily="34" charset="0"/>
              <a:buChar char="•"/>
            </a:pPr>
            <a:r>
              <a:rPr lang="en-US" sz="2200" dirty="0">
                <a:latin typeface="+mn-lt"/>
              </a:rPr>
              <a:t>“Update Customer Info” extends existing customer actions.</a:t>
            </a:r>
          </a:p>
        </p:txBody>
      </p:sp>
      <p:pic>
        <p:nvPicPr>
          <p:cNvPr id="12" name="Picture 11">
            <a:extLst>
              <a:ext uri="{FF2B5EF4-FFF2-40B4-BE49-F238E27FC236}">
                <a16:creationId xmlns:a16="http://schemas.microsoft.com/office/drawing/2014/main" id="{FA4F2550-557B-20BA-FCE1-06DACF5338BD}"/>
              </a:ext>
            </a:extLst>
          </p:cNvPr>
          <p:cNvPicPr>
            <a:picLocks noChangeAspect="1"/>
          </p:cNvPicPr>
          <p:nvPr/>
        </p:nvPicPr>
        <p:blipFill>
          <a:blip r:embed="rId3"/>
          <a:stretch>
            <a:fillRect/>
          </a:stretch>
        </p:blipFill>
        <p:spPr>
          <a:xfrm>
            <a:off x="4594122" y="1397340"/>
            <a:ext cx="4524374" cy="2870473"/>
          </a:xfrm>
          <a:prstGeom prst="rect">
            <a:avLst/>
          </a:prstGeom>
          <a:ln>
            <a:solidFill>
              <a:srgbClr val="FF0000"/>
            </a:solidFill>
          </a:ln>
        </p:spPr>
      </p:pic>
    </p:spTree>
    <p:extLst>
      <p:ext uri="{BB962C8B-B14F-4D97-AF65-F5344CB8AC3E}">
        <p14:creationId xmlns:p14="http://schemas.microsoft.com/office/powerpoint/2010/main" val="356138446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A451A-B090-0FC3-8980-D4306B34A6A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C7049B-E2F7-2D9E-2F93-3BB926D89E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CAF83B5-2023-5FCB-254E-206A91654C0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130</a:t>
            </a:fld>
            <a:endParaRPr lang="en-US" altLang="en-US" sz="900">
              <a:solidFill>
                <a:srgbClr val="FFFFFF"/>
              </a:solidFill>
            </a:endParaRPr>
          </a:p>
        </p:txBody>
      </p:sp>
      <p:pic>
        <p:nvPicPr>
          <p:cNvPr id="22534" name="Picture 5">
            <a:extLst>
              <a:ext uri="{FF2B5EF4-FFF2-40B4-BE49-F238E27FC236}">
                <a16:creationId xmlns:a16="http://schemas.microsoft.com/office/drawing/2014/main" id="{9A76EC4C-19E5-4995-D9CF-C581C5A35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C8C3647-05C1-34A0-CEBF-E5F82D82D19D}"/>
              </a:ext>
            </a:extLst>
          </p:cNvPr>
          <p:cNvSpPr txBox="1"/>
          <p:nvPr/>
        </p:nvSpPr>
        <p:spPr>
          <a:xfrm>
            <a:off x="0" y="-7264"/>
            <a:ext cx="4594122" cy="6129050"/>
          </a:xfrm>
          <a:prstGeom prst="rect">
            <a:avLst/>
          </a:prstGeom>
          <a:solidFill>
            <a:schemeClr val="bg1"/>
          </a:solidFill>
          <a:ln>
            <a:solidFill>
              <a:srgbClr val="FF0000"/>
            </a:solidFill>
          </a:ln>
        </p:spPr>
        <p:txBody>
          <a:bodyPr wrap="square">
            <a:spAutoFit/>
          </a:bodyPr>
          <a:lstStyle/>
          <a:p>
            <a:pPr>
              <a:lnSpc>
                <a:spcPct val="150000"/>
              </a:lnSpc>
            </a:pPr>
            <a:r>
              <a:rPr lang="en-US" sz="2400" b="1" dirty="0">
                <a:latin typeface="+mn-lt"/>
              </a:rPr>
              <a:t>Why this fits BIS / IT Governance:</a:t>
            </a:r>
          </a:p>
          <a:p>
            <a:pPr>
              <a:lnSpc>
                <a:spcPct val="150000"/>
              </a:lnSpc>
            </a:pPr>
            <a:r>
              <a:rPr lang="en-US" sz="2400" dirty="0">
                <a:latin typeface="+mn-lt"/>
              </a:rPr>
              <a:t>It shows:</a:t>
            </a:r>
          </a:p>
          <a:p>
            <a:pPr marL="342900" indent="-342900">
              <a:lnSpc>
                <a:spcPct val="150000"/>
              </a:lnSpc>
              <a:buFont typeface="Arial" panose="020B0604020202020204" pitchFamily="34" charset="0"/>
              <a:buChar char="•"/>
            </a:pPr>
            <a:r>
              <a:rPr lang="en-US" sz="2400" dirty="0">
                <a:latin typeface="+mn-lt"/>
              </a:rPr>
              <a:t>Business processes (sales, offers, contracts) </a:t>
            </a:r>
          </a:p>
          <a:p>
            <a:pPr marL="342900" indent="-342900">
              <a:lnSpc>
                <a:spcPct val="150000"/>
              </a:lnSpc>
              <a:buFont typeface="Arial" panose="020B0604020202020204" pitchFamily="34" charset="0"/>
              <a:buChar char="•"/>
            </a:pPr>
            <a:r>
              <a:rPr lang="en-US" sz="2400" dirty="0">
                <a:latin typeface="+mn-lt"/>
              </a:rPr>
              <a:t>Roles and responsibilities </a:t>
            </a:r>
          </a:p>
          <a:p>
            <a:pPr marL="342900" indent="-342900">
              <a:lnSpc>
                <a:spcPct val="150000"/>
              </a:lnSpc>
              <a:buFont typeface="Arial" panose="020B0604020202020204" pitchFamily="34" charset="0"/>
              <a:buChar char="•"/>
            </a:pPr>
            <a:r>
              <a:rPr lang="en-US" sz="2400" dirty="0">
                <a:latin typeface="+mn-lt"/>
              </a:rPr>
              <a:t>How an IT system supports business activities </a:t>
            </a:r>
          </a:p>
          <a:p>
            <a:pPr>
              <a:lnSpc>
                <a:spcPct val="150000"/>
              </a:lnSpc>
            </a:pPr>
            <a:r>
              <a:rPr lang="en-US" sz="2400" dirty="0">
                <a:latin typeface="+mn-lt"/>
              </a:rPr>
              <a:t>That’s exactly what business information systems are about—using IT to support business operations.</a:t>
            </a:r>
          </a:p>
        </p:txBody>
      </p:sp>
      <p:pic>
        <p:nvPicPr>
          <p:cNvPr id="12" name="Picture 11">
            <a:extLst>
              <a:ext uri="{FF2B5EF4-FFF2-40B4-BE49-F238E27FC236}">
                <a16:creationId xmlns:a16="http://schemas.microsoft.com/office/drawing/2014/main" id="{3B17D5F1-6A3E-FB66-321A-7EB9A522914B}"/>
              </a:ext>
            </a:extLst>
          </p:cNvPr>
          <p:cNvPicPr>
            <a:picLocks noChangeAspect="1"/>
          </p:cNvPicPr>
          <p:nvPr/>
        </p:nvPicPr>
        <p:blipFill>
          <a:blip r:embed="rId3"/>
          <a:stretch>
            <a:fillRect/>
          </a:stretch>
        </p:blipFill>
        <p:spPr>
          <a:xfrm>
            <a:off x="4594122" y="1397340"/>
            <a:ext cx="4524374" cy="2870473"/>
          </a:xfrm>
          <a:prstGeom prst="rect">
            <a:avLst/>
          </a:prstGeom>
          <a:ln>
            <a:solidFill>
              <a:srgbClr val="FF0000"/>
            </a:solidFill>
          </a:ln>
        </p:spPr>
      </p:pic>
    </p:spTree>
    <p:extLst>
      <p:ext uri="{BB962C8B-B14F-4D97-AF65-F5344CB8AC3E}">
        <p14:creationId xmlns:p14="http://schemas.microsoft.com/office/powerpoint/2010/main" val="36512617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E05C-D466-D387-B07A-5F6CAD5F079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7E5C16-BAAE-72D1-CC78-B23DDB71207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0F9C8CA-8E50-1C83-CAC1-332E56F938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131</a:t>
            </a:fld>
            <a:endParaRPr lang="en-US" altLang="en-US" sz="900">
              <a:solidFill>
                <a:srgbClr val="FFFFFF"/>
              </a:solidFill>
            </a:endParaRPr>
          </a:p>
        </p:txBody>
      </p:sp>
      <p:pic>
        <p:nvPicPr>
          <p:cNvPr id="22534" name="Picture 5">
            <a:extLst>
              <a:ext uri="{FF2B5EF4-FFF2-40B4-BE49-F238E27FC236}">
                <a16:creationId xmlns:a16="http://schemas.microsoft.com/office/drawing/2014/main" id="{AF1ECCD1-6477-8F97-712F-B3E6A148E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99D50117-6EB7-80A1-F3FE-5BFB1E51CB89}"/>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170578C7-91BF-18A5-6325-41846CAA226F}"/>
              </a:ext>
            </a:extLst>
          </p:cNvPr>
          <p:cNvSpPr txBox="1"/>
          <p:nvPr/>
        </p:nvSpPr>
        <p:spPr>
          <a:xfrm>
            <a:off x="4617244" y="2776045"/>
            <a:ext cx="4572000" cy="4100290"/>
          </a:xfrm>
          <a:prstGeom prst="rect">
            <a:avLst/>
          </a:prstGeom>
          <a:solidFill>
            <a:schemeClr val="bg1"/>
          </a:solidFill>
          <a:ln>
            <a:solidFill>
              <a:srgbClr val="FF0000"/>
            </a:solidFill>
          </a:ln>
        </p:spPr>
        <p:txBody>
          <a:bodyPr wrap="square">
            <a:spAutoFit/>
          </a:bodyPr>
          <a:lstStyle/>
          <a:p>
            <a:pPr>
              <a:lnSpc>
                <a:spcPct val="150000"/>
              </a:lnSpc>
              <a:buNone/>
            </a:pPr>
            <a:r>
              <a:rPr lang="en-US" sz="2200" dirty="0">
                <a:latin typeface="+mn-lt"/>
              </a:rPr>
              <a:t>This is a Car Sales System.</a:t>
            </a:r>
          </a:p>
          <a:p>
            <a:pPr>
              <a:lnSpc>
                <a:spcPct val="150000"/>
              </a:lnSpc>
              <a:buNone/>
            </a:pPr>
            <a:r>
              <a:rPr lang="en-US" sz="2200" dirty="0">
                <a:latin typeface="+mn-lt"/>
              </a:rPr>
              <a:t>Actors (people)</a:t>
            </a:r>
          </a:p>
          <a:p>
            <a:pPr marL="342900" indent="-342900">
              <a:lnSpc>
                <a:spcPct val="150000"/>
              </a:lnSpc>
              <a:buFont typeface="Arial" panose="020B0604020202020204" pitchFamily="34" charset="0"/>
              <a:buChar char="•"/>
            </a:pPr>
            <a:r>
              <a:rPr lang="en-US" sz="2200" dirty="0">
                <a:latin typeface="+mn-lt"/>
              </a:rPr>
              <a:t>Customer </a:t>
            </a:r>
          </a:p>
          <a:p>
            <a:pPr marL="342900" indent="-342900">
              <a:lnSpc>
                <a:spcPct val="150000"/>
              </a:lnSpc>
              <a:buFont typeface="Arial" panose="020B0604020202020204" pitchFamily="34" charset="0"/>
              <a:buChar char="•"/>
            </a:pPr>
            <a:r>
              <a:rPr lang="en-US" sz="2200" dirty="0">
                <a:latin typeface="+mn-lt"/>
              </a:rPr>
              <a:t>New Customer </a:t>
            </a:r>
          </a:p>
          <a:p>
            <a:pPr marL="342900" indent="-342900">
              <a:lnSpc>
                <a:spcPct val="150000"/>
              </a:lnSpc>
              <a:buFont typeface="Arial" panose="020B0604020202020204" pitchFamily="34" charset="0"/>
              <a:buChar char="•"/>
            </a:pPr>
            <a:r>
              <a:rPr lang="en-US" sz="2200" dirty="0">
                <a:latin typeface="+mn-lt"/>
              </a:rPr>
              <a:t>Old Customer </a:t>
            </a:r>
          </a:p>
          <a:p>
            <a:pPr marL="342900" indent="-342900">
              <a:lnSpc>
                <a:spcPct val="150000"/>
              </a:lnSpc>
              <a:buFont typeface="Arial" panose="020B0604020202020204" pitchFamily="34" charset="0"/>
              <a:buChar char="•"/>
            </a:pPr>
            <a:r>
              <a:rPr lang="en-US" sz="2200" dirty="0">
                <a:latin typeface="+mn-lt"/>
              </a:rPr>
              <a:t>Manager </a:t>
            </a:r>
          </a:p>
          <a:p>
            <a:pPr marL="342900" indent="-342900">
              <a:lnSpc>
                <a:spcPct val="150000"/>
              </a:lnSpc>
              <a:buFont typeface="Arial" panose="020B0604020202020204" pitchFamily="34" charset="0"/>
              <a:buChar char="•"/>
            </a:pPr>
            <a:r>
              <a:rPr lang="en-US" sz="2200" dirty="0">
                <a:latin typeface="+mn-lt"/>
              </a:rPr>
              <a:t>Sales Person </a:t>
            </a:r>
          </a:p>
          <a:p>
            <a:pPr>
              <a:lnSpc>
                <a:spcPct val="150000"/>
              </a:lnSpc>
              <a:buNone/>
            </a:pPr>
            <a:r>
              <a:rPr lang="en-US" sz="2200" dirty="0">
                <a:latin typeface="+mn-lt"/>
              </a:rPr>
              <a:t>These are the users of the system</a:t>
            </a:r>
          </a:p>
        </p:txBody>
      </p:sp>
    </p:spTree>
    <p:extLst>
      <p:ext uri="{BB962C8B-B14F-4D97-AF65-F5344CB8AC3E}">
        <p14:creationId xmlns:p14="http://schemas.microsoft.com/office/powerpoint/2010/main" val="28265486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03E8-FDEC-D42C-8A2C-119C40077CF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09F883-8000-E41A-9343-1B0050582D6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6790E2D-2816-2A2F-8556-050BACBF9D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132</a:t>
            </a:fld>
            <a:endParaRPr lang="en-US" altLang="en-US" sz="900">
              <a:solidFill>
                <a:srgbClr val="FFFFFF"/>
              </a:solidFill>
            </a:endParaRPr>
          </a:p>
        </p:txBody>
      </p:sp>
      <p:pic>
        <p:nvPicPr>
          <p:cNvPr id="22534" name="Picture 5">
            <a:extLst>
              <a:ext uri="{FF2B5EF4-FFF2-40B4-BE49-F238E27FC236}">
                <a16:creationId xmlns:a16="http://schemas.microsoft.com/office/drawing/2014/main" id="{A6949E89-0692-C594-2590-D1B305DB8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A30B4F73-79D9-C208-228B-E45EB6AD2B94}"/>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464992D0-99FF-1359-9FCD-3BFCC8A31823}"/>
              </a:ext>
            </a:extLst>
          </p:cNvPr>
          <p:cNvSpPr txBox="1"/>
          <p:nvPr/>
        </p:nvSpPr>
        <p:spPr>
          <a:xfrm>
            <a:off x="4572000" y="1282948"/>
            <a:ext cx="4572000" cy="5575052"/>
          </a:xfrm>
          <a:prstGeom prst="rect">
            <a:avLst/>
          </a:prstGeom>
          <a:solidFill>
            <a:schemeClr val="bg1"/>
          </a:solidFill>
          <a:ln>
            <a:solidFill>
              <a:srgbClr val="FF0000"/>
            </a:solidFill>
          </a:ln>
        </p:spPr>
        <p:txBody>
          <a:bodyPr wrap="square">
            <a:spAutoFit/>
          </a:bodyPr>
          <a:lstStyle/>
          <a:p>
            <a:pPr>
              <a:lnSpc>
                <a:spcPct val="150000"/>
              </a:lnSpc>
            </a:pPr>
            <a:r>
              <a:rPr lang="en-US" sz="2400" dirty="0">
                <a:latin typeface="+mn-lt"/>
              </a:rPr>
              <a:t>Use cases (actions)</a:t>
            </a:r>
          </a:p>
          <a:p>
            <a:pPr marL="342900" indent="-342900">
              <a:lnSpc>
                <a:spcPct val="150000"/>
              </a:lnSpc>
              <a:buFont typeface="Arial" panose="020B0604020202020204" pitchFamily="34" charset="0"/>
              <a:buChar char="•"/>
            </a:pPr>
            <a:r>
              <a:rPr lang="en-US" sz="2400" dirty="0">
                <a:latin typeface="+mn-lt"/>
              </a:rPr>
              <a:t>Make an Offer </a:t>
            </a:r>
          </a:p>
          <a:p>
            <a:pPr marL="342900" indent="-342900">
              <a:lnSpc>
                <a:spcPct val="150000"/>
              </a:lnSpc>
              <a:buFont typeface="Arial" panose="020B0604020202020204" pitchFamily="34" charset="0"/>
              <a:buChar char="•"/>
            </a:pPr>
            <a:r>
              <a:rPr lang="en-US" sz="2400" dirty="0">
                <a:latin typeface="+mn-lt"/>
              </a:rPr>
              <a:t>Accept Offer </a:t>
            </a:r>
          </a:p>
          <a:p>
            <a:pPr marL="342900" indent="-342900">
              <a:lnSpc>
                <a:spcPct val="150000"/>
              </a:lnSpc>
              <a:buFont typeface="Arial" panose="020B0604020202020204" pitchFamily="34" charset="0"/>
              <a:buChar char="•"/>
            </a:pPr>
            <a:r>
              <a:rPr lang="en-US" sz="2400" dirty="0">
                <a:latin typeface="+mn-lt"/>
              </a:rPr>
              <a:t>Prepare Contract </a:t>
            </a:r>
          </a:p>
          <a:p>
            <a:pPr marL="342900" indent="-342900">
              <a:lnSpc>
                <a:spcPct val="150000"/>
              </a:lnSpc>
              <a:buFont typeface="Arial" panose="020B0604020202020204" pitchFamily="34" charset="0"/>
              <a:buChar char="•"/>
            </a:pPr>
            <a:r>
              <a:rPr lang="en-US" sz="2400" dirty="0">
                <a:latin typeface="+mn-lt"/>
              </a:rPr>
              <a:t>Update Customer Info </a:t>
            </a:r>
          </a:p>
          <a:p>
            <a:pPr marL="342900" indent="-342900">
              <a:lnSpc>
                <a:spcPct val="150000"/>
              </a:lnSpc>
              <a:buFont typeface="Arial" panose="020B0604020202020204" pitchFamily="34" charset="0"/>
              <a:buChar char="•"/>
            </a:pPr>
            <a:r>
              <a:rPr lang="en-US" sz="2400" dirty="0">
                <a:latin typeface="+mn-lt"/>
              </a:rPr>
              <a:t>Create New Customer </a:t>
            </a:r>
          </a:p>
          <a:p>
            <a:pPr marL="342900" indent="-342900">
              <a:lnSpc>
                <a:spcPct val="150000"/>
              </a:lnSpc>
              <a:buFont typeface="Arial" panose="020B0604020202020204" pitchFamily="34" charset="0"/>
              <a:buChar char="•"/>
            </a:pPr>
            <a:r>
              <a:rPr lang="en-US" sz="2400" dirty="0">
                <a:latin typeface="+mn-lt"/>
              </a:rPr>
              <a:t>Manage Offers </a:t>
            </a:r>
          </a:p>
          <a:p>
            <a:pPr marL="342900" indent="-342900">
              <a:lnSpc>
                <a:spcPct val="150000"/>
              </a:lnSpc>
              <a:buFont typeface="Arial" panose="020B0604020202020204" pitchFamily="34" charset="0"/>
              <a:buChar char="•"/>
            </a:pPr>
            <a:r>
              <a:rPr lang="en-US" sz="2400" dirty="0">
                <a:latin typeface="+mn-lt"/>
              </a:rPr>
              <a:t>Pay Monthly Arrangement </a:t>
            </a:r>
          </a:p>
          <a:p>
            <a:pPr>
              <a:lnSpc>
                <a:spcPct val="150000"/>
              </a:lnSpc>
            </a:pPr>
            <a:r>
              <a:rPr lang="en-US" sz="2400" dirty="0">
                <a:latin typeface="+mn-lt"/>
              </a:rPr>
              <a:t>These are things users do in the system</a:t>
            </a:r>
          </a:p>
        </p:txBody>
      </p:sp>
    </p:spTree>
    <p:extLst>
      <p:ext uri="{BB962C8B-B14F-4D97-AF65-F5344CB8AC3E}">
        <p14:creationId xmlns:p14="http://schemas.microsoft.com/office/powerpoint/2010/main" val="162670151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14142-7E99-3C68-F02B-2903341262B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D77215F-9D26-85F3-39A4-DF9FAB3D38F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32B5F34-2158-A9FB-3636-E42ACFA39D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133</a:t>
            </a:fld>
            <a:endParaRPr lang="en-US" altLang="en-US" sz="900">
              <a:solidFill>
                <a:srgbClr val="FFFFFF"/>
              </a:solidFill>
            </a:endParaRPr>
          </a:p>
        </p:txBody>
      </p:sp>
      <p:pic>
        <p:nvPicPr>
          <p:cNvPr id="22534" name="Picture 5">
            <a:extLst>
              <a:ext uri="{FF2B5EF4-FFF2-40B4-BE49-F238E27FC236}">
                <a16:creationId xmlns:a16="http://schemas.microsoft.com/office/drawing/2014/main" id="{F9BCC205-91B4-D306-FD5A-1FD29B1F1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FDEA9440-9584-F475-AE74-14B5D8583018}"/>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A8F70415-F3E6-07BA-B8F0-9E6F5C833D7B}"/>
              </a:ext>
            </a:extLst>
          </p:cNvPr>
          <p:cNvSpPr txBox="1"/>
          <p:nvPr/>
        </p:nvSpPr>
        <p:spPr>
          <a:xfrm>
            <a:off x="4572000" y="1282948"/>
            <a:ext cx="4572000" cy="5575052"/>
          </a:xfrm>
          <a:prstGeom prst="rect">
            <a:avLst/>
          </a:prstGeom>
          <a:solidFill>
            <a:schemeClr val="bg1"/>
          </a:solidFill>
          <a:ln>
            <a:solidFill>
              <a:srgbClr val="FF0000"/>
            </a:solidFill>
          </a:ln>
        </p:spPr>
        <p:txBody>
          <a:bodyPr wrap="square">
            <a:spAutoFit/>
          </a:bodyPr>
          <a:lstStyle/>
          <a:p>
            <a:pPr>
              <a:lnSpc>
                <a:spcPct val="150000"/>
              </a:lnSpc>
            </a:pPr>
            <a:r>
              <a:rPr lang="en-US" sz="2400" dirty="0">
                <a:latin typeface="+mn-lt"/>
              </a:rPr>
              <a:t>Relationships (important but simple)</a:t>
            </a:r>
          </a:p>
          <a:p>
            <a:pPr>
              <a:lnSpc>
                <a:spcPct val="150000"/>
              </a:lnSpc>
            </a:pPr>
            <a:r>
              <a:rPr lang="en-US" sz="2400" dirty="0">
                <a:latin typeface="+mn-lt"/>
              </a:rPr>
              <a:t>1. «include»</a:t>
            </a:r>
          </a:p>
          <a:p>
            <a:pPr>
              <a:lnSpc>
                <a:spcPct val="150000"/>
              </a:lnSpc>
            </a:pPr>
            <a:r>
              <a:rPr lang="en-US" sz="2400" dirty="0">
                <a:latin typeface="+mn-lt"/>
              </a:rPr>
              <a:t>Means:</a:t>
            </a:r>
            <a:br>
              <a:rPr lang="en-US" sz="2400" dirty="0">
                <a:latin typeface="+mn-lt"/>
              </a:rPr>
            </a:br>
            <a:r>
              <a:rPr lang="en-US" sz="2400" dirty="0">
                <a:latin typeface="+mn-lt"/>
              </a:rPr>
              <a:t>This step always happens</a:t>
            </a:r>
          </a:p>
          <a:p>
            <a:pPr>
              <a:lnSpc>
                <a:spcPct val="150000"/>
              </a:lnSpc>
            </a:pPr>
            <a:r>
              <a:rPr lang="en-US" sz="2400" dirty="0">
                <a:latin typeface="+mn-lt"/>
              </a:rPr>
              <a:t>Example:</a:t>
            </a:r>
          </a:p>
          <a:p>
            <a:pPr>
              <a:lnSpc>
                <a:spcPct val="150000"/>
              </a:lnSpc>
            </a:pPr>
            <a:r>
              <a:rPr lang="en-US" sz="2400" dirty="0">
                <a:latin typeface="+mn-lt"/>
              </a:rPr>
              <a:t>Accept Offer → includes → Manage Offers</a:t>
            </a:r>
            <a:br>
              <a:rPr lang="en-US" sz="2400" dirty="0">
                <a:latin typeface="+mn-lt"/>
              </a:rPr>
            </a:br>
            <a:r>
              <a:rPr lang="en-US" sz="2400" dirty="0">
                <a:latin typeface="+mn-lt"/>
              </a:rPr>
              <a:t>You cannot accept an offer without managing offers</a:t>
            </a:r>
          </a:p>
        </p:txBody>
      </p:sp>
    </p:spTree>
    <p:extLst>
      <p:ext uri="{BB962C8B-B14F-4D97-AF65-F5344CB8AC3E}">
        <p14:creationId xmlns:p14="http://schemas.microsoft.com/office/powerpoint/2010/main" val="188128387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38C1-3D1D-AA26-BD15-DBE0BA96827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540238-2693-1418-0653-BDA0EE34D7E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7307426-0642-E577-4C25-9387987C4CC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134</a:t>
            </a:fld>
            <a:endParaRPr lang="en-US" altLang="en-US" sz="900">
              <a:solidFill>
                <a:srgbClr val="FFFFFF"/>
              </a:solidFill>
            </a:endParaRPr>
          </a:p>
        </p:txBody>
      </p:sp>
      <p:pic>
        <p:nvPicPr>
          <p:cNvPr id="22534" name="Picture 5">
            <a:extLst>
              <a:ext uri="{FF2B5EF4-FFF2-40B4-BE49-F238E27FC236}">
                <a16:creationId xmlns:a16="http://schemas.microsoft.com/office/drawing/2014/main" id="{DEF9FDFC-9318-E486-7B0C-F54DE9A54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C307951E-0FCE-E2EA-D9F0-48D78A486261}"/>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F713D875-E662-A779-A077-CABFEF0DA0E4}"/>
              </a:ext>
            </a:extLst>
          </p:cNvPr>
          <p:cNvSpPr txBox="1"/>
          <p:nvPr/>
        </p:nvSpPr>
        <p:spPr>
          <a:xfrm>
            <a:off x="4572000" y="1282948"/>
            <a:ext cx="4572000" cy="5021055"/>
          </a:xfrm>
          <a:prstGeom prst="rect">
            <a:avLst/>
          </a:prstGeom>
          <a:solidFill>
            <a:schemeClr val="bg1"/>
          </a:solidFill>
          <a:ln>
            <a:solidFill>
              <a:srgbClr val="FF0000"/>
            </a:solidFill>
          </a:ln>
        </p:spPr>
        <p:txBody>
          <a:bodyPr wrap="square">
            <a:spAutoFit/>
          </a:bodyPr>
          <a:lstStyle/>
          <a:p>
            <a:pPr>
              <a:lnSpc>
                <a:spcPct val="150000"/>
              </a:lnSpc>
            </a:pPr>
            <a:r>
              <a:rPr lang="en-US" sz="2400" dirty="0">
                <a:latin typeface="+mn-lt"/>
              </a:rPr>
              <a:t>2. «extend»</a:t>
            </a:r>
          </a:p>
          <a:p>
            <a:pPr>
              <a:lnSpc>
                <a:spcPct val="150000"/>
              </a:lnSpc>
            </a:pPr>
            <a:r>
              <a:rPr lang="en-US" sz="2400" dirty="0">
                <a:latin typeface="+mn-lt"/>
              </a:rPr>
              <a:t>Means:</a:t>
            </a:r>
            <a:br>
              <a:rPr lang="en-US" sz="2400" dirty="0">
                <a:latin typeface="+mn-lt"/>
              </a:rPr>
            </a:br>
            <a:r>
              <a:rPr lang="en-US" sz="2400" dirty="0">
                <a:latin typeface="+mn-lt"/>
              </a:rPr>
              <a:t>This step is optional / happens sometimes</a:t>
            </a:r>
          </a:p>
          <a:p>
            <a:pPr>
              <a:lnSpc>
                <a:spcPct val="150000"/>
              </a:lnSpc>
            </a:pPr>
            <a:r>
              <a:rPr lang="en-US" sz="2400" dirty="0">
                <a:latin typeface="+mn-lt"/>
              </a:rPr>
              <a:t>Example:</a:t>
            </a:r>
          </a:p>
          <a:p>
            <a:pPr>
              <a:lnSpc>
                <a:spcPct val="150000"/>
              </a:lnSpc>
            </a:pPr>
            <a:r>
              <a:rPr lang="en-US" sz="2400" dirty="0">
                <a:latin typeface="+mn-lt"/>
              </a:rPr>
              <a:t>Pay Monthly Arrangement → extends → Make an Offer</a:t>
            </a:r>
            <a:br>
              <a:rPr lang="en-US" sz="2400" dirty="0">
                <a:latin typeface="+mn-lt"/>
              </a:rPr>
            </a:br>
            <a:r>
              <a:rPr lang="en-US" sz="2400" dirty="0">
                <a:latin typeface="+mn-lt"/>
              </a:rPr>
              <a:t>Only happens if customer chooses payment plan</a:t>
            </a:r>
          </a:p>
        </p:txBody>
      </p:sp>
    </p:spTree>
    <p:extLst>
      <p:ext uri="{BB962C8B-B14F-4D97-AF65-F5344CB8AC3E}">
        <p14:creationId xmlns:p14="http://schemas.microsoft.com/office/powerpoint/2010/main" val="125834190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4701-F402-A811-A0C9-5A4601AC453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44C7EF-CCF9-5F82-834D-48BF2BF4538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04C9AB-FC13-AE3A-84F2-5FEE6BBA342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135</a:t>
            </a:fld>
            <a:endParaRPr lang="en-US" altLang="en-US" sz="900">
              <a:solidFill>
                <a:srgbClr val="FFFFFF"/>
              </a:solidFill>
            </a:endParaRPr>
          </a:p>
        </p:txBody>
      </p:sp>
      <p:pic>
        <p:nvPicPr>
          <p:cNvPr id="22534" name="Picture 5">
            <a:extLst>
              <a:ext uri="{FF2B5EF4-FFF2-40B4-BE49-F238E27FC236}">
                <a16:creationId xmlns:a16="http://schemas.microsoft.com/office/drawing/2014/main" id="{799F0D54-F0F5-2A34-14C4-A2DA553ED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0077B676-9A0A-FE02-9DED-AA017FA998C6}"/>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211635D6-CE3B-7B80-73E5-9E428E8E48B6}"/>
              </a:ext>
            </a:extLst>
          </p:cNvPr>
          <p:cNvSpPr txBox="1"/>
          <p:nvPr/>
        </p:nvSpPr>
        <p:spPr>
          <a:xfrm>
            <a:off x="4572000" y="1282948"/>
            <a:ext cx="4572000" cy="3257174"/>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n-lt"/>
              </a:rPr>
              <a:t>3. </a:t>
            </a:r>
            <a:r>
              <a:rPr lang="en-US" sz="2800" b="1" dirty="0" err="1">
                <a:latin typeface="+mn-lt"/>
              </a:rPr>
              <a:t>Generalisation</a:t>
            </a:r>
            <a:r>
              <a:rPr lang="en-US" sz="2800" b="1" dirty="0">
                <a:latin typeface="+mn-lt"/>
              </a:rPr>
              <a:t> (inheritance)</a:t>
            </a:r>
          </a:p>
          <a:p>
            <a:pPr>
              <a:lnSpc>
                <a:spcPct val="150000"/>
              </a:lnSpc>
            </a:pPr>
            <a:r>
              <a:rPr lang="en-US" sz="2800" dirty="0">
                <a:latin typeface="+mn-lt"/>
              </a:rPr>
              <a:t>New Customer and Old Customer are types of Customer</a:t>
            </a:r>
          </a:p>
        </p:txBody>
      </p:sp>
    </p:spTree>
    <p:extLst>
      <p:ext uri="{BB962C8B-B14F-4D97-AF65-F5344CB8AC3E}">
        <p14:creationId xmlns:p14="http://schemas.microsoft.com/office/powerpoint/2010/main" val="121934710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F9456-36D5-EF45-3D02-287272B863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DCEFC3-D973-85AC-6A96-0C339AE5AFD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F696C4D-2E36-087F-0A7D-95A50CC812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136</a:t>
            </a:fld>
            <a:endParaRPr lang="en-US" altLang="en-US" sz="900">
              <a:solidFill>
                <a:srgbClr val="FFFFFF"/>
              </a:solidFill>
            </a:endParaRPr>
          </a:p>
        </p:txBody>
      </p:sp>
      <p:pic>
        <p:nvPicPr>
          <p:cNvPr id="22534" name="Picture 5">
            <a:extLst>
              <a:ext uri="{FF2B5EF4-FFF2-40B4-BE49-F238E27FC236}">
                <a16:creationId xmlns:a16="http://schemas.microsoft.com/office/drawing/2014/main" id="{2C557520-8907-EFBB-969A-C62D34162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33B65BCC-2A3A-D748-0518-DE996055399A}"/>
              </a:ext>
            </a:extLst>
          </p:cNvPr>
          <p:cNvPicPr>
            <a:picLocks noChangeAspect="1"/>
          </p:cNvPicPr>
          <p:nvPr/>
        </p:nvPicPr>
        <p:blipFill>
          <a:blip r:embed="rId3"/>
          <a:stretch>
            <a:fillRect/>
          </a:stretch>
        </p:blipFill>
        <p:spPr>
          <a:xfrm>
            <a:off x="0" y="0"/>
            <a:ext cx="4617244" cy="2929394"/>
          </a:xfrm>
          <a:prstGeom prst="rect">
            <a:avLst/>
          </a:prstGeom>
        </p:spPr>
      </p:pic>
      <p:sp>
        <p:nvSpPr>
          <p:cNvPr id="8" name="TextBox 7">
            <a:extLst>
              <a:ext uri="{FF2B5EF4-FFF2-40B4-BE49-F238E27FC236}">
                <a16:creationId xmlns:a16="http://schemas.microsoft.com/office/drawing/2014/main" id="{B2773121-5E6F-2CE5-9608-61AAE77C6E98}"/>
              </a:ext>
            </a:extLst>
          </p:cNvPr>
          <p:cNvSpPr txBox="1"/>
          <p:nvPr/>
        </p:nvSpPr>
        <p:spPr>
          <a:xfrm>
            <a:off x="4572000" y="1282948"/>
            <a:ext cx="4572000" cy="3257174"/>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n-lt"/>
              </a:rPr>
              <a:t>3. </a:t>
            </a:r>
            <a:r>
              <a:rPr lang="en-US" sz="2800" b="1" dirty="0" err="1">
                <a:latin typeface="+mn-lt"/>
              </a:rPr>
              <a:t>Generalisation</a:t>
            </a:r>
            <a:r>
              <a:rPr lang="en-US" sz="2800" b="1" dirty="0">
                <a:latin typeface="+mn-lt"/>
              </a:rPr>
              <a:t> (inheritance)</a:t>
            </a:r>
          </a:p>
          <a:p>
            <a:pPr>
              <a:lnSpc>
                <a:spcPct val="150000"/>
              </a:lnSpc>
            </a:pPr>
            <a:r>
              <a:rPr lang="en-US" sz="2800" dirty="0">
                <a:latin typeface="+mn-lt"/>
              </a:rPr>
              <a:t>New Customer and Old Customer are types of Customer</a:t>
            </a:r>
          </a:p>
        </p:txBody>
      </p:sp>
    </p:spTree>
    <p:extLst>
      <p:ext uri="{BB962C8B-B14F-4D97-AF65-F5344CB8AC3E}">
        <p14:creationId xmlns:p14="http://schemas.microsoft.com/office/powerpoint/2010/main" val="16091606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6037-3675-BC72-173F-6DAC22263D2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452B4B-2015-4964-263A-3BA7D37451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0E7A138-CF71-742A-6928-CD3B22D79A2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137</a:t>
            </a:fld>
            <a:endParaRPr lang="en-US" altLang="en-US" sz="900">
              <a:solidFill>
                <a:srgbClr val="FFFFFF"/>
              </a:solidFill>
            </a:endParaRPr>
          </a:p>
        </p:txBody>
      </p:sp>
      <p:pic>
        <p:nvPicPr>
          <p:cNvPr id="22534" name="Picture 5">
            <a:extLst>
              <a:ext uri="{FF2B5EF4-FFF2-40B4-BE49-F238E27FC236}">
                <a16:creationId xmlns:a16="http://schemas.microsoft.com/office/drawing/2014/main" id="{B719CA1E-D07E-6B6F-1EDB-9491244DE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F2D8F92-5D0D-A60C-C415-3E295804D188}"/>
              </a:ext>
            </a:extLst>
          </p:cNvPr>
          <p:cNvSpPr txBox="1"/>
          <p:nvPr/>
        </p:nvSpPr>
        <p:spPr>
          <a:xfrm>
            <a:off x="0" y="0"/>
            <a:ext cx="9144000" cy="6957674"/>
          </a:xfrm>
          <a:prstGeom prst="rect">
            <a:avLst/>
          </a:prstGeom>
          <a:solidFill>
            <a:schemeClr val="bg1"/>
          </a:solidFill>
        </p:spPr>
        <p:txBody>
          <a:bodyPr wrap="square">
            <a:spAutoFit/>
          </a:bodyPr>
          <a:lstStyle/>
          <a:p>
            <a:pPr>
              <a:lnSpc>
                <a:spcPct val="150000"/>
              </a:lnSpc>
              <a:buNone/>
            </a:pPr>
            <a:r>
              <a:rPr lang="en-US" sz="2500" b="1" dirty="0">
                <a:latin typeface="+mn-lt"/>
              </a:rPr>
              <a:t>Software Development)</a:t>
            </a:r>
          </a:p>
          <a:p>
            <a:pPr>
              <a:lnSpc>
                <a:spcPct val="150000"/>
              </a:lnSpc>
              <a:buNone/>
            </a:pPr>
            <a:r>
              <a:rPr lang="en-US" sz="2500" b="1" dirty="0">
                <a:latin typeface="+mn-lt"/>
              </a:rPr>
              <a:t>Task:</a:t>
            </a:r>
            <a:br>
              <a:rPr lang="en-US" sz="2500" dirty="0">
                <a:latin typeface="+mn-lt"/>
              </a:rPr>
            </a:br>
            <a:r>
              <a:rPr lang="en-US" sz="2500" i="1" dirty="0">
                <a:latin typeface="+mn-lt"/>
              </a:rPr>
              <a:t>Draw a use case diagram for an online shopping system.</a:t>
            </a:r>
            <a:endParaRPr lang="en-US" sz="2500" dirty="0">
              <a:latin typeface="+mn-lt"/>
            </a:endParaRPr>
          </a:p>
          <a:p>
            <a:pPr>
              <a:lnSpc>
                <a:spcPct val="150000"/>
              </a:lnSpc>
              <a:buNone/>
            </a:pPr>
            <a:r>
              <a:rPr lang="en-US" sz="2500" dirty="0">
                <a:latin typeface="+mn-lt"/>
              </a:rPr>
              <a:t>Include:</a:t>
            </a:r>
          </a:p>
          <a:p>
            <a:pPr marL="342900" indent="-342900">
              <a:lnSpc>
                <a:spcPct val="150000"/>
              </a:lnSpc>
              <a:buFont typeface="Arial" panose="020B0604020202020204" pitchFamily="34" charset="0"/>
              <a:buChar char="•"/>
            </a:pPr>
            <a:r>
              <a:rPr lang="en-US" sz="2500" dirty="0">
                <a:latin typeface="+mn-lt"/>
              </a:rPr>
              <a:t>Customer </a:t>
            </a:r>
          </a:p>
          <a:p>
            <a:pPr marL="342900" indent="-342900">
              <a:lnSpc>
                <a:spcPct val="150000"/>
              </a:lnSpc>
              <a:buFont typeface="Arial" panose="020B0604020202020204" pitchFamily="34" charset="0"/>
              <a:buChar char="•"/>
            </a:pPr>
            <a:r>
              <a:rPr lang="en-US" sz="2500" dirty="0">
                <a:latin typeface="+mn-lt"/>
              </a:rPr>
              <a:t>Add to Cart </a:t>
            </a:r>
          </a:p>
          <a:p>
            <a:pPr marL="342900" indent="-342900">
              <a:lnSpc>
                <a:spcPct val="150000"/>
              </a:lnSpc>
              <a:buFont typeface="Arial" panose="020B0604020202020204" pitchFamily="34" charset="0"/>
              <a:buChar char="•"/>
            </a:pPr>
            <a:r>
              <a:rPr lang="en-US" sz="2500" dirty="0">
                <a:latin typeface="+mn-lt"/>
              </a:rPr>
              <a:t>Checkout </a:t>
            </a:r>
          </a:p>
          <a:p>
            <a:pPr marL="342900" indent="-342900">
              <a:lnSpc>
                <a:spcPct val="150000"/>
              </a:lnSpc>
              <a:buFont typeface="Arial" panose="020B0604020202020204" pitchFamily="34" charset="0"/>
              <a:buChar char="•"/>
            </a:pPr>
            <a:r>
              <a:rPr lang="en-US" sz="2500" dirty="0">
                <a:latin typeface="+mn-lt"/>
              </a:rPr>
              <a:t>Pay </a:t>
            </a:r>
          </a:p>
          <a:p>
            <a:pPr>
              <a:lnSpc>
                <a:spcPct val="150000"/>
              </a:lnSpc>
              <a:buNone/>
            </a:pPr>
            <a:r>
              <a:rPr lang="en-US" sz="2500" dirty="0">
                <a:latin typeface="+mn-lt"/>
              </a:rPr>
              <a:t>Students should:</a:t>
            </a:r>
          </a:p>
          <a:p>
            <a:pPr marL="342900" indent="-342900">
              <a:lnSpc>
                <a:spcPct val="150000"/>
              </a:lnSpc>
              <a:buFont typeface="Arial" panose="020B0604020202020204" pitchFamily="34" charset="0"/>
              <a:buChar char="•"/>
            </a:pPr>
            <a:r>
              <a:rPr lang="en-US" sz="2500" dirty="0">
                <a:latin typeface="+mn-lt"/>
              </a:rPr>
              <a:t>Identify actors </a:t>
            </a:r>
          </a:p>
          <a:p>
            <a:pPr marL="342900" indent="-342900">
              <a:lnSpc>
                <a:spcPct val="150000"/>
              </a:lnSpc>
              <a:buFont typeface="Arial" panose="020B0604020202020204" pitchFamily="34" charset="0"/>
              <a:buChar char="•"/>
            </a:pPr>
            <a:r>
              <a:rPr lang="en-US" sz="2500" dirty="0">
                <a:latin typeface="+mn-lt"/>
              </a:rPr>
              <a:t>Draw system boundary </a:t>
            </a:r>
          </a:p>
          <a:p>
            <a:pPr marL="342900" indent="-342900">
              <a:lnSpc>
                <a:spcPct val="150000"/>
              </a:lnSpc>
              <a:buFont typeface="Arial" panose="020B0604020202020204" pitchFamily="34" charset="0"/>
              <a:buChar char="•"/>
            </a:pPr>
            <a:r>
              <a:rPr lang="en-US" sz="2500" dirty="0">
                <a:latin typeface="+mn-lt"/>
              </a:rPr>
              <a:t>Connect actions</a:t>
            </a:r>
          </a:p>
        </p:txBody>
      </p:sp>
    </p:spTree>
    <p:extLst>
      <p:ext uri="{BB962C8B-B14F-4D97-AF65-F5344CB8AC3E}">
        <p14:creationId xmlns:p14="http://schemas.microsoft.com/office/powerpoint/2010/main" val="30162321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BB338-CD7F-4AE0-E9D3-BA7B3D783C8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F41E48-C870-8393-6946-D77329E0E30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7BD9C26-24B3-22A4-8533-A64CB0D684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138</a:t>
            </a:fld>
            <a:endParaRPr lang="en-US" altLang="en-US" sz="900">
              <a:solidFill>
                <a:srgbClr val="FFFFFF"/>
              </a:solidFill>
            </a:endParaRPr>
          </a:p>
        </p:txBody>
      </p:sp>
      <p:pic>
        <p:nvPicPr>
          <p:cNvPr id="22534" name="Picture 5">
            <a:extLst>
              <a:ext uri="{FF2B5EF4-FFF2-40B4-BE49-F238E27FC236}">
                <a16:creationId xmlns:a16="http://schemas.microsoft.com/office/drawing/2014/main" id="{0D15D9C0-5773-1F5D-752D-E4A5A5615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063" y="62834"/>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3681411-3834-6953-5731-1CBEA6F0F311}"/>
              </a:ext>
            </a:extLst>
          </p:cNvPr>
          <p:cNvSpPr txBox="1"/>
          <p:nvPr/>
        </p:nvSpPr>
        <p:spPr>
          <a:xfrm>
            <a:off x="0" y="0"/>
            <a:ext cx="9144000" cy="5842497"/>
          </a:xfrm>
          <a:prstGeom prst="rect">
            <a:avLst/>
          </a:prstGeom>
          <a:solidFill>
            <a:schemeClr val="bg1"/>
          </a:solidFill>
        </p:spPr>
        <p:txBody>
          <a:bodyPr wrap="square">
            <a:spAutoFit/>
          </a:bodyPr>
          <a:lstStyle/>
          <a:p>
            <a:pPr>
              <a:lnSpc>
                <a:spcPct val="150000"/>
              </a:lnSpc>
            </a:pPr>
            <a:r>
              <a:rPr lang="en-US" sz="2800" b="1" dirty="0">
                <a:latin typeface="+mn-lt"/>
              </a:rPr>
              <a:t>IS + IT Governance)</a:t>
            </a:r>
          </a:p>
          <a:p>
            <a:pPr>
              <a:lnSpc>
                <a:spcPct val="150000"/>
              </a:lnSpc>
            </a:pPr>
            <a:r>
              <a:rPr lang="en-US" sz="2800" b="1" dirty="0">
                <a:latin typeface="+mn-lt"/>
              </a:rPr>
              <a:t>Task:</a:t>
            </a:r>
            <a:br>
              <a:rPr lang="en-US" sz="2800" dirty="0">
                <a:latin typeface="+mn-lt"/>
              </a:rPr>
            </a:br>
            <a:r>
              <a:rPr lang="en-US" sz="2800" i="1" dirty="0">
                <a:latin typeface="+mn-lt"/>
              </a:rPr>
              <a:t>Explain how a car sales system helps a business.</a:t>
            </a:r>
            <a:endParaRPr lang="en-US" sz="2800" dirty="0">
              <a:latin typeface="+mn-lt"/>
            </a:endParaRPr>
          </a:p>
          <a:p>
            <a:pPr>
              <a:lnSpc>
                <a:spcPct val="150000"/>
              </a:lnSpc>
            </a:pPr>
            <a:r>
              <a:rPr lang="en-US" sz="2800" dirty="0">
                <a:latin typeface="+mn-lt"/>
              </a:rPr>
              <a:t>Students can talk about:</a:t>
            </a:r>
          </a:p>
          <a:p>
            <a:pPr marL="914400" lvl="1" indent="-457200">
              <a:lnSpc>
                <a:spcPct val="150000"/>
              </a:lnSpc>
              <a:buFont typeface="Arial" panose="020B0604020202020204" pitchFamily="34" charset="0"/>
              <a:buChar char="•"/>
            </a:pPr>
            <a:r>
              <a:rPr lang="en-US" sz="2800" dirty="0">
                <a:latin typeface="+mn-lt"/>
              </a:rPr>
              <a:t>Managing customers </a:t>
            </a:r>
          </a:p>
          <a:p>
            <a:pPr marL="914400" lvl="1" indent="-457200">
              <a:lnSpc>
                <a:spcPct val="150000"/>
              </a:lnSpc>
              <a:buFont typeface="Arial" panose="020B0604020202020204" pitchFamily="34" charset="0"/>
              <a:buChar char="•"/>
            </a:pPr>
            <a:r>
              <a:rPr lang="en-US" sz="2800" dirty="0">
                <a:latin typeface="+mn-lt"/>
              </a:rPr>
              <a:t>Tracking sales </a:t>
            </a:r>
          </a:p>
          <a:p>
            <a:pPr marL="914400" lvl="1" indent="-457200">
              <a:lnSpc>
                <a:spcPct val="150000"/>
              </a:lnSpc>
              <a:buFont typeface="Arial" panose="020B0604020202020204" pitchFamily="34" charset="0"/>
              <a:buChar char="•"/>
            </a:pPr>
            <a:r>
              <a:rPr lang="en-US" sz="2800" dirty="0">
                <a:latin typeface="+mn-lt"/>
              </a:rPr>
              <a:t>Improving efficiency </a:t>
            </a:r>
          </a:p>
          <a:p>
            <a:pPr marL="914400" lvl="1" indent="-457200">
              <a:lnSpc>
                <a:spcPct val="150000"/>
              </a:lnSpc>
              <a:buFont typeface="Arial" panose="020B0604020202020204" pitchFamily="34" charset="0"/>
              <a:buChar char="•"/>
            </a:pPr>
            <a:r>
              <a:rPr lang="en-US" sz="2800" dirty="0">
                <a:latin typeface="+mn-lt"/>
              </a:rPr>
              <a:t>Reducing errors </a:t>
            </a:r>
          </a:p>
          <a:p>
            <a:pPr marL="914400" lvl="1" indent="-457200">
              <a:lnSpc>
                <a:spcPct val="150000"/>
              </a:lnSpc>
              <a:buFont typeface="Arial" panose="020B0604020202020204" pitchFamily="34" charset="0"/>
              <a:buChar char="•"/>
            </a:pPr>
            <a:r>
              <a:rPr lang="en-US" sz="2800" dirty="0">
                <a:latin typeface="+mn-lt"/>
              </a:rPr>
              <a:t>Supporting decisions </a:t>
            </a:r>
          </a:p>
        </p:txBody>
      </p:sp>
    </p:spTree>
    <p:extLst>
      <p:ext uri="{BB962C8B-B14F-4D97-AF65-F5344CB8AC3E}">
        <p14:creationId xmlns:p14="http://schemas.microsoft.com/office/powerpoint/2010/main" val="224489516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Class Diagrams</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Definition and Purpose:</a:t>
            </a:r>
          </a:p>
          <a:p>
            <a:pPr lvl="1">
              <a:buFont typeface="Arial" panose="020B0604020202020204" pitchFamily="34" charset="0"/>
              <a:buChar char="•"/>
            </a:pPr>
            <a:r>
              <a:rPr lang="en-AU" dirty="0"/>
              <a:t>Class diagrams represent the static structure of a system by showing its classes, attributes, methods, and relationships.</a:t>
            </a:r>
          </a:p>
          <a:p>
            <a:pPr>
              <a:buFont typeface="Arial" panose="020B0604020202020204" pitchFamily="34" charset="0"/>
              <a:buChar char="•"/>
            </a:pPr>
            <a:r>
              <a:rPr lang="en-AU" b="1" dirty="0"/>
              <a:t>Key Components:</a:t>
            </a:r>
          </a:p>
          <a:p>
            <a:pPr lvl="1">
              <a:buFont typeface="Arial" panose="020B0604020202020204" pitchFamily="34" charset="0"/>
              <a:buChar char="•"/>
            </a:pPr>
            <a:r>
              <a:rPr lang="en-AU" dirty="0"/>
              <a:t>Classes: Represented as rectangles with three compartments: name, attributes, and methods.</a:t>
            </a:r>
          </a:p>
          <a:p>
            <a:pPr lvl="1">
              <a:buFont typeface="Arial" panose="020B0604020202020204" pitchFamily="34" charset="0"/>
              <a:buChar char="•"/>
            </a:pPr>
            <a:r>
              <a:rPr lang="en-AU" dirty="0"/>
              <a:t>Attributes: Characteristics of a class.</a:t>
            </a:r>
          </a:p>
          <a:p>
            <a:pPr lvl="1">
              <a:buFont typeface="Arial" panose="020B0604020202020204" pitchFamily="34" charset="0"/>
              <a:buChar char="•"/>
            </a:pPr>
            <a:r>
              <a:rPr lang="en-AU" dirty="0"/>
              <a:t>Methods: Functions or operations of a class.</a:t>
            </a:r>
          </a:p>
          <a:p>
            <a:pPr lvl="1">
              <a:buFont typeface="Arial" panose="020B0604020202020204" pitchFamily="34" charset="0"/>
              <a:buChar char="•"/>
            </a:pPr>
            <a:r>
              <a:rPr lang="en-AU" dirty="0"/>
              <a:t>Relationships: Association, aggregation, composition, inheritance.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139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913334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Class Diagrams</a:t>
            </a:r>
            <a:endParaRPr lang="en-AU" altLang="en-US" sz="3600" b="1" dirty="0">
              <a:solidFill>
                <a:schemeClr val="accent2">
                  <a:lumMod val="75000"/>
                </a:schemeClr>
              </a:solidFill>
            </a:endParaRPr>
          </a:p>
        </p:txBody>
      </p:sp>
      <p:pic>
        <p:nvPicPr>
          <p:cNvPr id="4" name="Content Placeholder 3">
            <a:extLst>
              <a:ext uri="{FF2B5EF4-FFF2-40B4-BE49-F238E27FC236}">
                <a16:creationId xmlns:a16="http://schemas.microsoft.com/office/drawing/2014/main" id="{4A9A2D2E-1D6A-C9AA-9222-BB27AACC29AA}"/>
              </a:ext>
            </a:extLst>
          </p:cNvPr>
          <p:cNvPicPr>
            <a:picLocks noGrp="1" noChangeAspect="1"/>
          </p:cNvPicPr>
          <p:nvPr>
            <p:ph idx="1"/>
          </p:nvPr>
        </p:nvPicPr>
        <p:blipFill>
          <a:blip r:embed="rId2"/>
          <a:stretch>
            <a:fillRect/>
          </a:stretch>
        </p:blipFill>
        <p:spPr>
          <a:xfrm>
            <a:off x="1557337" y="1863082"/>
            <a:ext cx="6338888" cy="3825364"/>
          </a:xfrm>
        </p:spPr>
      </p:pic>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13379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Class Diagrams: </a:t>
            </a:r>
            <a:r>
              <a:rPr lang="en-AU" sz="3600" b="1" dirty="0">
                <a:solidFill>
                  <a:schemeClr val="accent2">
                    <a:lumMod val="75000"/>
                  </a:schemeClr>
                </a:solidFill>
              </a:rPr>
              <a:t>How to Create it? </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Steps to Create a Class Diagram:</a:t>
            </a:r>
          </a:p>
          <a:p>
            <a:pPr lvl="1">
              <a:buFont typeface="Arial" panose="020B0604020202020204" pitchFamily="34" charset="0"/>
              <a:buChar char="•"/>
            </a:pPr>
            <a:r>
              <a:rPr lang="en-AU" dirty="0"/>
              <a:t>Identify the classes needed for the system.</a:t>
            </a:r>
          </a:p>
          <a:p>
            <a:pPr lvl="1">
              <a:buFont typeface="Arial" panose="020B0604020202020204" pitchFamily="34" charset="0"/>
              <a:buChar char="•"/>
            </a:pPr>
            <a:r>
              <a:rPr lang="en-AU" dirty="0"/>
              <a:t>Define the attributes and methods for each class.</a:t>
            </a:r>
          </a:p>
          <a:p>
            <a:pPr lvl="1">
              <a:buFont typeface="Arial" panose="020B0604020202020204" pitchFamily="34" charset="0"/>
              <a:buChar char="•"/>
            </a:pPr>
            <a:r>
              <a:rPr lang="en-AU" dirty="0"/>
              <a:t>Establish relationships between classes.</a:t>
            </a:r>
          </a:p>
          <a:p>
            <a:pPr marL="200025" lvl="1" indent="0">
              <a:buNone/>
            </a:pPr>
            <a:endParaRPr lang="en-AU" dirty="0"/>
          </a:p>
          <a:p>
            <a:pPr>
              <a:buFont typeface="Arial" panose="020B0604020202020204" pitchFamily="34" charset="0"/>
              <a:buChar char="•"/>
            </a:pPr>
            <a:r>
              <a:rPr lang="en-AU" b="1" dirty="0"/>
              <a:t>Practical Example:</a:t>
            </a:r>
          </a:p>
          <a:p>
            <a:pPr lvl="1">
              <a:buFont typeface="Arial" panose="020B0604020202020204" pitchFamily="34" charset="0"/>
              <a:buChar char="•"/>
            </a:pPr>
            <a:r>
              <a:rPr lang="en-AU" u="sng" dirty="0"/>
              <a:t>E-commerce System Class Diagram:</a:t>
            </a:r>
          </a:p>
          <a:p>
            <a:pPr marL="200025" lvl="1" indent="0">
              <a:buNone/>
            </a:pPr>
            <a:r>
              <a:rPr lang="en-AU" dirty="0"/>
              <a:t>   - Classes: Customer, Order, Product, </a:t>
            </a:r>
            <a:r>
              <a:rPr lang="en-AU" dirty="0" err="1"/>
              <a:t>ShoppingCart</a:t>
            </a:r>
            <a:endParaRPr lang="en-AU" dirty="0"/>
          </a:p>
          <a:p>
            <a:pPr marL="200025" lvl="1" indent="0">
              <a:buNone/>
            </a:pPr>
            <a:r>
              <a:rPr lang="en-AU" dirty="0"/>
              <a:t>   - Attributes: Customer (name, email), Product (name, price)</a:t>
            </a:r>
          </a:p>
          <a:p>
            <a:pPr marL="200025" lvl="1" indent="0">
              <a:buNone/>
            </a:pPr>
            <a:r>
              <a:rPr lang="en-AU" dirty="0"/>
              <a:t>   - Methods: Order (</a:t>
            </a:r>
            <a:r>
              <a:rPr lang="en-AU" dirty="0" err="1"/>
              <a:t>placeOrder</a:t>
            </a:r>
            <a:r>
              <a:rPr lang="en-AU" dirty="0"/>
              <a:t>(), </a:t>
            </a:r>
            <a:r>
              <a:rPr lang="en-AU" dirty="0" err="1"/>
              <a:t>cancelOrder</a:t>
            </a:r>
            <a:r>
              <a:rPr lang="en-AU" dirty="0"/>
              <a: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问号素材-问号图片-问号素材图片下载-觅知网">
            <a:extLst>
              <a:ext uri="{FF2B5EF4-FFF2-40B4-BE49-F238E27FC236}">
                <a16:creationId xmlns:a16="http://schemas.microsoft.com/office/drawing/2014/main" id="{7EABF6B3-8740-74D1-278F-114D2758D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1288" y="360045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21401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Sequence Diagrams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marL="90488" lvl="1" indent="-90488">
              <a:spcBef>
                <a:spcPts val="1200"/>
              </a:spcBef>
              <a:spcAft>
                <a:spcPts val="200"/>
              </a:spcAft>
              <a:buSzPct val="100000"/>
              <a:buFont typeface="Arial" panose="020B0604020202020204" pitchFamily="34" charset="0"/>
              <a:buChar char="•"/>
            </a:pPr>
            <a:r>
              <a:rPr lang="en-AU" sz="2000" b="1" dirty="0"/>
              <a:t>Definition and Purpose:</a:t>
            </a:r>
          </a:p>
          <a:p>
            <a:pPr marL="274638" lvl="2" indent="-90488">
              <a:spcBef>
                <a:spcPts val="1200"/>
              </a:spcBef>
              <a:spcAft>
                <a:spcPts val="200"/>
              </a:spcAft>
              <a:buSzPct val="100000"/>
              <a:buFont typeface="Arial" panose="020B0604020202020204" pitchFamily="34" charset="0"/>
              <a:buChar char="•"/>
            </a:pPr>
            <a:r>
              <a:rPr lang="en-AU" sz="1800" dirty="0"/>
              <a:t>Sequence diagrams represent the sequence of messages exchanged between objects over time.</a:t>
            </a:r>
          </a:p>
          <a:p>
            <a:pPr marL="90488" lvl="1" indent="-90488">
              <a:spcBef>
                <a:spcPts val="1200"/>
              </a:spcBef>
              <a:spcAft>
                <a:spcPts val="200"/>
              </a:spcAft>
              <a:buSzPct val="100000"/>
              <a:buFont typeface="Arial" panose="020B0604020202020204" pitchFamily="34" charset="0"/>
              <a:buChar char="•"/>
            </a:pPr>
            <a:r>
              <a:rPr lang="en-AU" sz="2000" b="1" dirty="0"/>
              <a:t>Key Components:</a:t>
            </a:r>
          </a:p>
          <a:p>
            <a:pPr marL="274638" lvl="2" indent="-90488">
              <a:spcBef>
                <a:spcPts val="1200"/>
              </a:spcBef>
              <a:spcAft>
                <a:spcPts val="200"/>
              </a:spcAft>
              <a:buSzPct val="100000"/>
              <a:buFont typeface="Arial" panose="020B0604020202020204" pitchFamily="34" charset="0"/>
              <a:buChar char="•"/>
            </a:pPr>
            <a:r>
              <a:rPr lang="en-AU" sz="1800" dirty="0"/>
              <a:t>Objects: Represented as rectangles with lifelines extending vertically.</a:t>
            </a:r>
          </a:p>
          <a:p>
            <a:pPr marL="274638" lvl="2" indent="-90488">
              <a:spcBef>
                <a:spcPts val="1200"/>
              </a:spcBef>
              <a:spcAft>
                <a:spcPts val="200"/>
              </a:spcAft>
              <a:buSzPct val="100000"/>
              <a:buFont typeface="Arial" panose="020B0604020202020204" pitchFamily="34" charset="0"/>
              <a:buChar char="•"/>
            </a:pPr>
            <a:r>
              <a:rPr lang="en-AU" sz="1800" dirty="0"/>
              <a:t>Lifelines: Dotted lines representing the object's existence over time.</a:t>
            </a:r>
          </a:p>
          <a:p>
            <a:pPr marL="274638" lvl="2" indent="-90488">
              <a:spcBef>
                <a:spcPts val="1200"/>
              </a:spcBef>
              <a:spcAft>
                <a:spcPts val="200"/>
              </a:spcAft>
              <a:buSzPct val="100000"/>
              <a:buFont typeface="Arial" panose="020B0604020202020204" pitchFamily="34" charset="0"/>
              <a:buChar char="•"/>
            </a:pPr>
            <a:r>
              <a:rPr lang="en-AU" sz="1800" dirty="0"/>
              <a:t>Messages: Arrows showing communication between objects.</a:t>
            </a:r>
          </a:p>
          <a:p>
            <a:pPr marL="274638" lvl="2" indent="-90488">
              <a:spcBef>
                <a:spcPts val="1200"/>
              </a:spcBef>
              <a:spcAft>
                <a:spcPts val="200"/>
              </a:spcAft>
              <a:buSzPct val="100000"/>
              <a:buFont typeface="Arial" panose="020B0604020202020204" pitchFamily="34" charset="0"/>
              <a:buChar char="•"/>
            </a:pPr>
            <a:r>
              <a:rPr lang="en-AU" sz="1800" dirty="0"/>
              <a:t>Activations: Bars indicating the period an object is active.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24613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Sequence Diagrams </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BA10DAE7-CCAB-C0C2-7A2F-E7AEA5B256B6}"/>
              </a:ext>
            </a:extLst>
          </p:cNvPr>
          <p:cNvPicPr>
            <a:picLocks noChangeAspect="1"/>
          </p:cNvPicPr>
          <p:nvPr/>
        </p:nvPicPr>
        <p:blipFill>
          <a:blip r:embed="rId3"/>
          <a:stretch>
            <a:fillRect/>
          </a:stretch>
        </p:blipFill>
        <p:spPr>
          <a:xfrm>
            <a:off x="623887" y="1811639"/>
            <a:ext cx="8105775" cy="4381500"/>
          </a:xfrm>
          <a:prstGeom prst="rect">
            <a:avLst/>
          </a:prstGeom>
        </p:spPr>
      </p:pic>
    </p:spTree>
    <p:extLst>
      <p:ext uri="{BB962C8B-B14F-4D97-AF65-F5344CB8AC3E}">
        <p14:creationId xmlns:p14="http://schemas.microsoft.com/office/powerpoint/2010/main" val="13695470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Sequence Diagrams: </a:t>
            </a:r>
            <a:r>
              <a:rPr lang="en-AU" sz="3600" b="1" dirty="0">
                <a:solidFill>
                  <a:schemeClr val="accent2">
                    <a:lumMod val="75000"/>
                  </a:schemeClr>
                </a:solidFill>
              </a:rPr>
              <a:t>How to Create it? </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Steps to Create a Sequence Diagram:</a:t>
            </a:r>
          </a:p>
          <a:p>
            <a:pPr lvl="1">
              <a:buFont typeface="Arial" panose="020B0604020202020204" pitchFamily="34" charset="0"/>
              <a:buChar char="•"/>
            </a:pPr>
            <a:r>
              <a:rPr lang="en-AU" dirty="0"/>
              <a:t>Identify the objects involved in the interaction.</a:t>
            </a:r>
          </a:p>
          <a:p>
            <a:pPr lvl="1">
              <a:buFont typeface="Arial" panose="020B0604020202020204" pitchFamily="34" charset="0"/>
              <a:buChar char="•"/>
            </a:pPr>
            <a:r>
              <a:rPr lang="en-AU" dirty="0"/>
              <a:t>Define the sequence of messages exchanged between objects.</a:t>
            </a:r>
          </a:p>
          <a:p>
            <a:pPr lvl="1">
              <a:buFont typeface="Arial" panose="020B0604020202020204" pitchFamily="34" charset="0"/>
              <a:buChar char="•"/>
            </a:pPr>
            <a:r>
              <a:rPr lang="en-AU" dirty="0"/>
              <a:t>Draw the objects, lifelines, messages, and activations.</a:t>
            </a:r>
          </a:p>
          <a:p>
            <a:pPr marL="200025" lvl="1" indent="0">
              <a:buNone/>
            </a:pPr>
            <a:endParaRPr lang="en-AU" dirty="0"/>
          </a:p>
          <a:p>
            <a:pPr>
              <a:buFont typeface="Arial" panose="020B0604020202020204" pitchFamily="34" charset="0"/>
              <a:buChar char="•"/>
            </a:pPr>
            <a:r>
              <a:rPr lang="en-AU" b="1" dirty="0"/>
              <a:t>Practical Example:</a:t>
            </a:r>
          </a:p>
          <a:p>
            <a:pPr lvl="1">
              <a:buFont typeface="Arial" panose="020B0604020202020204" pitchFamily="34" charset="0"/>
              <a:buChar char="•"/>
            </a:pPr>
            <a:r>
              <a:rPr lang="en-AU" u="sng" dirty="0"/>
              <a:t>Online Shopping Sequence Diagram:</a:t>
            </a:r>
          </a:p>
          <a:p>
            <a:pPr marL="200025" lvl="1" indent="0">
              <a:buNone/>
            </a:pPr>
            <a:r>
              <a:rPr lang="en-AU" dirty="0"/>
              <a:t>   -Objects: Customer, </a:t>
            </a:r>
            <a:r>
              <a:rPr lang="en-AU" dirty="0" err="1"/>
              <a:t>ShoppingCart</a:t>
            </a:r>
            <a:r>
              <a:rPr lang="en-AU" dirty="0"/>
              <a:t>, </a:t>
            </a:r>
            <a:r>
              <a:rPr lang="en-AU" dirty="0" err="1"/>
              <a:t>PaymentGateway</a:t>
            </a:r>
            <a:endParaRPr lang="en-AU" dirty="0"/>
          </a:p>
          <a:p>
            <a:pPr marL="200025" lvl="1" indent="0">
              <a:buNone/>
            </a:pPr>
            <a:r>
              <a:rPr lang="en-AU" dirty="0"/>
              <a:t>   -Messages: </a:t>
            </a:r>
            <a:r>
              <a:rPr lang="en-AU" dirty="0" err="1"/>
              <a:t>addItem</a:t>
            </a:r>
            <a:r>
              <a:rPr lang="en-AU" dirty="0"/>
              <a:t>(), checkout(), </a:t>
            </a:r>
            <a:r>
              <a:rPr lang="en-AU" dirty="0" err="1"/>
              <a:t>processPayment</a:t>
            </a:r>
            <a:r>
              <a:rPr lang="en-AU" dirty="0"/>
              <a: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问号素材-问号图片-问号素材图片下载-觅知网">
            <a:extLst>
              <a:ext uri="{FF2B5EF4-FFF2-40B4-BE49-F238E27FC236}">
                <a16:creationId xmlns:a16="http://schemas.microsoft.com/office/drawing/2014/main" id="{A9643B58-7576-87A1-8503-E83BE37A09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738" y="360045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1500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Activity Diagrams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Definition and Purpose:</a:t>
            </a:r>
          </a:p>
          <a:p>
            <a:pPr lvl="1">
              <a:buFont typeface="Arial" panose="020B0604020202020204" pitchFamily="34" charset="0"/>
              <a:buChar char="•"/>
            </a:pPr>
            <a:r>
              <a:rPr lang="en-AU" sz="2000" dirty="0"/>
              <a:t>Activity diagrams illustrate the flow of activities in a system, highlighting the sequence and conditions of workflows.</a:t>
            </a:r>
          </a:p>
          <a:p>
            <a:pPr>
              <a:buFont typeface="Arial" panose="020B0604020202020204" pitchFamily="34" charset="0"/>
              <a:buChar char="•"/>
            </a:pPr>
            <a:r>
              <a:rPr lang="en-AU" b="1" dirty="0"/>
              <a:t>Key Components:</a:t>
            </a:r>
          </a:p>
          <a:p>
            <a:pPr lvl="1">
              <a:buFont typeface="Arial" panose="020B0604020202020204" pitchFamily="34" charset="0"/>
              <a:buChar char="•"/>
            </a:pPr>
            <a:r>
              <a:rPr lang="en-AU" sz="2000" dirty="0"/>
              <a:t>Activities: Represented as rounded rectangles.</a:t>
            </a:r>
          </a:p>
          <a:p>
            <a:pPr lvl="1">
              <a:buFont typeface="Arial" panose="020B0604020202020204" pitchFamily="34" charset="0"/>
              <a:buChar char="•"/>
            </a:pPr>
            <a:r>
              <a:rPr lang="en-AU" sz="2000" dirty="0"/>
              <a:t>Transitions: Arrows showing the flow from one activity to another.</a:t>
            </a:r>
          </a:p>
          <a:p>
            <a:pPr lvl="1">
              <a:buFont typeface="Arial" panose="020B0604020202020204" pitchFamily="34" charset="0"/>
              <a:buChar char="•"/>
            </a:pPr>
            <a:r>
              <a:rPr lang="en-AU" sz="2000" dirty="0"/>
              <a:t>Decisions: Diamonds representing branching points.</a:t>
            </a:r>
          </a:p>
          <a:p>
            <a:pPr lvl="1">
              <a:buFont typeface="Arial" panose="020B0604020202020204" pitchFamily="34" charset="0"/>
              <a:buChar char="•"/>
            </a:pPr>
            <a:r>
              <a:rPr lang="en-AU" sz="2000" dirty="0"/>
              <a:t>Start/End Points: Circles indicating the start and end of the workflow.</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46812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Activity Diagrams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4BFE14B2-443A-3F20-3981-A0919DB3928A}"/>
              </a:ext>
            </a:extLst>
          </p:cNvPr>
          <p:cNvPicPr>
            <a:picLocks noChangeAspect="1"/>
          </p:cNvPicPr>
          <p:nvPr/>
        </p:nvPicPr>
        <p:blipFill>
          <a:blip r:embed="rId3"/>
          <a:stretch>
            <a:fillRect/>
          </a:stretch>
        </p:blipFill>
        <p:spPr>
          <a:xfrm>
            <a:off x="1233488" y="1863082"/>
            <a:ext cx="6467475" cy="3781425"/>
          </a:xfrm>
          <a:prstGeom prst="rect">
            <a:avLst/>
          </a:prstGeom>
        </p:spPr>
      </p:pic>
    </p:spTree>
    <p:extLst>
      <p:ext uri="{BB962C8B-B14F-4D97-AF65-F5344CB8AC3E}">
        <p14:creationId xmlns:p14="http://schemas.microsoft.com/office/powerpoint/2010/main" val="4444640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436831" y="814066"/>
            <a:ext cx="9016998" cy="863600"/>
          </a:xfrm>
        </p:spPr>
        <p:txBody>
          <a:bodyPr>
            <a:noAutofit/>
          </a:bodyPr>
          <a:lstStyle/>
          <a:p>
            <a:pPr algn="ctr" eaLnBrk="1" fontAlgn="auto" hangingPunct="1">
              <a:spcAft>
                <a:spcPts val="0"/>
              </a:spcAft>
              <a:defRPr/>
            </a:pPr>
            <a:r>
              <a:rPr lang="en-AU" sz="3600" b="1" dirty="0">
                <a:solidFill>
                  <a:srgbClr val="00B0F0"/>
                </a:solidFill>
              </a:rPr>
              <a:t>Activity Diagrams: </a:t>
            </a:r>
            <a:r>
              <a:rPr lang="en-AU" sz="3600" b="1" dirty="0">
                <a:solidFill>
                  <a:schemeClr val="accent2">
                    <a:lumMod val="75000"/>
                  </a:schemeClr>
                </a:solidFill>
              </a:rPr>
              <a:t>How to Create it? </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6430694" cy="4321533"/>
          </a:xfrm>
        </p:spPr>
        <p:txBody>
          <a:bodyPr/>
          <a:lstStyle/>
          <a:p>
            <a:pPr>
              <a:buFont typeface="Arial" panose="020B0604020202020204" pitchFamily="34" charset="0"/>
              <a:buChar char="•"/>
            </a:pPr>
            <a:r>
              <a:rPr lang="en-AU" b="1" dirty="0"/>
              <a:t>Steps to Create an Activity Diagram:</a:t>
            </a:r>
          </a:p>
          <a:p>
            <a:pPr lvl="1">
              <a:buFont typeface="Arial" panose="020B0604020202020204" pitchFamily="34" charset="0"/>
              <a:buChar char="•"/>
            </a:pPr>
            <a:r>
              <a:rPr lang="en-AU" dirty="0"/>
              <a:t>Identify the activities involved in the workflow.</a:t>
            </a:r>
          </a:p>
          <a:p>
            <a:pPr lvl="1">
              <a:buFont typeface="Arial" panose="020B0604020202020204" pitchFamily="34" charset="0"/>
              <a:buChar char="•"/>
            </a:pPr>
            <a:r>
              <a:rPr lang="en-AU" dirty="0"/>
              <a:t>Define the sequence of activities and decisions.</a:t>
            </a:r>
          </a:p>
          <a:p>
            <a:pPr lvl="1">
              <a:buFont typeface="Arial" panose="020B0604020202020204" pitchFamily="34" charset="0"/>
              <a:buChar char="•"/>
            </a:pPr>
            <a:r>
              <a:rPr lang="en-AU" dirty="0"/>
              <a:t>Draw activities, transitions, decisions, and start/end points.</a:t>
            </a:r>
          </a:p>
          <a:p>
            <a:pPr marL="200025" lvl="1" indent="0">
              <a:buNone/>
            </a:pPr>
            <a:endParaRPr lang="en-AU" dirty="0"/>
          </a:p>
          <a:p>
            <a:pPr>
              <a:buFont typeface="Arial" panose="020B0604020202020204" pitchFamily="34" charset="0"/>
              <a:buChar char="•"/>
            </a:pPr>
            <a:r>
              <a:rPr lang="en-AU" b="1" dirty="0"/>
              <a:t>Practical Example:</a:t>
            </a:r>
          </a:p>
          <a:p>
            <a:pPr lvl="1">
              <a:buFont typeface="Arial" panose="020B0604020202020204" pitchFamily="34" charset="0"/>
              <a:buChar char="•"/>
            </a:pPr>
            <a:r>
              <a:rPr lang="en-AU" u="sng" dirty="0"/>
              <a:t>Order Processing Activity Diagram:</a:t>
            </a:r>
          </a:p>
          <a:p>
            <a:pPr marL="457200" lvl="1" indent="0">
              <a:buNone/>
            </a:pPr>
            <a:r>
              <a:rPr lang="en-AU" sz="1700" dirty="0"/>
              <a:t>- Activities: Receive Order, Verify Payment, Process Order, Ship Order</a:t>
            </a:r>
          </a:p>
          <a:p>
            <a:pPr marL="457200" lvl="1" indent="0">
              <a:buNone/>
            </a:pPr>
            <a:r>
              <a:rPr lang="en-AU" sz="1700" dirty="0"/>
              <a:t>- Transitions: From Receive Order to Verify Payment, from Verify Payment to Process Order, from Process Order to Ship Order</a:t>
            </a:r>
          </a:p>
          <a:p>
            <a:pPr marL="457200" lvl="1" indent="0">
              <a:buNone/>
            </a:pPr>
            <a:r>
              <a:rPr lang="en-AU" sz="1700" dirty="0"/>
              <a:t>- Decisions: Payment Verification Successful or Failed</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descr="问号素材-问号图片-问号素材图片下载-觅知网">
            <a:extLst>
              <a:ext uri="{FF2B5EF4-FFF2-40B4-BE49-F238E27FC236}">
                <a16:creationId xmlns:a16="http://schemas.microsoft.com/office/drawing/2014/main" id="{A9643B58-7576-87A1-8503-E83BE37A09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8113" y="370522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91112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02637" y="871537"/>
            <a:ext cx="8614074" cy="863600"/>
          </a:xfrm>
        </p:spPr>
        <p:txBody>
          <a:bodyPr>
            <a:noAutofit/>
          </a:bodyPr>
          <a:lstStyle/>
          <a:p>
            <a:pPr algn="ctr" eaLnBrk="1" fontAlgn="auto" hangingPunct="1">
              <a:spcAft>
                <a:spcPts val="0"/>
              </a:spcAft>
              <a:defRPr/>
            </a:pPr>
            <a:r>
              <a:rPr lang="en-AU" sz="3200" b="1" dirty="0">
                <a:solidFill>
                  <a:srgbClr val="00B0F0"/>
                </a:solidFill>
              </a:rPr>
              <a:t>Best Practices in Choosing UML Diagrams </a:t>
            </a:r>
            <a:br>
              <a:rPr lang="en-AU" sz="3200" b="1" dirty="0">
                <a:solidFill>
                  <a:srgbClr val="00B0F0"/>
                </a:solidFill>
              </a:rPr>
            </a:br>
            <a:r>
              <a:rPr lang="en-US" altLang="zh-CN" sz="3200" b="1" dirty="0">
                <a:solidFill>
                  <a:srgbClr val="00B0F0"/>
                </a:solidFill>
              </a:rPr>
              <a:t>in </a:t>
            </a:r>
            <a:r>
              <a:rPr lang="en-AU" sz="3200" b="1" dirty="0">
                <a:solidFill>
                  <a:srgbClr val="00B0F0"/>
                </a:solidFill>
              </a:rPr>
              <a:t>IT Projects</a:t>
            </a:r>
            <a:endParaRPr lang="en-AU" altLang="en-US" sz="32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279880" cy="4321533"/>
          </a:xfrm>
        </p:spPr>
        <p:txBody>
          <a:bodyPr/>
          <a:lstStyle/>
          <a:p>
            <a:r>
              <a:rPr lang="en-AU" sz="2200" b="1" dirty="0">
                <a:solidFill>
                  <a:schemeClr val="accent2">
                    <a:lumMod val="75000"/>
                  </a:schemeClr>
                </a:solidFill>
              </a:rPr>
              <a:t>Tailoring UML Diagram Selection:</a:t>
            </a:r>
            <a:endParaRPr lang="en-AU" sz="2200" dirty="0">
              <a:solidFill>
                <a:schemeClr val="accent2">
                  <a:lumMod val="75000"/>
                </a:schemeClr>
              </a:solidFill>
            </a:endParaRPr>
          </a:p>
          <a:p>
            <a:pPr>
              <a:buFont typeface="Arial" panose="020B0604020202020204" pitchFamily="34" charset="0"/>
              <a:buChar char="•"/>
            </a:pPr>
            <a:r>
              <a:rPr lang="en-AU" b="1" dirty="0"/>
              <a:t>Project Phase:</a:t>
            </a:r>
            <a:r>
              <a:rPr lang="en-AU" dirty="0"/>
              <a:t> Select diagrams based on the current phase of the project (e.g., requirements gathering, design, implementation).</a:t>
            </a:r>
          </a:p>
          <a:p>
            <a:pPr>
              <a:buFont typeface="Arial" panose="020B0604020202020204" pitchFamily="34" charset="0"/>
              <a:buChar char="•"/>
            </a:pPr>
            <a:r>
              <a:rPr lang="en-AU" b="1" dirty="0"/>
              <a:t>Audience:</a:t>
            </a:r>
            <a:r>
              <a:rPr lang="en-AU" dirty="0"/>
              <a:t> Consider the audience who will use and benefit from the diagrams (e.g., developers, project managers, stakeholders).</a:t>
            </a:r>
          </a:p>
          <a:p>
            <a:pPr>
              <a:buFont typeface="Arial" panose="020B0604020202020204" pitchFamily="34" charset="0"/>
              <a:buChar char="•"/>
            </a:pPr>
            <a:r>
              <a:rPr lang="en-AU" b="1" dirty="0"/>
              <a:t>Iterative Development:</a:t>
            </a:r>
            <a:r>
              <a:rPr lang="en-AU" dirty="0"/>
              <a:t> Update and refine diagrams as the project progresses to reflect changes and new insights.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990741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02637" y="871537"/>
            <a:ext cx="8614074" cy="863600"/>
          </a:xfrm>
        </p:spPr>
        <p:txBody>
          <a:bodyPr>
            <a:noAutofit/>
          </a:bodyPr>
          <a:lstStyle/>
          <a:p>
            <a:pPr algn="ctr" eaLnBrk="1" fontAlgn="auto" hangingPunct="1">
              <a:spcAft>
                <a:spcPts val="0"/>
              </a:spcAft>
              <a:defRPr/>
            </a:pPr>
            <a:r>
              <a:rPr lang="en-AU" sz="3200" b="1" dirty="0">
                <a:solidFill>
                  <a:srgbClr val="00B0F0"/>
                </a:solidFill>
              </a:rPr>
              <a:t>Best Practices in Choosing UML Diagrams </a:t>
            </a:r>
            <a:br>
              <a:rPr lang="en-AU" sz="3200" b="1" dirty="0">
                <a:solidFill>
                  <a:srgbClr val="00B0F0"/>
                </a:solidFill>
              </a:rPr>
            </a:br>
            <a:r>
              <a:rPr lang="en-US" altLang="zh-CN" sz="3200" b="1" dirty="0">
                <a:solidFill>
                  <a:srgbClr val="00B0F0"/>
                </a:solidFill>
              </a:rPr>
              <a:t>in </a:t>
            </a:r>
            <a:r>
              <a:rPr lang="en-AU" sz="3200" b="1" dirty="0">
                <a:solidFill>
                  <a:srgbClr val="00B0F0"/>
                </a:solidFill>
              </a:rPr>
              <a:t>IT Projects</a:t>
            </a:r>
            <a:endParaRPr lang="en-AU" altLang="en-US" sz="32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15104" y="1961675"/>
            <a:ext cx="8501896" cy="4321533"/>
          </a:xfrm>
        </p:spPr>
        <p:txBody>
          <a:bodyPr/>
          <a:lstStyle/>
          <a:p>
            <a:r>
              <a:rPr lang="en-AU" sz="2200" b="1" dirty="0">
                <a:solidFill>
                  <a:schemeClr val="accent2">
                    <a:lumMod val="75000"/>
                  </a:schemeClr>
                </a:solidFill>
              </a:rPr>
              <a:t>Integration with Agile Practices:</a:t>
            </a:r>
          </a:p>
          <a:p>
            <a:pPr>
              <a:buFont typeface="Arial" panose="020B0604020202020204" pitchFamily="34" charset="0"/>
              <a:buChar char="•"/>
            </a:pPr>
            <a:r>
              <a:rPr lang="en-AU" b="1" dirty="0"/>
              <a:t>Adaptability: </a:t>
            </a:r>
            <a:r>
              <a:rPr lang="en-AU" dirty="0"/>
              <a:t>Use lightweight diagrams that support agile methodologies and frequent iterations.</a:t>
            </a:r>
          </a:p>
          <a:p>
            <a:pPr>
              <a:buFont typeface="Arial" panose="020B0604020202020204" pitchFamily="34" charset="0"/>
              <a:buChar char="•"/>
            </a:pPr>
            <a:r>
              <a:rPr lang="en-AU" b="1" dirty="0"/>
              <a:t>Collaboration: </a:t>
            </a:r>
            <a:r>
              <a:rPr lang="en-AU" dirty="0"/>
              <a:t>Encourage collaboration among team members through shared understanding facilitated by UML diagrams.</a:t>
            </a:r>
          </a:p>
          <a:p>
            <a:pPr marL="0" indent="0">
              <a:buNone/>
            </a:pPr>
            <a:endParaRPr lang="en-AU" dirty="0"/>
          </a:p>
          <a:p>
            <a:pPr>
              <a:buFont typeface="Arial" panose="020B0604020202020204" pitchFamily="34" charset="0"/>
              <a:buChar char="•"/>
            </a:pPr>
            <a:endParaRPr lang="en-AU"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034379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1</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r>
              <a:rPr lang="en-AU" sz="2400" b="1" dirty="0">
                <a:solidFill>
                  <a:schemeClr val="accent2">
                    <a:lumMod val="75000"/>
                  </a:schemeClr>
                </a:solidFill>
              </a:rPr>
              <a:t>Scenario 1:</a:t>
            </a:r>
            <a:r>
              <a:rPr lang="en-AU" sz="2400" dirty="0">
                <a:solidFill>
                  <a:schemeClr val="accent2">
                    <a:lumMod val="75000"/>
                  </a:schemeClr>
                </a:solidFill>
              </a:rPr>
              <a:t> </a:t>
            </a:r>
            <a:r>
              <a:rPr lang="en-AU" sz="2400" b="1" dirty="0">
                <a:solidFill>
                  <a:schemeClr val="accent2">
                    <a:lumMod val="75000"/>
                  </a:schemeClr>
                </a:solidFill>
              </a:rPr>
              <a:t>Use Case Diagram for an E-commerce Platform </a:t>
            </a:r>
          </a:p>
          <a:p>
            <a:r>
              <a:rPr lang="en-AU" b="1" dirty="0"/>
              <a:t>Scenario: </a:t>
            </a:r>
            <a:r>
              <a:rPr lang="en-AU" sz="1800" dirty="0"/>
              <a:t>You are tasked with developing a Use Case Diagram for an upcoming e-commerce platform project. Stakeholders include project managers, developers, and marketing teams.</a:t>
            </a:r>
          </a:p>
          <a:p>
            <a:r>
              <a:rPr lang="en-AU" sz="1800" b="1" dirty="0"/>
              <a:t>Questions:</a:t>
            </a:r>
          </a:p>
          <a:p>
            <a:pPr>
              <a:buFont typeface="+mj-lt"/>
              <a:buAutoNum type="arabicPeriod"/>
            </a:pPr>
            <a:r>
              <a:rPr lang="en-AU" sz="1800" dirty="0"/>
              <a:t>Which actors would you identify for the e-commerce platform?</a:t>
            </a:r>
          </a:p>
          <a:p>
            <a:pPr>
              <a:buFont typeface="+mj-lt"/>
              <a:buAutoNum type="arabicPeriod"/>
            </a:pPr>
            <a:r>
              <a:rPr lang="en-AU" sz="1800" dirty="0"/>
              <a:t>What are some primary use cases that should be included in the diagram?</a:t>
            </a:r>
          </a:p>
          <a:p>
            <a:pPr>
              <a:buFont typeface="+mj-lt"/>
              <a:buAutoNum type="arabicPeriod"/>
            </a:pPr>
            <a:r>
              <a:rPr lang="en-AU" sz="1800" dirty="0"/>
              <a:t>How would you ensure the diagram reflects interactions between different user roles and system functionalities</a:t>
            </a:r>
            <a:r>
              <a:rPr lang="en-AU" sz="1800" b="1" dirty="0"/>
              <a:t>?</a:t>
            </a:r>
            <a:endParaRPr lang="en-AU" sz="1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1: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pPr>
              <a:buFont typeface="Arial" panose="020B0604020202020204" pitchFamily="34" charset="0"/>
              <a:buChar char="•"/>
            </a:pPr>
            <a:r>
              <a:rPr lang="en-AU" b="1" dirty="0"/>
              <a:t>Actors: </a:t>
            </a:r>
            <a:r>
              <a:rPr lang="en-AU" dirty="0"/>
              <a:t>Customer, Administrator, Marketing Manager</a:t>
            </a:r>
          </a:p>
          <a:p>
            <a:pPr>
              <a:buFont typeface="Arial" panose="020B0604020202020204" pitchFamily="34" charset="0"/>
              <a:buChar char="•"/>
            </a:pPr>
            <a:r>
              <a:rPr lang="en-AU" b="1" dirty="0"/>
              <a:t>Use Cases: </a:t>
            </a:r>
            <a:r>
              <a:rPr lang="en-AU" dirty="0"/>
              <a:t>Browse Products, Add to Cart, Checkout, Manage Orders</a:t>
            </a:r>
          </a:p>
          <a:p>
            <a:pPr>
              <a:buFont typeface="Arial" panose="020B0604020202020204" pitchFamily="34" charset="0"/>
              <a:buChar char="•"/>
            </a:pPr>
            <a:r>
              <a:rPr lang="en-AU" b="1" dirty="0"/>
              <a:t>Relationships: </a:t>
            </a:r>
            <a:r>
              <a:rPr lang="en-AU" dirty="0"/>
              <a:t>Customer interacts with all use cases; Administrator manages product listings; Marketing Manager oversees promotional activities.</a:t>
            </a:r>
            <a:endParaRPr lang="en-AU" sz="2400" dirty="0">
              <a:solidFill>
                <a:schemeClr val="tx1"/>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2</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r>
              <a:rPr lang="en-AU" sz="2400" b="1" dirty="0">
                <a:solidFill>
                  <a:schemeClr val="accent2">
                    <a:lumMod val="75000"/>
                  </a:schemeClr>
                </a:solidFill>
              </a:rPr>
              <a:t>Scenario 2:</a:t>
            </a:r>
            <a:r>
              <a:rPr lang="en-AU" sz="2400" dirty="0">
                <a:solidFill>
                  <a:schemeClr val="accent2">
                    <a:lumMod val="75000"/>
                  </a:schemeClr>
                </a:solidFill>
              </a:rPr>
              <a:t> </a:t>
            </a:r>
            <a:r>
              <a:rPr lang="en-AU" sz="2400" b="1" dirty="0">
                <a:solidFill>
                  <a:schemeClr val="accent2">
                    <a:lumMod val="75000"/>
                  </a:schemeClr>
                </a:solidFill>
              </a:rPr>
              <a:t>Class Diagram for a Banking System</a:t>
            </a:r>
          </a:p>
          <a:p>
            <a:r>
              <a:rPr lang="en-AU" b="1" dirty="0"/>
              <a:t>Scenario: </a:t>
            </a:r>
            <a:r>
              <a:rPr lang="en-AU" sz="1600" dirty="0"/>
              <a:t>You are leading the design phase of a new banking system. The system needs a robust Class Diagram to depict relationships between different entities such as Account, Transaction, and Customer.</a:t>
            </a:r>
          </a:p>
          <a:p>
            <a:r>
              <a:rPr lang="en-AU" sz="1800" b="1" dirty="0"/>
              <a:t>Questions:</a:t>
            </a:r>
          </a:p>
          <a:p>
            <a:pPr>
              <a:buFont typeface="+mj-lt"/>
              <a:buAutoNum type="arabicPeriod"/>
            </a:pPr>
            <a:r>
              <a:rPr lang="en-AU" sz="1800" dirty="0"/>
              <a:t>What are some essential classes and their attributes in the banking system?</a:t>
            </a:r>
          </a:p>
          <a:p>
            <a:pPr>
              <a:buFont typeface="+mj-lt"/>
              <a:buAutoNum type="arabicPeriod"/>
            </a:pPr>
            <a:r>
              <a:rPr lang="en-AU" sz="1800" dirty="0"/>
              <a:t>How would you model relationships between classes like Account, Transaction, and Customer?</a:t>
            </a:r>
          </a:p>
          <a:p>
            <a:pPr>
              <a:buFont typeface="+mj-lt"/>
              <a:buAutoNum type="arabicPeriod"/>
            </a:pPr>
            <a:r>
              <a:rPr lang="en-AU" sz="1800" dirty="0"/>
              <a:t>Why is it important to include inheritance and associations in the Class Diagram?</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486899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Points(Cont.)</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pPr>
              <a:buFont typeface="Arial" panose="020B0604020202020204" pitchFamily="34" charset="0"/>
              <a:buChar char="•"/>
            </a:pPr>
            <a:r>
              <a:rPr lang="en-AU" sz="1800" b="1" dirty="0"/>
              <a:t>Classes: </a:t>
            </a:r>
            <a:r>
              <a:rPr lang="en-AU" sz="1800" dirty="0"/>
              <a:t>Account (Account Number, Balance), Transaction (Transaction ID, Amount), Customer (Customer ID, Name)</a:t>
            </a:r>
          </a:p>
          <a:p>
            <a:pPr>
              <a:buFont typeface="Arial" panose="020B0604020202020204" pitchFamily="34" charset="0"/>
              <a:buChar char="•"/>
            </a:pPr>
            <a:r>
              <a:rPr lang="en-AU" sz="1800" b="1" dirty="0"/>
              <a:t>Relationships</a:t>
            </a:r>
            <a:r>
              <a:rPr lang="en-AU" sz="1800" dirty="0"/>
              <a:t>: Account has Transactions; Customer has Accounts; Inheritance for different account types (e.g., </a:t>
            </a:r>
            <a:r>
              <a:rPr lang="en-AU" sz="1800" dirty="0" err="1"/>
              <a:t>SavingsAccount</a:t>
            </a:r>
            <a:r>
              <a:rPr lang="en-AU" sz="1800" dirty="0"/>
              <a:t>, </a:t>
            </a:r>
            <a:r>
              <a:rPr lang="en-AU" sz="1800" dirty="0" err="1"/>
              <a:t>CheckingAccount</a:t>
            </a:r>
            <a:r>
              <a:rPr lang="en-AU" sz="1800" dirty="0"/>
              <a:t>).</a:t>
            </a:r>
          </a:p>
          <a:p>
            <a:pPr>
              <a:buFont typeface="Arial" panose="020B0604020202020204" pitchFamily="34" charset="0"/>
              <a:buChar char="•"/>
            </a:pPr>
            <a:r>
              <a:rPr lang="en-AU" sz="1800" b="1" dirty="0"/>
              <a:t>Importance: </a:t>
            </a:r>
            <a:r>
              <a:rPr lang="en-AU" sz="1800" dirty="0"/>
              <a:t>Clarifies data structure, supports system scalability, and guides database schema design.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730710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538163" y="2270120"/>
            <a:ext cx="8293865"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AU" b="1" dirty="0"/>
              <a:t>Understanding Project Requirements</a:t>
            </a:r>
            <a:r>
              <a:rPr lang="en-AU" dirty="0"/>
              <a:t>: Start with thorough analysis and stakeholder engagement to define scope.</a:t>
            </a:r>
          </a:p>
          <a:p>
            <a:pPr>
              <a:buFont typeface="Arial" panose="020B0604020202020204" pitchFamily="34" charset="0"/>
              <a:buChar char="•"/>
            </a:pPr>
            <a:r>
              <a:rPr lang="en-AU" b="1" dirty="0"/>
              <a:t>Selection Criteria: </a:t>
            </a:r>
            <a:r>
              <a:rPr lang="en-AU" dirty="0"/>
              <a:t>Choose UML diagrams based on system complexity and information dynamics.</a:t>
            </a:r>
          </a:p>
          <a:p>
            <a:pPr>
              <a:buFont typeface="Arial" panose="020B0604020202020204" pitchFamily="34" charset="0"/>
              <a:buChar char="•"/>
            </a:pPr>
            <a:r>
              <a:rPr lang="en-AU" b="1" dirty="0"/>
              <a:t>Common Diagrams</a:t>
            </a:r>
            <a:r>
              <a:rPr lang="en-AU" dirty="0"/>
              <a:t>: Use Case, Class, Sequence, and Activity diagrams serve various mode</a:t>
            </a:r>
            <a:r>
              <a:rPr lang="en-US" altLang="zh-CN" dirty="0"/>
              <a:t>l</a:t>
            </a:r>
            <a:r>
              <a:rPr lang="en-AU" dirty="0"/>
              <a:t>ling needs.</a:t>
            </a:r>
          </a:p>
          <a:p>
            <a:pPr>
              <a:buFont typeface="Arial" panose="020B0604020202020204" pitchFamily="34" charset="0"/>
              <a:buChar char="•"/>
            </a:pPr>
            <a:r>
              <a:rPr lang="en-AU" b="1" dirty="0"/>
              <a:t>Best Practices</a:t>
            </a:r>
            <a:r>
              <a:rPr lang="en-AU" dirty="0"/>
              <a:t>: Tailor diagram selection to project phase and audience, supporting iterative development.</a:t>
            </a:r>
          </a:p>
        </p:txBody>
      </p:sp>
    </p:spTree>
    <p:extLst>
      <p:ext uri="{BB962C8B-B14F-4D97-AF65-F5344CB8AC3E}">
        <p14:creationId xmlns:p14="http://schemas.microsoft.com/office/powerpoint/2010/main" val="264622789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3544</TotalTime>
  <Words>8652</Words>
  <Application>Microsoft Office PowerPoint</Application>
  <PresentationFormat>On-screen Show (4:3)</PresentationFormat>
  <Paragraphs>1209</Paragraphs>
  <Slides>155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155</vt:i4>
      </vt:variant>
    </vt:vector>
  </HeadingPairs>
  <TitlesOfParts>
    <vt:vector size="163" baseType="lpstr">
      <vt:lpstr>Arial</vt:lpstr>
      <vt:lpstr>Arial Narrow</vt:lpstr>
      <vt:lpstr>Calibri</vt:lpstr>
      <vt:lpstr>Calibri Light</vt:lpstr>
      <vt:lpstr>Roboto</vt:lpstr>
      <vt:lpstr>Symbol</vt:lpstr>
      <vt:lpstr>Times New Roman</vt:lpstr>
      <vt:lpstr>Retrospect</vt:lpstr>
      <vt:lpstr>PowerPoint Presentation</vt:lpstr>
      <vt:lpstr>Choose two Make-up Session</vt:lpstr>
      <vt:lpstr>Choose two Make-up Session</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Preparation for Assessment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we learned last week</vt:lpstr>
      <vt:lpstr>Week 4 Pre-Class Readings</vt:lpstr>
      <vt:lpstr>Week 4 Topics</vt:lpstr>
      <vt:lpstr>Pre-Class Discussion</vt:lpstr>
      <vt:lpstr>What is modelling?</vt:lpstr>
      <vt:lpstr>Introduction to Modelling</vt:lpstr>
      <vt:lpstr>Introduction to Modelling</vt:lpstr>
      <vt:lpstr>The Role of Modelling in IT Project</vt:lpstr>
      <vt:lpstr>Modelling Techniques and Tools</vt:lpstr>
      <vt:lpstr>What is UML?</vt:lpstr>
      <vt:lpstr>What is UML ? (Cont.)</vt:lpstr>
      <vt:lpstr>What is UML: The UML Framework</vt:lpstr>
      <vt:lpstr>What is UML: UML Diagrams Classification</vt:lpstr>
      <vt:lpstr>Use Case Diagrams</vt:lpstr>
      <vt:lpstr>Use Case Diagrams</vt:lpstr>
      <vt:lpstr>Use Case Diagrams:  How to Create it?</vt:lpstr>
      <vt:lpstr>Use Case Diagrams:  How to Create it?(Cont.)</vt:lpstr>
      <vt:lpstr>Use Case Diagrams:  How to Create it?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Diagrams</vt:lpstr>
      <vt:lpstr>Class Diagrams</vt:lpstr>
      <vt:lpstr>Class Diagrams: How to Create it? </vt:lpstr>
      <vt:lpstr>Sequence Diagrams </vt:lpstr>
      <vt:lpstr>Sequence Diagrams </vt:lpstr>
      <vt:lpstr>Sequence Diagrams: How to Create it? </vt:lpstr>
      <vt:lpstr>Activity Diagrams</vt:lpstr>
      <vt:lpstr>Activity Diagrams</vt:lpstr>
      <vt:lpstr>Activity Diagrams: How to Create it? </vt:lpstr>
      <vt:lpstr>Best Practices in Choosing UML Diagrams  in IT Projects</vt:lpstr>
      <vt:lpstr>Best Practices in Choosing UML Diagrams  in IT Projects</vt:lpstr>
      <vt:lpstr>Group Discussion Case Study 1</vt:lpstr>
      <vt:lpstr>Case Study 1: Discussion Points</vt:lpstr>
      <vt:lpstr>Group Discussion Case Study 2</vt:lpstr>
      <vt:lpstr>Case Study: Discussion Points(Cont.)</vt:lpstr>
      <vt:lpstr>Summary</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385</cp:revision>
  <dcterms:created xsi:type="dcterms:W3CDTF">2009-10-28T23:36:30Z</dcterms:created>
  <dcterms:modified xsi:type="dcterms:W3CDTF">2026-04-20T04:14:30Z</dcterms:modified>
</cp:coreProperties>
</file>